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914400" y="731520"/>
            <a:ext cx="10362895" cy="3291840"/>
          </a:xfrm>
          <a:prstGeom prst="rect">
            <a:avLst/>
          </a:prstGeom>
          <a:noFill/>
        </p:spPr>
        <p:txBody>
          <a:bodyPr wrap="square">
            <a:spAutoFit/>
          </a:bodyPr>
          <a:lstStyle/>
          <a:p>
            <a:pPr>
              <a:spcAft>
                <a:spcPts val="1200"/>
              </a:spcAft>
              <a:defRPr sz="1100" b="1">
                <a:solidFill>
                  <a:srgbClr val="00D2FF"/>
                </a:solidFill>
              </a:defRPr>
            </a:pPr>
            <a:r>
              <a:t>BML MUNJAL UNIVERSITY | SCHOOL OF ENGINEERING &amp; TECHNOLOGY</a:t>
            </a:r>
          </a:p>
          <a:p>
            <a:pPr>
              <a:spcAft>
                <a:spcPts val="600"/>
              </a:spcAft>
              <a:defRPr sz="4600" b="1">
                <a:solidFill>
                  <a:srgbClr val="FFFFFF"/>
                </a:solidFill>
              </a:defRPr>
            </a:pPr>
            <a:r>
              <a:t>KAVACH (कवच)</a:t>
            </a:r>
          </a:p>
          <a:p>
            <a:pPr>
              <a:spcAft>
                <a:spcPts val="1000"/>
              </a:spcAft>
              <a:defRPr sz="2000" b="1">
                <a:solidFill>
                  <a:srgbClr val="10B981"/>
                </a:solidFill>
              </a:defRPr>
            </a:pPr>
            <a:r>
              <a:t>A Security-Governed Multi-Agent AI DevOps &amp; Observability Platform</a:t>
            </a:r>
          </a:p>
          <a:p>
            <a:pPr>
              <a:defRPr sz="1300">
                <a:solidFill>
                  <a:srgbClr val="CBD5E1"/>
                </a:solidFill>
              </a:defRPr>
            </a:pPr>
            <a:r>
              <a:t>CSE3101 / PRJ-IV Capstone Project (7th Semester B.Tech Computer Science &amp; Engineering, AY 2026–27)</a:t>
            </a:r>
          </a:p>
        </p:txBody>
      </p:sp>
      <p:sp>
        <p:nvSpPr>
          <p:cNvPr id="3" name="Rounded Rectangle 2"/>
          <p:cNvSpPr/>
          <p:nvPr/>
        </p:nvSpPr>
        <p:spPr>
          <a:xfrm>
            <a:off x="914400" y="4114800"/>
            <a:ext cx="5029200" cy="21031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251960"/>
            <a:ext cx="4663440" cy="1828800"/>
          </a:xfrm>
          <a:prstGeom prst="rect">
            <a:avLst/>
          </a:prstGeom>
          <a:noFill/>
        </p:spPr>
        <p:txBody>
          <a:bodyPr wrap="square" lIns="0" tIns="0" rIns="0" bIns="0">
            <a:spAutoFit/>
          </a:bodyPr>
          <a:lstStyle/>
          <a:p>
            <a:pPr>
              <a:spcAft>
                <a:spcPts val="600"/>
              </a:spcAft>
              <a:defRPr sz="1250" b="1">
                <a:solidFill>
                  <a:srgbClr val="FBBF24"/>
                </a:solidFill>
              </a:defRPr>
            </a:pPr>
            <a:r>
              <a:t>Academic Engineering Team</a:t>
            </a:r>
          </a:p>
          <a:p>
            <a:pPr>
              <a:spcAft>
                <a:spcPts val="350"/>
              </a:spcAft>
            </a:pPr>
            <a:r>
              <a:rPr b="1" sz="1000">
                <a:solidFill>
                  <a:srgbClr val="FFFFFF"/>
                </a:solidFill>
              </a:rPr>
              <a:t>• Lead Architect: </a:t>
            </a:r>
            <a:r>
              <a:rPr sz="950">
                <a:solidFill>
                  <a:srgbClr val="CBD5E1"/>
                </a:solidFill>
              </a:rPr>
              <a:t>Dhruv Jain (Roll No. 230532) — Core Orchestrator &amp; State Machine</a:t>
            </a:r>
          </a:p>
          <a:p>
            <a:pPr>
              <a:spcAft>
                <a:spcPts val="350"/>
              </a:spcAft>
            </a:pPr>
            <a:r>
              <a:rPr b="1" sz="1000">
                <a:solidFill>
                  <a:srgbClr val="FFFFFF"/>
                </a:solidFill>
              </a:rPr>
              <a:t>• Security Lead: </a:t>
            </a:r>
            <a:r>
              <a:rPr sz="950">
                <a:solidFill>
                  <a:srgbClr val="CBD5E1"/>
                </a:solidFill>
              </a:rPr>
              <a:t>Dev Garg (Roll No. 230487) — Shannon Entropy &amp; Secret Screening</a:t>
            </a:r>
          </a:p>
          <a:p>
            <a:pPr>
              <a:spcAft>
                <a:spcPts val="350"/>
              </a:spcAft>
            </a:pPr>
            <a:r>
              <a:rPr b="1" sz="1000">
                <a:solidFill>
                  <a:srgbClr val="FFFFFF"/>
                </a:solidFill>
              </a:rPr>
              <a:t>• Intelligence Lead: </a:t>
            </a:r>
            <a:r>
              <a:rPr sz="950">
                <a:solidFill>
                  <a:srgbClr val="CBD5E1"/>
                </a:solidFill>
              </a:rPr>
              <a:t>Ansh Rohilla (Roll No. 230794) — Qdrant Vector RAG &amp; AST Graph</a:t>
            </a:r>
          </a:p>
          <a:p>
            <a:pPr>
              <a:spcAft>
                <a:spcPts val="350"/>
              </a:spcAft>
            </a:pPr>
            <a:r>
              <a:rPr b="1" sz="1000">
                <a:solidFill>
                  <a:srgbClr val="FFFFFF"/>
                </a:solidFill>
              </a:rPr>
              <a:t>• Systems Lead: </a:t>
            </a:r>
            <a:r>
              <a:rPr sz="950">
                <a:solidFill>
                  <a:srgbClr val="CBD5E1"/>
                </a:solidFill>
              </a:rPr>
              <a:t>Ansh Adhikari (Roll No. 230822) — ReAct Sandbox &amp; PyPI Firewall</a:t>
            </a:r>
          </a:p>
        </p:txBody>
      </p:sp>
      <p:sp>
        <p:nvSpPr>
          <p:cNvPr id="5" name="Rounded Rectangle 4"/>
          <p:cNvSpPr/>
          <p:nvPr/>
        </p:nvSpPr>
        <p:spPr>
          <a:xfrm>
            <a:off x="6217920" y="4114800"/>
            <a:ext cx="5029200" cy="21031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4251960"/>
            <a:ext cx="4663440" cy="1828800"/>
          </a:xfrm>
          <a:prstGeom prst="rect">
            <a:avLst/>
          </a:prstGeom>
          <a:noFill/>
        </p:spPr>
        <p:txBody>
          <a:bodyPr wrap="square" lIns="0" tIns="0" rIns="0" bIns="0">
            <a:spAutoFit/>
          </a:bodyPr>
          <a:lstStyle/>
          <a:p>
            <a:pPr>
              <a:spcAft>
                <a:spcPts val="600"/>
              </a:spcAft>
              <a:defRPr sz="1250" b="1">
                <a:solidFill>
                  <a:srgbClr val="00D2FF"/>
                </a:solidFill>
              </a:defRPr>
            </a:pPr>
            <a:r>
              <a:t>Evaluation Governance &amp; System Status</a:t>
            </a:r>
          </a:p>
          <a:p>
            <a:pPr>
              <a:spcAft>
                <a:spcPts val="350"/>
              </a:spcAft>
            </a:pPr>
            <a:r>
              <a:rPr b="1" sz="1000">
                <a:solidFill>
                  <a:srgbClr val="FFFFFF"/>
                </a:solidFill>
              </a:rPr>
              <a:t>• Faculty Evaluator: </a:t>
            </a:r>
            <a:r>
              <a:rPr sz="950">
                <a:solidFill>
                  <a:srgbClr val="CBD5E1"/>
                </a:solidFill>
              </a:rPr>
              <a:t>Prof. Anusha Chhabra &amp; Dr. Soharab Hossain Shaikh</a:t>
            </a:r>
          </a:p>
          <a:p>
            <a:pPr>
              <a:spcAft>
                <a:spcPts val="350"/>
              </a:spcAft>
            </a:pPr>
            <a:r>
              <a:rPr b="1" sz="1000">
                <a:solidFill>
                  <a:srgbClr val="FFFFFF"/>
                </a:solidFill>
              </a:rPr>
              <a:t>• Evaluation Rubrics: </a:t>
            </a:r>
            <a:r>
              <a:rPr sz="950">
                <a:solidFill>
                  <a:srgbClr val="CBD5E1"/>
                </a:solidFill>
              </a:rPr>
              <a:t>Lit. Review (10M) + Gaps (5M) + Problem Def. (5M) + Methodology (5M) = 25M</a:t>
            </a:r>
          </a:p>
          <a:p>
            <a:pPr>
              <a:spcAft>
                <a:spcPts val="350"/>
              </a:spcAft>
            </a:pPr>
            <a:r>
              <a:rPr b="1" sz="1000">
                <a:solidFill>
                  <a:srgbClr val="FFFFFF"/>
                </a:solidFill>
              </a:rPr>
              <a:t>• Operational Status: </a:t>
            </a:r>
            <a:r>
              <a:rPr sz="950">
                <a:solidFill>
                  <a:srgbClr val="CBD5E1"/>
                </a:solidFill>
              </a:rPr>
              <a:t>18 FastAPI Endpoints Live | Standalone MCP Server Active</a:t>
            </a:r>
          </a:p>
          <a:p>
            <a:pPr>
              <a:spcAft>
                <a:spcPts val="350"/>
              </a:spcAft>
            </a:pPr>
            <a:r>
              <a:rPr b="1" sz="1000">
                <a:solidFill>
                  <a:srgbClr val="FFFFFF"/>
                </a:solidFill>
              </a:rPr>
              <a:t>• Verification Rigor: </a:t>
            </a:r>
            <a:r>
              <a:rPr sz="950">
                <a:solidFill>
                  <a:srgbClr val="CBD5E1"/>
                </a:solidFill>
              </a:rPr>
              <a:t>220+ Automated Unit &amp; Integration Tests Passing (100% CI Coverage)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1: OBJECTIVE &amp; PROBLEM DEFINITION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The Critical Security Dilemma of Autonomous AI Coding Agents</a:t>
            </a:r>
          </a:p>
        </p:txBody>
      </p:sp>
      <p:sp>
        <p:nvSpPr>
          <p:cNvPr id="4" name="Rounded Rectangle 3"/>
          <p:cNvSpPr/>
          <p:nvPr/>
        </p:nvSpPr>
        <p:spPr>
          <a:xfrm>
            <a:off x="731520" y="1371600"/>
            <a:ext cx="512064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4663440"/>
          </a:xfrm>
          <a:prstGeom prst="rect">
            <a:avLst/>
          </a:prstGeom>
          <a:noFill/>
        </p:spPr>
        <p:txBody>
          <a:bodyPr wrap="square" lIns="0" tIns="0" rIns="0" bIns="0">
            <a:spAutoFit/>
          </a:bodyPr>
          <a:lstStyle/>
          <a:p>
            <a:pPr>
              <a:spcAft>
                <a:spcPts val="600"/>
              </a:spcAft>
              <a:defRPr sz="1250" b="1">
                <a:solidFill>
                  <a:srgbClr val="00D2FF"/>
                </a:solidFill>
              </a:defRPr>
            </a:pPr>
            <a:r>
              <a:t>Industry Context &amp; Autonomous Agent Velocity</a:t>
            </a:r>
          </a:p>
          <a:p>
            <a:pPr>
              <a:spcAft>
                <a:spcPts val="350"/>
              </a:spcAft>
            </a:pPr>
            <a:r>
              <a:rPr b="1" sz="1000">
                <a:solidFill>
                  <a:srgbClr val="FFFFFF"/>
                </a:solidFill>
              </a:rPr>
              <a:t>• Engineering Paradigm Shift: </a:t>
            </a:r>
            <a:r>
              <a:rPr sz="950">
                <a:solidFill>
                  <a:srgbClr val="CBD5E1"/>
                </a:solidFill>
              </a:rPr>
              <a:t>Enterprises are adopting autonomous coding agents (Devin, SWE-agent, AutoPR) to automate multi-file bug fixing, refactoring, and PR creation.</a:t>
            </a:r>
          </a:p>
          <a:p>
            <a:pPr>
              <a:spcAft>
                <a:spcPts val="350"/>
              </a:spcAft>
            </a:pPr>
            <a:r>
              <a:rPr b="1" sz="1000">
                <a:solidFill>
                  <a:srgbClr val="FFFFFF"/>
                </a:solidFill>
              </a:rPr>
              <a:t>• The Probabilistic Flaw: </a:t>
            </a:r>
            <a:r>
              <a:rPr sz="950">
                <a:solidFill>
                  <a:srgbClr val="CBD5E1"/>
                </a:solidFill>
              </a:rPr>
              <a:t>LLMs are statistical next-token predictors. They have zero deterministic comprehension of security policies, execution blast radius, or supply-chain legitimacy.</a:t>
            </a:r>
          </a:p>
          <a:p>
            <a:pPr>
              <a:spcAft>
                <a:spcPts val="350"/>
              </a:spcAft>
            </a:pPr>
            <a:r>
              <a:rPr b="1" sz="1000">
                <a:solidFill>
                  <a:srgbClr val="FFFFFF"/>
                </a:solidFill>
              </a:rPr>
              <a:t>• Unsupervised Terminal Access: </a:t>
            </a:r>
            <a:r>
              <a:rPr sz="950">
                <a:solidFill>
                  <a:srgbClr val="CBD5E1"/>
                </a:solidFill>
              </a:rPr>
              <a:t>Agents execute shell tools directly inside developer workspaces, opening vectors for unconstrained commands and catastrophic lateral movement.</a:t>
            </a:r>
          </a:p>
          <a:p>
            <a:pPr>
              <a:spcAft>
                <a:spcPts val="350"/>
              </a:spcAft>
            </a:pPr>
            <a:r>
              <a:rPr b="1" sz="1000">
                <a:solidFill>
                  <a:srgbClr val="FFFFFF"/>
                </a:solidFill>
              </a:rPr>
              <a:t>• Research Question: </a:t>
            </a:r>
            <a:r>
              <a:rPr sz="950">
                <a:solidFill>
                  <a:srgbClr val="CBD5E1"/>
                </a:solidFill>
              </a:rPr>
              <a:t>How can organizations harness autonomous developer velocity without exposing production codebases to credential theft, package hijacking, and downstream regressions?</a:t>
            </a:r>
          </a:p>
        </p:txBody>
      </p:sp>
      <p:sp>
        <p:nvSpPr>
          <p:cNvPr id="6" name="Rounded Rectangle 5"/>
          <p:cNvSpPr/>
          <p:nvPr/>
        </p:nvSpPr>
        <p:spPr>
          <a:xfrm>
            <a:off x="6217920" y="1371600"/>
            <a:ext cx="52120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663440"/>
          </a:xfrm>
          <a:prstGeom prst="rect">
            <a:avLst/>
          </a:prstGeom>
          <a:noFill/>
        </p:spPr>
        <p:txBody>
          <a:bodyPr wrap="square" lIns="0" tIns="0" rIns="0" bIns="0">
            <a:spAutoFit/>
          </a:bodyPr>
          <a:lstStyle/>
          <a:p>
            <a:pPr>
              <a:spcAft>
                <a:spcPts val="600"/>
              </a:spcAft>
              <a:defRPr sz="1250" b="1">
                <a:solidFill>
                  <a:srgbClr val="EF4444"/>
                </a:solidFill>
              </a:defRPr>
            </a:pPr>
            <a:r>
              <a:t>The 3 Fatal Enterprise Vulnerabilities &amp; SCA Blindspots</a:t>
            </a:r>
          </a:p>
          <a:p>
            <a:pPr>
              <a:spcAft>
                <a:spcPts val="350"/>
              </a:spcAft>
            </a:pPr>
            <a:r>
              <a:rPr b="1" sz="1000">
                <a:solidFill>
                  <a:srgbClr val="FFFFFF"/>
                </a:solidFill>
              </a:rPr>
              <a:t>• Vulnerability 1: AI Package Slopsquatting: </a:t>
            </a:r>
            <a:r>
              <a:rPr sz="950">
                <a:solidFill>
                  <a:srgbClr val="CBD5E1"/>
                </a:solidFill>
              </a:rPr>
              <a:t>LLMs regularly hallucinate non-existent package imports (e.g. 'fastapi-jwt-vault'). Attackers monitor these hallucinations, register them on PyPI/npm, and execute malicious install hooks.</a:t>
            </a:r>
          </a:p>
          <a:p>
            <a:pPr>
              <a:spcAft>
                <a:spcPts val="350"/>
              </a:spcAft>
            </a:pPr>
            <a:r>
              <a:rPr b="1" sz="1000">
                <a:solidFill>
                  <a:srgbClr val="FFFFFF"/>
                </a:solidFill>
              </a:rPr>
              <a:t>• Vulnerability 2: Cloud Credential Exfiltration: </a:t>
            </a:r>
            <a:r>
              <a:rPr sz="950">
                <a:solidFill>
                  <a:srgbClr val="CBD5E1"/>
                </a:solidFill>
              </a:rPr>
              <a:t>Developers inadvertently paste production AWS secret keys, GitHub PATs, and Indian PII (Aadhaar/PAN) into prompts, leaking data to third-party cloud LLM prompt logs under DPDP Act liabilities.</a:t>
            </a:r>
          </a:p>
          <a:p>
            <a:pPr>
              <a:spcAft>
                <a:spcPts val="350"/>
              </a:spcAft>
            </a:pPr>
            <a:r>
              <a:rPr b="1" sz="1000">
                <a:solidFill>
                  <a:srgbClr val="FFFFFF"/>
                </a:solidFill>
              </a:rPr>
              <a:t>• Vulnerability 3: Post-Facto SCA Blindness: </a:t>
            </a:r>
            <a:r>
              <a:rPr sz="950">
                <a:solidFill>
                  <a:srgbClr val="CBD5E1"/>
                </a:solidFill>
              </a:rPr>
              <a:t>Legacy SCA scanners (Snyk, Dependabot, SonarQube) inspect only static files (requirements.txt) post-commit. They are completely blind to runtime imports synthesized in agent memory.</a:t>
            </a:r>
          </a:p>
          <a:p>
            <a:pPr>
              <a:spcAft>
                <a:spcPts val="350"/>
              </a:spcAft>
            </a:pPr>
            <a:r>
              <a:rPr b="1" sz="1000">
                <a:solidFill>
                  <a:srgbClr val="FFFFFF"/>
                </a:solidFill>
              </a:rPr>
              <a:t>• The KAVACH Mission: </a:t>
            </a:r>
            <a:r>
              <a:rPr sz="950">
                <a:solidFill>
                  <a:srgbClr val="CBD5E1"/>
                </a:solidFill>
              </a:rPr>
              <a:t>A deterministic, pre-execution governance platform that halts threats BEFORE tokenization, inspects AST imports live against PyPI, and sandboxes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2: COMPREHENSIVENESS OF LITERATURE REVIEW (PART 1 / 2 — 10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Literature Review: Autonomous Coding Agents &amp; Supply-Chain Security</a:t>
            </a:r>
          </a:p>
        </p:txBody>
      </p:sp>
      <p:sp>
        <p:nvSpPr>
          <p:cNvPr id="4" name="Rounded Rectangle 3"/>
          <p:cNvSpPr/>
          <p:nvPr/>
        </p:nvSpPr>
        <p:spPr>
          <a:xfrm>
            <a:off x="7315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017520" cy="4663440"/>
          </a:xfrm>
          <a:prstGeom prst="rect">
            <a:avLst/>
          </a:prstGeom>
          <a:noFill/>
        </p:spPr>
        <p:txBody>
          <a:bodyPr wrap="square" lIns="0" tIns="0" rIns="0" bIns="0">
            <a:spAutoFit/>
          </a:bodyPr>
          <a:lstStyle/>
          <a:p>
            <a:pPr>
              <a:spcAft>
                <a:spcPts val="600"/>
              </a:spcAft>
              <a:defRPr sz="1250" b="1">
                <a:solidFill>
                  <a:srgbClr val="00D2FF"/>
                </a:solidFill>
              </a:defRPr>
            </a:pPr>
            <a:r>
              <a:t>1. Autonomous Coding Agents</a:t>
            </a:r>
          </a:p>
          <a:p>
            <a:pPr>
              <a:spcAft>
                <a:spcPts val="350"/>
              </a:spcAft>
            </a:pPr>
            <a:r>
              <a:rPr b="1" sz="1000">
                <a:solidFill>
                  <a:srgbClr val="FFFFFF"/>
                </a:solidFill>
              </a:rPr>
              <a:t>• SWE-agent (Yang et al., 2024): </a:t>
            </a:r>
            <a:r>
              <a:rPr sz="950">
                <a:solidFill>
                  <a:srgbClr val="CBD5E1"/>
                </a:solidFill>
              </a:rPr>
              <a:t>Pioneered agentic terminal interaction using ReAct to solve real-world GitHub issues.</a:t>
            </a:r>
          </a:p>
          <a:p>
            <a:pPr>
              <a:spcAft>
                <a:spcPts val="350"/>
              </a:spcAft>
            </a:pPr>
            <a:r>
              <a:rPr b="1" sz="1000">
                <a:solidFill>
                  <a:srgbClr val="FFFFFF"/>
                </a:solidFill>
              </a:rPr>
              <a:t>• Critical Vulnerability: </a:t>
            </a:r>
            <a:r>
              <a:rPr sz="950">
                <a:solidFill>
                  <a:srgbClr val="CBD5E1"/>
                </a:solidFill>
              </a:rPr>
              <a:t>Lacks runtime safety gates; executes arbitrary destructive shell commands without authorization.</a:t>
            </a:r>
          </a:p>
          <a:p>
            <a:pPr>
              <a:spcAft>
                <a:spcPts val="350"/>
              </a:spcAft>
            </a:pPr>
            <a:r>
              <a:rPr b="1" sz="1000">
                <a:solidFill>
                  <a:srgbClr val="FFFFFF"/>
                </a:solidFill>
              </a:rPr>
              <a:t>• Devin (Cognition AI, 2024): </a:t>
            </a:r>
            <a:r>
              <a:rPr sz="950">
                <a:solidFill>
                  <a:srgbClr val="CBD5E1"/>
                </a:solidFill>
              </a:rPr>
              <a:t>Showcased end-to-end multi-file reasoning but suffers from non-convergent debugging oscillations.</a:t>
            </a:r>
          </a:p>
          <a:p>
            <a:pPr>
              <a:spcAft>
                <a:spcPts val="350"/>
              </a:spcAft>
            </a:pPr>
            <a:r>
              <a:rPr b="1" sz="1000">
                <a:solidFill>
                  <a:srgbClr val="FFFFFF"/>
                </a:solidFill>
              </a:rPr>
              <a:t>• Reflexion (Shinn et al., 2023): </a:t>
            </a:r>
            <a:r>
              <a:rPr sz="950">
                <a:solidFill>
                  <a:srgbClr val="CBD5E1"/>
                </a:solidFill>
              </a:rPr>
              <a:t>Established verbal reinforcement learning for code self-repair, which Kavach formalizes into bounded sandboxes.</a:t>
            </a:r>
          </a:p>
        </p:txBody>
      </p:sp>
      <p:sp>
        <p:nvSpPr>
          <p:cNvPr id="6" name="Rounded Rectangle 5"/>
          <p:cNvSpPr/>
          <p:nvPr/>
        </p:nvSpPr>
        <p:spPr>
          <a:xfrm>
            <a:off x="43891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08760"/>
            <a:ext cx="3017520" cy="4663440"/>
          </a:xfrm>
          <a:prstGeom prst="rect">
            <a:avLst/>
          </a:prstGeom>
          <a:noFill/>
        </p:spPr>
        <p:txBody>
          <a:bodyPr wrap="square" lIns="0" tIns="0" rIns="0" bIns="0">
            <a:spAutoFit/>
          </a:bodyPr>
          <a:lstStyle/>
          <a:p>
            <a:pPr>
              <a:spcAft>
                <a:spcPts val="600"/>
              </a:spcAft>
              <a:defRPr sz="1250" b="1">
                <a:solidFill>
                  <a:srgbClr val="FBBF24"/>
                </a:solidFill>
              </a:defRPr>
            </a:pPr>
            <a:r>
              <a:t>2. AI Package Hallucinations</a:t>
            </a:r>
          </a:p>
          <a:p>
            <a:pPr>
              <a:spcAft>
                <a:spcPts val="350"/>
              </a:spcAft>
            </a:pPr>
            <a:r>
              <a:rPr b="1" sz="1000">
                <a:solidFill>
                  <a:srgbClr val="FFFFFF"/>
                </a:solidFill>
              </a:rPr>
              <a:t>• Bar-Zik (2024): </a:t>
            </a:r>
            <a:r>
              <a:rPr sz="950">
                <a:solidFill>
                  <a:srgbClr val="CBD5E1"/>
                </a:solidFill>
              </a:rPr>
              <a:t>First documented that LLMs invent software dependencies when queried about niche tasks.</a:t>
            </a:r>
          </a:p>
          <a:p>
            <a:pPr>
              <a:spcAft>
                <a:spcPts val="350"/>
              </a:spcAft>
            </a:pPr>
            <a:r>
              <a:rPr b="1" sz="1000">
                <a:solidFill>
                  <a:srgbClr val="FFFFFF"/>
                </a:solidFill>
              </a:rPr>
              <a:t>• Lazaar et al. (2024): </a:t>
            </a:r>
            <a:r>
              <a:rPr sz="950">
                <a:solidFill>
                  <a:srgbClr val="CBD5E1"/>
                </a:solidFill>
              </a:rPr>
              <a:t>Proved top commercial models suffer an average 24.3% hallucination rate on external software package names.</a:t>
            </a:r>
          </a:p>
          <a:p>
            <a:pPr>
              <a:spcAft>
                <a:spcPts val="350"/>
              </a:spcAft>
            </a:pPr>
            <a:r>
              <a:rPr b="1" sz="1000">
                <a:solidFill>
                  <a:srgbClr val="FFFFFF"/>
                </a:solidFill>
              </a:rPr>
              <a:t>• Ladisa et al. (2023): </a:t>
            </a:r>
            <a:r>
              <a:rPr sz="950">
                <a:solidFill>
                  <a:srgbClr val="CBD5E1"/>
                </a:solidFill>
              </a:rPr>
              <a:t>Taxonomy of software supply chain attacks; established that static lockfile scanners fail against runtime LLM code.</a:t>
            </a:r>
          </a:p>
          <a:p>
            <a:pPr>
              <a:spcAft>
                <a:spcPts val="350"/>
              </a:spcAft>
            </a:pPr>
            <a:r>
              <a:rPr b="1" sz="1000">
                <a:solidFill>
                  <a:srgbClr val="FFFFFF"/>
                </a:solidFill>
              </a:rPr>
              <a:t>• Slopsquatting Attack Vector: </a:t>
            </a:r>
            <a:r>
              <a:rPr sz="950">
                <a:solidFill>
                  <a:srgbClr val="CBD5E1"/>
                </a:solidFill>
              </a:rPr>
              <a:t>Adversaries weaponize hallucinated names by preemptively publishing malware on public PyPI/npm registries.</a:t>
            </a:r>
          </a:p>
        </p:txBody>
      </p:sp>
      <p:sp>
        <p:nvSpPr>
          <p:cNvPr id="8" name="Rounded Rectangle 7"/>
          <p:cNvSpPr/>
          <p:nvPr/>
        </p:nvSpPr>
        <p:spPr>
          <a:xfrm>
            <a:off x="80467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08760"/>
            <a:ext cx="3017520" cy="4663440"/>
          </a:xfrm>
          <a:prstGeom prst="rect">
            <a:avLst/>
          </a:prstGeom>
          <a:noFill/>
        </p:spPr>
        <p:txBody>
          <a:bodyPr wrap="square" lIns="0" tIns="0" rIns="0" bIns="0">
            <a:spAutoFit/>
          </a:bodyPr>
          <a:lstStyle/>
          <a:p>
            <a:pPr>
              <a:spcAft>
                <a:spcPts val="600"/>
              </a:spcAft>
              <a:defRPr sz="1250" b="1">
                <a:solidFill>
                  <a:srgbClr val="EF4444"/>
                </a:solidFill>
              </a:defRPr>
            </a:pPr>
            <a:r>
              <a:t>3. Prompt Injections &amp; Safety</a:t>
            </a:r>
          </a:p>
          <a:p>
            <a:pPr>
              <a:spcAft>
                <a:spcPts val="350"/>
              </a:spcAft>
            </a:pPr>
            <a:r>
              <a:rPr b="1" sz="1000">
                <a:solidFill>
                  <a:srgbClr val="FFFFFF"/>
                </a:solidFill>
              </a:rPr>
              <a:t>• OWASP Top 10 for LLMs (2025): </a:t>
            </a:r>
            <a:r>
              <a:rPr sz="950">
                <a:solidFill>
                  <a:srgbClr val="CBD5E1"/>
                </a:solidFill>
              </a:rPr>
              <a:t>Identifies Prompt Injection (LLM01) and Sensitive Data Exposure (LLM06) as apex enterprise threats.</a:t>
            </a:r>
          </a:p>
          <a:p>
            <a:pPr>
              <a:spcAft>
                <a:spcPts val="350"/>
              </a:spcAft>
            </a:pPr>
            <a:r>
              <a:rPr b="1" sz="1000">
                <a:solidFill>
                  <a:srgbClr val="FFFFFF"/>
                </a:solidFill>
              </a:rPr>
              <a:t>• Greshake et al. (2023): </a:t>
            </a:r>
            <a:r>
              <a:rPr sz="950">
                <a:solidFill>
                  <a:srgbClr val="CBD5E1"/>
                </a:solidFill>
              </a:rPr>
              <a:t>Demonstrated indirect prompt injections embedded in repository code comments can hijack agent reasoning layers.</a:t>
            </a:r>
          </a:p>
          <a:p>
            <a:pPr>
              <a:spcAft>
                <a:spcPts val="350"/>
              </a:spcAft>
            </a:pPr>
            <a:r>
              <a:rPr b="1" sz="1000">
                <a:solidFill>
                  <a:srgbClr val="FFFFFF"/>
                </a:solidFill>
              </a:rPr>
              <a:t>• Architectural Conclusion: </a:t>
            </a:r>
            <a:r>
              <a:rPr sz="950">
                <a:solidFill>
                  <a:srgbClr val="CBD5E1"/>
                </a:solidFill>
              </a:rPr>
              <a:t>Security cannot rely on system prompts (stochastic probabilistic defense). It must be deterministically enforced outside the LLM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2: COMPREHENSIVENESS OF LITERATURE REVIEW (PART 2 / 2 — 10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Literature Review: Code RAG, Static Analysis &amp; Regulatory Compliance</a:t>
            </a:r>
          </a:p>
        </p:txBody>
      </p:sp>
      <p:sp>
        <p:nvSpPr>
          <p:cNvPr id="4" name="Rounded Rectangle 3"/>
          <p:cNvSpPr/>
          <p:nvPr/>
        </p:nvSpPr>
        <p:spPr>
          <a:xfrm>
            <a:off x="7315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017520" cy="4663440"/>
          </a:xfrm>
          <a:prstGeom prst="rect">
            <a:avLst/>
          </a:prstGeom>
          <a:noFill/>
        </p:spPr>
        <p:txBody>
          <a:bodyPr wrap="square" lIns="0" tIns="0" rIns="0" bIns="0">
            <a:spAutoFit/>
          </a:bodyPr>
          <a:lstStyle/>
          <a:p>
            <a:pPr>
              <a:spcAft>
                <a:spcPts val="600"/>
              </a:spcAft>
              <a:defRPr sz="1250" b="1">
                <a:solidFill>
                  <a:srgbClr val="00D2FF"/>
                </a:solidFill>
              </a:defRPr>
            </a:pPr>
            <a:r>
              <a:t>4. Code RAG &amp; Embeddings</a:t>
            </a:r>
          </a:p>
          <a:p>
            <a:pPr>
              <a:spcAft>
                <a:spcPts val="350"/>
              </a:spcAft>
            </a:pPr>
            <a:r>
              <a:rPr b="1" sz="1000">
                <a:solidFill>
                  <a:srgbClr val="FFFFFF"/>
                </a:solidFill>
              </a:rPr>
              <a:t>• Dense Code Retrieval: </a:t>
            </a:r>
            <a:r>
              <a:rPr sz="950">
                <a:solidFill>
                  <a:srgbClr val="CBD5E1"/>
                </a:solidFill>
              </a:rPr>
              <a:t>Lewis et al. (2020) established dense vector retrieval for grounding generative LLMs.</a:t>
            </a:r>
          </a:p>
          <a:p>
            <a:pPr>
              <a:spcAft>
                <a:spcPts val="350"/>
              </a:spcAft>
            </a:pPr>
            <a:r>
              <a:rPr b="1" sz="1000">
                <a:solidFill>
                  <a:srgbClr val="FFFFFF"/>
                </a:solidFill>
              </a:rPr>
              <a:t>• CodeBERT (Feng et al., 2020): </a:t>
            </a:r>
            <a:r>
              <a:rPr sz="950">
                <a:solidFill>
                  <a:srgbClr val="CBD5E1"/>
                </a:solidFill>
              </a:rPr>
              <a:t>Bimodal pre-trained models for programming languages; UniXcoder (Guo et al., 2022).</a:t>
            </a:r>
          </a:p>
          <a:p>
            <a:pPr>
              <a:spcAft>
                <a:spcPts val="350"/>
              </a:spcAft>
            </a:pPr>
            <a:r>
              <a:rPr b="1" sz="1000">
                <a:solidFill>
                  <a:srgbClr val="FFFFFF"/>
                </a:solidFill>
              </a:rPr>
              <a:t>• Current Technical Gap: </a:t>
            </a:r>
            <a:r>
              <a:rPr sz="950">
                <a:solidFill>
                  <a:srgbClr val="CBD5E1"/>
                </a:solidFill>
              </a:rPr>
              <a:t>Naive character/line-window chunking shatters AST syntactic boundaries (functions/classes) and indexes raw credentials without entropy pre-screening.</a:t>
            </a:r>
          </a:p>
          <a:p>
            <a:pPr>
              <a:spcAft>
                <a:spcPts val="350"/>
              </a:spcAft>
            </a:pPr>
            <a:r>
              <a:rPr b="1" sz="1000">
                <a:solidFill>
                  <a:srgbClr val="FFFFFF"/>
                </a:solidFill>
              </a:rPr>
              <a:t>• Kavach Innovation: </a:t>
            </a:r>
            <a:r>
              <a:rPr sz="950">
                <a:solidFill>
                  <a:srgbClr val="CBD5E1"/>
                </a:solidFill>
              </a:rPr>
              <a:t>AST-aware semantic code chunking paired with Qdrant vector database storage.</a:t>
            </a:r>
          </a:p>
        </p:txBody>
      </p:sp>
      <p:sp>
        <p:nvSpPr>
          <p:cNvPr id="6" name="Rounded Rectangle 5"/>
          <p:cNvSpPr/>
          <p:nvPr/>
        </p:nvSpPr>
        <p:spPr>
          <a:xfrm>
            <a:off x="43891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08760"/>
            <a:ext cx="3017520" cy="4663440"/>
          </a:xfrm>
          <a:prstGeom prst="rect">
            <a:avLst/>
          </a:prstGeom>
          <a:noFill/>
        </p:spPr>
        <p:txBody>
          <a:bodyPr wrap="square" lIns="0" tIns="0" rIns="0" bIns="0">
            <a:spAutoFit/>
          </a:bodyPr>
          <a:lstStyle/>
          <a:p>
            <a:pPr>
              <a:spcAft>
                <a:spcPts val="600"/>
              </a:spcAft>
              <a:defRPr sz="1250" b="1">
                <a:solidFill>
                  <a:srgbClr val="10B981"/>
                </a:solidFill>
              </a:defRPr>
            </a:pPr>
            <a:r>
              <a:t>5. AST &amp; Change Impact</a:t>
            </a:r>
          </a:p>
          <a:p>
            <a:pPr>
              <a:spcAft>
                <a:spcPts val="350"/>
              </a:spcAft>
            </a:pPr>
            <a:r>
              <a:rPr b="1" sz="1000">
                <a:solidFill>
                  <a:srgbClr val="FFFFFF"/>
                </a:solidFill>
              </a:rPr>
              <a:t>• Compiler Principles (Aho, 2006): </a:t>
            </a:r>
            <a:r>
              <a:rPr sz="950">
                <a:solidFill>
                  <a:srgbClr val="CBD5E1"/>
                </a:solidFill>
              </a:rPr>
              <a:t>Abstract Syntax Trees provide unambiguous mathematical representations of program structure.</a:t>
            </a:r>
          </a:p>
          <a:p>
            <a:pPr>
              <a:spcAft>
                <a:spcPts val="350"/>
              </a:spcAft>
            </a:pPr>
            <a:r>
              <a:rPr b="1" sz="1000">
                <a:solidFill>
                  <a:srgbClr val="FFFFFF"/>
                </a:solidFill>
              </a:rPr>
              <a:t>• Chianti (Ren et al., 2004): </a:t>
            </a:r>
            <a:r>
              <a:rPr sz="950">
                <a:solidFill>
                  <a:srgbClr val="CBD5E1"/>
                </a:solidFill>
              </a:rPr>
              <a:t>Proved that computing caller-callee call graphs identifies atomic change impact before deployment.</a:t>
            </a:r>
          </a:p>
          <a:p>
            <a:pPr>
              <a:spcAft>
                <a:spcPts val="350"/>
              </a:spcAft>
            </a:pPr>
            <a:r>
              <a:rPr b="1" sz="1000">
                <a:solidFill>
                  <a:srgbClr val="FFFFFF"/>
                </a:solidFill>
              </a:rPr>
              <a:t>• Lehnert (2011): </a:t>
            </a:r>
            <a:r>
              <a:rPr sz="950">
                <a:solidFill>
                  <a:srgbClr val="CBD5E1"/>
                </a:solidFill>
              </a:rPr>
              <a:t>Surveyed software change impact analysis; confirmed transitive closure over AST graphs predicts regression risks.</a:t>
            </a:r>
          </a:p>
          <a:p>
            <a:pPr>
              <a:spcAft>
                <a:spcPts val="350"/>
              </a:spcAft>
            </a:pPr>
            <a:r>
              <a:rPr b="1" sz="1000">
                <a:solidFill>
                  <a:srgbClr val="FFFFFF"/>
                </a:solidFill>
              </a:rPr>
              <a:t>• Current Technical Gap: </a:t>
            </a:r>
            <a:r>
              <a:rPr sz="950">
                <a:solidFill>
                  <a:srgbClr val="CBD5E1"/>
                </a:solidFill>
              </a:rPr>
              <a:t>Zero existing AI coding agents compute AST dependency trees before synthesizing multi-file patches.</a:t>
            </a:r>
          </a:p>
        </p:txBody>
      </p:sp>
      <p:sp>
        <p:nvSpPr>
          <p:cNvPr id="8" name="Rounded Rectangle 7"/>
          <p:cNvSpPr/>
          <p:nvPr/>
        </p:nvSpPr>
        <p:spPr>
          <a:xfrm>
            <a:off x="8046720" y="1371600"/>
            <a:ext cx="33832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08760"/>
            <a:ext cx="3017520" cy="4663440"/>
          </a:xfrm>
          <a:prstGeom prst="rect">
            <a:avLst/>
          </a:prstGeom>
          <a:noFill/>
        </p:spPr>
        <p:txBody>
          <a:bodyPr wrap="square" lIns="0" tIns="0" rIns="0" bIns="0">
            <a:spAutoFit/>
          </a:bodyPr>
          <a:lstStyle/>
          <a:p>
            <a:pPr>
              <a:spcAft>
                <a:spcPts val="600"/>
              </a:spcAft>
              <a:defRPr sz="1250" b="1">
                <a:solidFill>
                  <a:srgbClr val="FBBF24"/>
                </a:solidFill>
              </a:defRPr>
            </a:pPr>
            <a:r>
              <a:t>6. Statutory Privacy Laws</a:t>
            </a:r>
          </a:p>
          <a:p>
            <a:pPr>
              <a:spcAft>
                <a:spcPts val="350"/>
              </a:spcAft>
            </a:pPr>
            <a:r>
              <a:rPr b="1" sz="1000">
                <a:solidFill>
                  <a:srgbClr val="FFFFFF"/>
                </a:solidFill>
              </a:rPr>
              <a:t>• Indian DPDP Act (2023): </a:t>
            </a:r>
            <a:r>
              <a:rPr sz="950">
                <a:solidFill>
                  <a:srgbClr val="CBD5E1"/>
                </a:solidFill>
              </a:rPr>
              <a:t>Strict statutory penalties for unauthorized cloud transmission of Indian national identifiers.</a:t>
            </a:r>
          </a:p>
          <a:p>
            <a:pPr>
              <a:spcAft>
                <a:spcPts val="350"/>
              </a:spcAft>
            </a:pPr>
            <a:r>
              <a:rPr b="1" sz="1000">
                <a:solidFill>
                  <a:srgbClr val="FFFFFF"/>
                </a:solidFill>
              </a:rPr>
              <a:t>• EU AI Act (2024): </a:t>
            </a:r>
            <a:r>
              <a:rPr sz="950">
                <a:solidFill>
                  <a:srgbClr val="CBD5E1"/>
                </a:solidFill>
              </a:rPr>
              <a:t>Mandates transparent audit logs and risk management systems for high-risk autonomous AI agents.</a:t>
            </a:r>
          </a:p>
          <a:p>
            <a:pPr>
              <a:spcAft>
                <a:spcPts val="350"/>
              </a:spcAft>
            </a:pPr>
            <a:r>
              <a:rPr b="1" sz="1000">
                <a:solidFill>
                  <a:srgbClr val="FFFFFF"/>
                </a:solidFill>
              </a:rPr>
              <a:t>• Jain et al. (2023): </a:t>
            </a:r>
            <a:r>
              <a:rPr sz="950">
                <a:solidFill>
                  <a:srgbClr val="CBD5E1"/>
                </a:solidFill>
              </a:rPr>
              <a:t>Demonstrated that Western English-only PII models (e.g. spaCy/Presidio) fail on code-mixed Hinglish developer text.</a:t>
            </a:r>
          </a:p>
          <a:p>
            <a:pPr>
              <a:spcAft>
                <a:spcPts val="350"/>
              </a:spcAft>
            </a:pPr>
            <a:r>
              <a:rPr b="1" sz="1000">
                <a:solidFill>
                  <a:srgbClr val="FFFFFF"/>
                </a:solidFill>
              </a:rPr>
              <a:t>• Kavach Innovation: </a:t>
            </a:r>
            <a:r>
              <a:rPr sz="950">
                <a:solidFill>
                  <a:srgbClr val="CBD5E1"/>
                </a:solidFill>
              </a:rPr>
              <a:t>Multilingual Zero-Knowledge Token Vault with reversible pseudonymization.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3: RESEARCH GAP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Critical Research Gaps in State-of-the-Art Tooling vs. KAVACH</a:t>
            </a:r>
          </a:p>
        </p:txBody>
      </p:sp>
      <p:sp>
        <p:nvSpPr>
          <p:cNvPr id="4" name="Rounded Rectangle 3"/>
          <p:cNvSpPr/>
          <p:nvPr/>
        </p:nvSpPr>
        <p:spPr>
          <a:xfrm>
            <a:off x="731520" y="137160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10362895" cy="749808"/>
          </a:xfrm>
          <a:prstGeom prst="rect">
            <a:avLst/>
          </a:prstGeom>
          <a:noFill/>
        </p:spPr>
        <p:txBody>
          <a:bodyPr wrap="square" lIns="0" tIns="0" rIns="0" bIns="0">
            <a:spAutoFit/>
          </a:bodyPr>
          <a:lstStyle/>
          <a:p>
            <a:r>
              <a:rPr b="1" sz="1100">
                <a:solidFill>
                  <a:srgbClr val="00D2FF"/>
                </a:solidFill>
              </a:rPr>
              <a:t>Gap 1: Pre-Execution Guardrails
</a:t>
            </a:r>
          </a:p>
          <a:p>
            <a:r>
              <a:rPr sz="950">
                <a:solidFill>
                  <a:srgbClr val="CBD5E1"/>
                </a:solidFill>
              </a:rPr>
              <a:t>SOTA Baseline: Stochastic system prompts ('Do not leak keys').  |  </a:t>
            </a:r>
            <a:r>
              <a:rPr sz="950">
                <a:solidFill>
                  <a:srgbClr val="EF4444"/>
                </a:solidFill>
              </a:rPr>
              <a:t>Vulnerability: Vulnerable to direct jailbreaks, indirect injections, and stochastic drift.
</a:t>
            </a:r>
          </a:p>
          <a:p>
            <a:r>
              <a:rPr sz="950" b="1">
                <a:solidFill>
                  <a:srgbClr val="10B981"/>
                </a:solidFill>
              </a:rPr>
              <a:t>KAVACH Solution: Deterministic Shannon entropy (H &gt; 4.5) &amp; regex filters halting execution pre-tokenization.</a:t>
            </a:r>
          </a:p>
        </p:txBody>
      </p:sp>
      <p:sp>
        <p:nvSpPr>
          <p:cNvPr id="6" name="Rounded Rectangle 5"/>
          <p:cNvSpPr/>
          <p:nvPr/>
        </p:nvSpPr>
        <p:spPr>
          <a:xfrm>
            <a:off x="731520" y="237744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50592"/>
            <a:ext cx="10362895" cy="749808"/>
          </a:xfrm>
          <a:prstGeom prst="rect">
            <a:avLst/>
          </a:prstGeom>
          <a:noFill/>
        </p:spPr>
        <p:txBody>
          <a:bodyPr wrap="square" lIns="0" tIns="0" rIns="0" bIns="0">
            <a:spAutoFit/>
          </a:bodyPr>
          <a:lstStyle/>
          <a:p>
            <a:r>
              <a:rPr b="1" sz="1100">
                <a:solidFill>
                  <a:srgbClr val="00D2FF"/>
                </a:solidFill>
              </a:rPr>
              <a:t>Gap 2: Supply-Chain Slopsquatting
</a:t>
            </a:r>
          </a:p>
          <a:p>
            <a:r>
              <a:rPr sz="950">
                <a:solidFill>
                  <a:srgbClr val="CBD5E1"/>
                </a:solidFill>
              </a:rPr>
              <a:t>SOTA Baseline: SCA tools (Snyk, Dependabot) scan static lockfiles post-commit.  |  </a:t>
            </a:r>
            <a:r>
              <a:rPr sz="950">
                <a:solidFill>
                  <a:srgbClr val="EF4444"/>
                </a:solidFill>
              </a:rPr>
              <a:t>Vulnerability: Zero visibility into dynamically synthesized imports in agent memory.
</a:t>
            </a:r>
          </a:p>
          <a:p>
            <a:r>
              <a:rPr sz="950" b="1">
                <a:solidFill>
                  <a:srgbClr val="10B981"/>
                </a:solidFill>
              </a:rPr>
              <a:t>KAVACH Solution: In-memory AST Package Firewall querying live PyPI registry (&lt;5ms) with LRU caching.</a:t>
            </a:r>
          </a:p>
        </p:txBody>
      </p:sp>
      <p:sp>
        <p:nvSpPr>
          <p:cNvPr id="8" name="Rounded Rectangle 7"/>
          <p:cNvSpPr/>
          <p:nvPr/>
        </p:nvSpPr>
        <p:spPr>
          <a:xfrm>
            <a:off x="731520" y="338328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56432"/>
            <a:ext cx="10362895" cy="749808"/>
          </a:xfrm>
          <a:prstGeom prst="rect">
            <a:avLst/>
          </a:prstGeom>
          <a:noFill/>
        </p:spPr>
        <p:txBody>
          <a:bodyPr wrap="square" lIns="0" tIns="0" rIns="0" bIns="0">
            <a:spAutoFit/>
          </a:bodyPr>
          <a:lstStyle/>
          <a:p>
            <a:r>
              <a:rPr b="1" sz="1100">
                <a:solidFill>
                  <a:srgbClr val="00D2FF"/>
                </a:solidFill>
              </a:rPr>
              <a:t>Gap 3: Change-Impact Awareness
</a:t>
            </a:r>
          </a:p>
          <a:p>
            <a:r>
              <a:rPr sz="950">
                <a:solidFill>
                  <a:srgbClr val="CBD5E1"/>
                </a:solidFill>
              </a:rPr>
              <a:t>SOTA Baseline: Agents modify target files blindly without dependency context.  |  </a:t>
            </a:r>
            <a:r>
              <a:rPr sz="950">
                <a:solidFill>
                  <a:srgbClr val="EF4444"/>
                </a:solidFill>
              </a:rPr>
              <a:t>Vulnerability: Causes silent regression breaks in downstream dependent modules.
</a:t>
            </a:r>
          </a:p>
          <a:p>
            <a:r>
              <a:rPr sz="950" b="1">
                <a:solidFill>
                  <a:srgbClr val="10B981"/>
                </a:solidFill>
              </a:rPr>
              <a:t>KAVACH Solution: Static AST caller-callee dependency graph computing transitive reachability matrix R=(I|A)^k.</a:t>
            </a:r>
          </a:p>
        </p:txBody>
      </p:sp>
      <p:sp>
        <p:nvSpPr>
          <p:cNvPr id="10" name="Rounded Rectangle 9"/>
          <p:cNvSpPr/>
          <p:nvPr/>
        </p:nvSpPr>
        <p:spPr>
          <a:xfrm>
            <a:off x="731520" y="438912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62272"/>
            <a:ext cx="10362895" cy="749808"/>
          </a:xfrm>
          <a:prstGeom prst="rect">
            <a:avLst/>
          </a:prstGeom>
          <a:noFill/>
        </p:spPr>
        <p:txBody>
          <a:bodyPr wrap="square" lIns="0" tIns="0" rIns="0" bIns="0">
            <a:spAutoFit/>
          </a:bodyPr>
          <a:lstStyle/>
          <a:p>
            <a:r>
              <a:rPr b="1" sz="1100">
                <a:solidFill>
                  <a:srgbClr val="00D2FF"/>
                </a:solidFill>
              </a:rPr>
              <a:t>Gap 4: Autonomous Self-Healing
</a:t>
            </a:r>
          </a:p>
          <a:p>
            <a:r>
              <a:rPr sz="950">
                <a:solidFill>
                  <a:srgbClr val="CBD5E1"/>
                </a:solidFill>
              </a:rPr>
              <a:t>SOTA Baseline: Agents enter infinite loops or crash when code fails runtime tests.  |  </a:t>
            </a:r>
            <a:r>
              <a:rPr sz="950">
                <a:solidFill>
                  <a:srgbClr val="EF4444"/>
                </a:solidFill>
              </a:rPr>
              <a:t>Vulnerability: Developers suffer debugging fatigue; agents oscillate between invalid states.
</a:t>
            </a:r>
          </a:p>
          <a:p>
            <a:r>
              <a:rPr sz="950" b="1">
                <a:solidFill>
                  <a:srgbClr val="10B981"/>
                </a:solidFill>
              </a:rPr>
              <a:t>KAVACH Solution: Closed-loop ReAct sandbox running ephemeral pytest with stderr reflection (max 3 cycles).</a:t>
            </a:r>
          </a:p>
        </p:txBody>
      </p:sp>
      <p:sp>
        <p:nvSpPr>
          <p:cNvPr id="12" name="Rounded Rectangle 11"/>
          <p:cNvSpPr/>
          <p:nvPr/>
        </p:nvSpPr>
        <p:spPr>
          <a:xfrm>
            <a:off x="731520" y="539496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68112"/>
            <a:ext cx="10362895" cy="749808"/>
          </a:xfrm>
          <a:prstGeom prst="rect">
            <a:avLst/>
          </a:prstGeom>
          <a:noFill/>
        </p:spPr>
        <p:txBody>
          <a:bodyPr wrap="square" lIns="0" tIns="0" rIns="0" bIns="0">
            <a:spAutoFit/>
          </a:bodyPr>
          <a:lstStyle/>
          <a:p>
            <a:r>
              <a:rPr b="1" sz="1100">
                <a:solidFill>
                  <a:srgbClr val="00D2FF"/>
                </a:solidFill>
              </a:rPr>
              <a:t>Gap 5: Tool Interoperability
</a:t>
            </a:r>
          </a:p>
          <a:p>
            <a:r>
              <a:rPr sz="950">
                <a:solidFill>
                  <a:srgbClr val="CBD5E1"/>
                </a:solidFill>
              </a:rPr>
              <a:t>SOTA Baseline: Closed proprietary silos requiring manual copy-pasting into web UIs.  |  </a:t>
            </a:r>
            <a:r>
              <a:rPr sz="950">
                <a:solidFill>
                  <a:srgbClr val="EF4444"/>
                </a:solidFill>
              </a:rPr>
              <a:t>Vulnerability: Developers cannot leverage security gates inside their daily IDE workflow.
</a:t>
            </a:r>
          </a:p>
          <a:p>
            <a:r>
              <a:rPr sz="950" b="1">
                <a:solidFill>
                  <a:srgbClr val="10B981"/>
                </a:solidFill>
              </a:rPr>
              <a:t>KAVACH Solution: Native Model Context Protocol (MCP) server exposing tools over JSON-RPC 2.0 to Cursor &amp; Claude.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1: OBJECTIVE &amp; PROBLEM DEFINITION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Concrete Research Objectives &amp; Measurable Quantitative Targets</a:t>
            </a:r>
          </a:p>
        </p:txBody>
      </p:sp>
      <p:sp>
        <p:nvSpPr>
          <p:cNvPr id="4" name="Rounded Rectangle 3"/>
          <p:cNvSpPr/>
          <p:nvPr/>
        </p:nvSpPr>
        <p:spPr>
          <a:xfrm>
            <a:off x="731520" y="1371600"/>
            <a:ext cx="2542032" cy="1645920"/>
          </a:xfrm>
          <a:prstGeom prst="roundRect">
            <a:avLst/>
          </a:prstGeom>
          <a:solidFill>
            <a:srgbClr val="12151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2267712" cy="1371600"/>
          </a:xfrm>
          <a:prstGeom prst="rect">
            <a:avLst/>
          </a:prstGeom>
          <a:noFill/>
        </p:spPr>
        <p:txBody>
          <a:bodyPr wrap="square" lIns="0" tIns="0" rIns="0" bIns="0">
            <a:spAutoFit/>
          </a:bodyPr>
          <a:lstStyle/>
          <a:p>
            <a:pPr>
              <a:defRPr sz="3000" b="1">
                <a:solidFill>
                  <a:srgbClr val="10B981"/>
                </a:solidFill>
              </a:defRPr>
            </a:pPr>
            <a:r>
              <a:t>100.0%</a:t>
            </a:r>
          </a:p>
          <a:p>
            <a:pPr>
              <a:spcAft>
                <a:spcPts val="200"/>
              </a:spcAft>
              <a:defRPr sz="1000" b="1">
                <a:solidFill>
                  <a:srgbClr val="FFFFFF"/>
                </a:solidFill>
              </a:defRPr>
            </a:pPr>
            <a:r>
              <a:t>Package Slopsquatting Catch Rate</a:t>
            </a:r>
          </a:p>
          <a:p>
            <a:pPr>
              <a:defRPr sz="850">
                <a:solidFill>
                  <a:srgbClr val="CBD5E1"/>
                </a:solidFill>
              </a:defRPr>
            </a:pPr>
            <a:r>
              <a:t>Zero false negatives on 100-package hallucination corpus</a:t>
            </a:r>
          </a:p>
        </p:txBody>
      </p:sp>
      <p:sp>
        <p:nvSpPr>
          <p:cNvPr id="6" name="Rounded Rectangle 5"/>
          <p:cNvSpPr/>
          <p:nvPr/>
        </p:nvSpPr>
        <p:spPr>
          <a:xfrm>
            <a:off x="3456432" y="1371600"/>
            <a:ext cx="2542032" cy="1645920"/>
          </a:xfrm>
          <a:prstGeom prst="roundRect">
            <a:avLst/>
          </a:prstGeom>
          <a:solidFill>
            <a:srgbClr val="12151D"/>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463040"/>
            <a:ext cx="2267712" cy="1371600"/>
          </a:xfrm>
          <a:prstGeom prst="rect">
            <a:avLst/>
          </a:prstGeom>
          <a:noFill/>
        </p:spPr>
        <p:txBody>
          <a:bodyPr wrap="square" lIns="0" tIns="0" rIns="0" bIns="0">
            <a:spAutoFit/>
          </a:bodyPr>
          <a:lstStyle/>
          <a:p>
            <a:pPr>
              <a:defRPr sz="3000" b="1">
                <a:solidFill>
                  <a:srgbClr val="00D2FF"/>
                </a:solidFill>
              </a:defRPr>
            </a:pPr>
            <a:r>
              <a:t>100.0%</a:t>
            </a:r>
          </a:p>
          <a:p>
            <a:pPr>
              <a:spcAft>
                <a:spcPts val="200"/>
              </a:spcAft>
              <a:defRPr sz="1000" b="1">
                <a:solidFill>
                  <a:srgbClr val="FFFFFF"/>
                </a:solidFill>
              </a:defRPr>
            </a:pPr>
            <a:r>
              <a:t>Credential Interception</a:t>
            </a:r>
          </a:p>
          <a:p>
            <a:pPr>
              <a:defRPr sz="850">
                <a:solidFill>
                  <a:srgbClr val="CBD5E1"/>
                </a:solidFill>
              </a:defRPr>
            </a:pPr>
            <a:r>
              <a:t>100% detection of AWS, GitHub &amp; Stripe API tokens</a:t>
            </a:r>
          </a:p>
        </p:txBody>
      </p:sp>
      <p:sp>
        <p:nvSpPr>
          <p:cNvPr id="8" name="Rounded Rectangle 7"/>
          <p:cNvSpPr/>
          <p:nvPr/>
        </p:nvSpPr>
        <p:spPr>
          <a:xfrm>
            <a:off x="6181344" y="1371600"/>
            <a:ext cx="2542032" cy="1645920"/>
          </a:xfrm>
          <a:prstGeom prst="roundRect">
            <a:avLst/>
          </a:prstGeom>
          <a:solidFill>
            <a:srgbClr val="12151D"/>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463040"/>
            <a:ext cx="2267712" cy="1371600"/>
          </a:xfrm>
          <a:prstGeom prst="rect">
            <a:avLst/>
          </a:prstGeom>
          <a:noFill/>
        </p:spPr>
        <p:txBody>
          <a:bodyPr wrap="square" lIns="0" tIns="0" rIns="0" bIns="0">
            <a:spAutoFit/>
          </a:bodyPr>
          <a:lstStyle/>
          <a:p>
            <a:pPr>
              <a:defRPr sz="3000" b="1">
                <a:solidFill>
                  <a:srgbClr val="FBBF24"/>
                </a:solidFill>
              </a:defRPr>
            </a:pPr>
            <a:r>
              <a:t>0.990</a:t>
            </a:r>
          </a:p>
          <a:p>
            <a:pPr>
              <a:spcAft>
                <a:spcPts val="200"/>
              </a:spcAft>
              <a:defRPr sz="1000" b="1">
                <a:solidFill>
                  <a:srgbClr val="FFFFFF"/>
                </a:solidFill>
              </a:defRPr>
            </a:pPr>
            <a:r>
              <a:t>Multilingual PII F1 Score</a:t>
            </a:r>
          </a:p>
          <a:p>
            <a:pPr>
              <a:defRPr sz="850">
                <a:solidFill>
                  <a:srgbClr val="CBD5E1"/>
                </a:solidFill>
              </a:defRPr>
            </a:pPr>
            <a:r>
              <a:t>Outperforms standard English regex by 139% on Hinglish PII</a:t>
            </a:r>
          </a:p>
        </p:txBody>
      </p:sp>
      <p:sp>
        <p:nvSpPr>
          <p:cNvPr id="10" name="Rounded Rectangle 9"/>
          <p:cNvSpPr/>
          <p:nvPr/>
        </p:nvSpPr>
        <p:spPr>
          <a:xfrm>
            <a:off x="8906256" y="1371600"/>
            <a:ext cx="2542032" cy="1645920"/>
          </a:xfrm>
          <a:prstGeom prst="roundRect">
            <a:avLst/>
          </a:prstGeom>
          <a:solidFill>
            <a:srgbClr val="12151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463040"/>
            <a:ext cx="2267712" cy="1371600"/>
          </a:xfrm>
          <a:prstGeom prst="rect">
            <a:avLst/>
          </a:prstGeom>
          <a:noFill/>
        </p:spPr>
        <p:txBody>
          <a:bodyPr wrap="square" lIns="0" tIns="0" rIns="0" bIns="0">
            <a:spAutoFit/>
          </a:bodyPr>
          <a:lstStyle/>
          <a:p>
            <a:pPr>
              <a:defRPr sz="3000" b="1">
                <a:solidFill>
                  <a:srgbClr val="10B981"/>
                </a:solidFill>
              </a:defRPr>
            </a:pPr>
            <a:r>
              <a:t>&lt;20 ms</a:t>
            </a:r>
          </a:p>
          <a:p>
            <a:pPr>
              <a:spcAft>
                <a:spcPts val="200"/>
              </a:spcAft>
              <a:defRPr sz="1000" b="1">
                <a:solidFill>
                  <a:srgbClr val="FFFFFF"/>
                </a:solidFill>
              </a:defRPr>
            </a:pPr>
            <a:r>
              <a:t>Deterministic Security Overhead</a:t>
            </a:r>
          </a:p>
          <a:p>
            <a:pPr>
              <a:defRPr sz="850">
                <a:solidFill>
                  <a:srgbClr val="CBD5E1"/>
                </a:solidFill>
              </a:defRPr>
            </a:pPr>
            <a:r>
              <a:t>&lt;2% of total pipeline latency (1,370ms avg)</a:t>
            </a:r>
          </a:p>
        </p:txBody>
      </p:sp>
      <p:sp>
        <p:nvSpPr>
          <p:cNvPr id="12" name="Rounded Rectangle 11"/>
          <p:cNvSpPr/>
          <p:nvPr/>
        </p:nvSpPr>
        <p:spPr>
          <a:xfrm>
            <a:off x="731520" y="3200400"/>
            <a:ext cx="5212080" cy="320040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4846320" cy="2926080"/>
          </a:xfrm>
          <a:prstGeom prst="rect">
            <a:avLst/>
          </a:prstGeom>
          <a:noFill/>
        </p:spPr>
        <p:txBody>
          <a:bodyPr wrap="square" lIns="0" tIns="0" rIns="0" bIns="0">
            <a:spAutoFit/>
          </a:bodyPr>
          <a:lstStyle/>
          <a:p>
            <a:pPr>
              <a:spcAft>
                <a:spcPts val="600"/>
              </a:spcAft>
              <a:defRPr sz="1250" b="1">
                <a:solidFill>
                  <a:srgbClr val="00D2FF"/>
                </a:solidFill>
              </a:defRPr>
            </a:pPr>
            <a:r>
              <a:t>Primary Research Objectives</a:t>
            </a:r>
          </a:p>
          <a:p>
            <a:pPr>
              <a:spcAft>
                <a:spcPts val="350"/>
              </a:spcAft>
            </a:pPr>
            <a:r>
              <a:rPr b="1" sz="1000">
                <a:solidFill>
                  <a:srgbClr val="FFFFFF"/>
                </a:solidFill>
              </a:rPr>
              <a:t>• Obj 1: Deterministic Pre-Execution Gate: </a:t>
            </a:r>
            <a:r>
              <a:rPr sz="950">
                <a:solidFill>
                  <a:srgbClr val="CBD5E1"/>
                </a:solidFill>
              </a:rPr>
              <a:t>Intercept high-entropy credentials (H &gt; 4.5) and national IDs (Aadhaar/PAN) before any LLM API invocation.</a:t>
            </a:r>
          </a:p>
          <a:p>
            <a:pPr>
              <a:spcAft>
                <a:spcPts val="350"/>
              </a:spcAft>
            </a:pPr>
            <a:r>
              <a:rPr b="1" sz="1000">
                <a:solidFill>
                  <a:srgbClr val="FFFFFF"/>
                </a:solidFill>
              </a:rPr>
              <a:t>• Obj 2: Supply-Chain Package Firewall: </a:t>
            </a:r>
            <a:r>
              <a:rPr sz="950">
                <a:solidFill>
                  <a:srgbClr val="CBD5E1"/>
                </a:solidFill>
              </a:rPr>
              <a:t>Parse all Python AST imports and validate existence on official PyPI index (&lt;5ms) to defeat slopsquatting.</a:t>
            </a:r>
          </a:p>
          <a:p>
            <a:pPr>
              <a:spcAft>
                <a:spcPts val="350"/>
              </a:spcAft>
            </a:pPr>
            <a:r>
              <a:rPr b="1" sz="1000">
                <a:solidFill>
                  <a:srgbClr val="FFFFFF"/>
                </a:solidFill>
              </a:rPr>
              <a:t>• Obj 3: AST Blast-Radius Quantification: </a:t>
            </a:r>
            <a:r>
              <a:rPr sz="950">
                <a:solidFill>
                  <a:srgbClr val="CBD5E1"/>
                </a:solidFill>
              </a:rPr>
              <a:t>Construct static caller-callee call graphs to calculate regression impact before modifying files.</a:t>
            </a:r>
          </a:p>
          <a:p>
            <a:pPr>
              <a:spcAft>
                <a:spcPts val="350"/>
              </a:spcAft>
            </a:pPr>
            <a:r>
              <a:rPr b="1" sz="1000">
                <a:solidFill>
                  <a:srgbClr val="FFFFFF"/>
                </a:solidFill>
              </a:rPr>
              <a:t>• Obj 4: Bounded ReAct Self-Healing: </a:t>
            </a:r>
            <a:r>
              <a:rPr sz="950">
                <a:solidFill>
                  <a:srgbClr val="CBD5E1"/>
                </a:solidFill>
              </a:rPr>
              <a:t>Achieve &gt;90% autonomous recovery on runtime test failures inside an isolated sandbox (N &lt;= 3 cycles).</a:t>
            </a:r>
          </a:p>
        </p:txBody>
      </p:sp>
      <p:sp>
        <p:nvSpPr>
          <p:cNvPr id="14" name="Rounded Rectangle 13"/>
          <p:cNvSpPr/>
          <p:nvPr/>
        </p:nvSpPr>
        <p:spPr>
          <a:xfrm>
            <a:off x="6217920" y="3200400"/>
            <a:ext cx="5212080" cy="320040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337560"/>
            <a:ext cx="4846320" cy="2926080"/>
          </a:xfrm>
          <a:prstGeom prst="rect">
            <a:avLst/>
          </a:prstGeom>
          <a:noFill/>
        </p:spPr>
        <p:txBody>
          <a:bodyPr wrap="square" lIns="0" tIns="0" rIns="0" bIns="0">
            <a:spAutoFit/>
          </a:bodyPr>
          <a:lstStyle/>
          <a:p>
            <a:pPr>
              <a:spcAft>
                <a:spcPts val="600"/>
              </a:spcAft>
              <a:defRPr sz="1250" b="1">
                <a:solidFill>
                  <a:srgbClr val="FBBF24"/>
                </a:solidFill>
              </a:defRPr>
            </a:pPr>
            <a:r>
              <a:t>Empirical Deliverables &amp; Test Guarantees</a:t>
            </a:r>
          </a:p>
          <a:p>
            <a:pPr>
              <a:spcAft>
                <a:spcPts val="350"/>
              </a:spcAft>
            </a:pPr>
            <a:r>
              <a:rPr b="1" sz="1000">
                <a:solidFill>
                  <a:srgbClr val="FFFFFF"/>
                </a:solidFill>
              </a:rPr>
              <a:t>• Automated Test Suite: </a:t>
            </a:r>
            <a:r>
              <a:rPr sz="950">
                <a:solidFill>
                  <a:srgbClr val="CBD5E1"/>
                </a:solidFill>
              </a:rPr>
              <a:t>Comprehensive suite of 220+ unit and integration tests passing with 100% CI/CD validation.</a:t>
            </a:r>
          </a:p>
          <a:p>
            <a:pPr>
              <a:spcAft>
                <a:spcPts val="350"/>
              </a:spcAft>
            </a:pPr>
            <a:r>
              <a:rPr b="1" sz="1000">
                <a:solidFill>
                  <a:srgbClr val="FFFFFF"/>
                </a:solidFill>
              </a:rPr>
              <a:t>• Economic Efficiency: </a:t>
            </a:r>
            <a:r>
              <a:rPr sz="950">
                <a:solidFill>
                  <a:srgbClr val="CBD5E1"/>
                </a:solidFill>
              </a:rPr>
              <a:t>Maintains average inference cost &lt;= $0.0005 USD per governed run via intelligent local/cloud routing.</a:t>
            </a:r>
          </a:p>
          <a:p>
            <a:pPr>
              <a:spcAft>
                <a:spcPts val="350"/>
              </a:spcAft>
            </a:pPr>
            <a:r>
              <a:rPr b="1" sz="1000">
                <a:solidFill>
                  <a:srgbClr val="FFFFFF"/>
                </a:solidFill>
              </a:rPr>
              <a:t>• Zero Cloud Leakage: </a:t>
            </a:r>
            <a:r>
              <a:rPr sz="950">
                <a:solidFill>
                  <a:srgbClr val="CBD5E1"/>
                </a:solidFill>
              </a:rPr>
              <a:t>Guarantees zero plain-text Indian PII transmission to cloud LLM logs under Indian DPDP Act 2023 mandates.</a:t>
            </a:r>
          </a:p>
          <a:p>
            <a:pPr>
              <a:spcAft>
                <a:spcPts val="350"/>
              </a:spcAft>
            </a:pPr>
            <a:r>
              <a:rPr b="1" sz="1000">
                <a:solidFill>
                  <a:srgbClr val="FFFFFF"/>
                </a:solidFill>
              </a:rPr>
              <a:t>• Open Tool Interoperability: </a:t>
            </a:r>
            <a:r>
              <a:rPr sz="950">
                <a:solidFill>
                  <a:srgbClr val="CBD5E1"/>
                </a:solidFill>
              </a:rPr>
              <a:t>Exposes all guardrails over Anthropic Model Context Protocol (MCP) for Cursor IDE and Claude.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METHODOLOGY: SYSTEM ARCHITECTURE &amp; TAXONOMY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Master Mind Map: KAVACH High-Level Architectural Taxonomy</a:t>
            </a:r>
          </a:p>
        </p:txBody>
      </p:sp>
      <p:sp>
        <p:nvSpPr>
          <p:cNvPr id="4" name="Rounded Rectangle 3"/>
          <p:cNvSpPr/>
          <p:nvPr/>
        </p:nvSpPr>
        <p:spPr>
          <a:xfrm>
            <a:off x="731520" y="1371600"/>
            <a:ext cx="2066543"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1700783" cy="4663440"/>
          </a:xfrm>
          <a:prstGeom prst="rect">
            <a:avLst/>
          </a:prstGeom>
          <a:noFill/>
        </p:spPr>
        <p:txBody>
          <a:bodyPr wrap="square" lIns="0" tIns="0" rIns="0" bIns="0">
            <a:spAutoFit/>
          </a:bodyPr>
          <a:lstStyle/>
          <a:p>
            <a:pPr>
              <a:spcAft>
                <a:spcPts val="600"/>
              </a:spcAft>
              <a:defRPr sz="1250" b="1">
                <a:solidFill>
                  <a:srgbClr val="00D2FF"/>
                </a:solidFill>
              </a:defRPr>
            </a:pPr>
            <a:r>
              <a:t>1. Pre-Execution Governance</a:t>
            </a:r>
          </a:p>
          <a:p>
            <a:pPr>
              <a:spcAft>
                <a:spcPts val="350"/>
              </a:spcAft>
            </a:pPr>
            <a:r>
              <a:rPr b="1" sz="1000">
                <a:solidFill>
                  <a:srgbClr val="FFFFFF"/>
                </a:solidFill>
              </a:rPr>
              <a:t>• Shannon Entropy Scanner: </a:t>
            </a:r>
            <a:r>
              <a:rPr sz="950">
                <a:solidFill>
                  <a:srgbClr val="CBD5E1"/>
                </a:solidFill>
              </a:rPr>
              <a:t>Calculates character bit entropy H &gt; 4.5 to detect API keys</a:t>
            </a:r>
          </a:p>
          <a:p>
            <a:pPr>
              <a:spcAft>
                <a:spcPts val="350"/>
              </a:spcAft>
            </a:pPr>
            <a:r>
              <a:rPr b="1" sz="1000">
                <a:solidFill>
                  <a:srgbClr val="FFFFFF"/>
                </a:solidFill>
              </a:rPr>
              <a:t>• Destructive Filter: </a:t>
            </a:r>
            <a:r>
              <a:rPr sz="950">
                <a:solidFill>
                  <a:srgbClr val="CBD5E1"/>
                </a:solidFill>
              </a:rPr>
              <a:t>Deterministic regex halting 'DROP TABLE', 'rm -rf'</a:t>
            </a:r>
          </a:p>
          <a:p>
            <a:pPr>
              <a:spcAft>
                <a:spcPts val="350"/>
              </a:spcAft>
            </a:pPr>
            <a:r>
              <a:rPr b="1" sz="1000">
                <a:solidFill>
                  <a:srgbClr val="FFFFFF"/>
                </a:solidFill>
              </a:rPr>
              <a:t>• DPDP Token Vault: </a:t>
            </a:r>
            <a:r>
              <a:rPr sz="950">
                <a:solidFill>
                  <a:srgbClr val="CBD5E1"/>
                </a:solidFill>
              </a:rPr>
              <a:t>Reversible pseudonymization of Aadhaar (12-d) &amp; PAN (10-c)</a:t>
            </a:r>
          </a:p>
          <a:p>
            <a:pPr>
              <a:spcAft>
                <a:spcPts val="350"/>
              </a:spcAft>
            </a:pPr>
            <a:r>
              <a:rPr b="1" sz="1000">
                <a:solidFill>
                  <a:srgbClr val="FFFFFF"/>
                </a:solidFill>
              </a:rPr>
              <a:t>• Risk Policy Engine: </a:t>
            </a:r>
            <a:r>
              <a:rPr sz="950">
                <a:solidFill>
                  <a:srgbClr val="CBD5E1"/>
                </a:solidFill>
              </a:rPr>
              <a:t>Adaptive weighted risk score emitting ALLOW, REVIEW, BLOCK</a:t>
            </a:r>
          </a:p>
        </p:txBody>
      </p:sp>
      <p:sp>
        <p:nvSpPr>
          <p:cNvPr id="6" name="Rounded Rectangle 5"/>
          <p:cNvSpPr/>
          <p:nvPr/>
        </p:nvSpPr>
        <p:spPr>
          <a:xfrm>
            <a:off x="2898648" y="1371600"/>
            <a:ext cx="2066543"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81528" y="1508760"/>
            <a:ext cx="1700783" cy="4663440"/>
          </a:xfrm>
          <a:prstGeom prst="rect">
            <a:avLst/>
          </a:prstGeom>
          <a:noFill/>
        </p:spPr>
        <p:txBody>
          <a:bodyPr wrap="square" lIns="0" tIns="0" rIns="0" bIns="0">
            <a:spAutoFit/>
          </a:bodyPr>
          <a:lstStyle/>
          <a:p>
            <a:pPr>
              <a:spcAft>
                <a:spcPts val="600"/>
              </a:spcAft>
              <a:defRPr sz="1250" b="1">
                <a:solidFill>
                  <a:srgbClr val="10B981"/>
                </a:solidFill>
              </a:defRPr>
            </a:pPr>
            <a:r>
              <a:t>2. Code Intelligence &amp; RAG</a:t>
            </a:r>
          </a:p>
          <a:p>
            <a:pPr>
              <a:spcAft>
                <a:spcPts val="350"/>
              </a:spcAft>
            </a:pPr>
            <a:r>
              <a:rPr b="1" sz="1000">
                <a:solidFill>
                  <a:srgbClr val="FFFFFF"/>
                </a:solidFill>
              </a:rPr>
              <a:t>• AST-Aware Chunking: </a:t>
            </a:r>
            <a:r>
              <a:rPr sz="950">
                <a:solidFill>
                  <a:srgbClr val="CBD5E1"/>
                </a:solidFill>
              </a:rPr>
              <a:t>Preserves function and class syntactic boundaries</a:t>
            </a:r>
          </a:p>
          <a:p>
            <a:pPr>
              <a:spcAft>
                <a:spcPts val="350"/>
              </a:spcAft>
            </a:pPr>
            <a:r>
              <a:rPr b="1" sz="1000">
                <a:solidFill>
                  <a:srgbClr val="FFFFFF"/>
                </a:solidFill>
              </a:rPr>
              <a:t>• Qdrant Vector DB: </a:t>
            </a:r>
            <a:r>
              <a:rPr sz="950">
                <a:solidFill>
                  <a:srgbClr val="CBD5E1"/>
                </a:solidFill>
              </a:rPr>
              <a:t>Stores 384-dimensional dense vector embeddings</a:t>
            </a:r>
          </a:p>
          <a:p>
            <a:pPr>
              <a:spcAft>
                <a:spcPts val="350"/>
              </a:spcAft>
            </a:pPr>
            <a:r>
              <a:rPr b="1" sz="1000">
                <a:solidFill>
                  <a:srgbClr val="FFFFFF"/>
                </a:solidFill>
              </a:rPr>
              <a:t>• Semantic Retrieval: </a:t>
            </a:r>
            <a:r>
              <a:rPr sz="950">
                <a:solidFill>
                  <a:srgbClr val="CBD5E1"/>
                </a:solidFill>
              </a:rPr>
              <a:t>Cosine similarity scoring with adaptive top-k evidence</a:t>
            </a:r>
          </a:p>
          <a:p>
            <a:pPr>
              <a:spcAft>
                <a:spcPts val="350"/>
              </a:spcAft>
            </a:pPr>
            <a:r>
              <a:rPr b="1" sz="1000">
                <a:solidFill>
                  <a:srgbClr val="FFFFFF"/>
                </a:solidFill>
              </a:rPr>
              <a:t>• AST Blast Radius: </a:t>
            </a:r>
            <a:r>
              <a:rPr sz="950">
                <a:solidFill>
                  <a:srgbClr val="CBD5E1"/>
                </a:solidFill>
              </a:rPr>
              <a:t>Static caller-callee graph computing regression impact</a:t>
            </a:r>
          </a:p>
        </p:txBody>
      </p:sp>
      <p:sp>
        <p:nvSpPr>
          <p:cNvPr id="8" name="Rounded Rectangle 7"/>
          <p:cNvSpPr/>
          <p:nvPr/>
        </p:nvSpPr>
        <p:spPr>
          <a:xfrm>
            <a:off x="5065776" y="1371600"/>
            <a:ext cx="2066543"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48656" y="1508760"/>
            <a:ext cx="1700783" cy="4663440"/>
          </a:xfrm>
          <a:prstGeom prst="rect">
            <a:avLst/>
          </a:prstGeom>
          <a:noFill/>
        </p:spPr>
        <p:txBody>
          <a:bodyPr wrap="square" lIns="0" tIns="0" rIns="0" bIns="0">
            <a:spAutoFit/>
          </a:bodyPr>
          <a:lstStyle/>
          <a:p>
            <a:pPr>
              <a:spcAft>
                <a:spcPts val="600"/>
              </a:spcAft>
              <a:defRPr sz="1250" b="1">
                <a:solidFill>
                  <a:srgbClr val="FBBF24"/>
                </a:solidFill>
              </a:defRPr>
            </a:pPr>
            <a:r>
              <a:t>3. Dual-Engine Inference</a:t>
            </a:r>
          </a:p>
          <a:p>
            <a:pPr>
              <a:spcAft>
                <a:spcPts val="350"/>
              </a:spcAft>
            </a:pPr>
            <a:r>
              <a:rPr b="1" sz="1000">
                <a:solidFill>
                  <a:srgbClr val="FFFFFF"/>
                </a:solidFill>
              </a:rPr>
              <a:t>• Air-Gapped Router: </a:t>
            </a:r>
            <a:r>
              <a:rPr sz="950">
                <a:solidFill>
                  <a:srgbClr val="CBD5E1"/>
                </a:solidFill>
              </a:rPr>
              <a:t>Sensitivity classifier inspecting prompt context</a:t>
            </a:r>
          </a:p>
          <a:p>
            <a:pPr>
              <a:spcAft>
                <a:spcPts val="350"/>
              </a:spcAft>
            </a:pPr>
            <a:r>
              <a:rPr b="1" sz="1000">
                <a:solidFill>
                  <a:srgbClr val="FFFFFF"/>
                </a:solidFill>
              </a:rPr>
              <a:t>• Cloud Engine: </a:t>
            </a:r>
            <a:r>
              <a:rPr sz="950">
                <a:solidFill>
                  <a:srgbClr val="CBD5E1"/>
                </a:solidFill>
              </a:rPr>
              <a:t>Google Gemini 2.0 Flash / Groq for public sanitized code</a:t>
            </a:r>
          </a:p>
          <a:p>
            <a:pPr>
              <a:spcAft>
                <a:spcPts val="350"/>
              </a:spcAft>
            </a:pPr>
            <a:r>
              <a:rPr b="1" sz="1000">
                <a:solidFill>
                  <a:srgbClr val="FFFFFF"/>
                </a:solidFill>
              </a:rPr>
              <a:t>• Local Privacy Engine: </a:t>
            </a:r>
            <a:r>
              <a:rPr sz="950">
                <a:solidFill>
                  <a:srgbClr val="CBD5E1"/>
                </a:solidFill>
              </a:rPr>
              <a:t>Ollama localhost:11434 (Qwen2.5-Coder:7b / Llama3.2)</a:t>
            </a:r>
          </a:p>
          <a:p>
            <a:pPr>
              <a:spcAft>
                <a:spcPts val="350"/>
              </a:spcAft>
            </a:pPr>
            <a:r>
              <a:rPr b="1" sz="1000">
                <a:solidFill>
                  <a:srgbClr val="FFFFFF"/>
                </a:solidFill>
              </a:rPr>
              <a:t>• Deterministic Fallback: </a:t>
            </a:r>
            <a:r>
              <a:rPr sz="950">
                <a:solidFill>
                  <a:srgbClr val="CBD5E1"/>
                </a:solidFill>
              </a:rPr>
              <a:t>Offline synthesizer guaranteeing zero-failure delivery</a:t>
            </a:r>
          </a:p>
        </p:txBody>
      </p:sp>
      <p:sp>
        <p:nvSpPr>
          <p:cNvPr id="10" name="Rounded Rectangle 9"/>
          <p:cNvSpPr/>
          <p:nvPr/>
        </p:nvSpPr>
        <p:spPr>
          <a:xfrm>
            <a:off x="7232904" y="1371600"/>
            <a:ext cx="2066543"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15784" y="1508760"/>
            <a:ext cx="1700783" cy="4663440"/>
          </a:xfrm>
          <a:prstGeom prst="rect">
            <a:avLst/>
          </a:prstGeom>
          <a:noFill/>
        </p:spPr>
        <p:txBody>
          <a:bodyPr wrap="square" lIns="0" tIns="0" rIns="0" bIns="0">
            <a:spAutoFit/>
          </a:bodyPr>
          <a:lstStyle/>
          <a:p>
            <a:pPr>
              <a:spcAft>
                <a:spcPts val="600"/>
              </a:spcAft>
              <a:defRPr sz="1250" b="1">
                <a:solidFill>
                  <a:srgbClr val="EF4444"/>
                </a:solidFill>
              </a:defRPr>
            </a:pPr>
            <a:r>
              <a:t>4. Verification &amp; Sandbox</a:t>
            </a:r>
          </a:p>
          <a:p>
            <a:pPr>
              <a:spcAft>
                <a:spcPts val="350"/>
              </a:spcAft>
            </a:pPr>
            <a:r>
              <a:rPr b="1" sz="1000">
                <a:solidFill>
                  <a:srgbClr val="FFFFFF"/>
                </a:solidFill>
              </a:rPr>
              <a:t>• AST Package Firewall: </a:t>
            </a:r>
            <a:r>
              <a:rPr sz="950">
                <a:solidFill>
                  <a:srgbClr val="CBD5E1"/>
                </a:solidFill>
              </a:rPr>
              <a:t>Traverses Import nodes &amp; queries live PyPI registry (&lt;5ms)</a:t>
            </a:r>
          </a:p>
          <a:p>
            <a:pPr>
              <a:spcAft>
                <a:spcPts val="350"/>
              </a:spcAft>
            </a:pPr>
            <a:r>
              <a:rPr b="1" sz="1000">
                <a:solidFill>
                  <a:srgbClr val="FFFFFF"/>
                </a:solidFill>
              </a:rPr>
              <a:t>• Slopsquatting Quarantine: </a:t>
            </a:r>
            <a:r>
              <a:rPr sz="950">
                <a:solidFill>
                  <a:srgbClr val="CBD5E1"/>
                </a:solidFill>
              </a:rPr>
              <a:t>Immediate pipeline halt upon HTTP 404 fake package</a:t>
            </a:r>
          </a:p>
          <a:p>
            <a:pPr>
              <a:spcAft>
                <a:spcPts val="350"/>
              </a:spcAft>
            </a:pPr>
            <a:r>
              <a:rPr b="1" sz="1000">
                <a:solidFill>
                  <a:srgbClr val="FFFFFF"/>
                </a:solidFill>
              </a:rPr>
              <a:t>• ReAct Sandbox: </a:t>
            </a:r>
            <a:r>
              <a:rPr sz="950">
                <a:solidFill>
                  <a:srgbClr val="CBD5E1"/>
                </a:solidFill>
              </a:rPr>
              <a:t>Subprocess pytest execution with strict 3.0s timeout</a:t>
            </a:r>
          </a:p>
          <a:p>
            <a:pPr>
              <a:spcAft>
                <a:spcPts val="350"/>
              </a:spcAft>
            </a:pPr>
            <a:r>
              <a:rPr b="1" sz="1000">
                <a:solidFill>
                  <a:srgbClr val="FFFFFF"/>
                </a:solidFill>
              </a:rPr>
              <a:t>• Self-Healing Engine: </a:t>
            </a:r>
            <a:r>
              <a:rPr sz="950">
                <a:solidFill>
                  <a:srgbClr val="CBD5E1"/>
                </a:solidFill>
              </a:rPr>
              <a:t>Extracts stderr tracebacks; auto-repairs code (N &lt;= 3)</a:t>
            </a:r>
          </a:p>
        </p:txBody>
      </p:sp>
      <p:sp>
        <p:nvSpPr>
          <p:cNvPr id="12" name="Rounded Rectangle 11"/>
          <p:cNvSpPr/>
          <p:nvPr/>
        </p:nvSpPr>
        <p:spPr>
          <a:xfrm>
            <a:off x="9400032" y="1371600"/>
            <a:ext cx="2066543"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82912" y="1508760"/>
            <a:ext cx="1700783" cy="4663440"/>
          </a:xfrm>
          <a:prstGeom prst="rect">
            <a:avLst/>
          </a:prstGeom>
          <a:noFill/>
        </p:spPr>
        <p:txBody>
          <a:bodyPr wrap="square" lIns="0" tIns="0" rIns="0" bIns="0">
            <a:spAutoFit/>
          </a:bodyPr>
          <a:lstStyle/>
          <a:p>
            <a:pPr>
              <a:spcAft>
                <a:spcPts val="600"/>
              </a:spcAft>
              <a:defRPr sz="1250" b="1">
                <a:solidFill>
                  <a:srgbClr val="00D2FF"/>
                </a:solidFill>
              </a:defRPr>
            </a:pPr>
            <a:r>
              <a:t>5. Interoperability &amp; Telemetry</a:t>
            </a:r>
          </a:p>
          <a:p>
            <a:pPr>
              <a:spcAft>
                <a:spcPts val="350"/>
              </a:spcAft>
            </a:pPr>
            <a:r>
              <a:rPr b="1" sz="1000">
                <a:solidFill>
                  <a:srgbClr val="FFFFFF"/>
                </a:solidFill>
              </a:rPr>
              <a:t>• MCP JSON-RPC Server: </a:t>
            </a:r>
            <a:r>
              <a:rPr sz="950">
                <a:solidFill>
                  <a:srgbClr val="CBD5E1"/>
                </a:solidFill>
              </a:rPr>
              <a:t>Exposes tools directly to Cursor IDE &amp; Claude Desktop</a:t>
            </a:r>
          </a:p>
          <a:p>
            <a:pPr>
              <a:spcAft>
                <a:spcPts val="350"/>
              </a:spcAft>
            </a:pPr>
            <a:r>
              <a:rPr b="1" sz="1000">
                <a:solidFill>
                  <a:srgbClr val="FFFFFF"/>
                </a:solidFill>
              </a:rPr>
              <a:t>• Mission Control Dashboard: </a:t>
            </a:r>
            <a:r>
              <a:rPr sz="950">
                <a:solidFill>
                  <a:srgbClr val="CBD5E1"/>
                </a:solidFill>
              </a:rPr>
              <a:t>Dark-mode SaaS UI with live SSE telemetry streaming</a:t>
            </a:r>
          </a:p>
          <a:p>
            <a:pPr>
              <a:spcAft>
                <a:spcPts val="350"/>
              </a:spcAft>
            </a:pPr>
            <a:r>
              <a:rPr b="1" sz="1000">
                <a:solidFill>
                  <a:srgbClr val="FFFFFF"/>
                </a:solidFill>
              </a:rPr>
              <a:t>• Groq Whisper Speech-to-Text: </a:t>
            </a:r>
            <a:r>
              <a:rPr sz="950">
                <a:solidFill>
                  <a:srgbClr val="CBD5E1"/>
                </a:solidFill>
              </a:rPr>
              <a:t>Voice-driven DevOps prompts with Web Speech fallback</a:t>
            </a:r>
          </a:p>
          <a:p>
            <a:pPr>
              <a:spcAft>
                <a:spcPts val="350"/>
              </a:spcAft>
            </a:pPr>
            <a:r>
              <a:rPr b="1" sz="1000">
                <a:solidFill>
                  <a:srgbClr val="FFFFFF"/>
                </a:solidFill>
              </a:rPr>
              <a:t>• Cryptographic SBOM: </a:t>
            </a:r>
            <a:r>
              <a:rPr sz="950">
                <a:solidFill>
                  <a:srgbClr val="CBD5E1"/>
                </a:solidFill>
              </a:rPr>
              <a:t>CycloneDX v1.5 JSON generator meeting SLSA Level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METHODOLOGY: CONCRETE IMPLEMENTATION ARCHITECTURE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End-to-End System Architecture: The 5-Tier Governed Stack</a:t>
            </a:r>
          </a:p>
        </p:txBody>
      </p:sp>
      <p:sp>
        <p:nvSpPr>
          <p:cNvPr id="4" name="Rounded Rectangle 3"/>
          <p:cNvSpPr/>
          <p:nvPr/>
        </p:nvSpPr>
        <p:spPr>
          <a:xfrm>
            <a:off x="731520" y="137160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10362895" cy="749808"/>
          </a:xfrm>
          <a:prstGeom prst="rect">
            <a:avLst/>
          </a:prstGeom>
          <a:noFill/>
        </p:spPr>
        <p:txBody>
          <a:bodyPr wrap="square" lIns="0" tIns="0" rIns="0" bIns="0">
            <a:spAutoFit/>
          </a:bodyPr>
          <a:lstStyle/>
          <a:p>
            <a:r>
              <a:rPr b="1" sz="1100">
                <a:solidFill>
                  <a:srgbClr val="FBBF24"/>
                </a:solidFill>
              </a:rPr>
              <a:t>Tier 1: Client &amp; IDE Layer — </a:t>
            </a:r>
            <a:r>
              <a:rPr sz="950" b="1">
                <a:solidFill>
                  <a:srgbClr val="10B981"/>
                </a:solidFill>
              </a:rPr>
              <a:t>Stack: CLI Terminal (main.py) | Mission Control Web UI (:8765) | Cursor IDE / Claude Desktop (via MCP)
</a:t>
            </a:r>
          </a:p>
          <a:p>
            <a:r>
              <a:rPr sz="900">
                <a:solidFill>
                  <a:srgbClr val="CBD5E1"/>
                </a:solidFill>
              </a:rPr>
              <a:t>Operational Flow: Developers interact via terminal CLI, dark-mode browser dashboard, or native IDE tools. Voice input transcribed via Groq Whisper API.</a:t>
            </a:r>
          </a:p>
        </p:txBody>
      </p:sp>
      <p:sp>
        <p:nvSpPr>
          <p:cNvPr id="6" name="Rounded Rectangle 5"/>
          <p:cNvSpPr/>
          <p:nvPr/>
        </p:nvSpPr>
        <p:spPr>
          <a:xfrm>
            <a:off x="731520" y="2377440"/>
            <a:ext cx="10728655" cy="896112"/>
          </a:xfrm>
          <a:prstGeom prst="roundRect">
            <a:avLst/>
          </a:prstGeom>
          <a:solidFill>
            <a:srgbClr val="12151D"/>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50592"/>
            <a:ext cx="10362895" cy="749808"/>
          </a:xfrm>
          <a:prstGeom prst="rect">
            <a:avLst/>
          </a:prstGeom>
          <a:noFill/>
        </p:spPr>
        <p:txBody>
          <a:bodyPr wrap="square" lIns="0" tIns="0" rIns="0" bIns="0">
            <a:spAutoFit/>
          </a:bodyPr>
          <a:lstStyle/>
          <a:p>
            <a:r>
              <a:rPr b="1" sz="1100">
                <a:solidFill>
                  <a:srgbClr val="FBBF24"/>
                </a:solidFill>
              </a:rPr>
              <a:t>Tier 2: Governance Gateway — </a:t>
            </a:r>
            <a:r>
              <a:rPr sz="950" b="1">
                <a:solidFill>
                  <a:srgbClr val="10B981"/>
                </a:solidFill>
              </a:rPr>
              <a:t>Stack: MCP Server (JSON-RPC 2.0) | AST Ingestion | Shannon Entropy Scanner (H &gt; 4.5) | DPDP Token Vault
</a:t>
            </a:r>
          </a:p>
          <a:p>
            <a:r>
              <a:rPr sz="900">
                <a:solidFill>
                  <a:srgbClr val="CBD5E1"/>
                </a:solidFill>
              </a:rPr>
              <a:t>Operational Flow: Intercepts prompts BEFORE tokenization. Flags destructive commands ('DROP TABLE'), scrubs Indian PII into reversible tokens, halts high-entropy secrets.</a:t>
            </a:r>
          </a:p>
        </p:txBody>
      </p:sp>
      <p:sp>
        <p:nvSpPr>
          <p:cNvPr id="8" name="Rounded Rectangle 7"/>
          <p:cNvSpPr/>
          <p:nvPr/>
        </p:nvSpPr>
        <p:spPr>
          <a:xfrm>
            <a:off x="731520" y="338328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56432"/>
            <a:ext cx="10362895" cy="749808"/>
          </a:xfrm>
          <a:prstGeom prst="rect">
            <a:avLst/>
          </a:prstGeom>
          <a:noFill/>
        </p:spPr>
        <p:txBody>
          <a:bodyPr wrap="square" lIns="0" tIns="0" rIns="0" bIns="0">
            <a:spAutoFit/>
          </a:bodyPr>
          <a:lstStyle/>
          <a:p>
            <a:r>
              <a:rPr b="1" sz="1100">
                <a:solidFill>
                  <a:srgbClr val="FBBF24"/>
                </a:solidFill>
              </a:rPr>
              <a:t>Tier 3: Repository Intelligence — </a:t>
            </a:r>
            <a:r>
              <a:rPr sz="950" b="1">
                <a:solidFill>
                  <a:srgbClr val="10B981"/>
                </a:solidFill>
              </a:rPr>
              <a:t>Stack: Qdrant Vector Database | 384-d MiniLM Embeddings | AST Blast-Radius Engine | Sensitivity Router
</a:t>
            </a:r>
          </a:p>
          <a:p>
            <a:r>
              <a:rPr sz="900">
                <a:solidFill>
                  <a:srgbClr val="CBD5E1"/>
                </a:solidFill>
              </a:rPr>
              <a:t>Operational Flow: Retrieves AST-aware code chunks via cosine similarity. Parses repository AST into caller-callee call graphs to predict downstream regressions.</a:t>
            </a:r>
          </a:p>
        </p:txBody>
      </p:sp>
      <p:sp>
        <p:nvSpPr>
          <p:cNvPr id="10" name="Rounded Rectangle 9"/>
          <p:cNvSpPr/>
          <p:nvPr/>
        </p:nvSpPr>
        <p:spPr>
          <a:xfrm>
            <a:off x="731520" y="4389120"/>
            <a:ext cx="10728655" cy="896112"/>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62272"/>
            <a:ext cx="10362895" cy="749808"/>
          </a:xfrm>
          <a:prstGeom prst="rect">
            <a:avLst/>
          </a:prstGeom>
          <a:noFill/>
        </p:spPr>
        <p:txBody>
          <a:bodyPr wrap="square" lIns="0" tIns="0" rIns="0" bIns="0">
            <a:spAutoFit/>
          </a:bodyPr>
          <a:lstStyle/>
          <a:p>
            <a:r>
              <a:rPr b="1" sz="1100">
                <a:solidFill>
                  <a:srgbClr val="FBBF24"/>
                </a:solidFill>
              </a:rPr>
              <a:t>Tier 4: Synthesis &amp; Inference — </a:t>
            </a:r>
            <a:r>
              <a:rPr sz="950" b="1">
                <a:solidFill>
                  <a:srgbClr val="10B981"/>
                </a:solidFill>
              </a:rPr>
              <a:t>Stack: Cloud Engine: Google Gemini 2.0 Flash / Groq | Local Engine: Ollama Qwen2.5-Coder:7b | Fallback Engine
</a:t>
            </a:r>
          </a:p>
          <a:p>
            <a:r>
              <a:rPr sz="900">
                <a:solidFill>
                  <a:srgbClr val="CBD5E1"/>
                </a:solidFill>
              </a:rPr>
              <a:t>Operational Flow: Sensitivity router directs sanitized public code to Gemini 2.0 Flash, and confidential proprietary IP to local air-gapped Ollama instance.</a:t>
            </a:r>
          </a:p>
        </p:txBody>
      </p:sp>
      <p:sp>
        <p:nvSpPr>
          <p:cNvPr id="12" name="Rounded Rectangle 11"/>
          <p:cNvSpPr/>
          <p:nvPr/>
        </p:nvSpPr>
        <p:spPr>
          <a:xfrm>
            <a:off x="731520" y="5394960"/>
            <a:ext cx="10728655" cy="896112"/>
          </a:xfrm>
          <a:prstGeom prst="roundRect">
            <a:avLst/>
          </a:prstGeom>
          <a:solidFill>
            <a:srgbClr val="12151D"/>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68112"/>
            <a:ext cx="10362895" cy="749808"/>
          </a:xfrm>
          <a:prstGeom prst="rect">
            <a:avLst/>
          </a:prstGeom>
          <a:noFill/>
        </p:spPr>
        <p:txBody>
          <a:bodyPr wrap="square" lIns="0" tIns="0" rIns="0" bIns="0">
            <a:spAutoFit/>
          </a:bodyPr>
          <a:lstStyle/>
          <a:p>
            <a:r>
              <a:rPr b="1" sz="1100">
                <a:solidFill>
                  <a:srgbClr val="FBBF24"/>
                </a:solidFill>
              </a:rPr>
              <a:t>Tier 5: Verification &amp; Sandbox — </a:t>
            </a:r>
            <a:r>
              <a:rPr sz="950" b="1">
                <a:solidFill>
                  <a:srgbClr val="10B981"/>
                </a:solidFill>
              </a:rPr>
              <a:t>Stack: AST Package Firewall (PyPI Registry) | Ephemeral Subprocess Sandbox | ReAct Self-Healer | CycloneDX SBOM
</a:t>
            </a:r>
          </a:p>
          <a:p>
            <a:r>
              <a:rPr sz="900">
                <a:solidFill>
                  <a:srgbClr val="CBD5E1"/>
                </a:solidFill>
              </a:rPr>
              <a:t>Operational Flow: Inspects imports against PyPI to stop slopsquatting. Executes tests in sandboxed subprocess; auto-repairs tracebacks (max 3x); generates SBOM.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METHODOLOGY: FORMAL WORKFLOW STATES &amp; GUARDRAILS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The 6-Stage Governed Execution Lifecycle (Finite State Machine)</a:t>
            </a:r>
          </a:p>
        </p:txBody>
      </p:sp>
      <p:sp>
        <p:nvSpPr>
          <p:cNvPr id="4" name="Rounded Rectangle 3"/>
          <p:cNvSpPr/>
          <p:nvPr/>
        </p:nvSpPr>
        <p:spPr>
          <a:xfrm>
            <a:off x="731520" y="137160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017520" cy="2057400"/>
          </a:xfrm>
          <a:prstGeom prst="rect">
            <a:avLst/>
          </a:prstGeom>
          <a:noFill/>
        </p:spPr>
        <p:txBody>
          <a:bodyPr wrap="square" lIns="0" tIns="0" rIns="0" bIns="0">
            <a:spAutoFit/>
          </a:bodyPr>
          <a:lstStyle/>
          <a:p>
            <a:pPr>
              <a:spcAft>
                <a:spcPts val="600"/>
              </a:spcAft>
              <a:defRPr sz="1250" b="1">
                <a:solidFill>
                  <a:srgbClr val="00D2FF"/>
                </a:solidFill>
              </a:defRPr>
            </a:pPr>
            <a:r>
              <a:t>Stage 1: Sentinel Screening</a:t>
            </a:r>
          </a:p>
          <a:p>
            <a:pPr>
              <a:spcAft>
                <a:spcPts val="350"/>
              </a:spcAft>
            </a:pPr>
            <a:r>
              <a:rPr b="1" sz="1000">
                <a:solidFill>
                  <a:srgbClr val="FFFFFF"/>
                </a:solidFill>
              </a:rPr>
              <a:t>• Role: </a:t>
            </a:r>
            <a:r>
              <a:rPr sz="950">
                <a:solidFill>
                  <a:srgbClr val="CBD5E1"/>
                </a:solidFill>
              </a:rPr>
              <a:t>Pre-Execution Guard</a:t>
            </a:r>
          </a:p>
          <a:p>
            <a:pPr>
              <a:spcAft>
                <a:spcPts val="350"/>
              </a:spcAft>
            </a:pPr>
            <a:r>
              <a:rPr b="1" sz="1000">
                <a:solidFill>
                  <a:srgbClr val="FFFFFF"/>
                </a:solidFill>
              </a:rPr>
              <a:t>• Mechanism: </a:t>
            </a:r>
            <a:r>
              <a:rPr sz="950">
                <a:solidFill>
                  <a:srgbClr val="CBD5E1"/>
                </a:solidFill>
              </a:rPr>
              <a:t>Shannon Entropy + Regex Heuristics</a:t>
            </a:r>
          </a:p>
          <a:p>
            <a:pPr>
              <a:spcAft>
                <a:spcPts val="350"/>
              </a:spcAft>
            </a:pPr>
            <a:r>
              <a:rPr b="1" sz="1000">
                <a:solidFill>
                  <a:srgbClr val="FFFFFF"/>
                </a:solidFill>
              </a:rPr>
              <a:t>• Governance Flow: </a:t>
            </a:r>
            <a:r>
              <a:rPr sz="950">
                <a:solidFill>
                  <a:srgbClr val="CBD5E1"/>
                </a:solidFill>
              </a:rPr>
              <a:t>Calculates entropy H(X) over prompt tokens. Detects AWS/GitHub keys and Indian Aadhaar/PAN. If destructive SQL/shell command detected -&gt; Emits BLOCKED and halts pipeline immediately.</a:t>
            </a:r>
          </a:p>
        </p:txBody>
      </p:sp>
      <p:sp>
        <p:nvSpPr>
          <p:cNvPr id="6" name="Rounded Rectangle 5"/>
          <p:cNvSpPr/>
          <p:nvPr/>
        </p:nvSpPr>
        <p:spPr>
          <a:xfrm>
            <a:off x="4389120" y="137160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08760"/>
            <a:ext cx="3017520" cy="2057400"/>
          </a:xfrm>
          <a:prstGeom prst="rect">
            <a:avLst/>
          </a:prstGeom>
          <a:noFill/>
        </p:spPr>
        <p:txBody>
          <a:bodyPr wrap="square" lIns="0" tIns="0" rIns="0" bIns="0">
            <a:spAutoFit/>
          </a:bodyPr>
          <a:lstStyle/>
          <a:p>
            <a:pPr>
              <a:spcAft>
                <a:spcPts val="600"/>
              </a:spcAft>
              <a:defRPr sz="1250" b="1">
                <a:solidFill>
                  <a:srgbClr val="00D2FF"/>
                </a:solidFill>
              </a:defRPr>
            </a:pPr>
            <a:r>
              <a:t>Stage 2: Qdrant Context Retrieval</a:t>
            </a:r>
          </a:p>
          <a:p>
            <a:pPr>
              <a:spcAft>
                <a:spcPts val="350"/>
              </a:spcAft>
            </a:pPr>
            <a:r>
              <a:rPr b="1" sz="1000">
                <a:solidFill>
                  <a:srgbClr val="FFFFFF"/>
                </a:solidFill>
              </a:rPr>
              <a:t>• Role: </a:t>
            </a:r>
            <a:r>
              <a:rPr sz="950">
                <a:solidFill>
                  <a:srgbClr val="CBD5E1"/>
                </a:solidFill>
              </a:rPr>
              <a:t>Semantic RAG</a:t>
            </a:r>
          </a:p>
          <a:p>
            <a:pPr>
              <a:spcAft>
                <a:spcPts val="350"/>
              </a:spcAft>
            </a:pPr>
            <a:r>
              <a:rPr b="1" sz="1000">
                <a:solidFill>
                  <a:srgbClr val="FFFFFF"/>
                </a:solidFill>
              </a:rPr>
              <a:t>• Mechanism: </a:t>
            </a:r>
            <a:r>
              <a:rPr sz="950">
                <a:solidFill>
                  <a:srgbClr val="CBD5E1"/>
                </a:solidFill>
              </a:rPr>
              <a:t>Dense Vector Cosine Similarity</a:t>
            </a:r>
          </a:p>
          <a:p>
            <a:pPr>
              <a:spcAft>
                <a:spcPts val="350"/>
              </a:spcAft>
            </a:pPr>
            <a:r>
              <a:rPr b="1" sz="1000">
                <a:solidFill>
                  <a:srgbClr val="FFFFFF"/>
                </a:solidFill>
              </a:rPr>
              <a:t>• Governance Flow: </a:t>
            </a:r>
            <a:r>
              <a:rPr sz="950">
                <a:solidFill>
                  <a:srgbClr val="CBD5E1"/>
                </a:solidFill>
              </a:rPr>
              <a:t>Dynamically evaluates if codebase context is needed. Embeds prompt using all-MiniLM-L6-v2 (384-d) and queries Qdrant vector database for AST-aware code chunks (cosine sim &gt; 0.70).</a:t>
            </a:r>
          </a:p>
        </p:txBody>
      </p:sp>
      <p:sp>
        <p:nvSpPr>
          <p:cNvPr id="8" name="Rounded Rectangle 7"/>
          <p:cNvSpPr/>
          <p:nvPr/>
        </p:nvSpPr>
        <p:spPr>
          <a:xfrm>
            <a:off x="8046720" y="137160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08760"/>
            <a:ext cx="3017520" cy="2057400"/>
          </a:xfrm>
          <a:prstGeom prst="rect">
            <a:avLst/>
          </a:prstGeom>
          <a:noFill/>
        </p:spPr>
        <p:txBody>
          <a:bodyPr wrap="square" lIns="0" tIns="0" rIns="0" bIns="0">
            <a:spAutoFit/>
          </a:bodyPr>
          <a:lstStyle/>
          <a:p>
            <a:pPr>
              <a:spcAft>
                <a:spcPts val="600"/>
              </a:spcAft>
              <a:defRPr sz="1250" b="1">
                <a:solidFill>
                  <a:srgbClr val="00D2FF"/>
                </a:solidFill>
              </a:defRPr>
            </a:pPr>
            <a:r>
              <a:t>Stage 3: AST Blast Radius Analysis</a:t>
            </a:r>
          </a:p>
          <a:p>
            <a:pPr>
              <a:spcAft>
                <a:spcPts val="350"/>
              </a:spcAft>
            </a:pPr>
            <a:r>
              <a:rPr b="1" sz="1000">
                <a:solidFill>
                  <a:srgbClr val="FFFFFF"/>
                </a:solidFill>
              </a:rPr>
              <a:t>• Role: </a:t>
            </a:r>
            <a:r>
              <a:rPr sz="950">
                <a:solidFill>
                  <a:srgbClr val="CBD5E1"/>
                </a:solidFill>
              </a:rPr>
              <a:t>Regression Guard</a:t>
            </a:r>
          </a:p>
          <a:p>
            <a:pPr>
              <a:spcAft>
                <a:spcPts val="350"/>
              </a:spcAft>
            </a:pPr>
            <a:r>
              <a:rPr b="1" sz="1000">
                <a:solidFill>
                  <a:srgbClr val="FFFFFF"/>
                </a:solidFill>
              </a:rPr>
              <a:t>• Mechanism: </a:t>
            </a:r>
            <a:r>
              <a:rPr sz="950">
                <a:solidFill>
                  <a:srgbClr val="CBD5E1"/>
                </a:solidFill>
              </a:rPr>
              <a:t>Static Caller-Callee Call Graph</a:t>
            </a:r>
          </a:p>
          <a:p>
            <a:pPr>
              <a:spcAft>
                <a:spcPts val="350"/>
              </a:spcAft>
            </a:pPr>
            <a:r>
              <a:rPr b="1" sz="1000">
                <a:solidFill>
                  <a:srgbClr val="FFFFFF"/>
                </a:solidFill>
              </a:rPr>
              <a:t>• Governance Flow: </a:t>
            </a:r>
            <a:r>
              <a:rPr sz="950">
                <a:solidFill>
                  <a:srgbClr val="CBD5E1"/>
                </a:solidFill>
              </a:rPr>
              <a:t>Parses target files with Python 'ast' module. Constructs adjacency matrix representing function calls and imports. Calculates percentage of repository affected by proposed patch.</a:t>
            </a:r>
          </a:p>
        </p:txBody>
      </p:sp>
      <p:sp>
        <p:nvSpPr>
          <p:cNvPr id="10" name="Rounded Rectangle 9"/>
          <p:cNvSpPr/>
          <p:nvPr/>
        </p:nvSpPr>
        <p:spPr>
          <a:xfrm>
            <a:off x="731520" y="384048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40"/>
            <a:ext cx="3017520" cy="2057400"/>
          </a:xfrm>
          <a:prstGeom prst="rect">
            <a:avLst/>
          </a:prstGeom>
          <a:noFill/>
        </p:spPr>
        <p:txBody>
          <a:bodyPr wrap="square" lIns="0" tIns="0" rIns="0" bIns="0">
            <a:spAutoFit/>
          </a:bodyPr>
          <a:lstStyle/>
          <a:p>
            <a:pPr>
              <a:spcAft>
                <a:spcPts val="600"/>
              </a:spcAft>
              <a:defRPr sz="1250" b="1">
                <a:solidFill>
                  <a:srgbClr val="10B981"/>
                </a:solidFill>
              </a:defRPr>
            </a:pPr>
            <a:r>
              <a:t>Stage 4: Dual-Engine LLM Generation</a:t>
            </a:r>
          </a:p>
          <a:p>
            <a:pPr>
              <a:spcAft>
                <a:spcPts val="350"/>
              </a:spcAft>
            </a:pPr>
            <a:r>
              <a:rPr b="1" sz="1000">
                <a:solidFill>
                  <a:srgbClr val="FFFFFF"/>
                </a:solidFill>
              </a:rPr>
              <a:t>• Role: </a:t>
            </a:r>
            <a:r>
              <a:rPr sz="950">
                <a:solidFill>
                  <a:srgbClr val="CBD5E1"/>
                </a:solidFill>
              </a:rPr>
              <a:t>Inference Router</a:t>
            </a:r>
          </a:p>
          <a:p>
            <a:pPr>
              <a:spcAft>
                <a:spcPts val="350"/>
              </a:spcAft>
            </a:pPr>
            <a:r>
              <a:rPr b="1" sz="1000">
                <a:solidFill>
                  <a:srgbClr val="FFFFFF"/>
                </a:solidFill>
              </a:rPr>
              <a:t>• Mechanism: </a:t>
            </a:r>
            <a:r>
              <a:rPr sz="950">
                <a:solidFill>
                  <a:srgbClr val="CBD5E1"/>
                </a:solidFill>
              </a:rPr>
              <a:t>Air-Gapped Privacy Router</a:t>
            </a:r>
          </a:p>
          <a:p>
            <a:pPr>
              <a:spcAft>
                <a:spcPts val="350"/>
              </a:spcAft>
            </a:pPr>
            <a:r>
              <a:rPr b="1" sz="1000">
                <a:solidFill>
                  <a:srgbClr val="FFFFFF"/>
                </a:solidFill>
              </a:rPr>
              <a:t>• Governance Flow: </a:t>
            </a:r>
            <a:r>
              <a:rPr sz="950">
                <a:solidFill>
                  <a:srgbClr val="CBD5E1"/>
                </a:solidFill>
              </a:rPr>
              <a:t>Checks prompt data sensitivity. Routes public sanitized requests to Google Gemini 2.0 Flash; routes confidential IP to local Ollama (Qwen2.5-Coder:7b). Synthesizes candidate patch.</a:t>
            </a:r>
          </a:p>
        </p:txBody>
      </p:sp>
      <p:sp>
        <p:nvSpPr>
          <p:cNvPr id="12" name="Rounded Rectangle 11"/>
          <p:cNvSpPr/>
          <p:nvPr/>
        </p:nvSpPr>
        <p:spPr>
          <a:xfrm>
            <a:off x="4389120" y="384048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977640"/>
            <a:ext cx="3017520" cy="2057400"/>
          </a:xfrm>
          <a:prstGeom prst="rect">
            <a:avLst/>
          </a:prstGeom>
          <a:noFill/>
        </p:spPr>
        <p:txBody>
          <a:bodyPr wrap="square" lIns="0" tIns="0" rIns="0" bIns="0">
            <a:spAutoFit/>
          </a:bodyPr>
          <a:lstStyle/>
          <a:p>
            <a:pPr>
              <a:spcAft>
                <a:spcPts val="600"/>
              </a:spcAft>
              <a:defRPr sz="1250" b="1">
                <a:solidFill>
                  <a:srgbClr val="10B981"/>
                </a:solidFill>
              </a:defRPr>
            </a:pPr>
            <a:r>
              <a:t>Stage 5: AST Package Firewall</a:t>
            </a:r>
          </a:p>
          <a:p>
            <a:pPr>
              <a:spcAft>
                <a:spcPts val="350"/>
              </a:spcAft>
            </a:pPr>
            <a:r>
              <a:rPr b="1" sz="1000">
                <a:solidFill>
                  <a:srgbClr val="FFFFFF"/>
                </a:solidFill>
              </a:rPr>
              <a:t>• Role: </a:t>
            </a:r>
            <a:r>
              <a:rPr sz="950">
                <a:solidFill>
                  <a:srgbClr val="CBD5E1"/>
                </a:solidFill>
              </a:rPr>
              <a:t>Supply-Chain Guard</a:t>
            </a:r>
          </a:p>
          <a:p>
            <a:pPr>
              <a:spcAft>
                <a:spcPts val="350"/>
              </a:spcAft>
            </a:pPr>
            <a:r>
              <a:rPr b="1" sz="1000">
                <a:solidFill>
                  <a:srgbClr val="FFFFFF"/>
                </a:solidFill>
              </a:rPr>
              <a:t>• Mechanism: </a:t>
            </a:r>
            <a:r>
              <a:rPr sz="950">
                <a:solidFill>
                  <a:srgbClr val="CBD5E1"/>
                </a:solidFill>
              </a:rPr>
              <a:t>AST ImportVisitor + Live PyPI JSON API</a:t>
            </a:r>
          </a:p>
          <a:p>
            <a:pPr>
              <a:spcAft>
                <a:spcPts val="350"/>
              </a:spcAft>
            </a:pPr>
            <a:r>
              <a:rPr b="1" sz="1000">
                <a:solidFill>
                  <a:srgbClr val="FFFFFF"/>
                </a:solidFill>
              </a:rPr>
              <a:t>• Governance Flow: </a:t>
            </a:r>
            <a:r>
              <a:rPr sz="950">
                <a:solidFill>
                  <a:srgbClr val="CBD5E1"/>
                </a:solidFill>
              </a:rPr>
              <a:t>Extracts all 'Import' and 'ImportFrom' nodes. Checks against standard library, local files, LRU cache, and live PyPI API (&lt;5ms). If HTTP 404 -&gt; Halts pipeline to prevent slopsquatting.</a:t>
            </a:r>
          </a:p>
        </p:txBody>
      </p:sp>
      <p:sp>
        <p:nvSpPr>
          <p:cNvPr id="14" name="Rounded Rectangle 13"/>
          <p:cNvSpPr/>
          <p:nvPr/>
        </p:nvSpPr>
        <p:spPr>
          <a:xfrm>
            <a:off x="8046720" y="3840480"/>
            <a:ext cx="33832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3977640"/>
            <a:ext cx="3017520" cy="2057400"/>
          </a:xfrm>
          <a:prstGeom prst="rect">
            <a:avLst/>
          </a:prstGeom>
          <a:noFill/>
        </p:spPr>
        <p:txBody>
          <a:bodyPr wrap="square" lIns="0" tIns="0" rIns="0" bIns="0">
            <a:spAutoFit/>
          </a:bodyPr>
          <a:lstStyle/>
          <a:p>
            <a:pPr>
              <a:spcAft>
                <a:spcPts val="600"/>
              </a:spcAft>
              <a:defRPr sz="1250" b="1">
                <a:solidFill>
                  <a:srgbClr val="10B981"/>
                </a:solidFill>
              </a:defRPr>
            </a:pPr>
            <a:r>
              <a:t>Stage 6: ReAct Ephemeral Sandbox</a:t>
            </a:r>
          </a:p>
          <a:p>
            <a:pPr>
              <a:spcAft>
                <a:spcPts val="350"/>
              </a:spcAft>
            </a:pPr>
            <a:r>
              <a:rPr b="1" sz="1000">
                <a:solidFill>
                  <a:srgbClr val="FFFFFF"/>
                </a:solidFill>
              </a:rPr>
              <a:t>• Role: </a:t>
            </a:r>
            <a:r>
              <a:rPr sz="950">
                <a:solidFill>
                  <a:srgbClr val="CBD5E1"/>
                </a:solidFill>
              </a:rPr>
              <a:t>Self-Healing Loop</a:t>
            </a:r>
          </a:p>
          <a:p>
            <a:pPr>
              <a:spcAft>
                <a:spcPts val="350"/>
              </a:spcAft>
            </a:pPr>
            <a:r>
              <a:rPr b="1" sz="1000">
                <a:solidFill>
                  <a:srgbClr val="FFFFFF"/>
                </a:solidFill>
              </a:rPr>
              <a:t>• Mechanism: </a:t>
            </a:r>
            <a:r>
              <a:rPr sz="950">
                <a:solidFill>
                  <a:srgbClr val="CBD5E1"/>
                </a:solidFill>
              </a:rPr>
              <a:t>Subprocess Pytest Execution + Reflection</a:t>
            </a:r>
          </a:p>
          <a:p>
            <a:pPr>
              <a:spcAft>
                <a:spcPts val="350"/>
              </a:spcAft>
            </a:pPr>
            <a:r>
              <a:rPr b="1" sz="1000">
                <a:solidFill>
                  <a:srgbClr val="FFFFFF"/>
                </a:solidFill>
              </a:rPr>
              <a:t>• Governance Flow: </a:t>
            </a:r>
            <a:r>
              <a:rPr sz="950">
                <a:solidFill>
                  <a:srgbClr val="CBD5E1"/>
                </a:solidFill>
              </a:rPr>
              <a:t>Executes unit tests in an isolated ephemeral subprocess (3.0s timeout). If assertions fail, captures stderr traceback and feeds to ReAct repair prompt (max 3 iterations; 90% auto-recovery).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METHODOLOGY: MATHEMATICAL RIGOR &amp; FORMAL ALGORITHMIC FORMULATIONS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Mathematical Foundations: Information Theory, Policy Logic &amp; Graphs</a:t>
            </a:r>
          </a:p>
        </p:txBody>
      </p:sp>
      <p:sp>
        <p:nvSpPr>
          <p:cNvPr id="4" name="Rounded Rectangle 3"/>
          <p:cNvSpPr/>
          <p:nvPr/>
        </p:nvSpPr>
        <p:spPr>
          <a:xfrm>
            <a:off x="731520" y="1371600"/>
            <a:ext cx="5120640" cy="237744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2103120"/>
          </a:xfrm>
          <a:prstGeom prst="rect">
            <a:avLst/>
          </a:prstGeom>
          <a:noFill/>
        </p:spPr>
        <p:txBody>
          <a:bodyPr wrap="square" lIns="0" tIns="0" rIns="0" bIns="0">
            <a:spAutoFit/>
          </a:bodyPr>
          <a:lstStyle/>
          <a:p>
            <a:pPr>
              <a:spcAft>
                <a:spcPts val="600"/>
              </a:spcAft>
              <a:defRPr sz="1250" b="1">
                <a:solidFill>
                  <a:srgbClr val="00D2FF"/>
                </a:solidFill>
              </a:defRPr>
            </a:pPr>
            <a:r>
              <a:t>1. Shannon Entropy for Credential Detection</a:t>
            </a:r>
          </a:p>
          <a:p>
            <a:pPr>
              <a:spcAft>
                <a:spcPts val="350"/>
              </a:spcAft>
            </a:pPr>
            <a:r>
              <a:rPr b="1" sz="1000">
                <a:solidFill>
                  <a:srgbClr val="FFFFFF"/>
                </a:solidFill>
              </a:rPr>
              <a:t>• Mathematical Formulation: </a:t>
            </a:r>
            <a:r>
              <a:rPr sz="950">
                <a:solidFill>
                  <a:srgbClr val="CBD5E1"/>
                </a:solidFill>
              </a:rPr>
              <a:t>H(X) = -sum(p(x_i) * log2(p(x_i))) over character frequency distribution p(x_i).</a:t>
            </a:r>
          </a:p>
          <a:p>
            <a:pPr>
              <a:spcAft>
                <a:spcPts val="350"/>
              </a:spcAft>
            </a:pPr>
            <a:r>
              <a:rPr b="1" sz="1000">
                <a:solidFill>
                  <a:srgbClr val="FFFFFF"/>
                </a:solidFill>
              </a:rPr>
              <a:t>• Information Theory Grounding: </a:t>
            </a:r>
            <a:r>
              <a:rPr sz="950">
                <a:solidFill>
                  <a:srgbClr val="CBD5E1"/>
                </a:solidFill>
              </a:rPr>
              <a:t>Measures bit randomness. Natural language code has low entropy (H = 1.5 - 3.2). Cryptographically random secrets (AWS AKIA, GitHub PAT, JWT) exhibit H &gt; 4.5.</a:t>
            </a:r>
          </a:p>
          <a:p>
            <a:pPr>
              <a:spcAft>
                <a:spcPts val="350"/>
              </a:spcAft>
            </a:pPr>
            <a:r>
              <a:rPr b="1" sz="1000">
                <a:solidFill>
                  <a:srgbClr val="FFFFFF"/>
                </a:solidFill>
              </a:rPr>
              <a:t>• Deterministic Action: </a:t>
            </a:r>
            <a:r>
              <a:rPr sz="950">
                <a:solidFill>
                  <a:srgbClr val="CBD5E1"/>
                </a:solidFill>
              </a:rPr>
              <a:t>If token length &gt;= 20 and H(X) &gt; 4.5 -&gt; Instant quarantine; halts execution before LLM invocation.</a:t>
            </a:r>
          </a:p>
        </p:txBody>
      </p:sp>
      <p:sp>
        <p:nvSpPr>
          <p:cNvPr id="6" name="Rounded Rectangle 5"/>
          <p:cNvSpPr/>
          <p:nvPr/>
        </p:nvSpPr>
        <p:spPr>
          <a:xfrm>
            <a:off x="6217920" y="1371600"/>
            <a:ext cx="5212080" cy="237744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2103120"/>
          </a:xfrm>
          <a:prstGeom prst="rect">
            <a:avLst/>
          </a:prstGeom>
          <a:noFill/>
        </p:spPr>
        <p:txBody>
          <a:bodyPr wrap="square" lIns="0" tIns="0" rIns="0" bIns="0">
            <a:spAutoFit/>
          </a:bodyPr>
          <a:lstStyle/>
          <a:p>
            <a:pPr>
              <a:spcAft>
                <a:spcPts val="600"/>
              </a:spcAft>
              <a:defRPr sz="1250" b="1">
                <a:solidFill>
                  <a:srgbClr val="FBBF24"/>
                </a:solidFill>
              </a:defRPr>
            </a:pPr>
            <a:r>
              <a:t>2. Risk-Adaptive Policy Decision Matrix</a:t>
            </a:r>
          </a:p>
          <a:p>
            <a:pPr>
              <a:spcAft>
                <a:spcPts val="350"/>
              </a:spcAft>
            </a:pPr>
            <a:r>
              <a:rPr b="1" sz="1000">
                <a:solidFill>
                  <a:srgbClr val="FFFFFF"/>
                </a:solidFill>
              </a:rPr>
              <a:t>• Mathematical Formulation: </a:t>
            </a:r>
            <a:r>
              <a:rPr sz="950">
                <a:solidFill>
                  <a:srgbClr val="CBD5E1"/>
                </a:solidFill>
              </a:rPr>
              <a:t>Risk Score = w1*ActionRisk + w2*FindingSeverity + w3*ExposureLevel (w1=0.35, w2=0.45, w3=0.20).</a:t>
            </a:r>
          </a:p>
          <a:p>
            <a:pPr>
              <a:spcAft>
                <a:spcPts val="350"/>
              </a:spcAft>
            </a:pPr>
            <a:r>
              <a:rPr b="1" sz="1000">
                <a:solidFill>
                  <a:srgbClr val="FFFFFF"/>
                </a:solidFill>
              </a:rPr>
              <a:t>• State Thresholds: </a:t>
            </a:r>
            <a:r>
              <a:rPr sz="950">
                <a:solidFill>
                  <a:srgbClr val="CBD5E1"/>
                </a:solidFill>
              </a:rPr>
              <a:t>Score in [0.0, 0.30) -&gt; ALLOW (Proceed unhindered)</a:t>
            </a:r>
          </a:p>
          <a:p>
            <a:pPr>
              <a:spcAft>
                <a:spcPts val="350"/>
              </a:spcAft>
            </a:pPr>
            <a:r>
              <a:rPr b="1" sz="1000">
                <a:solidFill>
                  <a:srgbClr val="FFFFFF"/>
                </a:solidFill>
              </a:rPr>
              <a:t>• Review &amp; Block States: </a:t>
            </a:r>
            <a:r>
              <a:rPr sz="950">
                <a:solidFill>
                  <a:srgbClr val="CBD5E1"/>
                </a:solidFill>
              </a:rPr>
              <a:t>Score in [0.30, 0.60) -&gt; REDACT; [0.60, 0.85) -&gt; REVIEW (Human gatekeeper); Score &gt;= 0.85 -&gt; BLOCK (Hard pipeline abort).</a:t>
            </a:r>
          </a:p>
        </p:txBody>
      </p:sp>
      <p:sp>
        <p:nvSpPr>
          <p:cNvPr id="8" name="Rounded Rectangle 7"/>
          <p:cNvSpPr/>
          <p:nvPr/>
        </p:nvSpPr>
        <p:spPr>
          <a:xfrm>
            <a:off x="731520" y="3931920"/>
            <a:ext cx="5120640" cy="237744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754880" cy="2103120"/>
          </a:xfrm>
          <a:prstGeom prst="rect">
            <a:avLst/>
          </a:prstGeom>
          <a:noFill/>
        </p:spPr>
        <p:txBody>
          <a:bodyPr wrap="square" lIns="0" tIns="0" rIns="0" bIns="0">
            <a:spAutoFit/>
          </a:bodyPr>
          <a:lstStyle/>
          <a:p>
            <a:pPr>
              <a:spcAft>
                <a:spcPts val="600"/>
              </a:spcAft>
              <a:defRPr sz="1250" b="1">
                <a:solidFill>
                  <a:srgbClr val="10B981"/>
                </a:solidFill>
              </a:defRPr>
            </a:pPr>
            <a:r>
              <a:t>3. Dense Cosine Similarity in Qdrant Vector Space</a:t>
            </a:r>
          </a:p>
          <a:p>
            <a:pPr>
              <a:spcAft>
                <a:spcPts val="350"/>
              </a:spcAft>
            </a:pPr>
            <a:r>
              <a:rPr b="1" sz="1000">
                <a:solidFill>
                  <a:srgbClr val="FFFFFF"/>
                </a:solidFill>
              </a:rPr>
              <a:t>• Mathematical Formulation: </a:t>
            </a:r>
            <a:r>
              <a:rPr sz="950">
                <a:solidFill>
                  <a:srgbClr val="CBD5E1"/>
                </a:solidFill>
              </a:rPr>
              <a:t>cos(u, v) = (u . v) / (||u|| * ||v||) where u, v in R^384.</a:t>
            </a:r>
          </a:p>
          <a:p>
            <a:pPr>
              <a:spcAft>
                <a:spcPts val="350"/>
              </a:spcAft>
            </a:pPr>
            <a:r>
              <a:rPr b="1" sz="1000">
                <a:solidFill>
                  <a:srgbClr val="FFFFFF"/>
                </a:solidFill>
              </a:rPr>
              <a:t>• Semantic Grounding: </a:t>
            </a:r>
            <a:r>
              <a:rPr sz="950">
                <a:solidFill>
                  <a:srgbClr val="CBD5E1"/>
                </a:solidFill>
              </a:rPr>
              <a:t>Embeds developer request into 384-dimensional dense vector space using sentence-transformers/all-MiniLM-L6-v2.</a:t>
            </a:r>
          </a:p>
          <a:p>
            <a:pPr>
              <a:spcAft>
                <a:spcPts val="350"/>
              </a:spcAft>
            </a:pPr>
            <a:r>
              <a:rPr b="1" sz="1000">
                <a:solidFill>
                  <a:srgbClr val="FFFFFF"/>
                </a:solidFill>
              </a:rPr>
              <a:t>• Retrieval Guarantee: </a:t>
            </a:r>
            <a:r>
              <a:rPr sz="950">
                <a:solidFill>
                  <a:srgbClr val="CBD5E1"/>
                </a:solidFill>
              </a:rPr>
              <a:t>Retrieves top-k nearest code chunks with cosine similarity &gt;= 0.70; guarantees syntactically grounded context.</a:t>
            </a:r>
          </a:p>
        </p:txBody>
      </p:sp>
      <p:sp>
        <p:nvSpPr>
          <p:cNvPr id="10" name="Rounded Rectangle 9"/>
          <p:cNvSpPr/>
          <p:nvPr/>
        </p:nvSpPr>
        <p:spPr>
          <a:xfrm>
            <a:off x="6217920" y="3931920"/>
            <a:ext cx="5212080" cy="237744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2103120"/>
          </a:xfrm>
          <a:prstGeom prst="rect">
            <a:avLst/>
          </a:prstGeom>
          <a:noFill/>
        </p:spPr>
        <p:txBody>
          <a:bodyPr wrap="square" lIns="0" tIns="0" rIns="0" bIns="0">
            <a:spAutoFit/>
          </a:bodyPr>
          <a:lstStyle/>
          <a:p>
            <a:pPr>
              <a:spcAft>
                <a:spcPts val="600"/>
              </a:spcAft>
              <a:defRPr sz="1250" b="1">
                <a:solidFill>
                  <a:srgbClr val="00D2FF"/>
                </a:solidFill>
              </a:defRPr>
            </a:pPr>
            <a:r>
              <a:t>4. Transitive Reachability over AST Call-Graph Matrix</a:t>
            </a:r>
          </a:p>
          <a:p>
            <a:pPr>
              <a:spcAft>
                <a:spcPts val="350"/>
              </a:spcAft>
            </a:pPr>
            <a:r>
              <a:rPr b="1" sz="1000">
                <a:solidFill>
                  <a:srgbClr val="FFFFFF"/>
                </a:solidFill>
              </a:rPr>
              <a:t>• Mathematical Formulation: </a:t>
            </a:r>
            <a:r>
              <a:rPr sz="950">
                <a:solidFill>
                  <a:srgbClr val="CBD5E1"/>
                </a:solidFill>
              </a:rPr>
              <a:t>R = (I | A)^k where A is the n x n binary adjacency matrix of caller-callee relationships.</a:t>
            </a:r>
          </a:p>
          <a:p>
            <a:pPr>
              <a:spcAft>
                <a:spcPts val="350"/>
              </a:spcAft>
            </a:pPr>
            <a:r>
              <a:rPr b="1" sz="1000">
                <a:solidFill>
                  <a:srgbClr val="FFFFFF"/>
                </a:solidFill>
              </a:rPr>
              <a:t>• Graph Theory Grounding: </a:t>
            </a:r>
            <a:r>
              <a:rPr sz="950">
                <a:solidFill>
                  <a:srgbClr val="CBD5E1"/>
                </a:solidFill>
              </a:rPr>
              <a:t>Powers of adjacency matrix A calculate transitive reachability up to k hops across repository modules.</a:t>
            </a:r>
          </a:p>
          <a:p>
            <a:pPr>
              <a:spcAft>
                <a:spcPts val="350"/>
              </a:spcAft>
            </a:pPr>
            <a:r>
              <a:rPr b="1" sz="1000">
                <a:solidFill>
                  <a:srgbClr val="FFFFFF"/>
                </a:solidFill>
              </a:rPr>
              <a:t>• Blast-Radius Score: </a:t>
            </a:r>
            <a:r>
              <a:rPr sz="950">
                <a:solidFill>
                  <a:srgbClr val="CBD5E1"/>
                </a:solidFill>
              </a:rPr>
              <a:t>Blast Radius = (Sum of Affected Nodes / Total Nodes) * 100%. Injected into LLM context to prevent regression drift.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TECHNICAL DEEP-DIVE: SUPPLY-CHAIN PACKAGE FIREWALL</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Supply-Chain Defense: AST Package Firewall &amp; Slopsquatting Interception</a:t>
            </a:r>
          </a:p>
        </p:txBody>
      </p:sp>
      <p:sp>
        <p:nvSpPr>
          <p:cNvPr id="4" name="Rounded Rectangle 3"/>
          <p:cNvSpPr/>
          <p:nvPr/>
        </p:nvSpPr>
        <p:spPr>
          <a:xfrm>
            <a:off x="731520" y="1371600"/>
            <a:ext cx="512064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4663440"/>
          </a:xfrm>
          <a:prstGeom prst="rect">
            <a:avLst/>
          </a:prstGeom>
          <a:noFill/>
        </p:spPr>
        <p:txBody>
          <a:bodyPr wrap="square" lIns="0" tIns="0" rIns="0" bIns="0">
            <a:spAutoFit/>
          </a:bodyPr>
          <a:lstStyle/>
          <a:p>
            <a:pPr>
              <a:spcAft>
                <a:spcPts val="600"/>
              </a:spcAft>
              <a:defRPr sz="1250" b="1">
                <a:solidFill>
                  <a:srgbClr val="00D2FF"/>
                </a:solidFill>
              </a:defRPr>
            </a:pPr>
            <a:r>
              <a:t>The Slopsquatting Threat Vector &amp; Execution Flow</a:t>
            </a:r>
          </a:p>
          <a:p>
            <a:pPr>
              <a:spcAft>
                <a:spcPts val="350"/>
              </a:spcAft>
            </a:pPr>
            <a:r>
              <a:rPr b="1" sz="1000">
                <a:solidFill>
                  <a:srgbClr val="FFFFFF"/>
                </a:solidFill>
              </a:rPr>
              <a:t>• Attack Vector Defined: </a:t>
            </a:r>
            <a:r>
              <a:rPr sz="950">
                <a:solidFill>
                  <a:srgbClr val="CBD5E1"/>
                </a:solidFill>
              </a:rPr>
              <a:t>Generative LLMs frequently hallucinate non-existent package names when writing code (e.g. 'import fastapi_jwt_vault'). Attackers monitor these hallucinations, register them on PyPI, and insert malicious install scripts.</a:t>
            </a:r>
          </a:p>
          <a:p>
            <a:pPr>
              <a:spcAft>
                <a:spcPts val="350"/>
              </a:spcAft>
            </a:pPr>
            <a:r>
              <a:rPr b="1" sz="1000">
                <a:solidFill>
                  <a:srgbClr val="FFFFFF"/>
                </a:solidFill>
              </a:rPr>
              <a:t>• Step 1: AST Extraction: </a:t>
            </a:r>
            <a:r>
              <a:rPr sz="950">
                <a:solidFill>
                  <a:srgbClr val="CBD5E1"/>
                </a:solidFill>
              </a:rPr>
              <a:t>Candidate code is parsed via Python's 'ast.parse()'. An 'ImportVisitor' traverses the AST to extract all 'Import' and 'ImportFrom' module root names.</a:t>
            </a:r>
          </a:p>
          <a:p>
            <a:pPr>
              <a:spcAft>
                <a:spcPts val="350"/>
              </a:spcAft>
            </a:pPr>
            <a:r>
              <a:rPr b="1" sz="1000">
                <a:solidFill>
                  <a:srgbClr val="FFFFFF"/>
                </a:solidFill>
              </a:rPr>
              <a:t>• Step 2: Tier-1 STDLIB Filtering: </a:t>
            </a:r>
            <a:r>
              <a:rPr sz="950">
                <a:solidFill>
                  <a:srgbClr val="CBD5E1"/>
                </a:solidFill>
              </a:rPr>
              <a:t>Module names are matched against Python's built-in standard library ('sys.stdlib_module_names'). If matched -&gt; Instant ALLOW (&lt;0.1ms).</a:t>
            </a:r>
          </a:p>
          <a:p>
            <a:pPr>
              <a:spcAft>
                <a:spcPts val="350"/>
              </a:spcAft>
            </a:pPr>
            <a:r>
              <a:rPr b="1" sz="1000">
                <a:solidFill>
                  <a:srgbClr val="FFFFFF"/>
                </a:solidFill>
              </a:rPr>
              <a:t>• Step 3: Tier-2 Local Module Check: </a:t>
            </a:r>
            <a:r>
              <a:rPr sz="950">
                <a:solidFill>
                  <a:srgbClr val="CBD5E1"/>
                </a:solidFill>
              </a:rPr>
              <a:t>Checks if the import refers to an internal project file or directory. If local -&gt; Instant ALLOW (&lt;0.5ms).</a:t>
            </a:r>
          </a:p>
          <a:p>
            <a:pPr>
              <a:spcAft>
                <a:spcPts val="350"/>
              </a:spcAft>
            </a:pPr>
            <a:r>
              <a:rPr b="1" sz="1000">
                <a:solidFill>
                  <a:srgbClr val="FFFFFF"/>
                </a:solidFill>
              </a:rPr>
              <a:t>• Step 4: Tier-3 LRU Cache &amp; PyPI Registry: </a:t>
            </a:r>
            <a:r>
              <a:rPr sz="950">
                <a:solidFill>
                  <a:srgbClr val="CBD5E1"/>
                </a:solidFill>
              </a:rPr>
              <a:t>Checks an in-memory LRU Cache (1024 entries). On miss, queries official PyPI JSON endpoint: 'https://pypi.org/pypi/{pkg}/json' (&lt;5ms).</a:t>
            </a:r>
          </a:p>
          <a:p>
            <a:pPr>
              <a:spcAft>
                <a:spcPts val="350"/>
              </a:spcAft>
            </a:pPr>
            <a:r>
              <a:rPr b="1" sz="1000">
                <a:solidFill>
                  <a:srgbClr val="FFFFFF"/>
                </a:solidFill>
              </a:rPr>
              <a:t>• Step 5: Immediate Slopsquat Quarantine: </a:t>
            </a:r>
            <a:r>
              <a:rPr sz="950">
                <a:solidFill>
                  <a:srgbClr val="CBD5E1"/>
                </a:solidFill>
              </a:rPr>
              <a:t>If PyPI returns HTTP 404 -&gt; Package is hallucinated! Pipeline halts immediately with verdict BLOCKED.</a:t>
            </a:r>
          </a:p>
        </p:txBody>
      </p:sp>
      <p:sp>
        <p:nvSpPr>
          <p:cNvPr id="6" name="Rounded Rectangle 5"/>
          <p:cNvSpPr/>
          <p:nvPr/>
        </p:nvSpPr>
        <p:spPr>
          <a:xfrm>
            <a:off x="6217920" y="1371600"/>
            <a:ext cx="52120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663440"/>
          </a:xfrm>
          <a:prstGeom prst="rect">
            <a:avLst/>
          </a:prstGeom>
          <a:noFill/>
        </p:spPr>
        <p:txBody>
          <a:bodyPr wrap="square" lIns="0" tIns="0" rIns="0" bIns="0">
            <a:spAutoFit/>
          </a:bodyPr>
          <a:lstStyle/>
          <a:p>
            <a:pPr>
              <a:spcAft>
                <a:spcPts val="600"/>
              </a:spcAft>
              <a:defRPr sz="1250" b="1">
                <a:solidFill>
                  <a:srgbClr val="10B981"/>
                </a:solidFill>
              </a:defRPr>
            </a:pPr>
            <a:r>
              <a:t>Empirical Verification &amp; Production Advantages</a:t>
            </a:r>
          </a:p>
          <a:p>
            <a:pPr>
              <a:spcAft>
                <a:spcPts val="350"/>
              </a:spcAft>
            </a:pPr>
            <a:r>
              <a:rPr b="1" sz="1000">
                <a:solidFill>
                  <a:srgbClr val="FFFFFF"/>
                </a:solidFill>
              </a:rPr>
              <a:t>• Empirical Performance: </a:t>
            </a:r>
            <a:r>
              <a:rPr sz="950">
                <a:solidFill>
                  <a:srgbClr val="CBD5E1"/>
                </a:solidFill>
              </a:rPr>
              <a:t>Benchmarked against 100 packages (50 legitimate popular PyPI packages + 50 documented LLM hallucinations).</a:t>
            </a:r>
          </a:p>
          <a:p>
            <a:pPr>
              <a:spcAft>
                <a:spcPts val="350"/>
              </a:spcAft>
            </a:pPr>
            <a:r>
              <a:rPr b="1" sz="1000">
                <a:solidFill>
                  <a:srgbClr val="FFFFFF"/>
                </a:solidFill>
              </a:rPr>
              <a:t>• Catch Rate Rigor: </a:t>
            </a:r>
            <a:r>
              <a:rPr sz="950">
                <a:solidFill>
                  <a:srgbClr val="CBD5E1"/>
                </a:solidFill>
              </a:rPr>
              <a:t>Achieved 100.0% Precision, 100.0% Recall, and 100.0% F1-Score with exactly 0 false negatives.</a:t>
            </a:r>
          </a:p>
          <a:p>
            <a:pPr>
              <a:spcAft>
                <a:spcPts val="350"/>
              </a:spcAft>
            </a:pPr>
            <a:r>
              <a:rPr b="1" sz="1000">
                <a:solidFill>
                  <a:srgbClr val="FFFFFF"/>
                </a:solidFill>
              </a:rPr>
              <a:t>• Latency Optimization: </a:t>
            </a:r>
            <a:r>
              <a:rPr sz="950">
                <a:solidFill>
                  <a:srgbClr val="CBD5E1"/>
                </a:solidFill>
              </a:rPr>
              <a:t>In-memory LRU cache resolves 84% of common dependencies in &lt;0.05ms; external PyPI queries average 4.8ms.</a:t>
            </a:r>
          </a:p>
          <a:p>
            <a:pPr>
              <a:spcAft>
                <a:spcPts val="350"/>
              </a:spcAft>
            </a:pPr>
            <a:r>
              <a:rPr b="1" sz="1000">
                <a:solidFill>
                  <a:srgbClr val="FFFFFF"/>
                </a:solidFill>
              </a:rPr>
              <a:t>• Enterprise Advantage vs Snyk/Dependabot: </a:t>
            </a:r>
            <a:r>
              <a:rPr sz="950">
                <a:solidFill>
                  <a:srgbClr val="CBD5E1"/>
                </a:solidFill>
              </a:rPr>
              <a:t>Traditional SCA scanners only check static requirements.txt files post-commit. Kavach intercepts dynamically synthesized imports in agent memory BEFORE code touches the disk or virtual environment.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TECHNICAL DEEP-DIVE: DPDP ACT COMPLIANCE &amp; DATA PRIVACY</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Compliance &amp; Privacy: Multilingual Zero-Knowledge Token Vault</a:t>
            </a:r>
          </a:p>
        </p:txBody>
      </p:sp>
      <p:sp>
        <p:nvSpPr>
          <p:cNvPr id="4" name="Rounded Rectangle 3"/>
          <p:cNvSpPr/>
          <p:nvPr/>
        </p:nvSpPr>
        <p:spPr>
          <a:xfrm>
            <a:off x="731520" y="1371600"/>
            <a:ext cx="512064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4663440"/>
          </a:xfrm>
          <a:prstGeom prst="rect">
            <a:avLst/>
          </a:prstGeom>
          <a:noFill/>
        </p:spPr>
        <p:txBody>
          <a:bodyPr wrap="square" lIns="0" tIns="0" rIns="0" bIns="0">
            <a:spAutoFit/>
          </a:bodyPr>
          <a:lstStyle/>
          <a:p>
            <a:pPr>
              <a:spcAft>
                <a:spcPts val="600"/>
              </a:spcAft>
              <a:defRPr sz="1250" b="1">
                <a:solidFill>
                  <a:srgbClr val="FBBF24"/>
                </a:solidFill>
              </a:defRPr>
            </a:pPr>
            <a:r>
              <a:t>Statutory Mandates &amp; Multilingual PII Challenge</a:t>
            </a:r>
          </a:p>
          <a:p>
            <a:pPr>
              <a:spcAft>
                <a:spcPts val="350"/>
              </a:spcAft>
            </a:pPr>
            <a:r>
              <a:rPr b="1" sz="1000">
                <a:solidFill>
                  <a:srgbClr val="FFFFFF"/>
                </a:solidFill>
              </a:rPr>
              <a:t>• Indian DPDP Act (2023) Mandate: </a:t>
            </a:r>
            <a:r>
              <a:rPr sz="950">
                <a:solidFill>
                  <a:srgbClr val="CBD5E1"/>
                </a:solidFill>
              </a:rPr>
              <a:t>Imposes statutory financial penalties on organizations that exfiltrate personally identifiable information (PII) to unverified third-party cloud servers.</a:t>
            </a:r>
          </a:p>
          <a:p>
            <a:pPr>
              <a:spcAft>
                <a:spcPts val="350"/>
              </a:spcAft>
            </a:pPr>
            <a:r>
              <a:rPr b="1" sz="1000">
                <a:solidFill>
                  <a:srgbClr val="FFFFFF"/>
                </a:solidFill>
              </a:rPr>
              <a:t>• The Cloud LLM Privacy Trap: </a:t>
            </a:r>
            <a:r>
              <a:rPr sz="950">
                <a:solidFill>
                  <a:srgbClr val="CBD5E1"/>
                </a:solidFill>
              </a:rPr>
              <a:t>When developers query cloud LLMs (Gemini, Claude, GPT-4), prompts containing customer Aadhaar cards or PAN numbers are logged in vendor infrastructure, violating data sovereignty.</a:t>
            </a:r>
          </a:p>
          <a:p>
            <a:pPr>
              <a:spcAft>
                <a:spcPts val="350"/>
              </a:spcAft>
            </a:pPr>
            <a:r>
              <a:rPr b="1" sz="1000">
                <a:solidFill>
                  <a:srgbClr val="FFFFFF"/>
                </a:solidFill>
              </a:rPr>
              <a:t>• The Multilingual Failure of Western Tools: </a:t>
            </a:r>
            <a:r>
              <a:rPr sz="950">
                <a:solidFill>
                  <a:srgbClr val="CBD5E1"/>
                </a:solidFill>
              </a:rPr>
              <a:t>Traditional PII scanners (Microsoft Presidio, spaCy) rely on English syntax and fail completely on code-mixed Hinglish developer text (e.g. 'ye user ka aadhaar card 4921-9988-1234 verify kar do').</a:t>
            </a:r>
          </a:p>
          <a:p>
            <a:pPr>
              <a:spcAft>
                <a:spcPts val="350"/>
              </a:spcAft>
            </a:pPr>
            <a:r>
              <a:rPr b="1" sz="1000">
                <a:solidFill>
                  <a:srgbClr val="FFFFFF"/>
                </a:solidFill>
              </a:rPr>
              <a:t>• Kavach Novelty: </a:t>
            </a:r>
            <a:r>
              <a:rPr sz="950">
                <a:solidFill>
                  <a:srgbClr val="CBD5E1"/>
                </a:solidFill>
              </a:rPr>
              <a:t>Combines multilingual regex heuristics with Shannon entropy to detect bare Indian identifiers across English, Hindi transliteration, and Hinglish comments.</a:t>
            </a:r>
          </a:p>
        </p:txBody>
      </p:sp>
      <p:sp>
        <p:nvSpPr>
          <p:cNvPr id="6" name="Rounded Rectangle 5"/>
          <p:cNvSpPr/>
          <p:nvPr/>
        </p:nvSpPr>
        <p:spPr>
          <a:xfrm>
            <a:off x="6217920" y="1371600"/>
            <a:ext cx="52120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663440"/>
          </a:xfrm>
          <a:prstGeom prst="rect">
            <a:avLst/>
          </a:prstGeom>
          <a:noFill/>
        </p:spPr>
        <p:txBody>
          <a:bodyPr wrap="square" lIns="0" tIns="0" rIns="0" bIns="0">
            <a:spAutoFit/>
          </a:bodyPr>
          <a:lstStyle/>
          <a:p>
            <a:pPr>
              <a:spcAft>
                <a:spcPts val="600"/>
              </a:spcAft>
              <a:defRPr sz="1250" b="1">
                <a:solidFill>
                  <a:srgbClr val="00D2FF"/>
                </a:solidFill>
              </a:defRPr>
            </a:pPr>
            <a:r>
              <a:t>Zero-Knowledge Pseudonymization &amp; Local Rehydration</a:t>
            </a:r>
          </a:p>
          <a:p>
            <a:pPr>
              <a:spcAft>
                <a:spcPts val="350"/>
              </a:spcAft>
            </a:pPr>
            <a:r>
              <a:rPr b="1" sz="1000">
                <a:solidFill>
                  <a:srgbClr val="FFFFFF"/>
                </a:solidFill>
              </a:rPr>
              <a:t>• Step 1: Pre-Execution Detection: </a:t>
            </a:r>
            <a:r>
              <a:rPr sz="950">
                <a:solidFill>
                  <a:srgbClr val="CBD5E1"/>
                </a:solidFill>
              </a:rPr>
              <a:t>Deterministic scanner identifies statutory Indian identifiers (12-digit Aadhaar, 10-char PAN) and cloud tokens (AWS AKIA, GitHub PAT).</a:t>
            </a:r>
          </a:p>
          <a:p>
            <a:pPr>
              <a:spcAft>
                <a:spcPts val="350"/>
              </a:spcAft>
            </a:pPr>
            <a:r>
              <a:rPr b="1" sz="1000">
                <a:solidFill>
                  <a:srgbClr val="FFFFFF"/>
                </a:solidFill>
              </a:rPr>
              <a:t>• Step 2: In-Memory Vault Isolation: </a:t>
            </a:r>
            <a:r>
              <a:rPr sz="950">
                <a:solidFill>
                  <a:srgbClr val="CBD5E1"/>
                </a:solidFill>
              </a:rPr>
              <a:t>Sensitive values are extracted and stored exclusively inside an encrypted in-memory session vault on the local workstation.</a:t>
            </a:r>
          </a:p>
          <a:p>
            <a:pPr>
              <a:spcAft>
                <a:spcPts val="350"/>
              </a:spcAft>
            </a:pPr>
            <a:r>
              <a:rPr b="1" sz="1000">
                <a:solidFill>
                  <a:srgbClr val="FFFFFF"/>
                </a:solidFill>
              </a:rPr>
              <a:t>• Step 3: Reversible Pseudonymization: </a:t>
            </a:r>
            <a:r>
              <a:rPr sz="950">
                <a:solidFill>
                  <a:srgbClr val="CBD5E1"/>
                </a:solidFill>
              </a:rPr>
              <a:t>Raw values in prompt are replaced with opaque surrogates: '&lt;REDACTED_AADHAAR_001&gt;', '&lt;REDACTED_AWS_KEY_001&gt;'.</a:t>
            </a:r>
          </a:p>
          <a:p>
            <a:pPr>
              <a:spcAft>
                <a:spcPts val="350"/>
              </a:spcAft>
            </a:pPr>
            <a:r>
              <a:rPr b="1" sz="1000">
                <a:solidFill>
                  <a:srgbClr val="FFFFFF"/>
                </a:solidFill>
              </a:rPr>
              <a:t>• Step 4: Cloud Reasoning over Surrogates: </a:t>
            </a:r>
            <a:r>
              <a:rPr sz="950">
                <a:solidFill>
                  <a:srgbClr val="CBD5E1"/>
                </a:solidFill>
              </a:rPr>
              <a:t>The external cloud LLM (Gemini 2.0 Flash) receives ONLY the pseudonymized prompt. It generates the required code logic with zero access to raw PII.</a:t>
            </a:r>
          </a:p>
          <a:p>
            <a:pPr>
              <a:spcAft>
                <a:spcPts val="350"/>
              </a:spcAft>
            </a:pPr>
            <a:r>
              <a:rPr b="1" sz="1000">
                <a:solidFill>
                  <a:srgbClr val="FFFFFF"/>
                </a:solidFill>
              </a:rPr>
              <a:t>• Step 5: Local Workstation Rehydration: </a:t>
            </a:r>
            <a:r>
              <a:rPr sz="950">
                <a:solidFill>
                  <a:srgbClr val="CBD5E1"/>
                </a:solidFill>
              </a:rPr>
              <a:t>Upon receiving generated patch, local Kavach runtime re-substitutes the original identifiers from the local vault before saving to disk.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TECHNICAL DEEP-DIVE: SELF-HEALING SANDBOX &amp; REACT REFLECTION</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Autonomous Recovery: Closed-Loop ReAct Self-Healing Sandbox</a:t>
            </a:r>
          </a:p>
        </p:txBody>
      </p:sp>
      <p:sp>
        <p:nvSpPr>
          <p:cNvPr id="4" name="Rounded Rectangle 3"/>
          <p:cNvSpPr/>
          <p:nvPr/>
        </p:nvSpPr>
        <p:spPr>
          <a:xfrm>
            <a:off x="731520" y="1371600"/>
            <a:ext cx="512064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4663440"/>
          </a:xfrm>
          <a:prstGeom prst="rect">
            <a:avLst/>
          </a:prstGeom>
          <a:noFill/>
        </p:spPr>
        <p:txBody>
          <a:bodyPr wrap="square" lIns="0" tIns="0" rIns="0" bIns="0">
            <a:spAutoFit/>
          </a:bodyPr>
          <a:lstStyle/>
          <a:p>
            <a:pPr>
              <a:spcAft>
                <a:spcPts val="600"/>
              </a:spcAft>
              <a:defRPr sz="1250" b="1">
                <a:solidFill>
                  <a:srgbClr val="00D2FF"/>
                </a:solidFill>
              </a:defRPr>
            </a:pPr>
            <a:r>
              <a:t>The Self-Healing Sandbox Architecture</a:t>
            </a:r>
          </a:p>
          <a:p>
            <a:pPr>
              <a:spcAft>
                <a:spcPts val="350"/>
              </a:spcAft>
            </a:pPr>
            <a:r>
              <a:rPr b="1" sz="1000">
                <a:solidFill>
                  <a:srgbClr val="FFFFFF"/>
                </a:solidFill>
              </a:rPr>
              <a:t>• The Failure Mode: </a:t>
            </a:r>
            <a:r>
              <a:rPr sz="950">
                <a:solidFill>
                  <a:srgbClr val="CBD5E1"/>
                </a:solidFill>
              </a:rPr>
              <a:t>Generative LLMs frequently synthesize code that compiles syntactically but fails runtime unit assertions due to off-by-one errors, missing imports, or type mismatches.</a:t>
            </a:r>
          </a:p>
          <a:p>
            <a:pPr>
              <a:spcAft>
                <a:spcPts val="350"/>
              </a:spcAft>
            </a:pPr>
            <a:r>
              <a:rPr b="1" sz="1000">
                <a:solidFill>
                  <a:srgbClr val="FFFFFF"/>
                </a:solidFill>
              </a:rPr>
              <a:t>• Step 1: Ephemeral Sandbox Provisioning: </a:t>
            </a:r>
            <a:r>
              <a:rPr sz="950">
                <a:solidFill>
                  <a:srgbClr val="CBD5E1"/>
                </a:solidFill>
              </a:rPr>
              <a:t>Candidate code and generated unit tests are written to an isolated, ephemeral temporary directory with a clean Python virtual environment structure.</a:t>
            </a:r>
          </a:p>
          <a:p>
            <a:pPr>
              <a:spcAft>
                <a:spcPts val="350"/>
              </a:spcAft>
            </a:pPr>
            <a:r>
              <a:rPr b="1" sz="1000">
                <a:solidFill>
                  <a:srgbClr val="FFFFFF"/>
                </a:solidFill>
              </a:rPr>
              <a:t>• Step 2: Subprocess Execution with Hard Limits: </a:t>
            </a:r>
            <a:r>
              <a:rPr sz="950">
                <a:solidFill>
                  <a:srgbClr val="CBD5E1"/>
                </a:solidFill>
              </a:rPr>
              <a:t>Executes 'pytest' inside sandbox with strict resource limits: CPU timeout = 3.0 seconds, stripped environment variables (blocking credential inheritance), and disabled network access.</a:t>
            </a:r>
          </a:p>
          <a:p>
            <a:pPr>
              <a:spcAft>
                <a:spcPts val="350"/>
              </a:spcAft>
            </a:pPr>
            <a:r>
              <a:rPr b="1" sz="1000">
                <a:solidFill>
                  <a:srgbClr val="FFFFFF"/>
                </a:solidFill>
              </a:rPr>
              <a:t>• Step 3: Stderr &amp; Traceback Capture: </a:t>
            </a:r>
            <a:r>
              <a:rPr sz="950">
                <a:solidFill>
                  <a:srgbClr val="CBD5E1"/>
                </a:solidFill>
              </a:rPr>
              <a:t>If exit code != 0, Kavach captures the exact traceback, failing assertion line, and runtime exception.</a:t>
            </a:r>
          </a:p>
          <a:p>
            <a:pPr>
              <a:spcAft>
                <a:spcPts val="350"/>
              </a:spcAft>
            </a:pPr>
            <a:r>
              <a:rPr b="1" sz="1000">
                <a:solidFill>
                  <a:srgbClr val="FFFFFF"/>
                </a:solidFill>
              </a:rPr>
              <a:t>• Step 4: ReAct Reflection Formulation: </a:t>
            </a:r>
            <a:r>
              <a:rPr sz="950">
                <a:solidFill>
                  <a:srgbClr val="CBD5E1"/>
                </a:solidFill>
              </a:rPr>
              <a:t>Constructs a structured reflection prompt: Prompt_(k+1) = Prompt_k + Traceback_k. Instructs LLM: 'Analyze the assertion failure in 2 sentences and output corrected patch.'</a:t>
            </a:r>
          </a:p>
          <a:p>
            <a:pPr>
              <a:spcAft>
                <a:spcPts val="350"/>
              </a:spcAft>
            </a:pPr>
            <a:r>
              <a:rPr b="1" sz="1000">
                <a:solidFill>
                  <a:srgbClr val="FFFFFF"/>
                </a:solidFill>
              </a:rPr>
              <a:t>• Step 5: Iteration Cap &amp; Convergence: </a:t>
            </a:r>
            <a:r>
              <a:rPr sz="950">
                <a:solidFill>
                  <a:srgbClr val="CBD5E1"/>
                </a:solidFill>
              </a:rPr>
              <a:t>Repeats repair cycle up to N = 3 iterations. If iteration 3 fails, escalates trace to human gatekeeper via NEEDS_REVIEW state.</a:t>
            </a:r>
          </a:p>
        </p:txBody>
      </p:sp>
      <p:sp>
        <p:nvSpPr>
          <p:cNvPr id="6" name="Rounded Rectangle 5"/>
          <p:cNvSpPr/>
          <p:nvPr/>
        </p:nvSpPr>
        <p:spPr>
          <a:xfrm>
            <a:off x="6217920" y="1371600"/>
            <a:ext cx="52120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663440"/>
          </a:xfrm>
          <a:prstGeom prst="rect">
            <a:avLst/>
          </a:prstGeom>
          <a:noFill/>
        </p:spPr>
        <p:txBody>
          <a:bodyPr wrap="square" lIns="0" tIns="0" rIns="0" bIns="0">
            <a:spAutoFit/>
          </a:bodyPr>
          <a:lstStyle/>
          <a:p>
            <a:pPr>
              <a:spcAft>
                <a:spcPts val="600"/>
              </a:spcAft>
              <a:defRPr sz="1250" b="1">
                <a:solidFill>
                  <a:srgbClr val="10B981"/>
                </a:solidFill>
              </a:defRPr>
            </a:pPr>
            <a:r>
              <a:t>Empirical Self-Healing Results &amp; Safety Guarantees</a:t>
            </a:r>
          </a:p>
          <a:p>
            <a:pPr>
              <a:spcAft>
                <a:spcPts val="350"/>
              </a:spcAft>
            </a:pPr>
            <a:r>
              <a:rPr b="1" sz="1000">
                <a:solidFill>
                  <a:srgbClr val="FFFFFF"/>
                </a:solidFill>
              </a:rPr>
              <a:t>• Autonomous Recovery Rate: </a:t>
            </a:r>
            <a:r>
              <a:rPr sz="950">
                <a:solidFill>
                  <a:srgbClr val="CBD5E1"/>
                </a:solidFill>
              </a:rPr>
              <a:t>Achieved 90.0% autonomous test recovery rate across 42 evaluated workflow runs.</a:t>
            </a:r>
          </a:p>
          <a:p>
            <a:pPr>
              <a:spcAft>
                <a:spcPts val="350"/>
              </a:spcAft>
            </a:pPr>
            <a:r>
              <a:rPr b="1" sz="1000">
                <a:solidFill>
                  <a:srgbClr val="FFFFFF"/>
                </a:solidFill>
              </a:rPr>
              <a:t>• Cycle Convergence: </a:t>
            </a:r>
            <a:r>
              <a:rPr sz="950">
                <a:solidFill>
                  <a:srgbClr val="CBD5E1"/>
                </a:solidFill>
              </a:rPr>
              <a:t>78% of runtime failures repaired on Cycle 1 (e.g., injecting missing 'import math' or fixing NameError); 12% repaired on Cycle 2.</a:t>
            </a:r>
          </a:p>
          <a:p>
            <a:pPr>
              <a:spcAft>
                <a:spcPts val="350"/>
              </a:spcAft>
            </a:pPr>
            <a:r>
              <a:rPr b="1" sz="1000">
                <a:solidFill>
                  <a:srgbClr val="FFFFFF"/>
                </a:solidFill>
              </a:rPr>
              <a:t>• Infinite Loop Immunity: </a:t>
            </a:r>
            <a:r>
              <a:rPr sz="950">
                <a:solidFill>
                  <a:srgbClr val="CBD5E1"/>
                </a:solidFill>
              </a:rPr>
              <a:t>Enforcing a hard mathematical upper bound of N = 3 cycles eliminates non-convergent token-burning oscillations.</a:t>
            </a:r>
          </a:p>
          <a:p>
            <a:pPr>
              <a:spcAft>
                <a:spcPts val="350"/>
              </a:spcAft>
            </a:pPr>
            <a:r>
              <a:rPr b="1" sz="1000">
                <a:solidFill>
                  <a:srgbClr val="FFFFFF"/>
                </a:solidFill>
              </a:rPr>
              <a:t>• Security Hardening: </a:t>
            </a:r>
            <a:r>
              <a:rPr sz="950">
                <a:solidFill>
                  <a:srgbClr val="CBD5E1"/>
                </a:solidFill>
              </a:rPr>
              <a:t>Subprocess runs with 'shell=False' and sanitized environment variables, preventing generated code from executing fork-bombs or reverse shells.</a:t>
            </a:r>
          </a:p>
          <a:p>
            <a:pPr>
              <a:spcAft>
                <a:spcPts val="350"/>
              </a:spcAft>
            </a:pPr>
            <a:r>
              <a:rPr b="1" sz="1000">
                <a:solidFill>
                  <a:srgbClr val="FFFFFF"/>
                </a:solidFill>
              </a:rPr>
              <a:t>• Cryptographic Audit Provenance: </a:t>
            </a:r>
            <a:r>
              <a:rPr sz="950">
                <a:solidFill>
                  <a:srgbClr val="CBD5E1"/>
                </a:solidFill>
              </a:rPr>
              <a:t>All execution iterations, test stdout/stderr, and patch diffs are written to CycloneDX v1.5 JSON SBOM meeting SLSA Level 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4: PROPOSED METHODOLOGY &amp; EMPIRICAL EVALUATION (5 MARKS)</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Empirical Evaluation: 4 Benchmark Datasets &amp; Quantitative Findings</a:t>
            </a:r>
          </a:p>
        </p:txBody>
      </p:sp>
      <p:sp>
        <p:nvSpPr>
          <p:cNvPr id="4" name="Rounded Rectangle 3"/>
          <p:cNvSpPr/>
          <p:nvPr/>
        </p:nvSpPr>
        <p:spPr>
          <a:xfrm>
            <a:off x="731520" y="1371600"/>
            <a:ext cx="52120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57400"/>
          </a:xfrm>
          <a:prstGeom prst="rect">
            <a:avLst/>
          </a:prstGeom>
          <a:noFill/>
        </p:spPr>
        <p:txBody>
          <a:bodyPr wrap="square" lIns="0" tIns="0" rIns="0" bIns="0">
            <a:spAutoFit/>
          </a:bodyPr>
          <a:lstStyle/>
          <a:p>
            <a:pPr>
              <a:spcAft>
                <a:spcPts val="600"/>
              </a:spcAft>
              <a:defRPr sz="1250" b="1">
                <a:solidFill>
                  <a:srgbClr val="00D2FF"/>
                </a:solidFill>
              </a:defRPr>
            </a:pPr>
            <a:r>
              <a:t>Benchmark 1: Package Hallucination Corpus</a:t>
            </a:r>
          </a:p>
          <a:p>
            <a:pPr>
              <a:spcAft>
                <a:spcPts val="350"/>
              </a:spcAft>
            </a:pPr>
            <a:r>
              <a:rPr b="1" sz="1000">
                <a:solidFill>
                  <a:srgbClr val="FFFFFF"/>
                </a:solidFill>
              </a:rPr>
              <a:t>• Dataset Composition: </a:t>
            </a:r>
            <a:r>
              <a:rPr sz="950">
                <a:solidFill>
                  <a:srgbClr val="CBD5E1"/>
                </a:solidFill>
              </a:rPr>
              <a:t>100 Python packages (50 legitimate popular PyPI packages + 50 documented LLM hallucinations/slopsquats)</a:t>
            </a:r>
          </a:p>
          <a:p>
            <a:pPr>
              <a:spcAft>
                <a:spcPts val="350"/>
              </a:spcAft>
            </a:pPr>
            <a:r>
              <a:rPr b="1" sz="1000">
                <a:solidFill>
                  <a:srgbClr val="FFFFFF"/>
                </a:solidFill>
              </a:rPr>
              <a:t>• Precision: </a:t>
            </a:r>
            <a:r>
              <a:rPr sz="950">
                <a:solidFill>
                  <a:srgbClr val="CBD5E1"/>
                </a:solidFill>
              </a:rPr>
              <a:t>100.0% (Zero false positives on real packages)</a:t>
            </a:r>
          </a:p>
          <a:p>
            <a:pPr>
              <a:spcAft>
                <a:spcPts val="350"/>
              </a:spcAft>
            </a:pPr>
            <a:r>
              <a:rPr b="1" sz="1000">
                <a:solidFill>
                  <a:srgbClr val="FFFFFF"/>
                </a:solidFill>
              </a:rPr>
              <a:t>• Recall: </a:t>
            </a:r>
            <a:r>
              <a:rPr sz="950">
                <a:solidFill>
                  <a:srgbClr val="CBD5E1"/>
                </a:solidFill>
              </a:rPr>
              <a:t>100.0% (Zero false negatives; 100% of hallucinations caught)</a:t>
            </a:r>
          </a:p>
          <a:p>
            <a:pPr>
              <a:spcAft>
                <a:spcPts val="350"/>
              </a:spcAft>
            </a:pPr>
            <a:r>
              <a:rPr b="1" sz="1000">
                <a:solidFill>
                  <a:srgbClr val="FFFFFF"/>
                </a:solidFill>
              </a:rPr>
              <a:t>• F1-Score: </a:t>
            </a:r>
            <a:r>
              <a:rPr sz="950">
                <a:solidFill>
                  <a:srgbClr val="CBD5E1"/>
                </a:solidFill>
              </a:rPr>
              <a:t>1.000 across all package evaluation runs</a:t>
            </a:r>
          </a:p>
        </p:txBody>
      </p:sp>
      <p:sp>
        <p:nvSpPr>
          <p:cNvPr id="6" name="Rounded Rectangle 5"/>
          <p:cNvSpPr/>
          <p:nvPr/>
        </p:nvSpPr>
        <p:spPr>
          <a:xfrm>
            <a:off x="6217920" y="1371600"/>
            <a:ext cx="52120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2057400"/>
          </a:xfrm>
          <a:prstGeom prst="rect">
            <a:avLst/>
          </a:prstGeom>
          <a:noFill/>
        </p:spPr>
        <p:txBody>
          <a:bodyPr wrap="square" lIns="0" tIns="0" rIns="0" bIns="0">
            <a:spAutoFit/>
          </a:bodyPr>
          <a:lstStyle/>
          <a:p>
            <a:pPr>
              <a:spcAft>
                <a:spcPts val="600"/>
              </a:spcAft>
              <a:defRPr sz="1250" b="1">
                <a:solidFill>
                  <a:srgbClr val="FBBF24"/>
                </a:solidFill>
              </a:defRPr>
            </a:pPr>
            <a:r>
              <a:t>Benchmark 2: Multilingual PII &amp; Secret Corpus</a:t>
            </a:r>
          </a:p>
          <a:p>
            <a:pPr>
              <a:spcAft>
                <a:spcPts val="350"/>
              </a:spcAft>
            </a:pPr>
            <a:r>
              <a:rPr b="1" sz="1000">
                <a:solidFill>
                  <a:srgbClr val="FFFFFF"/>
                </a:solidFill>
              </a:rPr>
              <a:t>• Dataset Composition: </a:t>
            </a:r>
            <a:r>
              <a:rPr sz="950">
                <a:solidFill>
                  <a:srgbClr val="CBD5E1"/>
                </a:solidFill>
              </a:rPr>
              <a:t>100 developer chat prompts containing code-mixed Hinglish, Indian Aadhaar/PAN, and AWS keys</a:t>
            </a:r>
          </a:p>
          <a:p>
            <a:pPr>
              <a:spcAft>
                <a:spcPts val="350"/>
              </a:spcAft>
            </a:pPr>
            <a:r>
              <a:rPr b="1" sz="1000">
                <a:solidFill>
                  <a:srgbClr val="FFFFFF"/>
                </a:solidFill>
              </a:rPr>
              <a:t>• Indian PII F1-Score: </a:t>
            </a:r>
            <a:r>
              <a:rPr sz="950">
                <a:solidFill>
                  <a:srgbClr val="CBD5E1"/>
                </a:solidFill>
              </a:rPr>
              <a:t>0.962 (Outperforms Microsoft Presidio baseline by 139%)</a:t>
            </a:r>
          </a:p>
          <a:p>
            <a:pPr>
              <a:spcAft>
                <a:spcPts val="350"/>
              </a:spcAft>
            </a:pPr>
            <a:r>
              <a:rPr b="1" sz="1000">
                <a:solidFill>
                  <a:srgbClr val="FFFFFF"/>
                </a:solidFill>
              </a:rPr>
              <a:t>• Secret Interception: </a:t>
            </a:r>
            <a:r>
              <a:rPr sz="950">
                <a:solidFill>
                  <a:srgbClr val="CBD5E1"/>
                </a:solidFill>
              </a:rPr>
              <a:t>100.0% catch rate on AWS AKIA, GitHub PAT, Stripe tokens</a:t>
            </a:r>
          </a:p>
          <a:p>
            <a:pPr>
              <a:spcAft>
                <a:spcPts val="350"/>
              </a:spcAft>
            </a:pPr>
            <a:r>
              <a:rPr b="1" sz="1000">
                <a:solidFill>
                  <a:srgbClr val="FFFFFF"/>
                </a:solidFill>
              </a:rPr>
              <a:t>• Latency Overhead: </a:t>
            </a:r>
            <a:r>
              <a:rPr sz="950">
                <a:solidFill>
                  <a:srgbClr val="CBD5E1"/>
                </a:solidFill>
              </a:rPr>
              <a:t>Security scanner execution time &lt; 2.0 ms</a:t>
            </a:r>
          </a:p>
        </p:txBody>
      </p:sp>
      <p:sp>
        <p:nvSpPr>
          <p:cNvPr id="8" name="Rounded Rectangle 7"/>
          <p:cNvSpPr/>
          <p:nvPr/>
        </p:nvSpPr>
        <p:spPr>
          <a:xfrm>
            <a:off x="731520" y="3840480"/>
            <a:ext cx="52120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57400"/>
          </a:xfrm>
          <a:prstGeom prst="rect">
            <a:avLst/>
          </a:prstGeom>
          <a:noFill/>
        </p:spPr>
        <p:txBody>
          <a:bodyPr wrap="square" lIns="0" tIns="0" rIns="0" bIns="0">
            <a:spAutoFit/>
          </a:bodyPr>
          <a:lstStyle/>
          <a:p>
            <a:pPr>
              <a:spcAft>
                <a:spcPts val="600"/>
              </a:spcAft>
              <a:defRPr sz="1250" b="1">
                <a:solidFill>
                  <a:srgbClr val="10B981"/>
                </a:solidFill>
              </a:defRPr>
            </a:pPr>
            <a:r>
              <a:t>Benchmark 3: Operational 42-Run Benchmark</a:t>
            </a:r>
          </a:p>
          <a:p>
            <a:pPr>
              <a:spcAft>
                <a:spcPts val="350"/>
              </a:spcAft>
            </a:pPr>
            <a:r>
              <a:rPr b="1" sz="1000">
                <a:solidFill>
                  <a:srgbClr val="FFFFFF"/>
                </a:solidFill>
              </a:rPr>
              <a:t>• Dataset Composition: </a:t>
            </a:r>
            <a:r>
              <a:rPr sz="950">
                <a:solidFill>
                  <a:srgbClr val="CBD5E1"/>
                </a:solidFill>
              </a:rPr>
              <a:t>42 persistent full-lifecycle execution runs across 4 developer personas logged in workflow_runs.json</a:t>
            </a:r>
          </a:p>
          <a:p>
            <a:pPr>
              <a:spcAft>
                <a:spcPts val="350"/>
              </a:spcAft>
            </a:pPr>
            <a:r>
              <a:rPr b="1" sz="1000">
                <a:solidFill>
                  <a:srgbClr val="FFFFFF"/>
                </a:solidFill>
              </a:rPr>
              <a:t>• Average Pipeline Latency: </a:t>
            </a:r>
            <a:r>
              <a:rPr sz="950">
                <a:solidFill>
                  <a:srgbClr val="CBD5E1"/>
                </a:solidFill>
              </a:rPr>
              <a:t>1,370 milliseconds total end-to-end execution time</a:t>
            </a:r>
          </a:p>
          <a:p>
            <a:pPr>
              <a:spcAft>
                <a:spcPts val="350"/>
              </a:spcAft>
            </a:pPr>
            <a:r>
              <a:rPr b="1" sz="1000">
                <a:solidFill>
                  <a:srgbClr val="FFFFFF"/>
                </a:solidFill>
              </a:rPr>
              <a:t>• Security Tax / Overhead: </a:t>
            </a:r>
            <a:r>
              <a:rPr sz="950">
                <a:solidFill>
                  <a:srgbClr val="CBD5E1"/>
                </a:solidFill>
              </a:rPr>
              <a:t>18.4 ms (&lt;2% of total pipeline latency)</a:t>
            </a:r>
          </a:p>
          <a:p>
            <a:pPr>
              <a:spcAft>
                <a:spcPts val="350"/>
              </a:spcAft>
            </a:pPr>
            <a:r>
              <a:rPr b="1" sz="1000">
                <a:solidFill>
                  <a:srgbClr val="FFFFFF"/>
                </a:solidFill>
              </a:rPr>
              <a:t>• LLM-as-a-Judge Score: </a:t>
            </a:r>
            <a:r>
              <a:rPr sz="950">
                <a:solidFill>
                  <a:srgbClr val="CBD5E1"/>
                </a:solidFill>
              </a:rPr>
              <a:t>Average 4.90 / 5.0 quality rating across generated patches</a:t>
            </a:r>
          </a:p>
        </p:txBody>
      </p:sp>
      <p:sp>
        <p:nvSpPr>
          <p:cNvPr id="10" name="Rounded Rectangle 9"/>
          <p:cNvSpPr/>
          <p:nvPr/>
        </p:nvSpPr>
        <p:spPr>
          <a:xfrm>
            <a:off x="6217920" y="3840480"/>
            <a:ext cx="5212080" cy="233172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977640"/>
            <a:ext cx="4846320" cy="2057400"/>
          </a:xfrm>
          <a:prstGeom prst="rect">
            <a:avLst/>
          </a:prstGeom>
          <a:noFill/>
        </p:spPr>
        <p:txBody>
          <a:bodyPr wrap="square" lIns="0" tIns="0" rIns="0" bIns="0">
            <a:spAutoFit/>
          </a:bodyPr>
          <a:lstStyle/>
          <a:p>
            <a:pPr>
              <a:spcAft>
                <a:spcPts val="600"/>
              </a:spcAft>
              <a:defRPr sz="1250" b="1">
                <a:solidFill>
                  <a:srgbClr val="00D2FF"/>
                </a:solidFill>
              </a:defRPr>
            </a:pPr>
            <a:r>
              <a:t>Benchmark 4: Software Engineering Test Rigor</a:t>
            </a:r>
          </a:p>
          <a:p>
            <a:pPr>
              <a:spcAft>
                <a:spcPts val="350"/>
              </a:spcAft>
            </a:pPr>
            <a:r>
              <a:rPr b="1" sz="1000">
                <a:solidFill>
                  <a:srgbClr val="FFFFFF"/>
                </a:solidFill>
              </a:rPr>
              <a:t>• Automated Test Suite: </a:t>
            </a:r>
            <a:r>
              <a:rPr sz="950">
                <a:solidFill>
                  <a:srgbClr val="CBD5E1"/>
                </a:solidFill>
              </a:rPr>
              <a:t>220 automated unit &amp; integration tests passing 100%</a:t>
            </a:r>
          </a:p>
          <a:p>
            <a:pPr>
              <a:spcAft>
                <a:spcPts val="350"/>
              </a:spcAft>
            </a:pPr>
            <a:r>
              <a:rPr b="1" sz="1000">
                <a:solidFill>
                  <a:srgbClr val="FFFFFF"/>
                </a:solidFill>
              </a:rPr>
              <a:t>• Security Detector Tests: </a:t>
            </a:r>
            <a:r>
              <a:rPr sz="950">
                <a:solidFill>
                  <a:srgbClr val="CBD5E1"/>
                </a:solidFill>
              </a:rPr>
              <a:t>58 automated unit tests passing</a:t>
            </a:r>
          </a:p>
          <a:p>
            <a:pPr>
              <a:spcAft>
                <a:spcPts val="350"/>
              </a:spcAft>
            </a:pPr>
            <a:r>
              <a:rPr b="1" sz="1000">
                <a:solidFill>
                  <a:srgbClr val="FFFFFF"/>
                </a:solidFill>
              </a:rPr>
              <a:t>• AST Package Firewall Tests: </a:t>
            </a:r>
            <a:r>
              <a:rPr sz="950">
                <a:solidFill>
                  <a:srgbClr val="CBD5E1"/>
                </a:solidFill>
              </a:rPr>
              <a:t>46 automated integration tests passing</a:t>
            </a:r>
          </a:p>
          <a:p>
            <a:pPr>
              <a:spcAft>
                <a:spcPts val="350"/>
              </a:spcAft>
            </a:pPr>
            <a:r>
              <a:rPr b="1" sz="1000">
                <a:solidFill>
                  <a:srgbClr val="FFFFFF"/>
                </a:solidFill>
              </a:rPr>
              <a:t>• AST Blast Radius &amp; ReAct: </a:t>
            </a:r>
            <a:r>
              <a:rPr sz="950">
                <a:solidFill>
                  <a:srgbClr val="CBD5E1"/>
                </a:solidFill>
              </a:rPr>
              <a:t>80 automated tests passing across graphs &amp; sandbox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90D"/>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000" b="1">
                <a:solidFill>
                  <a:srgbClr val="00D2FF"/>
                </a:solidFill>
              </a:defRPr>
            </a:pPr>
            <a:r>
              <a:t>RUBRIC ALIGNMENT: COMPREHENSIVE DEFENSE &amp; PROJECT HORIZON</a:t>
            </a:r>
          </a:p>
        </p:txBody>
      </p:sp>
      <p:sp>
        <p:nvSpPr>
          <p:cNvPr id="3" name="TextBox 2"/>
          <p:cNvSpPr txBox="1"/>
          <p:nvPr/>
        </p:nvSpPr>
        <p:spPr>
          <a:xfrm>
            <a:off x="731520" y="594360"/>
            <a:ext cx="10728655" cy="685800"/>
          </a:xfrm>
          <a:prstGeom prst="rect">
            <a:avLst/>
          </a:prstGeom>
          <a:noFill/>
        </p:spPr>
        <p:txBody>
          <a:bodyPr wrap="square" lIns="0" tIns="0" rIns="0" bIns="0">
            <a:spAutoFit/>
          </a:bodyPr>
          <a:lstStyle/>
          <a:p>
            <a:pPr>
              <a:defRPr sz="2100" b="1">
                <a:solidFill>
                  <a:srgbClr val="FFFFFF"/>
                </a:solidFill>
              </a:defRPr>
            </a:pPr>
            <a:r>
              <a:t>Viva Defense Master Guide, Phase 2 Roadmap &amp; Concluding Summary</a:t>
            </a:r>
          </a:p>
        </p:txBody>
      </p:sp>
      <p:sp>
        <p:nvSpPr>
          <p:cNvPr id="4" name="Rounded Rectangle 3"/>
          <p:cNvSpPr/>
          <p:nvPr/>
        </p:nvSpPr>
        <p:spPr>
          <a:xfrm>
            <a:off x="731520" y="1371600"/>
            <a:ext cx="512064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4663440"/>
          </a:xfrm>
          <a:prstGeom prst="rect">
            <a:avLst/>
          </a:prstGeom>
          <a:noFill/>
        </p:spPr>
        <p:txBody>
          <a:bodyPr wrap="square" lIns="0" tIns="0" rIns="0" bIns="0">
            <a:spAutoFit/>
          </a:bodyPr>
          <a:lstStyle/>
          <a:p>
            <a:pPr>
              <a:spcAft>
                <a:spcPts val="600"/>
              </a:spcAft>
              <a:defRPr sz="1250" b="1">
                <a:solidFill>
                  <a:srgbClr val="FBBF24"/>
                </a:solidFill>
              </a:defRPr>
            </a:pPr>
            <a:r>
              <a:t>Top 3 Examiner Viva Questions &amp; Bulletproof Defense</a:t>
            </a:r>
          </a:p>
          <a:p>
            <a:pPr>
              <a:spcAft>
                <a:spcPts val="350"/>
              </a:spcAft>
            </a:pPr>
            <a:r>
              <a:rPr b="1" sz="1000">
                <a:solidFill>
                  <a:srgbClr val="FFFFFF"/>
                </a:solidFill>
              </a:rPr>
              <a:t>• Q1: Why not rely on system prompt engineering for security?: </a:t>
            </a:r>
            <a:r>
              <a:rPr sz="950">
                <a:solidFill>
                  <a:srgbClr val="CBD5E1"/>
                </a:solidFill>
              </a:rPr>
              <a:t>Defense: System prompts provide stochastic, probabilistic safety. They are inherently vulnerable to jailbreaks and indirect prompt injections. In enterprise DevSecOps, safety must be deterministic. Kavach intercepts data BEFORE tokenization using compiled regex, Shannon entropy, and AST parsers.</a:t>
            </a:r>
          </a:p>
          <a:p>
            <a:pPr>
              <a:spcAft>
                <a:spcPts val="350"/>
              </a:spcAft>
            </a:pPr>
            <a:r>
              <a:rPr b="1" sz="1000">
                <a:solidFill>
                  <a:srgbClr val="FFFFFF"/>
                </a:solidFill>
              </a:rPr>
              <a:t>• Q2: What makes your RAG system 'Agentic' rather than standard?: </a:t>
            </a:r>
            <a:r>
              <a:rPr sz="950">
                <a:solidFill>
                  <a:srgbClr val="CBD5E1"/>
                </a:solidFill>
              </a:rPr>
              <a:t>Defense: Vanilla RAG is a static one-shot pipeline (query -&gt; embed -&gt; retrieve). Kavach's RAG is agentic: the agent analyzes the prompt, dynamically decides if codebase context is needed, filters retrieved chunks for sensitive secrets, grounds retrieval via AST blast radius, and halts conditionally on violations.</a:t>
            </a:r>
          </a:p>
          <a:p>
            <a:pPr>
              <a:spcAft>
                <a:spcPts val="350"/>
              </a:spcAft>
            </a:pPr>
            <a:r>
              <a:rPr b="1" sz="1000">
                <a:solidFill>
                  <a:srgbClr val="FFFFFF"/>
                </a:solidFill>
              </a:rPr>
              <a:t>• Q3: How does your self-healing sandbox avoid infinite loops?: </a:t>
            </a:r>
            <a:r>
              <a:rPr sz="950">
                <a:solidFill>
                  <a:srgbClr val="CBD5E1"/>
                </a:solidFill>
              </a:rPr>
              <a:t>Defense: We enforce a formal finite state machine with a hard mathematical upper bound of N = 3 iterations, strict 3.0s subprocess timeouts, and automatic escalation to a human gatekeeper via NEEDS_REVIEW state upon the 3rd failure.</a:t>
            </a:r>
          </a:p>
        </p:txBody>
      </p:sp>
      <p:sp>
        <p:nvSpPr>
          <p:cNvPr id="6" name="Rounded Rectangle 5"/>
          <p:cNvSpPr/>
          <p:nvPr/>
        </p:nvSpPr>
        <p:spPr>
          <a:xfrm>
            <a:off x="6217920" y="1371600"/>
            <a:ext cx="5212080" cy="4937760"/>
          </a:xfrm>
          <a:prstGeom prst="roundRect">
            <a:avLst/>
          </a:prstGeom>
          <a:solidFill>
            <a:srgbClr val="12151D"/>
          </a:solidFill>
          <a:ln w="15240">
            <a:solidFill>
              <a:srgbClr val="1E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4663440"/>
          </a:xfrm>
          <a:prstGeom prst="rect">
            <a:avLst/>
          </a:prstGeom>
          <a:noFill/>
        </p:spPr>
        <p:txBody>
          <a:bodyPr wrap="square" lIns="0" tIns="0" rIns="0" bIns="0">
            <a:spAutoFit/>
          </a:bodyPr>
          <a:lstStyle/>
          <a:p>
            <a:pPr>
              <a:spcAft>
                <a:spcPts val="600"/>
              </a:spcAft>
              <a:defRPr sz="1250" b="1">
                <a:solidFill>
                  <a:srgbClr val="00D2FF"/>
                </a:solidFill>
              </a:defRPr>
            </a:pPr>
            <a:r>
              <a:t>Phase 2 Research Expansion &amp; Concluding Takeaway</a:t>
            </a:r>
          </a:p>
          <a:p>
            <a:pPr>
              <a:spcAft>
                <a:spcPts val="350"/>
              </a:spcAft>
            </a:pPr>
            <a:r>
              <a:rPr b="1" sz="1000">
                <a:solidFill>
                  <a:srgbClr val="FFFFFF"/>
                </a:solidFill>
              </a:rPr>
              <a:t>• 1. eBPF Kernel Runtime Security: </a:t>
            </a:r>
            <a:r>
              <a:rPr sz="950">
                <a:solidFill>
                  <a:srgbClr val="CBD5E1"/>
                </a:solidFill>
              </a:rPr>
              <a:t>Deploying eBPF tracepoints (sys_enter_execve, sys_enter_connect) to block rogue network sockets and neutralize reverse shells at the Linux kernel level.</a:t>
            </a:r>
          </a:p>
          <a:p>
            <a:pPr>
              <a:spcAft>
                <a:spcPts val="350"/>
              </a:spcAft>
            </a:pPr>
            <a:r>
              <a:rPr b="1" sz="1000">
                <a:solidFill>
                  <a:srgbClr val="FFFFFF"/>
                </a:solidFill>
              </a:rPr>
              <a:t>• 2. Tree-sitter Polyglot AST Engine: </a:t>
            </a:r>
            <a:r>
              <a:rPr sz="950">
                <a:solidFill>
                  <a:srgbClr val="CBD5E1"/>
                </a:solidFill>
              </a:rPr>
              <a:t>Extending static blast-radius and package verification from Python to JavaScript/TypeScript, Go, and Rust.</a:t>
            </a:r>
          </a:p>
          <a:p>
            <a:pPr>
              <a:spcAft>
                <a:spcPts val="350"/>
              </a:spcAft>
            </a:pPr>
            <a:r>
              <a:rPr b="1" sz="1000">
                <a:solidFill>
                  <a:srgbClr val="FFFFFF"/>
                </a:solidFill>
              </a:rPr>
              <a:t>• 3. Merkle Tree Cryptographic Audit Ledger: </a:t>
            </a:r>
            <a:r>
              <a:rPr sz="950">
                <a:solidFill>
                  <a:srgbClr val="CBD5E1"/>
                </a:solidFill>
              </a:rPr>
              <a:t>Binary SHA-256 Merkle tree ledger ensuring tamper-proof non-repudiation for DPDP Act statutory compliance.</a:t>
            </a:r>
          </a:p>
          <a:p>
            <a:pPr>
              <a:spcAft>
                <a:spcPts val="350"/>
              </a:spcAft>
            </a:pPr>
            <a:r>
              <a:rPr b="1" sz="1000">
                <a:solidFill>
                  <a:srgbClr val="FFFFFF"/>
                </a:solidFill>
              </a:rPr>
              <a:t>• 4. GitHub App Pre-Merge Gatekeeper: </a:t>
            </a:r>
            <a:r>
              <a:rPr sz="950">
                <a:solidFill>
                  <a:srgbClr val="CBD5E1"/>
                </a:solidFill>
              </a:rPr>
              <a:t>Event-driven webhook automatically analyzing PR diffs and blocking merge on package slopsquats or unmasked PII.</a:t>
            </a:r>
          </a:p>
          <a:p>
            <a:pPr>
              <a:spcAft>
                <a:spcPts val="350"/>
              </a:spcAft>
            </a:pPr>
            <a:r>
              <a:rPr b="1" sz="1000">
                <a:solidFill>
                  <a:srgbClr val="FFFFFF"/>
                </a:solidFill>
              </a:rPr>
              <a:t>• Concluding Takeaway: </a:t>
            </a:r>
            <a:r>
              <a:rPr sz="950">
                <a:solidFill>
                  <a:srgbClr val="CBD5E1"/>
                </a:solidFill>
              </a:rPr>
              <a:t>KAVACH successfully demonstrates that enterprises can harness the transformative productivity of autonomous coding agents without sacrificing supply-chain integrity, credential privacy, or regression stability.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