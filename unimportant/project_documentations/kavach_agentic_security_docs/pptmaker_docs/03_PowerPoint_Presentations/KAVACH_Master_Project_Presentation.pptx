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BML MUNJAL UNIVERSITY  |  CSE3101 AGENTIC AI  |  CAPSTONE PROJECT DEFENSE</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01 / 33</a:t>
            </a:r>
          </a:p>
        </p:txBody>
      </p:sp>
      <p:sp>
        <p:nvSpPr>
          <p:cNvPr id="4" name="Rounded Rectangle 3"/>
          <p:cNvSpPr/>
          <p:nvPr/>
        </p:nvSpPr>
        <p:spPr>
          <a:xfrm>
            <a:off x="548640" y="1051560"/>
            <a:ext cx="11091672" cy="525780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1417320"/>
            <a:ext cx="2926080" cy="292608"/>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35608"/>
            <a:ext cx="2926080" cy="292608"/>
          </a:xfrm>
          <a:prstGeom prst="rect">
            <a:avLst/>
          </a:prstGeom>
          <a:noFill/>
        </p:spPr>
        <p:txBody>
          <a:bodyPr wrap="square" lIns="54864" rIns="54864" tIns="36576" bIns="36576" anchor="t">
            <a:spAutoFit/>
          </a:bodyPr>
          <a:lstStyle/>
          <a:p>
            <a:pPr algn="ctr"/>
            <a:r>
              <a:rPr sz="900" b="1">
                <a:solidFill>
                  <a:srgbClr val="93C5FD"/>
                </a:solidFill>
                <a:latin typeface="Segoe UI"/>
              </a:rPr>
              <a:t>ACADEMIC &amp; ENGINEERING SPECIFICATION</a:t>
            </a:r>
          </a:p>
        </p:txBody>
      </p:sp>
      <p:sp>
        <p:nvSpPr>
          <p:cNvPr id="7" name="TextBox 6"/>
          <p:cNvSpPr txBox="1"/>
          <p:nvPr/>
        </p:nvSpPr>
        <p:spPr>
          <a:xfrm>
            <a:off x="914400" y="1874519"/>
            <a:ext cx="7315200" cy="914400"/>
          </a:xfrm>
          <a:prstGeom prst="rect">
            <a:avLst/>
          </a:prstGeom>
          <a:noFill/>
        </p:spPr>
        <p:txBody>
          <a:bodyPr wrap="square" lIns="54864" rIns="54864" tIns="36576" bIns="36576" anchor="t">
            <a:spAutoFit/>
          </a:bodyPr>
          <a:lstStyle/>
          <a:p>
            <a:pPr algn="l"/>
            <a:r>
              <a:rPr sz="5200" b="1">
                <a:solidFill>
                  <a:srgbClr val="F8FAFC"/>
                </a:solidFill>
                <a:latin typeface="Segoe UI"/>
              </a:rPr>
              <a:t>KAVACH</a:t>
            </a:r>
          </a:p>
        </p:txBody>
      </p:sp>
      <p:sp>
        <p:nvSpPr>
          <p:cNvPr id="8" name="TextBox 7"/>
          <p:cNvSpPr txBox="1"/>
          <p:nvPr/>
        </p:nvSpPr>
        <p:spPr>
          <a:xfrm>
            <a:off x="914400" y="2880360"/>
            <a:ext cx="9601200" cy="411480"/>
          </a:xfrm>
          <a:prstGeom prst="rect">
            <a:avLst/>
          </a:prstGeom>
          <a:noFill/>
        </p:spPr>
        <p:txBody>
          <a:bodyPr wrap="square" lIns="54864" rIns="54864" tIns="36576" bIns="36576" anchor="t">
            <a:spAutoFit/>
          </a:bodyPr>
          <a:lstStyle/>
          <a:p>
            <a:pPr algn="l"/>
            <a:r>
              <a:rPr sz="2000" b="1">
                <a:solidFill>
                  <a:srgbClr val="0EA5E9"/>
                </a:solidFill>
                <a:latin typeface="Segoe UI"/>
              </a:rPr>
              <a:t>Security-Governed Agentic AI DevOps &amp; Observability Platform</a:t>
            </a:r>
          </a:p>
        </p:txBody>
      </p:sp>
      <p:sp>
        <p:nvSpPr>
          <p:cNvPr id="9" name="TextBox 8"/>
          <p:cNvSpPr txBox="1"/>
          <p:nvPr/>
        </p:nvSpPr>
        <p:spPr>
          <a:xfrm>
            <a:off x="914400" y="3429000"/>
            <a:ext cx="9601200" cy="640080"/>
          </a:xfrm>
          <a:prstGeom prst="rect">
            <a:avLst/>
          </a:prstGeom>
          <a:noFill/>
        </p:spPr>
        <p:txBody>
          <a:bodyPr wrap="square" lIns="54864" rIns="54864" tIns="36576" bIns="36576" anchor="t">
            <a:spAutoFit/>
          </a:bodyPr>
          <a:lstStyle/>
          <a:p>
            <a:pPr algn="l"/>
            <a:r>
              <a:rPr sz="1300" b="0">
                <a:solidFill>
                  <a:srgbClr val="94A3B8"/>
                </a:solidFill>
                <a:latin typeface="Segoe UI"/>
              </a:rPr>
              <a:t>Comprehensive architectural defense covering the complete 9-phase baseline implementation, the September 22 multi-surface workspace expansion, and the 5-feature Agentic AI master roadmap.</a:t>
            </a:r>
          </a:p>
        </p:txBody>
      </p:sp>
      <p:sp>
        <p:nvSpPr>
          <p:cNvPr id="10" name="Rounded Rectangle 9"/>
          <p:cNvSpPr/>
          <p:nvPr/>
        </p:nvSpPr>
        <p:spPr>
          <a:xfrm>
            <a:off x="914400" y="4526280"/>
            <a:ext cx="2423160" cy="1280160"/>
          </a:xfrm>
          <a:prstGeom prst="roundRect">
            <a:avLst/>
          </a:prstGeom>
          <a:solidFill>
            <a:srgbClr val="18212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663440"/>
            <a:ext cx="2148840" cy="201168"/>
          </a:xfrm>
          <a:prstGeom prst="rect">
            <a:avLst/>
          </a:prstGeom>
          <a:noFill/>
        </p:spPr>
        <p:txBody>
          <a:bodyPr wrap="square" lIns="54864" rIns="54864" tIns="36576" bIns="36576" anchor="t">
            <a:spAutoFit/>
          </a:bodyPr>
          <a:lstStyle/>
          <a:p>
            <a:pPr algn="l"/>
            <a:r>
              <a:rPr sz="900" b="1">
                <a:solidFill>
                  <a:srgbClr val="3B82F6"/>
                </a:solidFill>
                <a:latin typeface="Segoe UI"/>
              </a:rPr>
              <a:t>COURSE ALIGNMENT</a:t>
            </a:r>
          </a:p>
        </p:txBody>
      </p:sp>
      <p:sp>
        <p:nvSpPr>
          <p:cNvPr id="12" name="TextBox 11"/>
          <p:cNvSpPr txBox="1"/>
          <p:nvPr/>
        </p:nvSpPr>
        <p:spPr>
          <a:xfrm>
            <a:off x="1051560" y="4919472"/>
            <a:ext cx="2148840" cy="777240"/>
          </a:xfrm>
          <a:prstGeom prst="rect">
            <a:avLst/>
          </a:prstGeom>
          <a:noFill/>
        </p:spPr>
        <p:txBody>
          <a:bodyPr wrap="square" lIns="54864" rIns="54864" tIns="36576" bIns="36576" anchor="t">
            <a:spAutoFit/>
          </a:bodyPr>
          <a:lstStyle/>
          <a:p>
            <a:pPr algn="l"/>
            <a:r>
              <a:rPr sz="1100" b="1">
                <a:solidFill>
                  <a:srgbClr val="F8FAFC"/>
                </a:solidFill>
                <a:latin typeface="Segoe UI"/>
              </a:rPr>
              <a:t>CSE3101 - Agentic AI (7th Sem)
Outcomes CO1, CO2, CO3 Covered</a:t>
            </a:r>
          </a:p>
        </p:txBody>
      </p:sp>
      <p:sp>
        <p:nvSpPr>
          <p:cNvPr id="13" name="Rounded Rectangle 12"/>
          <p:cNvSpPr/>
          <p:nvPr/>
        </p:nvSpPr>
        <p:spPr>
          <a:xfrm>
            <a:off x="3520440" y="4526280"/>
            <a:ext cx="2423160" cy="1280160"/>
          </a:xfrm>
          <a:prstGeom prst="roundRect">
            <a:avLst/>
          </a:prstGeom>
          <a:solidFill>
            <a:srgbClr val="18212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0" y="4663440"/>
            <a:ext cx="2148840" cy="201168"/>
          </a:xfrm>
          <a:prstGeom prst="rect">
            <a:avLst/>
          </a:prstGeom>
          <a:noFill/>
        </p:spPr>
        <p:txBody>
          <a:bodyPr wrap="square" lIns="54864" rIns="54864" tIns="36576" bIns="36576" anchor="t">
            <a:spAutoFit/>
          </a:bodyPr>
          <a:lstStyle/>
          <a:p>
            <a:pPr algn="l"/>
            <a:r>
              <a:rPr sz="900" b="1">
                <a:solidFill>
                  <a:srgbClr val="F59E0B"/>
                </a:solidFill>
                <a:latin typeface="Segoe UI"/>
              </a:rPr>
              <a:t>PROJECT MENTORS</a:t>
            </a:r>
          </a:p>
        </p:txBody>
      </p:sp>
      <p:sp>
        <p:nvSpPr>
          <p:cNvPr id="15" name="TextBox 14"/>
          <p:cNvSpPr txBox="1"/>
          <p:nvPr/>
        </p:nvSpPr>
        <p:spPr>
          <a:xfrm>
            <a:off x="3657600" y="4919472"/>
            <a:ext cx="2148840" cy="777240"/>
          </a:xfrm>
          <a:prstGeom prst="rect">
            <a:avLst/>
          </a:prstGeom>
          <a:noFill/>
        </p:spPr>
        <p:txBody>
          <a:bodyPr wrap="square" lIns="54864" rIns="54864" tIns="36576" bIns="36576" anchor="t">
            <a:spAutoFit/>
          </a:bodyPr>
          <a:lstStyle/>
          <a:p>
            <a:pPr algn="l"/>
            <a:r>
              <a:rPr sz="1100" b="1">
                <a:solidFill>
                  <a:srgbClr val="F8FAFC"/>
                </a:solidFill>
                <a:latin typeface="Segoe UI"/>
              </a:rPr>
              <a:t>Dr. Soharab Hossain Shaikh &amp;
Mr. Pranshu Tiwari</a:t>
            </a:r>
          </a:p>
        </p:txBody>
      </p:sp>
      <p:sp>
        <p:nvSpPr>
          <p:cNvPr id="16" name="Rounded Rectangle 15"/>
          <p:cNvSpPr/>
          <p:nvPr/>
        </p:nvSpPr>
        <p:spPr>
          <a:xfrm>
            <a:off x="6126480" y="4526280"/>
            <a:ext cx="2423160" cy="1280160"/>
          </a:xfrm>
          <a:prstGeom prst="roundRect">
            <a:avLst/>
          </a:prstGeom>
          <a:solidFill>
            <a:srgbClr val="18212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4663440"/>
            <a:ext cx="2148840" cy="201168"/>
          </a:xfrm>
          <a:prstGeom prst="rect">
            <a:avLst/>
          </a:prstGeom>
          <a:noFill/>
        </p:spPr>
        <p:txBody>
          <a:bodyPr wrap="square" lIns="54864" rIns="54864" tIns="36576" bIns="36576" anchor="t">
            <a:spAutoFit/>
          </a:bodyPr>
          <a:lstStyle/>
          <a:p>
            <a:pPr algn="l"/>
            <a:r>
              <a:rPr sz="900" b="1">
                <a:solidFill>
                  <a:srgbClr val="10B981"/>
                </a:solidFill>
                <a:latin typeface="Segoe UI"/>
              </a:rPr>
              <a:t>BASELINE STATUS</a:t>
            </a:r>
          </a:p>
        </p:txBody>
      </p:sp>
      <p:sp>
        <p:nvSpPr>
          <p:cNvPr id="18" name="TextBox 17"/>
          <p:cNvSpPr txBox="1"/>
          <p:nvPr/>
        </p:nvSpPr>
        <p:spPr>
          <a:xfrm>
            <a:off x="6263640" y="4919472"/>
            <a:ext cx="2148840" cy="777240"/>
          </a:xfrm>
          <a:prstGeom prst="rect">
            <a:avLst/>
          </a:prstGeom>
          <a:noFill/>
        </p:spPr>
        <p:txBody>
          <a:bodyPr wrap="square" lIns="54864" rIns="54864" tIns="36576" bIns="36576" anchor="t">
            <a:spAutoFit/>
          </a:bodyPr>
          <a:lstStyle/>
          <a:p>
            <a:pPr algn="l"/>
            <a:r>
              <a:rPr sz="1100" b="1">
                <a:solidFill>
                  <a:srgbClr val="F8FAFC"/>
                </a:solidFill>
                <a:latin typeface="Segoe UI"/>
              </a:rPr>
              <a:t>All 9 Phases Fully Executed
164+ Passed Tests | CI Gate PASS</a:t>
            </a:r>
          </a:p>
        </p:txBody>
      </p:sp>
      <p:sp>
        <p:nvSpPr>
          <p:cNvPr id="19" name="Rounded Rectangle 18"/>
          <p:cNvSpPr/>
          <p:nvPr/>
        </p:nvSpPr>
        <p:spPr>
          <a:xfrm>
            <a:off x="8732520" y="4526280"/>
            <a:ext cx="2423160" cy="1280160"/>
          </a:xfrm>
          <a:prstGeom prst="roundRect">
            <a:avLst/>
          </a:prstGeom>
          <a:solidFill>
            <a:srgbClr val="18212F"/>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0" y="4663440"/>
            <a:ext cx="2148840" cy="201168"/>
          </a:xfrm>
          <a:prstGeom prst="rect">
            <a:avLst/>
          </a:prstGeom>
          <a:noFill/>
        </p:spPr>
        <p:txBody>
          <a:bodyPr wrap="square" lIns="54864" rIns="54864" tIns="36576" bIns="36576" anchor="t">
            <a:spAutoFit/>
          </a:bodyPr>
          <a:lstStyle/>
          <a:p>
            <a:pPr algn="l"/>
            <a:r>
              <a:rPr sz="900" b="1">
                <a:solidFill>
                  <a:srgbClr val="6366F1"/>
                </a:solidFill>
                <a:latin typeface="Segoe UI"/>
              </a:rPr>
              <a:t>AGENTIC ROADMAP</a:t>
            </a:r>
          </a:p>
        </p:txBody>
      </p:sp>
      <p:sp>
        <p:nvSpPr>
          <p:cNvPr id="21" name="TextBox 20"/>
          <p:cNvSpPr txBox="1"/>
          <p:nvPr/>
        </p:nvSpPr>
        <p:spPr>
          <a:xfrm>
            <a:off x="8869680" y="4919472"/>
            <a:ext cx="2148840" cy="777240"/>
          </a:xfrm>
          <a:prstGeom prst="rect">
            <a:avLst/>
          </a:prstGeom>
          <a:noFill/>
        </p:spPr>
        <p:txBody>
          <a:bodyPr wrap="square" lIns="54864" rIns="54864" tIns="36576" bIns="36576" anchor="t">
            <a:spAutoFit/>
          </a:bodyPr>
          <a:lstStyle/>
          <a:p>
            <a:pPr algn="l"/>
            <a:r>
              <a:rPr sz="1100" b="1">
                <a:solidFill>
                  <a:srgbClr val="F8FAFC"/>
                </a:solidFill>
                <a:latin typeface="Segoe UI"/>
              </a:rPr>
              <a:t>What We Are Planning To Do:
CrewAI + ReAct + Ollama + MCP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KAVACH  |  ENTERPRISE AGENTIC DEVOPS PLATFORM</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02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Executive Summary: Why Kavach Must Exist</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Autonomous AI coding agents promise end-to-end DevOps automation, but create severe enterprise vulnerabilities.</a:t>
            </a:r>
          </a:p>
        </p:txBody>
      </p:sp>
      <p:sp>
        <p:nvSpPr>
          <p:cNvPr id="6" name="Rounded Rectangle 5"/>
          <p:cNvSpPr/>
          <p:nvPr/>
        </p:nvSpPr>
        <p:spPr>
          <a:xfrm>
            <a:off x="548640" y="1645920"/>
            <a:ext cx="5394960" cy="4663440"/>
          </a:xfrm>
          <a:prstGeom prst="roundRect">
            <a:avLst/>
          </a:prstGeom>
          <a:solidFill>
            <a:srgbClr val="1E293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1874519"/>
            <a:ext cx="2103120" cy="274320"/>
          </a:xfrm>
          <a:prstGeom prst="roundRect">
            <a:avLst/>
          </a:prstGeom>
          <a:solidFill>
            <a:srgbClr val="45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92807"/>
            <a:ext cx="2103120" cy="274320"/>
          </a:xfrm>
          <a:prstGeom prst="rect">
            <a:avLst/>
          </a:prstGeom>
          <a:noFill/>
        </p:spPr>
        <p:txBody>
          <a:bodyPr wrap="square" lIns="54864" rIns="54864" tIns="36576" bIns="36576" anchor="t">
            <a:spAutoFit/>
          </a:bodyPr>
          <a:lstStyle/>
          <a:p>
            <a:pPr algn="ctr"/>
            <a:r>
              <a:rPr sz="900" b="1">
                <a:solidFill>
                  <a:srgbClr val="FCA5A5"/>
                </a:solidFill>
                <a:latin typeface="Segoe UI"/>
              </a:rPr>
              <a:t>THE PROBLEM LANDSCAPE</a:t>
            </a:r>
          </a:p>
        </p:txBody>
      </p:sp>
      <p:sp>
        <p:nvSpPr>
          <p:cNvPr id="9" name="TextBox 8"/>
          <p:cNvSpPr txBox="1"/>
          <p:nvPr/>
        </p:nvSpPr>
        <p:spPr>
          <a:xfrm>
            <a:off x="822960" y="2240280"/>
            <a:ext cx="4754880" cy="320040"/>
          </a:xfrm>
          <a:prstGeom prst="rect">
            <a:avLst/>
          </a:prstGeom>
          <a:noFill/>
        </p:spPr>
        <p:txBody>
          <a:bodyPr wrap="square" lIns="54864" rIns="54864" tIns="36576" bIns="36576" anchor="t">
            <a:spAutoFit/>
          </a:bodyPr>
          <a:lstStyle/>
          <a:p>
            <a:pPr algn="l"/>
            <a:r>
              <a:rPr sz="1600" b="1">
                <a:solidFill>
                  <a:srgbClr val="F8FAFC"/>
                </a:solidFill>
                <a:latin typeface="Segoe UI"/>
              </a:rPr>
              <a:t>Fatal Failure Modes of Unconstrained AI</a:t>
            </a:r>
          </a:p>
        </p:txBody>
      </p:sp>
      <p:sp>
        <p:nvSpPr>
          <p:cNvPr id="10" name="TextBox 9"/>
          <p:cNvSpPr txBox="1"/>
          <p:nvPr/>
        </p:nvSpPr>
        <p:spPr>
          <a:xfrm>
            <a:off x="822960" y="2743200"/>
            <a:ext cx="4754880" cy="594360"/>
          </a:xfrm>
          <a:prstGeom prst="rect">
            <a:avLst/>
          </a:prstGeom>
          <a:noFill/>
        </p:spPr>
        <p:txBody>
          <a:bodyPr wrap="square" lIns="54864" rIns="54864" tIns="36576" bIns="36576" anchor="t">
            <a:spAutoFit/>
          </a:bodyPr>
          <a:lstStyle/>
          <a:p>
            <a:pPr algn="l"/>
            <a:r>
              <a:rPr sz="1100" b="0">
                <a:solidFill>
                  <a:srgbClr val="94A3B8"/>
                </a:solidFill>
                <a:latin typeface="Segoe UI"/>
              </a:rPr>
              <a:t>• Credential &amp; Secret Leakage: PII, PAN, Aadhaar, and AWS tokens leak into public repos and third-party LLM cloud logs.</a:t>
            </a:r>
          </a:p>
        </p:txBody>
      </p:sp>
      <p:sp>
        <p:nvSpPr>
          <p:cNvPr id="11" name="TextBox 10"/>
          <p:cNvSpPr txBox="1"/>
          <p:nvPr/>
        </p:nvSpPr>
        <p:spPr>
          <a:xfrm>
            <a:off x="822960" y="3401568"/>
            <a:ext cx="4754880" cy="594360"/>
          </a:xfrm>
          <a:prstGeom prst="rect">
            <a:avLst/>
          </a:prstGeom>
          <a:noFill/>
        </p:spPr>
        <p:txBody>
          <a:bodyPr wrap="square" lIns="54864" rIns="54864" tIns="36576" bIns="36576" anchor="t">
            <a:spAutoFit/>
          </a:bodyPr>
          <a:lstStyle/>
          <a:p>
            <a:pPr algn="l"/>
            <a:r>
              <a:rPr sz="1100" b="0">
                <a:solidFill>
                  <a:srgbClr val="94A3B8"/>
                </a:solidFill>
                <a:latin typeface="Segoe UI"/>
              </a:rPr>
              <a:t>• Package Slopsquatting: Models hallucinate fake PyPI packages, allowing malicious actors to hijack dependencies.</a:t>
            </a:r>
          </a:p>
        </p:txBody>
      </p:sp>
      <p:sp>
        <p:nvSpPr>
          <p:cNvPr id="12" name="TextBox 11"/>
          <p:cNvSpPr txBox="1"/>
          <p:nvPr/>
        </p:nvSpPr>
        <p:spPr>
          <a:xfrm>
            <a:off x="822960" y="4059935"/>
            <a:ext cx="4754880" cy="594360"/>
          </a:xfrm>
          <a:prstGeom prst="rect">
            <a:avLst/>
          </a:prstGeom>
          <a:noFill/>
        </p:spPr>
        <p:txBody>
          <a:bodyPr wrap="square" lIns="54864" rIns="54864" tIns="36576" bIns="36576" anchor="t">
            <a:spAutoFit/>
          </a:bodyPr>
          <a:lstStyle/>
          <a:p>
            <a:pPr algn="l"/>
            <a:r>
              <a:rPr sz="1100" b="0">
                <a:solidFill>
                  <a:srgbClr val="94A3B8"/>
                </a:solidFill>
                <a:latin typeface="Segoe UI"/>
              </a:rPr>
              <a:t>• Unbounded Blast Radius: Agents modify code without understanding transitive multi-module dependencies, breaking services.</a:t>
            </a:r>
          </a:p>
        </p:txBody>
      </p:sp>
      <p:sp>
        <p:nvSpPr>
          <p:cNvPr id="13" name="TextBox 12"/>
          <p:cNvSpPr txBox="1"/>
          <p:nvPr/>
        </p:nvSpPr>
        <p:spPr>
          <a:xfrm>
            <a:off x="822960" y="4718304"/>
            <a:ext cx="4754880" cy="594360"/>
          </a:xfrm>
          <a:prstGeom prst="rect">
            <a:avLst/>
          </a:prstGeom>
          <a:noFill/>
        </p:spPr>
        <p:txBody>
          <a:bodyPr wrap="square" lIns="54864" rIns="54864" tIns="36576" bIns="36576" anchor="t">
            <a:spAutoFit/>
          </a:bodyPr>
          <a:lstStyle/>
          <a:p>
            <a:pPr algn="l"/>
            <a:r>
              <a:rPr sz="1100" b="0">
                <a:solidFill>
                  <a:srgbClr val="94A3B8"/>
                </a:solidFill>
                <a:latin typeface="Segoe UI"/>
              </a:rPr>
              <a:t>• Infinite Debugging Loops: Probabilistic agents enter non-convergent repair cycles, exhausting tokens without fixing bugs.</a:t>
            </a:r>
          </a:p>
        </p:txBody>
      </p:sp>
      <p:sp>
        <p:nvSpPr>
          <p:cNvPr id="14" name="TextBox 13"/>
          <p:cNvSpPr txBox="1"/>
          <p:nvPr/>
        </p:nvSpPr>
        <p:spPr>
          <a:xfrm>
            <a:off x="822960" y="5376672"/>
            <a:ext cx="4754880" cy="594360"/>
          </a:xfrm>
          <a:prstGeom prst="rect">
            <a:avLst/>
          </a:prstGeom>
          <a:noFill/>
        </p:spPr>
        <p:txBody>
          <a:bodyPr wrap="square" lIns="54864" rIns="54864" tIns="36576" bIns="36576" anchor="t">
            <a:spAutoFit/>
          </a:bodyPr>
          <a:lstStyle/>
          <a:p>
            <a:pPr algn="l"/>
            <a:r>
              <a:rPr sz="1100" b="0">
                <a:solidFill>
                  <a:srgbClr val="94A3B8"/>
                </a:solidFill>
                <a:latin typeface="Segoe UI"/>
              </a:rPr>
              <a:t>• Prompt Injection &amp; Drift: External repository issues and malicious comments hijack the agent's reasoning layer.</a:t>
            </a:r>
          </a:p>
        </p:txBody>
      </p:sp>
      <p:sp>
        <p:nvSpPr>
          <p:cNvPr id="15" name="Rounded Rectangle 14"/>
          <p:cNvSpPr/>
          <p:nvPr/>
        </p:nvSpPr>
        <p:spPr>
          <a:xfrm>
            <a:off x="6217920" y="1645920"/>
            <a:ext cx="5394960" cy="4663440"/>
          </a:xfrm>
          <a:prstGeom prst="roundRect">
            <a:avLst/>
          </a:prstGeom>
          <a:solidFill>
            <a:srgbClr val="18212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92240" y="1874519"/>
            <a:ext cx="2103120" cy="274320"/>
          </a:xfrm>
          <a:prstGeom prst="round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1892807"/>
            <a:ext cx="2103120" cy="274320"/>
          </a:xfrm>
          <a:prstGeom prst="rect">
            <a:avLst/>
          </a:prstGeom>
          <a:noFill/>
        </p:spPr>
        <p:txBody>
          <a:bodyPr wrap="square" lIns="54864" rIns="54864" tIns="36576" bIns="36576" anchor="t">
            <a:spAutoFit/>
          </a:bodyPr>
          <a:lstStyle/>
          <a:p>
            <a:pPr algn="ctr"/>
            <a:r>
              <a:rPr sz="900" b="1">
                <a:solidFill>
                  <a:srgbClr val="6EE7B7"/>
                </a:solidFill>
                <a:latin typeface="Segoe UI"/>
              </a:rPr>
              <a:t>THE KAVACH PARADIGM</a:t>
            </a:r>
          </a:p>
        </p:txBody>
      </p:sp>
      <p:sp>
        <p:nvSpPr>
          <p:cNvPr id="18" name="TextBox 17"/>
          <p:cNvSpPr txBox="1"/>
          <p:nvPr/>
        </p:nvSpPr>
        <p:spPr>
          <a:xfrm>
            <a:off x="6492240" y="2240280"/>
            <a:ext cx="4754880" cy="320040"/>
          </a:xfrm>
          <a:prstGeom prst="rect">
            <a:avLst/>
          </a:prstGeom>
          <a:noFill/>
        </p:spPr>
        <p:txBody>
          <a:bodyPr wrap="square" lIns="54864" rIns="54864" tIns="36576" bIns="36576" anchor="t">
            <a:spAutoFit/>
          </a:bodyPr>
          <a:lstStyle/>
          <a:p>
            <a:pPr algn="l"/>
            <a:r>
              <a:rPr sz="1600" b="1">
                <a:solidFill>
                  <a:srgbClr val="F8FAFC"/>
                </a:solidFill>
                <a:latin typeface="Segoe UI"/>
              </a:rPr>
              <a:t>Deterministic Governance &amp; Agentic Armor</a:t>
            </a:r>
          </a:p>
        </p:txBody>
      </p:sp>
      <p:sp>
        <p:nvSpPr>
          <p:cNvPr id="19" name="TextBox 18"/>
          <p:cNvSpPr txBox="1"/>
          <p:nvPr/>
        </p:nvSpPr>
        <p:spPr>
          <a:xfrm>
            <a:off x="6492240" y="2743200"/>
            <a:ext cx="4754880" cy="594360"/>
          </a:xfrm>
          <a:prstGeom prst="rect">
            <a:avLst/>
          </a:prstGeom>
          <a:noFill/>
        </p:spPr>
        <p:txBody>
          <a:bodyPr wrap="square" lIns="54864" rIns="54864" tIns="36576" bIns="36576" anchor="t">
            <a:spAutoFit/>
          </a:bodyPr>
          <a:lstStyle/>
          <a:p>
            <a:pPr algn="l"/>
            <a:r>
              <a:rPr sz="1100" b="0">
                <a:solidFill>
                  <a:srgbClr val="F8FAFC"/>
                </a:solidFill>
                <a:latin typeface="Segoe UI"/>
              </a:rPr>
              <a:t>✔ Deterministic FSM: Replaces naive prompt wrappers with a strict, auditable finite-state machine.</a:t>
            </a:r>
          </a:p>
        </p:txBody>
      </p:sp>
      <p:sp>
        <p:nvSpPr>
          <p:cNvPr id="20" name="TextBox 19"/>
          <p:cNvSpPr txBox="1"/>
          <p:nvPr/>
        </p:nvSpPr>
        <p:spPr>
          <a:xfrm>
            <a:off x="6492240" y="3401568"/>
            <a:ext cx="4754880" cy="594360"/>
          </a:xfrm>
          <a:prstGeom prst="rect">
            <a:avLst/>
          </a:prstGeom>
          <a:noFill/>
        </p:spPr>
        <p:txBody>
          <a:bodyPr wrap="square" lIns="54864" rIns="54864" tIns="36576" bIns="36576" anchor="t">
            <a:spAutoFit/>
          </a:bodyPr>
          <a:lstStyle/>
          <a:p>
            <a:pPr algn="l"/>
            <a:r>
              <a:rPr sz="1100" b="0">
                <a:solidFill>
                  <a:srgbClr val="F8FAFC"/>
                </a:solidFill>
                <a:latin typeface="Segoe UI"/>
              </a:rPr>
              <a:t>✔ Pre-Execution Gating: Shannon entropy and regex intercept secrets BEFORE prompt tokenization.</a:t>
            </a:r>
          </a:p>
        </p:txBody>
      </p:sp>
      <p:sp>
        <p:nvSpPr>
          <p:cNvPr id="21" name="TextBox 20"/>
          <p:cNvSpPr txBox="1"/>
          <p:nvPr/>
        </p:nvSpPr>
        <p:spPr>
          <a:xfrm>
            <a:off x="6492240" y="4059935"/>
            <a:ext cx="4754880" cy="594360"/>
          </a:xfrm>
          <a:prstGeom prst="rect">
            <a:avLst/>
          </a:prstGeom>
          <a:noFill/>
        </p:spPr>
        <p:txBody>
          <a:bodyPr wrap="square" lIns="54864" rIns="54864" tIns="36576" bIns="36576" anchor="t">
            <a:spAutoFit/>
          </a:bodyPr>
          <a:lstStyle/>
          <a:p>
            <a:pPr algn="l"/>
            <a:r>
              <a:rPr sz="1100" b="0">
                <a:solidFill>
                  <a:srgbClr val="F8FAFC"/>
                </a:solidFill>
                <a:latin typeface="Segoe UI"/>
              </a:rPr>
              <a:t>✔ AST Dependency Mapping: Parses Python ASTs to compute exact blast radius before applying changes.</a:t>
            </a:r>
          </a:p>
        </p:txBody>
      </p:sp>
      <p:sp>
        <p:nvSpPr>
          <p:cNvPr id="22" name="TextBox 21"/>
          <p:cNvSpPr txBox="1"/>
          <p:nvPr/>
        </p:nvSpPr>
        <p:spPr>
          <a:xfrm>
            <a:off x="6492240" y="4718304"/>
            <a:ext cx="4754880" cy="594360"/>
          </a:xfrm>
          <a:prstGeom prst="rect">
            <a:avLst/>
          </a:prstGeom>
          <a:noFill/>
        </p:spPr>
        <p:txBody>
          <a:bodyPr wrap="square" lIns="54864" rIns="54864" tIns="36576" bIns="36576" anchor="t">
            <a:spAutoFit/>
          </a:bodyPr>
          <a:lstStyle/>
          <a:p>
            <a:pPr algn="l"/>
            <a:r>
              <a:rPr sz="1100" b="0">
                <a:solidFill>
                  <a:srgbClr val="F8FAFC"/>
                </a:solidFill>
                <a:latin typeface="Segoe UI"/>
              </a:rPr>
              <a:t>✔ Air-Gapped Privacy Switch: Routes proprietary code to local Ollama (qwen2.5-coder), keeping data on-premise.</a:t>
            </a:r>
          </a:p>
        </p:txBody>
      </p:sp>
      <p:sp>
        <p:nvSpPr>
          <p:cNvPr id="23" name="TextBox 22"/>
          <p:cNvSpPr txBox="1"/>
          <p:nvPr/>
        </p:nvSpPr>
        <p:spPr>
          <a:xfrm>
            <a:off x="6492240" y="5376672"/>
            <a:ext cx="4754880" cy="594360"/>
          </a:xfrm>
          <a:prstGeom prst="rect">
            <a:avLst/>
          </a:prstGeom>
          <a:noFill/>
        </p:spPr>
        <p:txBody>
          <a:bodyPr wrap="square" lIns="54864" rIns="54864" tIns="36576" bIns="36576" anchor="t">
            <a:spAutoFit/>
          </a:bodyPr>
          <a:lstStyle/>
          <a:p>
            <a:pPr algn="l"/>
            <a:r>
              <a:rPr sz="1100" b="0">
                <a:solidFill>
                  <a:srgbClr val="F8FAFC"/>
                </a:solidFill>
                <a:latin typeface="Segoe UI"/>
              </a:rPr>
              <a:t>✔ Self-Healing ReAct Sandbox: Auto-runs tests, captures stderr, and self-repairs code up to N=3 cycles.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KAVACH  |  ALL 9 PHASES EXECUTED &amp; COMPLETED</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03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Complete 9-Phase Baseline Execution Story</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Kavach was systematically engineered and validated through all 9 formal project phases.</a:t>
            </a:r>
          </a:p>
        </p:txBody>
      </p:sp>
      <p:sp>
        <p:nvSpPr>
          <p:cNvPr id="6" name="Rounded Rectangle 5"/>
          <p:cNvSpPr/>
          <p:nvPr/>
        </p:nvSpPr>
        <p:spPr>
          <a:xfrm>
            <a:off x="548640" y="1645920"/>
            <a:ext cx="3566160" cy="146304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810512"/>
            <a:ext cx="18288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1828800" cy="228600"/>
          </a:xfrm>
          <a:prstGeom prst="rect">
            <a:avLst/>
          </a:prstGeom>
          <a:noFill/>
        </p:spPr>
        <p:txBody>
          <a:bodyPr wrap="square" lIns="54864" rIns="54864" tIns="36576" bIns="36576" anchor="t">
            <a:spAutoFit/>
          </a:bodyPr>
          <a:lstStyle/>
          <a:p>
            <a:pPr algn="ctr"/>
            <a:r>
              <a:rPr sz="900" b="1">
                <a:solidFill>
                  <a:srgbClr val="3B82F6"/>
                </a:solidFill>
                <a:latin typeface="Segoe UI"/>
              </a:rPr>
              <a:t>PHASE 1 — COMPLETED</a:t>
            </a:r>
          </a:p>
        </p:txBody>
      </p:sp>
      <p:sp>
        <p:nvSpPr>
          <p:cNvPr id="9" name="TextBox 8"/>
          <p:cNvSpPr txBox="1"/>
          <p:nvPr/>
        </p:nvSpPr>
        <p:spPr>
          <a:xfrm>
            <a:off x="731520" y="2121408"/>
            <a:ext cx="3200400" cy="292608"/>
          </a:xfrm>
          <a:prstGeom prst="rect">
            <a:avLst/>
          </a:prstGeom>
          <a:noFill/>
        </p:spPr>
        <p:txBody>
          <a:bodyPr wrap="square" lIns="54864" rIns="54864" tIns="36576" bIns="36576" anchor="t">
            <a:spAutoFit/>
          </a:bodyPr>
          <a:lstStyle/>
          <a:p>
            <a:pPr algn="l"/>
            <a:r>
              <a:rPr sz="1400" b="1">
                <a:solidFill>
                  <a:srgbClr val="F8FAFC"/>
                </a:solidFill>
                <a:latin typeface="Segoe UI"/>
              </a:rPr>
              <a:t>RAG Foundation</a:t>
            </a:r>
          </a:p>
        </p:txBody>
      </p:sp>
      <p:sp>
        <p:nvSpPr>
          <p:cNvPr id="10" name="TextBox 9"/>
          <p:cNvSpPr txBox="1"/>
          <p:nvPr/>
        </p:nvSpPr>
        <p:spPr>
          <a:xfrm>
            <a:off x="731520" y="2450592"/>
            <a:ext cx="3200400" cy="594360"/>
          </a:xfrm>
          <a:prstGeom prst="rect">
            <a:avLst/>
          </a:prstGeom>
          <a:noFill/>
        </p:spPr>
        <p:txBody>
          <a:bodyPr wrap="square" lIns="54864" rIns="54864" tIns="36576" bIns="36576" anchor="t">
            <a:spAutoFit/>
          </a:bodyPr>
          <a:lstStyle/>
          <a:p>
            <a:pPr algn="l"/>
            <a:r>
              <a:rPr sz="1000" b="0">
                <a:solidFill>
                  <a:srgbClr val="94A3B8"/>
                </a:solidFill>
                <a:latin typeface="Segoe UI"/>
              </a:rPr>
              <a:t>Repository ingestion, AST chunking, MiniLM embeddings, Qdrant store.</a:t>
            </a:r>
          </a:p>
        </p:txBody>
      </p:sp>
      <p:sp>
        <p:nvSpPr>
          <p:cNvPr id="11" name="Rounded Rectangle 10"/>
          <p:cNvSpPr/>
          <p:nvPr/>
        </p:nvSpPr>
        <p:spPr>
          <a:xfrm>
            <a:off x="4297679" y="1645920"/>
            <a:ext cx="3566160" cy="146304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480559" y="1810512"/>
            <a:ext cx="18288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59" y="1828800"/>
            <a:ext cx="1828800" cy="228600"/>
          </a:xfrm>
          <a:prstGeom prst="rect">
            <a:avLst/>
          </a:prstGeom>
          <a:noFill/>
        </p:spPr>
        <p:txBody>
          <a:bodyPr wrap="square" lIns="54864" rIns="54864" tIns="36576" bIns="36576" anchor="t">
            <a:spAutoFit/>
          </a:bodyPr>
          <a:lstStyle/>
          <a:p>
            <a:pPr algn="ctr"/>
            <a:r>
              <a:rPr sz="900" b="1">
                <a:solidFill>
                  <a:srgbClr val="0EA5E9"/>
                </a:solidFill>
                <a:latin typeface="Segoe UI"/>
              </a:rPr>
              <a:t>PHASE 2 — COMPLETED</a:t>
            </a:r>
          </a:p>
        </p:txBody>
      </p:sp>
      <p:sp>
        <p:nvSpPr>
          <p:cNvPr id="14" name="TextBox 13"/>
          <p:cNvSpPr txBox="1"/>
          <p:nvPr/>
        </p:nvSpPr>
        <p:spPr>
          <a:xfrm>
            <a:off x="4480559" y="2121408"/>
            <a:ext cx="3200400" cy="292608"/>
          </a:xfrm>
          <a:prstGeom prst="rect">
            <a:avLst/>
          </a:prstGeom>
          <a:noFill/>
        </p:spPr>
        <p:txBody>
          <a:bodyPr wrap="square" lIns="54864" rIns="54864" tIns="36576" bIns="36576" anchor="t">
            <a:spAutoFit/>
          </a:bodyPr>
          <a:lstStyle/>
          <a:p>
            <a:pPr algn="l"/>
            <a:r>
              <a:rPr sz="1400" b="1">
                <a:solidFill>
                  <a:srgbClr val="F8FAFC"/>
                </a:solidFill>
                <a:latin typeface="Segoe UI"/>
              </a:rPr>
              <a:t>Agent Orchestrator</a:t>
            </a:r>
          </a:p>
        </p:txBody>
      </p:sp>
      <p:sp>
        <p:nvSpPr>
          <p:cNvPr id="15" name="TextBox 14"/>
          <p:cNvSpPr txBox="1"/>
          <p:nvPr/>
        </p:nvSpPr>
        <p:spPr>
          <a:xfrm>
            <a:off x="4480559" y="2450592"/>
            <a:ext cx="3200400" cy="594360"/>
          </a:xfrm>
          <a:prstGeom prst="rect">
            <a:avLst/>
          </a:prstGeom>
          <a:noFill/>
        </p:spPr>
        <p:txBody>
          <a:bodyPr wrap="square" lIns="54864" rIns="54864" tIns="36576" bIns="36576" anchor="t">
            <a:spAutoFit/>
          </a:bodyPr>
          <a:lstStyle/>
          <a:p>
            <a:pPr algn="l"/>
            <a:r>
              <a:rPr sz="1000" b="0">
                <a:solidFill>
                  <a:srgbClr val="94A3B8"/>
                </a:solidFill>
                <a:latin typeface="Segoe UI"/>
              </a:rPr>
              <a:t>WorkflowStage state machine, planner, deterministic transitions.</a:t>
            </a:r>
          </a:p>
        </p:txBody>
      </p:sp>
      <p:sp>
        <p:nvSpPr>
          <p:cNvPr id="16" name="Rounded Rectangle 15"/>
          <p:cNvSpPr/>
          <p:nvPr/>
        </p:nvSpPr>
        <p:spPr>
          <a:xfrm>
            <a:off x="8046719" y="1645920"/>
            <a:ext cx="3566160" cy="1463040"/>
          </a:xfrm>
          <a:prstGeom prst="roundRect">
            <a:avLst/>
          </a:prstGeom>
          <a:solidFill>
            <a:srgbClr val="1E293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29599" y="1810512"/>
            <a:ext cx="18288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9" y="1828800"/>
            <a:ext cx="1828800" cy="228600"/>
          </a:xfrm>
          <a:prstGeom prst="rect">
            <a:avLst/>
          </a:prstGeom>
          <a:noFill/>
        </p:spPr>
        <p:txBody>
          <a:bodyPr wrap="square" lIns="54864" rIns="54864" tIns="36576" bIns="36576" anchor="t">
            <a:spAutoFit/>
          </a:bodyPr>
          <a:lstStyle/>
          <a:p>
            <a:pPr algn="ctr"/>
            <a:r>
              <a:rPr sz="900" b="1">
                <a:solidFill>
                  <a:srgbClr val="6366F1"/>
                </a:solidFill>
                <a:latin typeface="Segoe UI"/>
              </a:rPr>
              <a:t>PHASE 3 — COMPLETED</a:t>
            </a:r>
          </a:p>
        </p:txBody>
      </p:sp>
      <p:sp>
        <p:nvSpPr>
          <p:cNvPr id="19" name="TextBox 18"/>
          <p:cNvSpPr txBox="1"/>
          <p:nvPr/>
        </p:nvSpPr>
        <p:spPr>
          <a:xfrm>
            <a:off x="8229599" y="2121408"/>
            <a:ext cx="3200400" cy="292608"/>
          </a:xfrm>
          <a:prstGeom prst="rect">
            <a:avLst/>
          </a:prstGeom>
          <a:noFill/>
        </p:spPr>
        <p:txBody>
          <a:bodyPr wrap="square" lIns="54864" rIns="54864" tIns="36576" bIns="36576" anchor="t">
            <a:spAutoFit/>
          </a:bodyPr>
          <a:lstStyle/>
          <a:p>
            <a:pPr algn="l"/>
            <a:r>
              <a:rPr sz="1400" b="1">
                <a:solidFill>
                  <a:srgbClr val="F8FAFC"/>
                </a:solidFill>
                <a:latin typeface="Segoe UI"/>
              </a:rPr>
              <a:t>Evidence Grounding</a:t>
            </a:r>
          </a:p>
        </p:txBody>
      </p:sp>
      <p:sp>
        <p:nvSpPr>
          <p:cNvPr id="20" name="TextBox 19"/>
          <p:cNvSpPr txBox="1"/>
          <p:nvPr/>
        </p:nvSpPr>
        <p:spPr>
          <a:xfrm>
            <a:off x="8229599" y="2450592"/>
            <a:ext cx="3200400" cy="594360"/>
          </a:xfrm>
          <a:prstGeom prst="rect">
            <a:avLst/>
          </a:prstGeom>
          <a:noFill/>
        </p:spPr>
        <p:txBody>
          <a:bodyPr wrap="square" lIns="54864" rIns="54864" tIns="36576" bIns="36576" anchor="t">
            <a:spAutoFit/>
          </a:bodyPr>
          <a:lstStyle/>
          <a:p>
            <a:pPr algn="l"/>
            <a:r>
              <a:rPr sz="1000" b="0">
                <a:solidFill>
                  <a:srgbClr val="94A3B8"/>
                </a:solidFill>
                <a:latin typeface="Segoe UI"/>
              </a:rPr>
              <a:t>Gemini 2.5 code generation, context-anchored prompt templates.</a:t>
            </a:r>
          </a:p>
        </p:txBody>
      </p:sp>
      <p:sp>
        <p:nvSpPr>
          <p:cNvPr id="21" name="Rounded Rectangle 20"/>
          <p:cNvSpPr/>
          <p:nvPr/>
        </p:nvSpPr>
        <p:spPr>
          <a:xfrm>
            <a:off x="548640" y="3246120"/>
            <a:ext cx="3566160" cy="1463040"/>
          </a:xfrm>
          <a:prstGeom prst="roundRect">
            <a:avLst/>
          </a:prstGeom>
          <a:solidFill>
            <a:srgbClr val="1E293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31520" y="3410712"/>
            <a:ext cx="18288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29000"/>
            <a:ext cx="1828800" cy="228600"/>
          </a:xfrm>
          <a:prstGeom prst="rect">
            <a:avLst/>
          </a:prstGeom>
          <a:noFill/>
        </p:spPr>
        <p:txBody>
          <a:bodyPr wrap="square" lIns="54864" rIns="54864" tIns="36576" bIns="36576" anchor="t">
            <a:spAutoFit/>
          </a:bodyPr>
          <a:lstStyle/>
          <a:p>
            <a:pPr algn="ctr"/>
            <a:r>
              <a:rPr sz="900" b="1">
                <a:solidFill>
                  <a:srgbClr val="EF4444"/>
                </a:solidFill>
                <a:latin typeface="Segoe UI"/>
              </a:rPr>
              <a:t>PHASE 4 — COMPLETED</a:t>
            </a:r>
          </a:p>
        </p:txBody>
      </p:sp>
      <p:sp>
        <p:nvSpPr>
          <p:cNvPr id="24" name="TextBox 23"/>
          <p:cNvSpPr txBox="1"/>
          <p:nvPr/>
        </p:nvSpPr>
        <p:spPr>
          <a:xfrm>
            <a:off x="731520" y="3721608"/>
            <a:ext cx="3200400" cy="292608"/>
          </a:xfrm>
          <a:prstGeom prst="rect">
            <a:avLst/>
          </a:prstGeom>
          <a:noFill/>
        </p:spPr>
        <p:txBody>
          <a:bodyPr wrap="square" lIns="54864" rIns="54864" tIns="36576" bIns="36576" anchor="t">
            <a:spAutoFit/>
          </a:bodyPr>
          <a:lstStyle/>
          <a:p>
            <a:pPr algn="l"/>
            <a:r>
              <a:rPr sz="1400" b="1">
                <a:solidFill>
                  <a:srgbClr val="F8FAFC"/>
                </a:solidFill>
                <a:latin typeface="Segoe UI"/>
              </a:rPr>
              <a:t>Security Engine</a:t>
            </a:r>
          </a:p>
        </p:txBody>
      </p:sp>
      <p:sp>
        <p:nvSpPr>
          <p:cNvPr id="25" name="TextBox 24"/>
          <p:cNvSpPr txBox="1"/>
          <p:nvPr/>
        </p:nvSpPr>
        <p:spPr>
          <a:xfrm>
            <a:off x="731520" y="4050791"/>
            <a:ext cx="3200400" cy="594360"/>
          </a:xfrm>
          <a:prstGeom prst="rect">
            <a:avLst/>
          </a:prstGeom>
          <a:noFill/>
        </p:spPr>
        <p:txBody>
          <a:bodyPr wrap="square" lIns="54864" rIns="54864" tIns="36576" bIns="36576" anchor="t">
            <a:spAutoFit/>
          </a:bodyPr>
          <a:lstStyle/>
          <a:p>
            <a:pPr algn="l"/>
            <a:r>
              <a:rPr sz="1000" b="0">
                <a:solidFill>
                  <a:srgbClr val="94A3B8"/>
                </a:solidFill>
                <a:latin typeface="Segoe UI"/>
              </a:rPr>
              <a:t>Shannon entropy, Aadhaar/PAN regex, risk math: ALLOW, REDACT, REVIEW, BLOCK.</a:t>
            </a:r>
          </a:p>
        </p:txBody>
      </p:sp>
      <p:sp>
        <p:nvSpPr>
          <p:cNvPr id="26" name="Rounded Rectangle 25"/>
          <p:cNvSpPr/>
          <p:nvPr/>
        </p:nvSpPr>
        <p:spPr>
          <a:xfrm>
            <a:off x="4297679" y="3246120"/>
            <a:ext cx="3566160" cy="146304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480559" y="3410712"/>
            <a:ext cx="18288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0559" y="3429000"/>
            <a:ext cx="1828800" cy="228600"/>
          </a:xfrm>
          <a:prstGeom prst="rect">
            <a:avLst/>
          </a:prstGeom>
          <a:noFill/>
        </p:spPr>
        <p:txBody>
          <a:bodyPr wrap="square" lIns="54864" rIns="54864" tIns="36576" bIns="36576" anchor="t">
            <a:spAutoFit/>
          </a:bodyPr>
          <a:lstStyle/>
          <a:p>
            <a:pPr algn="ctr"/>
            <a:r>
              <a:rPr sz="900" b="1">
                <a:solidFill>
                  <a:srgbClr val="F59E0B"/>
                </a:solidFill>
                <a:latin typeface="Segoe UI"/>
              </a:rPr>
              <a:t>PHASE 5 — COMPLETED</a:t>
            </a:r>
          </a:p>
        </p:txBody>
      </p:sp>
      <p:sp>
        <p:nvSpPr>
          <p:cNvPr id="29" name="TextBox 28"/>
          <p:cNvSpPr txBox="1"/>
          <p:nvPr/>
        </p:nvSpPr>
        <p:spPr>
          <a:xfrm>
            <a:off x="4480559" y="3721608"/>
            <a:ext cx="3200400" cy="292608"/>
          </a:xfrm>
          <a:prstGeom prst="rect">
            <a:avLst/>
          </a:prstGeom>
          <a:noFill/>
        </p:spPr>
        <p:txBody>
          <a:bodyPr wrap="square" lIns="54864" rIns="54864" tIns="36576" bIns="36576" anchor="t">
            <a:spAutoFit/>
          </a:bodyPr>
          <a:lstStyle/>
          <a:p>
            <a:pPr algn="l"/>
            <a:r>
              <a:rPr sz="1400" b="1">
                <a:solidFill>
                  <a:srgbClr val="F8FAFC"/>
                </a:solidFill>
                <a:latin typeface="Segoe UI"/>
              </a:rPr>
              <a:t>Impact Analysis</a:t>
            </a:r>
          </a:p>
        </p:txBody>
      </p:sp>
      <p:sp>
        <p:nvSpPr>
          <p:cNvPr id="30" name="TextBox 29"/>
          <p:cNvSpPr txBox="1"/>
          <p:nvPr/>
        </p:nvSpPr>
        <p:spPr>
          <a:xfrm>
            <a:off x="4480559" y="4050791"/>
            <a:ext cx="3200400" cy="594360"/>
          </a:xfrm>
          <a:prstGeom prst="rect">
            <a:avLst/>
          </a:prstGeom>
          <a:noFill/>
        </p:spPr>
        <p:txBody>
          <a:bodyPr wrap="square" lIns="54864" rIns="54864" tIns="36576" bIns="36576" anchor="t">
            <a:spAutoFit/>
          </a:bodyPr>
          <a:lstStyle/>
          <a:p>
            <a:pPr algn="l"/>
            <a:r>
              <a:rPr sz="1000" b="0">
                <a:solidFill>
                  <a:srgbClr val="94A3B8"/>
                </a:solidFill>
                <a:latin typeface="Segoe UI"/>
              </a:rPr>
              <a:t>Static AST parsing, symbol reference trees, transitive blast radius.</a:t>
            </a:r>
          </a:p>
        </p:txBody>
      </p:sp>
      <p:sp>
        <p:nvSpPr>
          <p:cNvPr id="31" name="Rounded Rectangle 30"/>
          <p:cNvSpPr/>
          <p:nvPr/>
        </p:nvSpPr>
        <p:spPr>
          <a:xfrm>
            <a:off x="8046719" y="3246120"/>
            <a:ext cx="3566160" cy="146304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29599" y="3410712"/>
            <a:ext cx="18288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599" y="3429000"/>
            <a:ext cx="1828800" cy="228600"/>
          </a:xfrm>
          <a:prstGeom prst="rect">
            <a:avLst/>
          </a:prstGeom>
          <a:noFill/>
        </p:spPr>
        <p:txBody>
          <a:bodyPr wrap="square" lIns="54864" rIns="54864" tIns="36576" bIns="36576" anchor="t">
            <a:spAutoFit/>
          </a:bodyPr>
          <a:lstStyle/>
          <a:p>
            <a:pPr algn="ctr"/>
            <a:r>
              <a:rPr sz="900" b="1">
                <a:solidFill>
                  <a:srgbClr val="10B981"/>
                </a:solidFill>
                <a:latin typeface="Segoe UI"/>
              </a:rPr>
              <a:t>PHASE 6 — COMPLETED</a:t>
            </a:r>
          </a:p>
        </p:txBody>
      </p:sp>
      <p:sp>
        <p:nvSpPr>
          <p:cNvPr id="34" name="TextBox 33"/>
          <p:cNvSpPr txBox="1"/>
          <p:nvPr/>
        </p:nvSpPr>
        <p:spPr>
          <a:xfrm>
            <a:off x="8229599" y="3721608"/>
            <a:ext cx="3200400" cy="292608"/>
          </a:xfrm>
          <a:prstGeom prst="rect">
            <a:avLst/>
          </a:prstGeom>
          <a:noFill/>
        </p:spPr>
        <p:txBody>
          <a:bodyPr wrap="square" lIns="54864" rIns="54864" tIns="36576" bIns="36576" anchor="t">
            <a:spAutoFit/>
          </a:bodyPr>
          <a:lstStyle/>
          <a:p>
            <a:pPr algn="l"/>
            <a:r>
              <a:rPr sz="1400" b="1">
                <a:solidFill>
                  <a:srgbClr val="F8FAFC"/>
                </a:solidFill>
                <a:latin typeface="Segoe UI"/>
              </a:rPr>
              <a:t>Integration Verification</a:t>
            </a:r>
          </a:p>
        </p:txBody>
      </p:sp>
      <p:sp>
        <p:nvSpPr>
          <p:cNvPr id="35" name="TextBox 34"/>
          <p:cNvSpPr txBox="1"/>
          <p:nvPr/>
        </p:nvSpPr>
        <p:spPr>
          <a:xfrm>
            <a:off x="8229599" y="4050791"/>
            <a:ext cx="3200400" cy="594360"/>
          </a:xfrm>
          <a:prstGeom prst="rect">
            <a:avLst/>
          </a:prstGeom>
          <a:noFill/>
        </p:spPr>
        <p:txBody>
          <a:bodyPr wrap="square" lIns="54864" rIns="54864" tIns="36576" bIns="36576" anchor="t">
            <a:spAutoFit/>
          </a:bodyPr>
          <a:lstStyle/>
          <a:p>
            <a:pPr algn="l"/>
            <a:r>
              <a:rPr sz="1000" b="0">
                <a:solidFill>
                  <a:srgbClr val="94A3B8"/>
                </a:solidFill>
                <a:latin typeface="Segoe UI"/>
              </a:rPr>
              <a:t>End-to-end pipeline execution across all sub-components.</a:t>
            </a:r>
          </a:p>
        </p:txBody>
      </p:sp>
      <p:sp>
        <p:nvSpPr>
          <p:cNvPr id="36" name="Rounded Rectangle 35"/>
          <p:cNvSpPr/>
          <p:nvPr/>
        </p:nvSpPr>
        <p:spPr>
          <a:xfrm>
            <a:off x="548640" y="4846320"/>
            <a:ext cx="3566160" cy="1463040"/>
          </a:xfrm>
          <a:prstGeom prst="roundRect">
            <a:avLst/>
          </a:prstGeom>
          <a:solidFill>
            <a:srgbClr val="1E293B"/>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31520" y="5010912"/>
            <a:ext cx="18288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 y="5029199"/>
            <a:ext cx="1828800" cy="228600"/>
          </a:xfrm>
          <a:prstGeom prst="rect">
            <a:avLst/>
          </a:prstGeom>
          <a:noFill/>
        </p:spPr>
        <p:txBody>
          <a:bodyPr wrap="square" lIns="54864" rIns="54864" tIns="36576" bIns="36576" anchor="t">
            <a:spAutoFit/>
          </a:bodyPr>
          <a:lstStyle/>
          <a:p>
            <a:pPr algn="ctr"/>
            <a:r>
              <a:rPr sz="900" b="1">
                <a:solidFill>
                  <a:srgbClr val="A855F7"/>
                </a:solidFill>
                <a:latin typeface="Segoe UI"/>
              </a:rPr>
              <a:t>PHASE 7 — COMPLETED</a:t>
            </a:r>
          </a:p>
        </p:txBody>
      </p:sp>
      <p:sp>
        <p:nvSpPr>
          <p:cNvPr id="39" name="TextBox 38"/>
          <p:cNvSpPr txBox="1"/>
          <p:nvPr/>
        </p:nvSpPr>
        <p:spPr>
          <a:xfrm>
            <a:off x="731520" y="5321808"/>
            <a:ext cx="3200400" cy="292608"/>
          </a:xfrm>
          <a:prstGeom prst="rect">
            <a:avLst/>
          </a:prstGeom>
          <a:noFill/>
        </p:spPr>
        <p:txBody>
          <a:bodyPr wrap="square" lIns="54864" rIns="54864" tIns="36576" bIns="36576" anchor="t">
            <a:spAutoFit/>
          </a:bodyPr>
          <a:lstStyle/>
          <a:p>
            <a:pPr algn="l"/>
            <a:r>
              <a:rPr sz="1400" b="1">
                <a:solidFill>
                  <a:srgbClr val="F8FAFC"/>
                </a:solidFill>
                <a:latin typeface="Segoe UI"/>
              </a:rPr>
              <a:t>CI / Security Gate</a:t>
            </a:r>
          </a:p>
        </p:txBody>
      </p:sp>
      <p:sp>
        <p:nvSpPr>
          <p:cNvPr id="40" name="TextBox 39"/>
          <p:cNvSpPr txBox="1"/>
          <p:nvPr/>
        </p:nvSpPr>
        <p:spPr>
          <a:xfrm>
            <a:off x="731520" y="5650992"/>
            <a:ext cx="3200400" cy="594360"/>
          </a:xfrm>
          <a:prstGeom prst="rect">
            <a:avLst/>
          </a:prstGeom>
          <a:noFill/>
        </p:spPr>
        <p:txBody>
          <a:bodyPr wrap="square" lIns="54864" rIns="54864" tIns="36576" bIns="36576" anchor="t">
            <a:spAutoFit/>
          </a:bodyPr>
          <a:lstStyle/>
          <a:p>
            <a:pPr algn="l"/>
            <a:r>
              <a:rPr sz="1000" b="0">
                <a:solidFill>
                  <a:srgbClr val="94A3B8"/>
                </a:solidFill>
                <a:latin typeface="Segoe UI"/>
              </a:rPr>
              <a:t>ci_security_gate.py with quantitative precision/recall thresholds.</a:t>
            </a:r>
          </a:p>
        </p:txBody>
      </p:sp>
      <p:sp>
        <p:nvSpPr>
          <p:cNvPr id="41" name="Rounded Rectangle 40"/>
          <p:cNvSpPr/>
          <p:nvPr/>
        </p:nvSpPr>
        <p:spPr>
          <a:xfrm>
            <a:off x="4297679" y="4846320"/>
            <a:ext cx="3566160" cy="146304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4480559" y="5010912"/>
            <a:ext cx="18288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480559" y="5029199"/>
            <a:ext cx="1828800" cy="228600"/>
          </a:xfrm>
          <a:prstGeom prst="rect">
            <a:avLst/>
          </a:prstGeom>
          <a:noFill/>
        </p:spPr>
        <p:txBody>
          <a:bodyPr wrap="square" lIns="54864" rIns="54864" tIns="36576" bIns="36576" anchor="t">
            <a:spAutoFit/>
          </a:bodyPr>
          <a:lstStyle/>
          <a:p>
            <a:pPr algn="ctr"/>
            <a:r>
              <a:rPr sz="900" b="1">
                <a:solidFill>
                  <a:srgbClr val="3B82F6"/>
                </a:solidFill>
                <a:latin typeface="Segoe UI"/>
              </a:rPr>
              <a:t>PHASE 8 — COMPLETED</a:t>
            </a:r>
          </a:p>
        </p:txBody>
      </p:sp>
      <p:sp>
        <p:nvSpPr>
          <p:cNvPr id="44" name="TextBox 43"/>
          <p:cNvSpPr txBox="1"/>
          <p:nvPr/>
        </p:nvSpPr>
        <p:spPr>
          <a:xfrm>
            <a:off x="4480559" y="5321808"/>
            <a:ext cx="3200400" cy="292608"/>
          </a:xfrm>
          <a:prstGeom prst="rect">
            <a:avLst/>
          </a:prstGeom>
          <a:noFill/>
        </p:spPr>
        <p:txBody>
          <a:bodyPr wrap="square" lIns="54864" rIns="54864" tIns="36576" bIns="36576" anchor="t">
            <a:spAutoFit/>
          </a:bodyPr>
          <a:lstStyle/>
          <a:p>
            <a:pPr algn="l"/>
            <a:r>
              <a:rPr sz="1400" b="1">
                <a:solidFill>
                  <a:srgbClr val="F8FAFC"/>
                </a:solidFill>
                <a:latin typeface="Segoe UI"/>
              </a:rPr>
              <a:t>Frontend &amp; Workflow</a:t>
            </a:r>
          </a:p>
        </p:txBody>
      </p:sp>
      <p:sp>
        <p:nvSpPr>
          <p:cNvPr id="45" name="TextBox 44"/>
          <p:cNvSpPr txBox="1"/>
          <p:nvPr/>
        </p:nvSpPr>
        <p:spPr>
          <a:xfrm>
            <a:off x="4480559" y="5650992"/>
            <a:ext cx="3200400" cy="594360"/>
          </a:xfrm>
          <a:prstGeom prst="rect">
            <a:avLst/>
          </a:prstGeom>
          <a:noFill/>
        </p:spPr>
        <p:txBody>
          <a:bodyPr wrap="square" lIns="54864" rIns="54864" tIns="36576" bIns="36576" anchor="t">
            <a:spAutoFit/>
          </a:bodyPr>
          <a:lstStyle/>
          <a:p>
            <a:pPr algn="l"/>
            <a:r>
              <a:rPr sz="1000" b="0">
                <a:solidFill>
                  <a:srgbClr val="94A3B8"/>
                </a:solidFill>
                <a:latin typeface="Segoe UI"/>
              </a:rPr>
              <a:t>Mission-control dashboard, live findings, telemetry traces.</a:t>
            </a:r>
          </a:p>
        </p:txBody>
      </p:sp>
      <p:sp>
        <p:nvSpPr>
          <p:cNvPr id="46" name="Rounded Rectangle 45"/>
          <p:cNvSpPr/>
          <p:nvPr/>
        </p:nvSpPr>
        <p:spPr>
          <a:xfrm>
            <a:off x="8046719" y="4846320"/>
            <a:ext cx="3566160" cy="146304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8229599" y="5010912"/>
            <a:ext cx="18288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599" y="5029199"/>
            <a:ext cx="1828800" cy="228600"/>
          </a:xfrm>
          <a:prstGeom prst="rect">
            <a:avLst/>
          </a:prstGeom>
          <a:noFill/>
        </p:spPr>
        <p:txBody>
          <a:bodyPr wrap="square" lIns="54864" rIns="54864" tIns="36576" bIns="36576" anchor="t">
            <a:spAutoFit/>
          </a:bodyPr>
          <a:lstStyle/>
          <a:p>
            <a:pPr algn="ctr"/>
            <a:r>
              <a:rPr sz="900" b="1">
                <a:solidFill>
                  <a:srgbClr val="10B981"/>
                </a:solidFill>
                <a:latin typeface="Segoe UI"/>
              </a:rPr>
              <a:t>PHASE 9 — COMPLETED</a:t>
            </a:r>
          </a:p>
        </p:txBody>
      </p:sp>
      <p:sp>
        <p:nvSpPr>
          <p:cNvPr id="49" name="TextBox 48"/>
          <p:cNvSpPr txBox="1"/>
          <p:nvPr/>
        </p:nvSpPr>
        <p:spPr>
          <a:xfrm>
            <a:off x="8229599" y="5321808"/>
            <a:ext cx="3200400" cy="292608"/>
          </a:xfrm>
          <a:prstGeom prst="rect">
            <a:avLst/>
          </a:prstGeom>
          <a:noFill/>
        </p:spPr>
        <p:txBody>
          <a:bodyPr wrap="square" lIns="54864" rIns="54864" tIns="36576" bIns="36576" anchor="t">
            <a:spAutoFit/>
          </a:bodyPr>
          <a:lstStyle/>
          <a:p>
            <a:pPr algn="l"/>
            <a:r>
              <a:rPr sz="1400" b="1">
                <a:solidFill>
                  <a:srgbClr val="F8FAFC"/>
                </a:solidFill>
                <a:latin typeface="Segoe UI"/>
              </a:rPr>
              <a:t>Evaluation &amp; Finalization</a:t>
            </a:r>
          </a:p>
        </p:txBody>
      </p:sp>
      <p:sp>
        <p:nvSpPr>
          <p:cNvPr id="50" name="TextBox 49"/>
          <p:cNvSpPr txBox="1"/>
          <p:nvPr/>
        </p:nvSpPr>
        <p:spPr>
          <a:xfrm>
            <a:off x="8229599" y="5650992"/>
            <a:ext cx="3200400" cy="594360"/>
          </a:xfrm>
          <a:prstGeom prst="rect">
            <a:avLst/>
          </a:prstGeom>
          <a:noFill/>
        </p:spPr>
        <p:txBody>
          <a:bodyPr wrap="square" lIns="54864" rIns="54864" tIns="36576" bIns="36576" anchor="t">
            <a:spAutoFit/>
          </a:bodyPr>
          <a:lstStyle/>
          <a:p>
            <a:pPr algn="l"/>
            <a:r>
              <a:rPr sz="1000" b="0">
                <a:solidFill>
                  <a:srgbClr val="94A3B8"/>
                </a:solidFill>
                <a:latin typeface="Segoe UI"/>
              </a:rPr>
              <a:t>eval_rag.py, evaluator_v2.py, 164+ tests passed, artifact documentation.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BASELINE EXECUTION  |  PHASES 1 &amp; 2</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04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Phase 1 &amp; 2: Semantic Code RAG &amp; Formal Orchestrator</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How Kavach ingests codebases into Qdrant and governs lifecycle state transitions.</a:t>
            </a:r>
          </a:p>
        </p:txBody>
      </p:sp>
      <p:sp>
        <p:nvSpPr>
          <p:cNvPr id="6" name="Rounded Rectangle 5"/>
          <p:cNvSpPr/>
          <p:nvPr/>
        </p:nvSpPr>
        <p:spPr>
          <a:xfrm>
            <a:off x="548640" y="1645920"/>
            <a:ext cx="5394960" cy="466344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920240"/>
            <a:ext cx="4846320" cy="320040"/>
          </a:xfrm>
          <a:prstGeom prst="rect">
            <a:avLst/>
          </a:prstGeom>
          <a:noFill/>
        </p:spPr>
        <p:txBody>
          <a:bodyPr wrap="square" lIns="54864" rIns="54864" tIns="36576" bIns="36576" anchor="t">
            <a:spAutoFit/>
          </a:bodyPr>
          <a:lstStyle/>
          <a:p>
            <a:pPr algn="l"/>
            <a:r>
              <a:rPr sz="1600" b="1">
                <a:solidFill>
                  <a:srgbClr val="0EA5E9"/>
                </a:solidFill>
                <a:latin typeface="Segoe UI"/>
              </a:rPr>
              <a:t>Phase 1: Code-Aware Semantic RAG</a:t>
            </a:r>
          </a:p>
        </p:txBody>
      </p:sp>
      <p:sp>
        <p:nvSpPr>
          <p:cNvPr id="8" name="TextBox 7"/>
          <p:cNvSpPr txBox="1"/>
          <p:nvPr/>
        </p:nvSpPr>
        <p:spPr>
          <a:xfrm>
            <a:off x="822960" y="2286000"/>
            <a:ext cx="4846320" cy="228600"/>
          </a:xfrm>
          <a:prstGeom prst="rect">
            <a:avLst/>
          </a:prstGeom>
          <a:noFill/>
        </p:spPr>
        <p:txBody>
          <a:bodyPr wrap="square" lIns="54864" rIns="54864" tIns="36576" bIns="36576" anchor="t">
            <a:spAutoFit/>
          </a:bodyPr>
          <a:lstStyle/>
          <a:p>
            <a:pPr algn="l"/>
            <a:r>
              <a:rPr sz="1200" b="0">
                <a:solidFill>
                  <a:srgbClr val="94A3B8"/>
                </a:solidFill>
                <a:latin typeface="Segoe UI"/>
              </a:rPr>
              <a:t>backend/app/rag/embed_store.py &amp; ingest.py</a:t>
            </a:r>
          </a:p>
        </p:txBody>
      </p:sp>
      <p:sp>
        <p:nvSpPr>
          <p:cNvPr id="9" name="TextBox 8"/>
          <p:cNvSpPr txBox="1"/>
          <p:nvPr/>
        </p:nvSpPr>
        <p:spPr>
          <a:xfrm>
            <a:off x="822960" y="2651760"/>
            <a:ext cx="4754880" cy="731520"/>
          </a:xfrm>
          <a:prstGeom prst="rect">
            <a:avLst/>
          </a:prstGeom>
          <a:noFill/>
        </p:spPr>
        <p:txBody>
          <a:bodyPr wrap="square" lIns="54864" rIns="54864" tIns="36576" bIns="36576" anchor="t">
            <a:spAutoFit/>
          </a:bodyPr>
          <a:lstStyle/>
          <a:p>
            <a:pPr algn="l"/>
            <a:r>
              <a:rPr sz="1100" b="0">
                <a:solidFill>
                  <a:srgbClr val="F8FAFC"/>
                </a:solidFill>
                <a:latin typeface="Segoe UI"/>
              </a:rPr>
              <a:t>• Code-Aware AST Chunking: Splits code files by class and def function boundaries with 10-line sliding windows rather than blind character cutoffs.</a:t>
            </a:r>
          </a:p>
        </p:txBody>
      </p:sp>
      <p:sp>
        <p:nvSpPr>
          <p:cNvPr id="10" name="TextBox 9"/>
          <p:cNvSpPr txBox="1"/>
          <p:nvPr/>
        </p:nvSpPr>
        <p:spPr>
          <a:xfrm>
            <a:off x="822960" y="3474720"/>
            <a:ext cx="4754880" cy="731520"/>
          </a:xfrm>
          <a:prstGeom prst="rect">
            <a:avLst/>
          </a:prstGeom>
          <a:noFill/>
        </p:spPr>
        <p:txBody>
          <a:bodyPr wrap="square" lIns="54864" rIns="54864" tIns="36576" bIns="36576" anchor="t">
            <a:spAutoFit/>
          </a:bodyPr>
          <a:lstStyle/>
          <a:p>
            <a:pPr algn="l"/>
            <a:r>
              <a:rPr sz="1100" b="0">
                <a:solidFill>
                  <a:srgbClr val="F8FAFC"/>
                </a:solidFill>
                <a:latin typeface="Segoe UI"/>
              </a:rPr>
              <a:t>• MiniLM Embeddings: Local sentence-transformers/all-MiniLM-L6-v2 running on CPU/GPU generating 384-dimensional dense vectors.</a:t>
            </a:r>
          </a:p>
        </p:txBody>
      </p:sp>
      <p:sp>
        <p:nvSpPr>
          <p:cNvPr id="11" name="TextBox 10"/>
          <p:cNvSpPr txBox="1"/>
          <p:nvPr/>
        </p:nvSpPr>
        <p:spPr>
          <a:xfrm>
            <a:off x="822960" y="4297680"/>
            <a:ext cx="4754880" cy="731520"/>
          </a:xfrm>
          <a:prstGeom prst="rect">
            <a:avLst/>
          </a:prstGeom>
          <a:noFill/>
        </p:spPr>
        <p:txBody>
          <a:bodyPr wrap="square" lIns="54864" rIns="54864" tIns="36576" bIns="36576" anchor="t">
            <a:spAutoFit/>
          </a:bodyPr>
          <a:lstStyle/>
          <a:p>
            <a:pPr algn="l"/>
            <a:r>
              <a:rPr sz="1100" b="0">
                <a:solidFill>
                  <a:srgbClr val="F8FAFC"/>
                </a:solidFill>
                <a:latin typeface="Segoe UI"/>
              </a:rPr>
              <a:t>• Qdrant Vector Database: Stores chunks with rich metadata (file_path, start_line, end_line, symbol_type) with cosine similarity search.</a:t>
            </a:r>
          </a:p>
        </p:txBody>
      </p:sp>
      <p:sp>
        <p:nvSpPr>
          <p:cNvPr id="12" name="TextBox 11"/>
          <p:cNvSpPr txBox="1"/>
          <p:nvPr/>
        </p:nvSpPr>
        <p:spPr>
          <a:xfrm>
            <a:off x="822960" y="5120640"/>
            <a:ext cx="4754880" cy="731520"/>
          </a:xfrm>
          <a:prstGeom prst="rect">
            <a:avLst/>
          </a:prstGeom>
          <a:noFill/>
        </p:spPr>
        <p:txBody>
          <a:bodyPr wrap="square" lIns="54864" rIns="54864" tIns="36576" bIns="36576" anchor="t">
            <a:spAutoFit/>
          </a:bodyPr>
          <a:lstStyle/>
          <a:p>
            <a:pPr algn="l"/>
            <a:r>
              <a:rPr sz="1100" b="0">
                <a:solidFill>
                  <a:srgbClr val="F8FAFC"/>
                </a:solidFill>
                <a:latin typeface="Segoe UI"/>
              </a:rPr>
              <a:t>• Top-k Evidence Retrieval: Retrieves top 3-5 relevant chunks, passing precise repository context into the prompt context.</a:t>
            </a:r>
          </a:p>
        </p:txBody>
      </p:sp>
      <p:sp>
        <p:nvSpPr>
          <p:cNvPr id="13" name="Rounded Rectangle 12"/>
          <p:cNvSpPr/>
          <p:nvPr/>
        </p:nvSpPr>
        <p:spPr>
          <a:xfrm>
            <a:off x="6217920" y="1645920"/>
            <a:ext cx="5394960" cy="466344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1920240"/>
            <a:ext cx="4846320" cy="320040"/>
          </a:xfrm>
          <a:prstGeom prst="rect">
            <a:avLst/>
          </a:prstGeom>
          <a:noFill/>
        </p:spPr>
        <p:txBody>
          <a:bodyPr wrap="square" lIns="54864" rIns="54864" tIns="36576" bIns="36576" anchor="t">
            <a:spAutoFit/>
          </a:bodyPr>
          <a:lstStyle/>
          <a:p>
            <a:pPr algn="l"/>
            <a:r>
              <a:rPr sz="1600" b="1">
                <a:solidFill>
                  <a:srgbClr val="0EA5E9"/>
                </a:solidFill>
                <a:latin typeface="Segoe UI"/>
              </a:rPr>
              <a:t>Phase 2: Formal Agent Orchestration</a:t>
            </a:r>
          </a:p>
        </p:txBody>
      </p:sp>
      <p:sp>
        <p:nvSpPr>
          <p:cNvPr id="15" name="TextBox 14"/>
          <p:cNvSpPr txBox="1"/>
          <p:nvPr/>
        </p:nvSpPr>
        <p:spPr>
          <a:xfrm>
            <a:off x="6492240" y="2286000"/>
            <a:ext cx="4846320" cy="228600"/>
          </a:xfrm>
          <a:prstGeom prst="rect">
            <a:avLst/>
          </a:prstGeom>
          <a:noFill/>
        </p:spPr>
        <p:txBody>
          <a:bodyPr wrap="square" lIns="54864" rIns="54864" tIns="36576" bIns="36576" anchor="t">
            <a:spAutoFit/>
          </a:bodyPr>
          <a:lstStyle/>
          <a:p>
            <a:pPr algn="l"/>
            <a:r>
              <a:rPr sz="1200" b="0">
                <a:solidFill>
                  <a:srgbClr val="94A3B8"/>
                </a:solidFill>
                <a:latin typeface="Segoe UI"/>
              </a:rPr>
              <a:t>backend/app/agent/orchestrator.py (WorkflowStage FSM)</a:t>
            </a:r>
          </a:p>
        </p:txBody>
      </p:sp>
      <p:sp>
        <p:nvSpPr>
          <p:cNvPr id="16" name="Rounded Rectangle 15"/>
          <p:cNvSpPr/>
          <p:nvPr/>
        </p:nvSpPr>
        <p:spPr>
          <a:xfrm>
            <a:off x="6492240" y="2606040"/>
            <a:ext cx="4846320" cy="438912"/>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0" y="2670048"/>
            <a:ext cx="2103120" cy="228600"/>
          </a:xfrm>
          <a:prstGeom prst="rect">
            <a:avLst/>
          </a:prstGeom>
          <a:noFill/>
        </p:spPr>
        <p:txBody>
          <a:bodyPr wrap="square" lIns="54864" rIns="54864" tIns="36576" bIns="36576" anchor="t">
            <a:spAutoFit/>
          </a:bodyPr>
          <a:lstStyle/>
          <a:p>
            <a:pPr algn="l"/>
            <a:r>
              <a:rPr sz="900" b="1">
                <a:solidFill>
                  <a:srgbClr val="0EA5E9"/>
                </a:solidFill>
                <a:latin typeface="Segoe UI"/>
              </a:rPr>
              <a:t>REQUEST_RECEIVED</a:t>
            </a:r>
          </a:p>
        </p:txBody>
      </p:sp>
      <p:sp>
        <p:nvSpPr>
          <p:cNvPr id="18" name="TextBox 17"/>
          <p:cNvSpPr txBox="1"/>
          <p:nvPr/>
        </p:nvSpPr>
        <p:spPr>
          <a:xfrm>
            <a:off x="8595360" y="2670048"/>
            <a:ext cx="2651760" cy="228600"/>
          </a:xfrm>
          <a:prstGeom prst="rect">
            <a:avLst/>
          </a:prstGeom>
          <a:noFill/>
        </p:spPr>
        <p:txBody>
          <a:bodyPr wrap="square" lIns="54864" rIns="54864" tIns="36576" bIns="36576" anchor="t">
            <a:spAutoFit/>
          </a:bodyPr>
          <a:lstStyle/>
          <a:p>
            <a:pPr algn="l"/>
            <a:r>
              <a:rPr sz="900" b="0">
                <a:solidFill>
                  <a:srgbClr val="94A3B8"/>
                </a:solidFill>
                <a:latin typeface="Segoe UI"/>
              </a:rPr>
              <a:t>Voice / text input normalized and validated.</a:t>
            </a:r>
          </a:p>
        </p:txBody>
      </p:sp>
      <p:sp>
        <p:nvSpPr>
          <p:cNvPr id="19" name="Rounded Rectangle 18"/>
          <p:cNvSpPr/>
          <p:nvPr/>
        </p:nvSpPr>
        <p:spPr>
          <a:xfrm>
            <a:off x="6492240" y="3108960"/>
            <a:ext cx="4846320" cy="438912"/>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9400" y="3172968"/>
            <a:ext cx="2103120" cy="228600"/>
          </a:xfrm>
          <a:prstGeom prst="rect">
            <a:avLst/>
          </a:prstGeom>
          <a:noFill/>
        </p:spPr>
        <p:txBody>
          <a:bodyPr wrap="square" lIns="54864" rIns="54864" tIns="36576" bIns="36576" anchor="t">
            <a:spAutoFit/>
          </a:bodyPr>
          <a:lstStyle/>
          <a:p>
            <a:pPr algn="l"/>
            <a:r>
              <a:rPr sz="900" b="1">
                <a:solidFill>
                  <a:srgbClr val="0EA5E9"/>
                </a:solidFill>
                <a:latin typeface="Segoe UI"/>
              </a:rPr>
              <a:t>PLANNING</a:t>
            </a:r>
          </a:p>
        </p:txBody>
      </p:sp>
      <p:sp>
        <p:nvSpPr>
          <p:cNvPr id="21" name="TextBox 20"/>
          <p:cNvSpPr txBox="1"/>
          <p:nvPr/>
        </p:nvSpPr>
        <p:spPr>
          <a:xfrm>
            <a:off x="8595360" y="3172968"/>
            <a:ext cx="2651760" cy="228600"/>
          </a:xfrm>
          <a:prstGeom prst="rect">
            <a:avLst/>
          </a:prstGeom>
          <a:noFill/>
        </p:spPr>
        <p:txBody>
          <a:bodyPr wrap="square" lIns="54864" rIns="54864" tIns="36576" bIns="36576" anchor="t">
            <a:spAutoFit/>
          </a:bodyPr>
          <a:lstStyle/>
          <a:p>
            <a:pPr algn="l"/>
            <a:r>
              <a:rPr sz="900" b="0">
                <a:solidFill>
                  <a:srgbClr val="94A3B8"/>
                </a:solidFill>
                <a:latin typeface="Segoe UI"/>
              </a:rPr>
              <a:t>Planner determines tool strategy and required evidence.</a:t>
            </a:r>
          </a:p>
        </p:txBody>
      </p:sp>
      <p:sp>
        <p:nvSpPr>
          <p:cNvPr id="22" name="Rounded Rectangle 21"/>
          <p:cNvSpPr/>
          <p:nvPr/>
        </p:nvSpPr>
        <p:spPr>
          <a:xfrm>
            <a:off x="6492240" y="3611880"/>
            <a:ext cx="4846320" cy="438912"/>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29400" y="3675887"/>
            <a:ext cx="2103120" cy="228600"/>
          </a:xfrm>
          <a:prstGeom prst="rect">
            <a:avLst/>
          </a:prstGeom>
          <a:noFill/>
        </p:spPr>
        <p:txBody>
          <a:bodyPr wrap="square" lIns="54864" rIns="54864" tIns="36576" bIns="36576" anchor="t">
            <a:spAutoFit/>
          </a:bodyPr>
          <a:lstStyle/>
          <a:p>
            <a:pPr algn="l"/>
            <a:r>
              <a:rPr sz="900" b="1">
                <a:solidFill>
                  <a:srgbClr val="0EA5E9"/>
                </a:solidFill>
                <a:latin typeface="Segoe UI"/>
              </a:rPr>
              <a:t>CONTEXT_RETRIEVAL</a:t>
            </a:r>
          </a:p>
        </p:txBody>
      </p:sp>
      <p:sp>
        <p:nvSpPr>
          <p:cNvPr id="24" name="TextBox 23"/>
          <p:cNvSpPr txBox="1"/>
          <p:nvPr/>
        </p:nvSpPr>
        <p:spPr>
          <a:xfrm>
            <a:off x="8595360" y="3675887"/>
            <a:ext cx="2651760" cy="228600"/>
          </a:xfrm>
          <a:prstGeom prst="rect">
            <a:avLst/>
          </a:prstGeom>
          <a:noFill/>
        </p:spPr>
        <p:txBody>
          <a:bodyPr wrap="square" lIns="54864" rIns="54864" tIns="36576" bIns="36576" anchor="t">
            <a:spAutoFit/>
          </a:bodyPr>
          <a:lstStyle/>
          <a:p>
            <a:pPr algn="l"/>
            <a:r>
              <a:rPr sz="900" b="0">
                <a:solidFill>
                  <a:srgbClr val="94A3B8"/>
                </a:solidFill>
                <a:latin typeface="Segoe UI"/>
              </a:rPr>
              <a:t>Vector search against Qdrant repository collection.</a:t>
            </a:r>
          </a:p>
        </p:txBody>
      </p:sp>
      <p:sp>
        <p:nvSpPr>
          <p:cNvPr id="25" name="Rounded Rectangle 24"/>
          <p:cNvSpPr/>
          <p:nvPr/>
        </p:nvSpPr>
        <p:spPr>
          <a:xfrm>
            <a:off x="6492240" y="4114800"/>
            <a:ext cx="4846320" cy="438912"/>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29400" y="4178808"/>
            <a:ext cx="2103120" cy="228600"/>
          </a:xfrm>
          <a:prstGeom prst="rect">
            <a:avLst/>
          </a:prstGeom>
          <a:noFill/>
        </p:spPr>
        <p:txBody>
          <a:bodyPr wrap="square" lIns="54864" rIns="54864" tIns="36576" bIns="36576" anchor="t">
            <a:spAutoFit/>
          </a:bodyPr>
          <a:lstStyle/>
          <a:p>
            <a:pPr algn="l"/>
            <a:r>
              <a:rPr sz="900" b="1">
                <a:solidFill>
                  <a:srgbClr val="0EA5E9"/>
                </a:solidFill>
                <a:latin typeface="Segoe UI"/>
              </a:rPr>
              <a:t>SECURITY_CHECK</a:t>
            </a:r>
          </a:p>
        </p:txBody>
      </p:sp>
      <p:sp>
        <p:nvSpPr>
          <p:cNvPr id="27" name="TextBox 26"/>
          <p:cNvSpPr txBox="1"/>
          <p:nvPr/>
        </p:nvSpPr>
        <p:spPr>
          <a:xfrm>
            <a:off x="8595360" y="4178808"/>
            <a:ext cx="2651760" cy="228600"/>
          </a:xfrm>
          <a:prstGeom prst="rect">
            <a:avLst/>
          </a:prstGeom>
          <a:noFill/>
        </p:spPr>
        <p:txBody>
          <a:bodyPr wrap="square" lIns="54864" rIns="54864" tIns="36576" bIns="36576" anchor="t">
            <a:spAutoFit/>
          </a:bodyPr>
          <a:lstStyle/>
          <a:p>
            <a:pPr algn="l"/>
            <a:r>
              <a:rPr sz="900" b="0">
                <a:solidFill>
                  <a:srgbClr val="94A3B8"/>
                </a:solidFill>
                <a:latin typeface="Segoe UI"/>
              </a:rPr>
              <a:t>Shannon entropy &amp; regex inspect data prior to generation.</a:t>
            </a:r>
          </a:p>
        </p:txBody>
      </p:sp>
      <p:sp>
        <p:nvSpPr>
          <p:cNvPr id="28" name="Rounded Rectangle 27"/>
          <p:cNvSpPr/>
          <p:nvPr/>
        </p:nvSpPr>
        <p:spPr>
          <a:xfrm>
            <a:off x="6492240" y="4617720"/>
            <a:ext cx="4846320" cy="438912"/>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29400" y="4681728"/>
            <a:ext cx="2103120" cy="228600"/>
          </a:xfrm>
          <a:prstGeom prst="rect">
            <a:avLst/>
          </a:prstGeom>
          <a:noFill/>
        </p:spPr>
        <p:txBody>
          <a:bodyPr wrap="square" lIns="54864" rIns="54864" tIns="36576" bIns="36576" anchor="t">
            <a:spAutoFit/>
          </a:bodyPr>
          <a:lstStyle/>
          <a:p>
            <a:pPr algn="l"/>
            <a:r>
              <a:rPr sz="900" b="1">
                <a:solidFill>
                  <a:srgbClr val="0EA5E9"/>
                </a:solidFill>
                <a:latin typeface="Segoe UI"/>
              </a:rPr>
              <a:t>IMPACT_ANALYSIS</a:t>
            </a:r>
          </a:p>
        </p:txBody>
      </p:sp>
      <p:sp>
        <p:nvSpPr>
          <p:cNvPr id="30" name="TextBox 29"/>
          <p:cNvSpPr txBox="1"/>
          <p:nvPr/>
        </p:nvSpPr>
        <p:spPr>
          <a:xfrm>
            <a:off x="8595360" y="4681728"/>
            <a:ext cx="2651760" cy="228600"/>
          </a:xfrm>
          <a:prstGeom prst="rect">
            <a:avLst/>
          </a:prstGeom>
          <a:noFill/>
        </p:spPr>
        <p:txBody>
          <a:bodyPr wrap="square" lIns="54864" rIns="54864" tIns="36576" bIns="36576" anchor="t">
            <a:spAutoFit/>
          </a:bodyPr>
          <a:lstStyle/>
          <a:p>
            <a:pPr algn="l"/>
            <a:r>
              <a:rPr sz="900" b="0">
                <a:solidFill>
                  <a:srgbClr val="94A3B8"/>
                </a:solidFill>
                <a:latin typeface="Segoe UI"/>
              </a:rPr>
              <a:t>AST calculates affected downstream services.</a:t>
            </a:r>
          </a:p>
        </p:txBody>
      </p:sp>
      <p:sp>
        <p:nvSpPr>
          <p:cNvPr id="31" name="Rounded Rectangle 30"/>
          <p:cNvSpPr/>
          <p:nvPr/>
        </p:nvSpPr>
        <p:spPr>
          <a:xfrm>
            <a:off x="6492240" y="5120640"/>
            <a:ext cx="4846320" cy="438912"/>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29400" y="5184648"/>
            <a:ext cx="2103120" cy="228600"/>
          </a:xfrm>
          <a:prstGeom prst="rect">
            <a:avLst/>
          </a:prstGeom>
          <a:noFill/>
        </p:spPr>
        <p:txBody>
          <a:bodyPr wrap="square" lIns="54864" rIns="54864" tIns="36576" bIns="36576" anchor="t">
            <a:spAutoFit/>
          </a:bodyPr>
          <a:lstStyle/>
          <a:p>
            <a:pPr algn="l"/>
            <a:r>
              <a:rPr sz="900" b="1">
                <a:solidFill>
                  <a:srgbClr val="0EA5E9"/>
                </a:solidFill>
                <a:latin typeface="Segoe UI"/>
              </a:rPr>
              <a:t>GENERATION</a:t>
            </a:r>
          </a:p>
        </p:txBody>
      </p:sp>
      <p:sp>
        <p:nvSpPr>
          <p:cNvPr id="33" name="TextBox 32"/>
          <p:cNvSpPr txBox="1"/>
          <p:nvPr/>
        </p:nvSpPr>
        <p:spPr>
          <a:xfrm>
            <a:off x="8595360" y="5184648"/>
            <a:ext cx="2651760" cy="228600"/>
          </a:xfrm>
          <a:prstGeom prst="rect">
            <a:avLst/>
          </a:prstGeom>
          <a:noFill/>
        </p:spPr>
        <p:txBody>
          <a:bodyPr wrap="square" lIns="54864" rIns="54864" tIns="36576" bIns="36576" anchor="t">
            <a:spAutoFit/>
          </a:bodyPr>
          <a:lstStyle/>
          <a:p>
            <a:pPr algn="l"/>
            <a:r>
              <a:rPr sz="900" b="0">
                <a:solidFill>
                  <a:srgbClr val="94A3B8"/>
                </a:solidFill>
                <a:latin typeface="Segoe UI"/>
              </a:rPr>
              <a:t>Evidence-grounded code generation via LLM.</a:t>
            </a:r>
          </a:p>
        </p:txBody>
      </p:sp>
      <p:sp>
        <p:nvSpPr>
          <p:cNvPr id="34" name="Rounded Rectangle 33"/>
          <p:cNvSpPr/>
          <p:nvPr/>
        </p:nvSpPr>
        <p:spPr>
          <a:xfrm>
            <a:off x="6492240" y="5623560"/>
            <a:ext cx="4846320" cy="438912"/>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29400" y="5687568"/>
            <a:ext cx="2103120" cy="228600"/>
          </a:xfrm>
          <a:prstGeom prst="rect">
            <a:avLst/>
          </a:prstGeom>
          <a:noFill/>
        </p:spPr>
        <p:txBody>
          <a:bodyPr wrap="square" lIns="54864" rIns="54864" tIns="36576" bIns="36576" anchor="t">
            <a:spAutoFit/>
          </a:bodyPr>
          <a:lstStyle/>
          <a:p>
            <a:pPr algn="l"/>
            <a:r>
              <a:rPr sz="900" b="1">
                <a:solidFill>
                  <a:srgbClr val="0EA5E9"/>
                </a:solidFill>
                <a:latin typeface="Segoe UI"/>
              </a:rPr>
              <a:t>COMPLETE / HALTED</a:t>
            </a:r>
          </a:p>
        </p:txBody>
      </p:sp>
      <p:sp>
        <p:nvSpPr>
          <p:cNvPr id="36" name="TextBox 35"/>
          <p:cNvSpPr txBox="1"/>
          <p:nvPr/>
        </p:nvSpPr>
        <p:spPr>
          <a:xfrm>
            <a:off x="8595360" y="5687568"/>
            <a:ext cx="2651760" cy="228600"/>
          </a:xfrm>
          <a:prstGeom prst="rect">
            <a:avLst/>
          </a:prstGeom>
          <a:noFill/>
        </p:spPr>
        <p:txBody>
          <a:bodyPr wrap="square" lIns="54864" rIns="54864" tIns="36576" bIns="36576" anchor="t">
            <a:spAutoFit/>
          </a:bodyPr>
          <a:lstStyle/>
          <a:p>
            <a:pPr algn="l"/>
            <a:r>
              <a:rPr sz="900" b="0">
                <a:solidFill>
                  <a:srgbClr val="94A3B8"/>
                </a:solidFill>
                <a:latin typeface="Segoe UI"/>
              </a:rPr>
              <a:t>Terminal state: COMPLETE, or BLOCKED / NEEDS_REVIEW.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BASELINE EXECUTION  |  PHASES 3, 4 &amp; 5</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05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Phases 3, 4 &amp; 5: Generation, Security Engine, &amp; AST Impact</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Evidence grounding, mathematical risk policy, and transitive dependency mapping.</a:t>
            </a:r>
          </a:p>
        </p:txBody>
      </p:sp>
      <p:sp>
        <p:nvSpPr>
          <p:cNvPr id="6" name="Rounded Rectangle 5"/>
          <p:cNvSpPr/>
          <p:nvPr/>
        </p:nvSpPr>
        <p:spPr>
          <a:xfrm>
            <a:off x="548640" y="1645920"/>
            <a:ext cx="11091672" cy="1417320"/>
          </a:xfrm>
          <a:prstGeom prst="roundRect">
            <a:avLst/>
          </a:prstGeom>
          <a:solidFill>
            <a:srgbClr val="1E293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1810512"/>
            <a:ext cx="237744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28800"/>
            <a:ext cx="2377440" cy="228600"/>
          </a:xfrm>
          <a:prstGeom prst="rect">
            <a:avLst/>
          </a:prstGeom>
          <a:noFill/>
        </p:spPr>
        <p:txBody>
          <a:bodyPr wrap="square" lIns="54864" rIns="54864" tIns="36576" bIns="36576" anchor="t">
            <a:spAutoFit/>
          </a:bodyPr>
          <a:lstStyle/>
          <a:p>
            <a:pPr algn="ctr"/>
            <a:r>
              <a:rPr sz="900" b="1">
                <a:solidFill>
                  <a:srgbClr val="6366F1"/>
                </a:solidFill>
                <a:latin typeface="Segoe UI"/>
              </a:rPr>
              <a:t>GEMINI 2.5 LLM CLIENT</a:t>
            </a:r>
          </a:p>
        </p:txBody>
      </p:sp>
      <p:sp>
        <p:nvSpPr>
          <p:cNvPr id="9" name="TextBox 8"/>
          <p:cNvSpPr txBox="1"/>
          <p:nvPr/>
        </p:nvSpPr>
        <p:spPr>
          <a:xfrm>
            <a:off x="3383280" y="1783080"/>
            <a:ext cx="7772400" cy="320040"/>
          </a:xfrm>
          <a:prstGeom prst="rect">
            <a:avLst/>
          </a:prstGeom>
          <a:noFill/>
        </p:spPr>
        <p:txBody>
          <a:bodyPr wrap="square" lIns="54864" rIns="54864" tIns="36576" bIns="36576" anchor="t">
            <a:spAutoFit/>
          </a:bodyPr>
          <a:lstStyle/>
          <a:p>
            <a:pPr algn="l"/>
            <a:r>
              <a:rPr sz="1500" b="1">
                <a:solidFill>
                  <a:srgbClr val="F8FAFC"/>
                </a:solidFill>
                <a:latin typeface="Segoe UI"/>
              </a:rPr>
              <a:t>Phase 3: Evidence Grounding</a:t>
            </a:r>
          </a:p>
        </p:txBody>
      </p:sp>
      <p:sp>
        <p:nvSpPr>
          <p:cNvPr id="10" name="TextBox 9"/>
          <p:cNvSpPr txBox="1"/>
          <p:nvPr/>
        </p:nvSpPr>
        <p:spPr>
          <a:xfrm>
            <a:off x="822960" y="2148840"/>
            <a:ext cx="10515600" cy="822960"/>
          </a:xfrm>
          <a:prstGeom prst="rect">
            <a:avLst/>
          </a:prstGeom>
          <a:noFill/>
        </p:spPr>
        <p:txBody>
          <a:bodyPr wrap="square" lIns="54864" rIns="54864" tIns="36576" bIns="36576" anchor="t">
            <a:spAutoFit/>
          </a:bodyPr>
          <a:lstStyle/>
          <a:p>
            <a:pPr algn="l"/>
            <a:r>
              <a:rPr sz="1100" b="0">
                <a:solidFill>
                  <a:srgbClr val="94A3B8"/>
                </a:solidFill>
                <a:latin typeface="Segoe UI"/>
              </a:rPr>
              <a:t>Context-anchored prompt builder ensures LLM only references retrieved repository symbols. Syntactic validator ensures clean compilation.</a:t>
            </a:r>
          </a:p>
        </p:txBody>
      </p:sp>
      <p:sp>
        <p:nvSpPr>
          <p:cNvPr id="11" name="Rounded Rectangle 10"/>
          <p:cNvSpPr/>
          <p:nvPr/>
        </p:nvSpPr>
        <p:spPr>
          <a:xfrm>
            <a:off x="548640" y="3200400"/>
            <a:ext cx="11091672" cy="1417320"/>
          </a:xfrm>
          <a:prstGeom prst="roundRect">
            <a:avLst/>
          </a:prstGeom>
          <a:solidFill>
            <a:srgbClr val="1E293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22960" y="3364992"/>
            <a:ext cx="237744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383280"/>
            <a:ext cx="2377440" cy="228600"/>
          </a:xfrm>
          <a:prstGeom prst="rect">
            <a:avLst/>
          </a:prstGeom>
          <a:noFill/>
        </p:spPr>
        <p:txBody>
          <a:bodyPr wrap="square" lIns="54864" rIns="54864" tIns="36576" bIns="36576" anchor="t">
            <a:spAutoFit/>
          </a:bodyPr>
          <a:lstStyle/>
          <a:p>
            <a:pPr algn="ctr"/>
            <a:r>
              <a:rPr sz="900" b="1">
                <a:solidFill>
                  <a:srgbClr val="EF4444"/>
                </a:solidFill>
                <a:latin typeface="Segoe UI"/>
              </a:rPr>
              <a:t>RISK-ADAPTIVE POLICY MATRIX</a:t>
            </a:r>
          </a:p>
        </p:txBody>
      </p:sp>
      <p:sp>
        <p:nvSpPr>
          <p:cNvPr id="14" name="TextBox 13"/>
          <p:cNvSpPr txBox="1"/>
          <p:nvPr/>
        </p:nvSpPr>
        <p:spPr>
          <a:xfrm>
            <a:off x="3383280" y="3337560"/>
            <a:ext cx="7772400" cy="320040"/>
          </a:xfrm>
          <a:prstGeom prst="rect">
            <a:avLst/>
          </a:prstGeom>
          <a:noFill/>
        </p:spPr>
        <p:txBody>
          <a:bodyPr wrap="square" lIns="54864" rIns="54864" tIns="36576" bIns="36576" anchor="t">
            <a:spAutoFit/>
          </a:bodyPr>
          <a:lstStyle/>
          <a:p>
            <a:pPr algn="l"/>
            <a:r>
              <a:rPr sz="1500" b="1">
                <a:solidFill>
                  <a:srgbClr val="F8FAFC"/>
                </a:solidFill>
                <a:latin typeface="Segoe UI"/>
              </a:rPr>
              <a:t>Phase 4: Security Engine</a:t>
            </a:r>
          </a:p>
        </p:txBody>
      </p:sp>
      <p:sp>
        <p:nvSpPr>
          <p:cNvPr id="15" name="TextBox 14"/>
          <p:cNvSpPr txBox="1"/>
          <p:nvPr/>
        </p:nvSpPr>
        <p:spPr>
          <a:xfrm>
            <a:off x="822960" y="3703320"/>
            <a:ext cx="10515600" cy="822960"/>
          </a:xfrm>
          <a:prstGeom prst="rect">
            <a:avLst/>
          </a:prstGeom>
          <a:noFill/>
        </p:spPr>
        <p:txBody>
          <a:bodyPr wrap="square" lIns="54864" rIns="54864" tIns="36576" bIns="36576" anchor="t">
            <a:spAutoFit/>
          </a:bodyPr>
          <a:lstStyle/>
          <a:p>
            <a:pPr algn="l"/>
            <a:r>
              <a:rPr sz="1100" b="0">
                <a:solidFill>
                  <a:srgbClr val="94A3B8"/>
                </a:solidFill>
                <a:latin typeface="Segoe UI"/>
              </a:rPr>
              <a:t>Calculates Risk = w1·Action + w2·Severity + w3·Exposure. Enforces ALLOW, REDACT, REVIEW, or BLOCK. Catches AWS tokens and Indian Aadhaar/PAN.</a:t>
            </a:r>
          </a:p>
        </p:txBody>
      </p:sp>
      <p:sp>
        <p:nvSpPr>
          <p:cNvPr id="16" name="Rounded Rectangle 15"/>
          <p:cNvSpPr/>
          <p:nvPr/>
        </p:nvSpPr>
        <p:spPr>
          <a:xfrm>
            <a:off x="548640" y="4754880"/>
            <a:ext cx="11091672" cy="141732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2960" y="4919472"/>
            <a:ext cx="237744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59"/>
            <a:ext cx="2377440" cy="228600"/>
          </a:xfrm>
          <a:prstGeom prst="rect">
            <a:avLst/>
          </a:prstGeom>
          <a:noFill/>
        </p:spPr>
        <p:txBody>
          <a:bodyPr wrap="square" lIns="54864" rIns="54864" tIns="36576" bIns="36576" anchor="t">
            <a:spAutoFit/>
          </a:bodyPr>
          <a:lstStyle/>
          <a:p>
            <a:pPr algn="ctr"/>
            <a:r>
              <a:rPr sz="900" b="1">
                <a:solidFill>
                  <a:srgbClr val="F59E0B"/>
                </a:solidFill>
                <a:latin typeface="Segoe UI"/>
              </a:rPr>
              <a:t>STATIC AST DEPENDENCY GRAPH</a:t>
            </a:r>
          </a:p>
        </p:txBody>
      </p:sp>
      <p:sp>
        <p:nvSpPr>
          <p:cNvPr id="19" name="TextBox 18"/>
          <p:cNvSpPr txBox="1"/>
          <p:nvPr/>
        </p:nvSpPr>
        <p:spPr>
          <a:xfrm>
            <a:off x="3383280" y="4892040"/>
            <a:ext cx="7772400" cy="320040"/>
          </a:xfrm>
          <a:prstGeom prst="rect">
            <a:avLst/>
          </a:prstGeom>
          <a:noFill/>
        </p:spPr>
        <p:txBody>
          <a:bodyPr wrap="square" lIns="54864" rIns="54864" tIns="36576" bIns="36576" anchor="t">
            <a:spAutoFit/>
          </a:bodyPr>
          <a:lstStyle/>
          <a:p>
            <a:pPr algn="l"/>
            <a:r>
              <a:rPr sz="1500" b="1">
                <a:solidFill>
                  <a:srgbClr val="F8FAFC"/>
                </a:solidFill>
                <a:latin typeface="Segoe UI"/>
              </a:rPr>
              <a:t>Phase 5: Change-Impact</a:t>
            </a:r>
          </a:p>
        </p:txBody>
      </p:sp>
      <p:sp>
        <p:nvSpPr>
          <p:cNvPr id="20" name="TextBox 19"/>
          <p:cNvSpPr txBox="1"/>
          <p:nvPr/>
        </p:nvSpPr>
        <p:spPr>
          <a:xfrm>
            <a:off x="822960" y="5257800"/>
            <a:ext cx="10515600" cy="822960"/>
          </a:xfrm>
          <a:prstGeom prst="rect">
            <a:avLst/>
          </a:prstGeom>
          <a:noFill/>
        </p:spPr>
        <p:txBody>
          <a:bodyPr wrap="square" lIns="54864" rIns="54864" tIns="36576" bIns="36576" anchor="t">
            <a:spAutoFit/>
          </a:bodyPr>
          <a:lstStyle/>
          <a:p>
            <a:pPr algn="l"/>
            <a:r>
              <a:rPr sz="1100" b="0">
                <a:solidFill>
                  <a:srgbClr val="94A3B8"/>
                </a:solidFill>
                <a:latin typeface="Segoe UI"/>
              </a:rPr>
              <a:t>Python ast module extracts Import and ImportFrom trees to calculate transitive blast radius scores (Low/Medium/High/Critical) before modification.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BASELINE EXECUTION  |  PHASES 6, 7, 8 &amp; 9</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06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Phases 6, 7, 8 &amp; 9: Integration, CI Gate, UI &amp; Evaluation</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Validating the complete platform with empirical benchmarks and CI thresholds.</a:t>
            </a:r>
          </a:p>
        </p:txBody>
      </p:sp>
      <p:sp>
        <p:nvSpPr>
          <p:cNvPr id="6" name="Rounded Rectangle 5"/>
          <p:cNvSpPr/>
          <p:nvPr/>
        </p:nvSpPr>
        <p:spPr>
          <a:xfrm>
            <a:off x="548640" y="1645920"/>
            <a:ext cx="5394960" cy="214884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47088"/>
            <a:ext cx="2011680" cy="256032"/>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65376"/>
            <a:ext cx="2011680" cy="256032"/>
          </a:xfrm>
          <a:prstGeom prst="rect">
            <a:avLst/>
          </a:prstGeom>
          <a:noFill/>
        </p:spPr>
        <p:txBody>
          <a:bodyPr wrap="square" lIns="54864" rIns="54864" tIns="36576" bIns="36576" anchor="t">
            <a:spAutoFit/>
          </a:bodyPr>
          <a:lstStyle/>
          <a:p>
            <a:pPr algn="ctr"/>
            <a:r>
              <a:rPr sz="900" b="1">
                <a:solidFill>
                  <a:srgbClr val="3B82F6"/>
                </a:solidFill>
                <a:latin typeface="Segoe UI"/>
              </a:rPr>
              <a:t>164+ PASSED TESTS</a:t>
            </a:r>
          </a:p>
        </p:txBody>
      </p:sp>
      <p:sp>
        <p:nvSpPr>
          <p:cNvPr id="9" name="TextBox 8"/>
          <p:cNvSpPr txBox="1"/>
          <p:nvPr/>
        </p:nvSpPr>
        <p:spPr>
          <a:xfrm>
            <a:off x="777240" y="2212848"/>
            <a:ext cx="4846320" cy="320040"/>
          </a:xfrm>
          <a:prstGeom prst="rect">
            <a:avLst/>
          </a:prstGeom>
          <a:noFill/>
        </p:spPr>
        <p:txBody>
          <a:bodyPr wrap="square" lIns="54864" rIns="54864" tIns="36576" bIns="36576" anchor="t">
            <a:spAutoFit/>
          </a:bodyPr>
          <a:lstStyle/>
          <a:p>
            <a:pPr algn="l"/>
            <a:r>
              <a:rPr sz="1500" b="1">
                <a:solidFill>
                  <a:srgbClr val="F8FAFC"/>
                </a:solidFill>
                <a:latin typeface="Segoe UI"/>
              </a:rPr>
              <a:t>Phase 6: Integration Verification</a:t>
            </a:r>
          </a:p>
        </p:txBody>
      </p:sp>
      <p:sp>
        <p:nvSpPr>
          <p:cNvPr id="10" name="TextBox 9"/>
          <p:cNvSpPr txBox="1"/>
          <p:nvPr/>
        </p:nvSpPr>
        <p:spPr>
          <a:xfrm>
            <a:off x="777240" y="2606040"/>
            <a:ext cx="4846320" cy="1051560"/>
          </a:xfrm>
          <a:prstGeom prst="rect">
            <a:avLst/>
          </a:prstGeom>
          <a:noFill/>
        </p:spPr>
        <p:txBody>
          <a:bodyPr wrap="square" lIns="54864" rIns="54864" tIns="36576" bIns="36576" anchor="t">
            <a:spAutoFit/>
          </a:bodyPr>
          <a:lstStyle/>
          <a:p>
            <a:pPr algn="l"/>
            <a:r>
              <a:rPr sz="1100" b="0">
                <a:solidFill>
                  <a:srgbClr val="94A3B8"/>
                </a:solidFill>
                <a:latin typeface="Segoe UI"/>
              </a:rPr>
              <a:t>Comprehensive cross-module testing verifying that state machine transitions, RAG retrieval, security intercepts, and generation work together seamlessly.</a:t>
            </a:r>
          </a:p>
        </p:txBody>
      </p:sp>
      <p:sp>
        <p:nvSpPr>
          <p:cNvPr id="11" name="Rounded Rectangle 10"/>
          <p:cNvSpPr/>
          <p:nvPr/>
        </p:nvSpPr>
        <p:spPr>
          <a:xfrm>
            <a:off x="6199631" y="1645920"/>
            <a:ext cx="5394960" cy="2148840"/>
          </a:xfrm>
          <a:prstGeom prst="roundRect">
            <a:avLst/>
          </a:prstGeom>
          <a:solidFill>
            <a:srgbClr val="1E293B"/>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28231" y="1847088"/>
            <a:ext cx="2011680" cy="256032"/>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1" y="1865376"/>
            <a:ext cx="2011680" cy="256032"/>
          </a:xfrm>
          <a:prstGeom prst="rect">
            <a:avLst/>
          </a:prstGeom>
          <a:noFill/>
        </p:spPr>
        <p:txBody>
          <a:bodyPr wrap="square" lIns="54864" rIns="54864" tIns="36576" bIns="36576" anchor="t">
            <a:spAutoFit/>
          </a:bodyPr>
          <a:lstStyle/>
          <a:p>
            <a:pPr algn="ctr"/>
            <a:r>
              <a:rPr sz="900" b="1">
                <a:solidFill>
                  <a:srgbClr val="A855F7"/>
                </a:solidFill>
                <a:latin typeface="Segoe UI"/>
              </a:rPr>
              <a:t>CI_SECURITY_GATE.PY</a:t>
            </a:r>
          </a:p>
        </p:txBody>
      </p:sp>
      <p:sp>
        <p:nvSpPr>
          <p:cNvPr id="14" name="TextBox 13"/>
          <p:cNvSpPr txBox="1"/>
          <p:nvPr/>
        </p:nvSpPr>
        <p:spPr>
          <a:xfrm>
            <a:off x="6428231" y="2212848"/>
            <a:ext cx="4846320" cy="320040"/>
          </a:xfrm>
          <a:prstGeom prst="rect">
            <a:avLst/>
          </a:prstGeom>
          <a:noFill/>
        </p:spPr>
        <p:txBody>
          <a:bodyPr wrap="square" lIns="54864" rIns="54864" tIns="36576" bIns="36576" anchor="t">
            <a:spAutoFit/>
          </a:bodyPr>
          <a:lstStyle/>
          <a:p>
            <a:pPr algn="l"/>
            <a:r>
              <a:rPr sz="1500" b="1">
                <a:solidFill>
                  <a:srgbClr val="F8FAFC"/>
                </a:solidFill>
                <a:latin typeface="Segoe UI"/>
              </a:rPr>
              <a:t>Phase 7: CI / Security Gate</a:t>
            </a:r>
          </a:p>
        </p:txBody>
      </p:sp>
      <p:sp>
        <p:nvSpPr>
          <p:cNvPr id="15" name="TextBox 14"/>
          <p:cNvSpPr txBox="1"/>
          <p:nvPr/>
        </p:nvSpPr>
        <p:spPr>
          <a:xfrm>
            <a:off x="6428231" y="2606040"/>
            <a:ext cx="4846320" cy="1051560"/>
          </a:xfrm>
          <a:prstGeom prst="rect">
            <a:avLst/>
          </a:prstGeom>
          <a:noFill/>
        </p:spPr>
        <p:txBody>
          <a:bodyPr wrap="square" lIns="54864" rIns="54864" tIns="36576" bIns="36576" anchor="t">
            <a:spAutoFit/>
          </a:bodyPr>
          <a:lstStyle/>
          <a:p>
            <a:pPr algn="l"/>
            <a:r>
              <a:rPr sz="1100" b="0">
                <a:solidFill>
                  <a:srgbClr val="94A3B8"/>
                </a:solidFill>
                <a:latin typeface="Segoe UI"/>
              </a:rPr>
              <a:t>Automated GitHub Actions CI check. Evaluates detector precision/recall against security test corpus; enforces hard block if Precision &lt; 0.95 or Recall &lt; 0.90.</a:t>
            </a:r>
          </a:p>
        </p:txBody>
      </p:sp>
      <p:sp>
        <p:nvSpPr>
          <p:cNvPr id="16" name="Rounded Rectangle 15"/>
          <p:cNvSpPr/>
          <p:nvPr/>
        </p:nvSpPr>
        <p:spPr>
          <a:xfrm>
            <a:off x="548640" y="4023360"/>
            <a:ext cx="5394960" cy="214884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7240" y="4224528"/>
            <a:ext cx="2011680" cy="256032"/>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242816"/>
            <a:ext cx="2011680" cy="256032"/>
          </a:xfrm>
          <a:prstGeom prst="rect">
            <a:avLst/>
          </a:prstGeom>
          <a:noFill/>
        </p:spPr>
        <p:txBody>
          <a:bodyPr wrap="square" lIns="54864" rIns="54864" tIns="36576" bIns="36576" anchor="t">
            <a:spAutoFit/>
          </a:bodyPr>
          <a:lstStyle/>
          <a:p>
            <a:pPr algn="ctr"/>
            <a:r>
              <a:rPr sz="900" b="1">
                <a:solidFill>
                  <a:srgbClr val="0EA5E9"/>
                </a:solidFill>
                <a:latin typeface="Segoe UI"/>
              </a:rPr>
              <a:t>DASHBOARD PROTOTYPE</a:t>
            </a:r>
          </a:p>
        </p:txBody>
      </p:sp>
      <p:sp>
        <p:nvSpPr>
          <p:cNvPr id="19" name="TextBox 18"/>
          <p:cNvSpPr txBox="1"/>
          <p:nvPr/>
        </p:nvSpPr>
        <p:spPr>
          <a:xfrm>
            <a:off x="777240" y="4590288"/>
            <a:ext cx="4846320" cy="320040"/>
          </a:xfrm>
          <a:prstGeom prst="rect">
            <a:avLst/>
          </a:prstGeom>
          <a:noFill/>
        </p:spPr>
        <p:txBody>
          <a:bodyPr wrap="square" lIns="54864" rIns="54864" tIns="36576" bIns="36576" anchor="t">
            <a:spAutoFit/>
          </a:bodyPr>
          <a:lstStyle/>
          <a:p>
            <a:pPr algn="l"/>
            <a:r>
              <a:rPr sz="1500" b="1">
                <a:solidFill>
                  <a:srgbClr val="F8FAFC"/>
                </a:solidFill>
                <a:latin typeface="Segoe UI"/>
              </a:rPr>
              <a:t>Phase 8: Frontend &amp; Workflow</a:t>
            </a:r>
          </a:p>
        </p:txBody>
      </p:sp>
      <p:sp>
        <p:nvSpPr>
          <p:cNvPr id="20" name="TextBox 19"/>
          <p:cNvSpPr txBox="1"/>
          <p:nvPr/>
        </p:nvSpPr>
        <p:spPr>
          <a:xfrm>
            <a:off x="777240" y="4983480"/>
            <a:ext cx="4846320" cy="1051560"/>
          </a:xfrm>
          <a:prstGeom prst="rect">
            <a:avLst/>
          </a:prstGeom>
          <a:noFill/>
        </p:spPr>
        <p:txBody>
          <a:bodyPr wrap="square" lIns="54864" rIns="54864" tIns="36576" bIns="36576" anchor="t">
            <a:spAutoFit/>
          </a:bodyPr>
          <a:lstStyle/>
          <a:p>
            <a:pPr algn="l"/>
            <a:r>
              <a:rPr sz="1100" b="0">
                <a:solidFill>
                  <a:srgbClr val="94A3B8"/>
                </a:solidFill>
                <a:latin typeface="Segoe UI"/>
              </a:rPr>
              <a:t>Original mission control interface displaying real-time security verdicts, retrieved evidence snippets, AST blast radius scores, and SQLite audit traces.</a:t>
            </a:r>
          </a:p>
        </p:txBody>
      </p:sp>
      <p:sp>
        <p:nvSpPr>
          <p:cNvPr id="21" name="Rounded Rectangle 20"/>
          <p:cNvSpPr/>
          <p:nvPr/>
        </p:nvSpPr>
        <p:spPr>
          <a:xfrm>
            <a:off x="6199631" y="4023360"/>
            <a:ext cx="5394960" cy="214884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28231" y="4224528"/>
            <a:ext cx="2011680" cy="256032"/>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28231" y="4242816"/>
            <a:ext cx="2011680" cy="256032"/>
          </a:xfrm>
          <a:prstGeom prst="rect">
            <a:avLst/>
          </a:prstGeom>
          <a:noFill/>
        </p:spPr>
        <p:txBody>
          <a:bodyPr wrap="square" lIns="54864" rIns="54864" tIns="36576" bIns="36576" anchor="t">
            <a:spAutoFit/>
          </a:bodyPr>
          <a:lstStyle/>
          <a:p>
            <a:pPr algn="ctr"/>
            <a:r>
              <a:rPr sz="900" b="1">
                <a:solidFill>
                  <a:srgbClr val="10B981"/>
                </a:solidFill>
                <a:latin typeface="Segoe UI"/>
              </a:rPr>
              <a:t>EMPIRICAL BENCHMARKING</a:t>
            </a:r>
          </a:p>
        </p:txBody>
      </p:sp>
      <p:sp>
        <p:nvSpPr>
          <p:cNvPr id="24" name="TextBox 23"/>
          <p:cNvSpPr txBox="1"/>
          <p:nvPr/>
        </p:nvSpPr>
        <p:spPr>
          <a:xfrm>
            <a:off x="6428231" y="4590288"/>
            <a:ext cx="4846320" cy="320040"/>
          </a:xfrm>
          <a:prstGeom prst="rect">
            <a:avLst/>
          </a:prstGeom>
          <a:noFill/>
        </p:spPr>
        <p:txBody>
          <a:bodyPr wrap="square" lIns="54864" rIns="54864" tIns="36576" bIns="36576" anchor="t">
            <a:spAutoFit/>
          </a:bodyPr>
          <a:lstStyle/>
          <a:p>
            <a:pPr algn="l"/>
            <a:r>
              <a:rPr sz="1500" b="1">
                <a:solidFill>
                  <a:srgbClr val="F8FAFC"/>
                </a:solidFill>
                <a:latin typeface="Segoe UI"/>
              </a:rPr>
              <a:t>Phase 9: Evaluation &amp; Finalization</a:t>
            </a:r>
          </a:p>
        </p:txBody>
      </p:sp>
      <p:sp>
        <p:nvSpPr>
          <p:cNvPr id="25" name="TextBox 24"/>
          <p:cNvSpPr txBox="1"/>
          <p:nvPr/>
        </p:nvSpPr>
        <p:spPr>
          <a:xfrm>
            <a:off x="6428231" y="4983480"/>
            <a:ext cx="4846320" cy="1051560"/>
          </a:xfrm>
          <a:prstGeom prst="rect">
            <a:avLst/>
          </a:prstGeom>
          <a:noFill/>
        </p:spPr>
        <p:txBody>
          <a:bodyPr wrap="square" lIns="54864" rIns="54864" tIns="36576" bIns="36576" anchor="t">
            <a:spAutoFit/>
          </a:bodyPr>
          <a:lstStyle/>
          <a:p>
            <a:pPr algn="l"/>
            <a:r>
              <a:rPr sz="1100" b="0">
                <a:solidFill>
                  <a:srgbClr val="94A3B8"/>
                </a:solidFill>
                <a:latin typeface="Segoe UI"/>
              </a:rPr>
              <a:t>Quantitative RAG precision evaluation (eval_rag.py), security benchmarking (evaluator_v2.py), comprehensive documentation, and delivery cleanup.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PHASE 9 OUTCOMES  |  EMPIRICAL METRICS</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07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Phase 9 Quantitative Results: Rigorous Empirical Proof</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All 9 phases culminated in reproducible test runs and quantitative security benchmarks.</a:t>
            </a:r>
          </a:p>
        </p:txBody>
      </p:sp>
      <p:sp>
        <p:nvSpPr>
          <p:cNvPr id="6" name="Rounded Rectangle 5"/>
          <p:cNvSpPr/>
          <p:nvPr/>
        </p:nvSpPr>
        <p:spPr>
          <a:xfrm>
            <a:off x="548640" y="1645920"/>
            <a:ext cx="2651760" cy="164592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28800"/>
            <a:ext cx="2286000" cy="548640"/>
          </a:xfrm>
          <a:prstGeom prst="rect">
            <a:avLst/>
          </a:prstGeom>
          <a:noFill/>
        </p:spPr>
        <p:txBody>
          <a:bodyPr wrap="square" lIns="54864" rIns="54864" tIns="36576" bIns="36576" anchor="t">
            <a:spAutoFit/>
          </a:bodyPr>
          <a:lstStyle/>
          <a:p>
            <a:pPr algn="l"/>
            <a:r>
              <a:rPr sz="3200" b="1">
                <a:solidFill>
                  <a:srgbClr val="10B981"/>
                </a:solidFill>
                <a:latin typeface="Segoe UI"/>
              </a:rPr>
              <a:t>164+</a:t>
            </a:r>
          </a:p>
        </p:txBody>
      </p:sp>
      <p:sp>
        <p:nvSpPr>
          <p:cNvPr id="8" name="TextBox 7"/>
          <p:cNvSpPr txBox="1"/>
          <p:nvPr/>
        </p:nvSpPr>
        <p:spPr>
          <a:xfrm>
            <a:off x="731520" y="2487168"/>
            <a:ext cx="2286000" cy="274320"/>
          </a:xfrm>
          <a:prstGeom prst="rect">
            <a:avLst/>
          </a:prstGeom>
          <a:noFill/>
        </p:spPr>
        <p:txBody>
          <a:bodyPr wrap="square" lIns="54864" rIns="54864" tIns="36576" bIns="36576" anchor="t">
            <a:spAutoFit/>
          </a:bodyPr>
          <a:lstStyle/>
          <a:p>
            <a:pPr algn="l"/>
            <a:r>
              <a:rPr sz="1100" b="1">
                <a:solidFill>
                  <a:srgbClr val="F8FAFC"/>
                </a:solidFill>
                <a:latin typeface="Segoe UI"/>
              </a:rPr>
              <a:t>TOTAL TEST CASES</a:t>
            </a:r>
          </a:p>
        </p:txBody>
      </p:sp>
      <p:sp>
        <p:nvSpPr>
          <p:cNvPr id="9" name="TextBox 8"/>
          <p:cNvSpPr txBox="1"/>
          <p:nvPr/>
        </p:nvSpPr>
        <p:spPr>
          <a:xfrm>
            <a:off x="731520" y="2788920"/>
            <a:ext cx="2286000" cy="457200"/>
          </a:xfrm>
          <a:prstGeom prst="rect">
            <a:avLst/>
          </a:prstGeom>
          <a:noFill/>
        </p:spPr>
        <p:txBody>
          <a:bodyPr wrap="square" lIns="54864" rIns="54864" tIns="36576" bIns="36576" anchor="t">
            <a:spAutoFit/>
          </a:bodyPr>
          <a:lstStyle/>
          <a:p>
            <a:pPr algn="l"/>
            <a:r>
              <a:rPr sz="1000" b="0">
                <a:solidFill>
                  <a:srgbClr val="94A3B8"/>
                </a:solidFill>
                <a:latin typeface="Segoe UI"/>
              </a:rPr>
              <a:t>100% passing across unit, integration, and security suites.</a:t>
            </a:r>
          </a:p>
        </p:txBody>
      </p:sp>
      <p:sp>
        <p:nvSpPr>
          <p:cNvPr id="10" name="Rounded Rectangle 9"/>
          <p:cNvSpPr/>
          <p:nvPr/>
        </p:nvSpPr>
        <p:spPr>
          <a:xfrm>
            <a:off x="3337560" y="1645920"/>
            <a:ext cx="2651760" cy="164592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0440" y="1828800"/>
            <a:ext cx="2286000" cy="548640"/>
          </a:xfrm>
          <a:prstGeom prst="rect">
            <a:avLst/>
          </a:prstGeom>
          <a:noFill/>
        </p:spPr>
        <p:txBody>
          <a:bodyPr wrap="square" lIns="54864" rIns="54864" tIns="36576" bIns="36576" anchor="t">
            <a:spAutoFit/>
          </a:bodyPr>
          <a:lstStyle/>
          <a:p>
            <a:pPr algn="l"/>
            <a:r>
              <a:rPr sz="3200" b="1">
                <a:solidFill>
                  <a:srgbClr val="0EA5E9"/>
                </a:solidFill>
                <a:latin typeface="Segoe UI"/>
              </a:rPr>
              <a:t>100%</a:t>
            </a:r>
          </a:p>
        </p:txBody>
      </p:sp>
      <p:sp>
        <p:nvSpPr>
          <p:cNvPr id="12" name="TextBox 11"/>
          <p:cNvSpPr txBox="1"/>
          <p:nvPr/>
        </p:nvSpPr>
        <p:spPr>
          <a:xfrm>
            <a:off x="3520440" y="2487168"/>
            <a:ext cx="2286000" cy="274320"/>
          </a:xfrm>
          <a:prstGeom prst="rect">
            <a:avLst/>
          </a:prstGeom>
          <a:noFill/>
        </p:spPr>
        <p:txBody>
          <a:bodyPr wrap="square" lIns="54864" rIns="54864" tIns="36576" bIns="36576" anchor="t">
            <a:spAutoFit/>
          </a:bodyPr>
          <a:lstStyle/>
          <a:p>
            <a:pPr algn="l"/>
            <a:r>
              <a:rPr sz="1100" b="1">
                <a:solidFill>
                  <a:srgbClr val="F8FAFC"/>
                </a:solidFill>
                <a:latin typeface="Segoe UI"/>
              </a:rPr>
              <a:t>SECURITY RECALL</a:t>
            </a:r>
          </a:p>
        </p:txBody>
      </p:sp>
      <p:sp>
        <p:nvSpPr>
          <p:cNvPr id="13" name="TextBox 12"/>
          <p:cNvSpPr txBox="1"/>
          <p:nvPr/>
        </p:nvSpPr>
        <p:spPr>
          <a:xfrm>
            <a:off x="3520440" y="2788920"/>
            <a:ext cx="2286000" cy="457200"/>
          </a:xfrm>
          <a:prstGeom prst="rect">
            <a:avLst/>
          </a:prstGeom>
          <a:noFill/>
        </p:spPr>
        <p:txBody>
          <a:bodyPr wrap="square" lIns="54864" rIns="54864" tIns="36576" bIns="36576" anchor="t">
            <a:spAutoFit/>
          </a:bodyPr>
          <a:lstStyle/>
          <a:p>
            <a:pPr algn="l"/>
            <a:r>
              <a:rPr sz="1000" b="0">
                <a:solidFill>
                  <a:srgbClr val="94A3B8"/>
                </a:solidFill>
                <a:latin typeface="Segoe UI"/>
              </a:rPr>
              <a:t>Zero false negatives on hardcoded AWS keys, PATs, and Aadhaar.</a:t>
            </a:r>
          </a:p>
        </p:txBody>
      </p:sp>
      <p:sp>
        <p:nvSpPr>
          <p:cNvPr id="14" name="Rounded Rectangle 13"/>
          <p:cNvSpPr/>
          <p:nvPr/>
        </p:nvSpPr>
        <p:spPr>
          <a:xfrm>
            <a:off x="6126479" y="1645920"/>
            <a:ext cx="2651760" cy="164592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59" y="1828800"/>
            <a:ext cx="2286000" cy="548640"/>
          </a:xfrm>
          <a:prstGeom prst="rect">
            <a:avLst/>
          </a:prstGeom>
          <a:noFill/>
        </p:spPr>
        <p:txBody>
          <a:bodyPr wrap="square" lIns="54864" rIns="54864" tIns="36576" bIns="36576" anchor="t">
            <a:spAutoFit/>
          </a:bodyPr>
          <a:lstStyle/>
          <a:p>
            <a:pPr algn="l"/>
            <a:r>
              <a:rPr sz="3200" b="1">
                <a:solidFill>
                  <a:srgbClr val="3B82F6"/>
                </a:solidFill>
                <a:latin typeface="Segoe UI"/>
              </a:rPr>
              <a:t>&lt; 5ms</a:t>
            </a:r>
          </a:p>
        </p:txBody>
      </p:sp>
      <p:sp>
        <p:nvSpPr>
          <p:cNvPr id="16" name="TextBox 15"/>
          <p:cNvSpPr txBox="1"/>
          <p:nvPr/>
        </p:nvSpPr>
        <p:spPr>
          <a:xfrm>
            <a:off x="6309359" y="2487168"/>
            <a:ext cx="2286000" cy="274320"/>
          </a:xfrm>
          <a:prstGeom prst="rect">
            <a:avLst/>
          </a:prstGeom>
          <a:noFill/>
        </p:spPr>
        <p:txBody>
          <a:bodyPr wrap="square" lIns="54864" rIns="54864" tIns="36576" bIns="36576" anchor="t">
            <a:spAutoFit/>
          </a:bodyPr>
          <a:lstStyle/>
          <a:p>
            <a:pPr algn="l"/>
            <a:r>
              <a:rPr sz="1100" b="1">
                <a:solidFill>
                  <a:srgbClr val="F8FAFC"/>
                </a:solidFill>
                <a:latin typeface="Segoe UI"/>
              </a:rPr>
              <a:t>LATENCY OVERHEAD</a:t>
            </a:r>
          </a:p>
        </p:txBody>
      </p:sp>
      <p:sp>
        <p:nvSpPr>
          <p:cNvPr id="17" name="TextBox 16"/>
          <p:cNvSpPr txBox="1"/>
          <p:nvPr/>
        </p:nvSpPr>
        <p:spPr>
          <a:xfrm>
            <a:off x="6309359" y="2788920"/>
            <a:ext cx="2286000" cy="457200"/>
          </a:xfrm>
          <a:prstGeom prst="rect">
            <a:avLst/>
          </a:prstGeom>
          <a:noFill/>
        </p:spPr>
        <p:txBody>
          <a:bodyPr wrap="square" lIns="54864" rIns="54864" tIns="36576" bIns="36576" anchor="t">
            <a:spAutoFit/>
          </a:bodyPr>
          <a:lstStyle/>
          <a:p>
            <a:pPr algn="l"/>
            <a:r>
              <a:rPr sz="1000" b="0">
                <a:solidFill>
                  <a:srgbClr val="94A3B8"/>
                </a:solidFill>
                <a:latin typeface="Segoe UI"/>
              </a:rPr>
              <a:t>Deterministic regex and Shannon entropy scanners run instantaneously.</a:t>
            </a:r>
          </a:p>
        </p:txBody>
      </p:sp>
      <p:sp>
        <p:nvSpPr>
          <p:cNvPr id="18" name="Rounded Rectangle 17"/>
          <p:cNvSpPr/>
          <p:nvPr/>
        </p:nvSpPr>
        <p:spPr>
          <a:xfrm>
            <a:off x="8915399" y="1645920"/>
            <a:ext cx="2651760" cy="164592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279" y="1828800"/>
            <a:ext cx="2286000" cy="548640"/>
          </a:xfrm>
          <a:prstGeom prst="rect">
            <a:avLst/>
          </a:prstGeom>
          <a:noFill/>
        </p:spPr>
        <p:txBody>
          <a:bodyPr wrap="square" lIns="54864" rIns="54864" tIns="36576" bIns="36576" anchor="t">
            <a:spAutoFit/>
          </a:bodyPr>
          <a:lstStyle/>
          <a:p>
            <a:pPr algn="l"/>
            <a:r>
              <a:rPr sz="3200" b="1">
                <a:solidFill>
                  <a:srgbClr val="F59E0B"/>
                </a:solidFill>
                <a:latin typeface="Segoe UI"/>
              </a:rPr>
              <a:t>100%</a:t>
            </a:r>
          </a:p>
        </p:txBody>
      </p:sp>
      <p:sp>
        <p:nvSpPr>
          <p:cNvPr id="20" name="TextBox 19"/>
          <p:cNvSpPr txBox="1"/>
          <p:nvPr/>
        </p:nvSpPr>
        <p:spPr>
          <a:xfrm>
            <a:off x="9098279" y="2487168"/>
            <a:ext cx="2286000" cy="274320"/>
          </a:xfrm>
          <a:prstGeom prst="rect">
            <a:avLst/>
          </a:prstGeom>
          <a:noFill/>
        </p:spPr>
        <p:txBody>
          <a:bodyPr wrap="square" lIns="54864" rIns="54864" tIns="36576" bIns="36576" anchor="t">
            <a:spAutoFit/>
          </a:bodyPr>
          <a:lstStyle/>
          <a:p>
            <a:pPr algn="l"/>
            <a:r>
              <a:rPr sz="1100" b="1">
                <a:solidFill>
                  <a:srgbClr val="F8FAFC"/>
                </a:solidFill>
                <a:latin typeface="Segoe UI"/>
              </a:rPr>
              <a:t>AST GRAPH ACCURACY</a:t>
            </a:r>
          </a:p>
        </p:txBody>
      </p:sp>
      <p:sp>
        <p:nvSpPr>
          <p:cNvPr id="21" name="TextBox 20"/>
          <p:cNvSpPr txBox="1"/>
          <p:nvPr/>
        </p:nvSpPr>
        <p:spPr>
          <a:xfrm>
            <a:off x="9098279" y="2788920"/>
            <a:ext cx="2286000" cy="457200"/>
          </a:xfrm>
          <a:prstGeom prst="rect">
            <a:avLst/>
          </a:prstGeom>
          <a:noFill/>
        </p:spPr>
        <p:txBody>
          <a:bodyPr wrap="square" lIns="54864" rIns="54864" tIns="36576" bIns="36576" anchor="t">
            <a:spAutoFit/>
          </a:bodyPr>
          <a:lstStyle/>
          <a:p>
            <a:pPr algn="l"/>
            <a:r>
              <a:rPr sz="1000" b="0">
                <a:solidFill>
                  <a:srgbClr val="94A3B8"/>
                </a:solidFill>
                <a:latin typeface="Segoe UI"/>
              </a:rPr>
              <a:t>Exact transitive closure calculation across all demo repo modules.</a:t>
            </a:r>
          </a:p>
        </p:txBody>
      </p:sp>
      <p:sp>
        <p:nvSpPr>
          <p:cNvPr id="22" name="Rounded Rectangle 21"/>
          <p:cNvSpPr/>
          <p:nvPr/>
        </p:nvSpPr>
        <p:spPr>
          <a:xfrm>
            <a:off x="548640" y="3566160"/>
            <a:ext cx="11091672" cy="2743200"/>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3794760"/>
            <a:ext cx="10515600" cy="320040"/>
          </a:xfrm>
          <a:prstGeom prst="rect">
            <a:avLst/>
          </a:prstGeom>
          <a:noFill/>
        </p:spPr>
        <p:txBody>
          <a:bodyPr wrap="square" lIns="54864" rIns="54864" tIns="36576" bIns="36576" anchor="t">
            <a:spAutoFit/>
          </a:bodyPr>
          <a:lstStyle/>
          <a:p>
            <a:pPr algn="l"/>
            <a:r>
              <a:rPr sz="1600" b="1">
                <a:solidFill>
                  <a:srgbClr val="F8FAFC"/>
                </a:solidFill>
                <a:latin typeface="Segoe UI"/>
              </a:rPr>
              <a:t>Evaluation Methodology (evaluator_v2.py &amp; eval_rag.py)</a:t>
            </a:r>
          </a:p>
        </p:txBody>
      </p:sp>
      <p:sp>
        <p:nvSpPr>
          <p:cNvPr id="24" name="TextBox 23"/>
          <p:cNvSpPr txBox="1"/>
          <p:nvPr/>
        </p:nvSpPr>
        <p:spPr>
          <a:xfrm>
            <a:off x="822960" y="4251960"/>
            <a:ext cx="10515600" cy="411480"/>
          </a:xfrm>
          <a:prstGeom prst="rect">
            <a:avLst/>
          </a:prstGeom>
          <a:noFill/>
        </p:spPr>
        <p:txBody>
          <a:bodyPr wrap="square" lIns="54864" rIns="54864" tIns="36576" bIns="36576" anchor="t">
            <a:spAutoFit/>
          </a:bodyPr>
          <a:lstStyle/>
          <a:p>
            <a:pPr algn="l"/>
            <a:r>
              <a:rPr sz="1200" b="0">
                <a:solidFill>
                  <a:srgbClr val="94A3B8"/>
                </a:solidFill>
                <a:latin typeface="Segoe UI"/>
              </a:rPr>
              <a:t>✔ Test Corpus Benchmark: Evaluated against test_corpus.json and security_v2_test_cases.json containing synthetic leaks and clean code.</a:t>
            </a:r>
          </a:p>
        </p:txBody>
      </p:sp>
      <p:sp>
        <p:nvSpPr>
          <p:cNvPr id="25" name="TextBox 24"/>
          <p:cNvSpPr txBox="1"/>
          <p:nvPr/>
        </p:nvSpPr>
        <p:spPr>
          <a:xfrm>
            <a:off x="822960" y="4727448"/>
            <a:ext cx="10515600" cy="411480"/>
          </a:xfrm>
          <a:prstGeom prst="rect">
            <a:avLst/>
          </a:prstGeom>
          <a:noFill/>
        </p:spPr>
        <p:txBody>
          <a:bodyPr wrap="square" lIns="54864" rIns="54864" tIns="36576" bIns="36576" anchor="t">
            <a:spAutoFit/>
          </a:bodyPr>
          <a:lstStyle/>
          <a:p>
            <a:pPr algn="l"/>
            <a:r>
              <a:rPr sz="1200" b="0">
                <a:solidFill>
                  <a:srgbClr val="94A3B8"/>
                </a:solidFill>
                <a:latin typeface="Segoe UI"/>
              </a:rPr>
              <a:t>✔ RAG Precision: Assessed top-k evidence relevance using cosine similarity distance thresholds in Qdrant.</a:t>
            </a:r>
          </a:p>
        </p:txBody>
      </p:sp>
      <p:sp>
        <p:nvSpPr>
          <p:cNvPr id="26" name="TextBox 25"/>
          <p:cNvSpPr txBox="1"/>
          <p:nvPr/>
        </p:nvSpPr>
        <p:spPr>
          <a:xfrm>
            <a:off x="822960" y="5202936"/>
            <a:ext cx="10515600" cy="411480"/>
          </a:xfrm>
          <a:prstGeom prst="rect">
            <a:avLst/>
          </a:prstGeom>
          <a:noFill/>
        </p:spPr>
        <p:txBody>
          <a:bodyPr wrap="square" lIns="54864" rIns="54864" tIns="36576" bIns="36576" anchor="t">
            <a:spAutoFit/>
          </a:bodyPr>
          <a:lstStyle/>
          <a:p>
            <a:pPr algn="l"/>
            <a:r>
              <a:rPr sz="1200" b="0">
                <a:solidFill>
                  <a:srgbClr val="94A3B8"/>
                </a:solidFill>
                <a:latin typeface="Segoe UI"/>
              </a:rPr>
              <a:t>✔ Blast Radius Ground Truth: Validated against impact_test_cases.json ensuring exact match with manual dependency audits.</a:t>
            </a:r>
          </a:p>
        </p:txBody>
      </p:sp>
      <p:sp>
        <p:nvSpPr>
          <p:cNvPr id="27" name="TextBox 26"/>
          <p:cNvSpPr txBox="1"/>
          <p:nvPr/>
        </p:nvSpPr>
        <p:spPr>
          <a:xfrm>
            <a:off x="822960" y="5678424"/>
            <a:ext cx="10515600" cy="411480"/>
          </a:xfrm>
          <a:prstGeom prst="rect">
            <a:avLst/>
          </a:prstGeom>
          <a:noFill/>
        </p:spPr>
        <p:txBody>
          <a:bodyPr wrap="square" lIns="54864" rIns="54864" tIns="36576" bIns="36576" anchor="t">
            <a:spAutoFit/>
          </a:bodyPr>
          <a:lstStyle/>
          <a:p>
            <a:pPr algn="l"/>
            <a:r>
              <a:rPr sz="1200" b="0">
                <a:solidFill>
                  <a:srgbClr val="94A3B8"/>
                </a:solidFill>
                <a:latin typeface="Segoe UI"/>
              </a:rPr>
              <a:t>✔ Zero Regressions: Automated regression test runner (run_tests.py) confirms zero broken dependencies across the entire project.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SEPTEMBER 22 RELEASE  |  PRODUCT EVOLUTION</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08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What We Shipped Yesterday: Multi-Surface Workspace</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Expanding beyond the Phase 1-9 baseline into a production-usable security workspace.</a:t>
            </a:r>
          </a:p>
        </p:txBody>
      </p:sp>
      <p:sp>
        <p:nvSpPr>
          <p:cNvPr id="6" name="Rounded Rectangle 5"/>
          <p:cNvSpPr/>
          <p:nvPr/>
        </p:nvSpPr>
        <p:spPr>
          <a:xfrm>
            <a:off x="548640" y="1645920"/>
            <a:ext cx="539496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1874519"/>
            <a:ext cx="2011680" cy="274320"/>
          </a:xfrm>
          <a:prstGeom prst="round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92807"/>
            <a:ext cx="2011680" cy="274320"/>
          </a:xfrm>
          <a:prstGeom prst="rect">
            <a:avLst/>
          </a:prstGeom>
          <a:noFill/>
        </p:spPr>
        <p:txBody>
          <a:bodyPr wrap="square" lIns="54864" rIns="54864" tIns="36576" bIns="36576" anchor="t">
            <a:spAutoFit/>
          </a:bodyPr>
          <a:lstStyle/>
          <a:p>
            <a:pPr algn="ctr"/>
            <a:r>
              <a:rPr sz="900" b="1">
                <a:solidFill>
                  <a:srgbClr val="94A3B8"/>
                </a:solidFill>
                <a:latin typeface="Segoe UI"/>
              </a:rPr>
              <a:t>BEFORE YESTERDAY</a:t>
            </a:r>
          </a:p>
        </p:txBody>
      </p:sp>
      <p:sp>
        <p:nvSpPr>
          <p:cNvPr id="9" name="TextBox 8"/>
          <p:cNvSpPr txBox="1"/>
          <p:nvPr/>
        </p:nvSpPr>
        <p:spPr>
          <a:xfrm>
            <a:off x="822960" y="2240280"/>
            <a:ext cx="4754880" cy="320040"/>
          </a:xfrm>
          <a:prstGeom prst="rect">
            <a:avLst/>
          </a:prstGeom>
          <a:noFill/>
        </p:spPr>
        <p:txBody>
          <a:bodyPr wrap="square" lIns="54864" rIns="54864" tIns="36576" bIns="36576" anchor="t">
            <a:spAutoFit/>
          </a:bodyPr>
          <a:lstStyle/>
          <a:p>
            <a:pPr algn="l"/>
            <a:r>
              <a:rPr sz="1600" b="1">
                <a:solidFill>
                  <a:srgbClr val="F8FAFC"/>
                </a:solidFill>
                <a:latin typeface="Segoe UI"/>
              </a:rPr>
              <a:t>Governed Workflow Prototype</a:t>
            </a:r>
          </a:p>
        </p:txBody>
      </p:sp>
      <p:sp>
        <p:nvSpPr>
          <p:cNvPr id="10" name="TextBox 9"/>
          <p:cNvSpPr txBox="1"/>
          <p:nvPr/>
        </p:nvSpPr>
        <p:spPr>
          <a:xfrm>
            <a:off x="822960" y="2743200"/>
            <a:ext cx="4754880" cy="594360"/>
          </a:xfrm>
          <a:prstGeom prst="rect">
            <a:avLst/>
          </a:prstGeom>
          <a:noFill/>
        </p:spPr>
        <p:txBody>
          <a:bodyPr wrap="square" lIns="54864" rIns="54864" tIns="36576" bIns="36576" anchor="t">
            <a:spAutoFit/>
          </a:bodyPr>
          <a:lstStyle/>
          <a:p>
            <a:pPr algn="l"/>
            <a:r>
              <a:rPr sz="1100" b="0">
                <a:solidFill>
                  <a:srgbClr val="94A3B8"/>
                </a:solidFill>
                <a:latin typeface="Segoe UI"/>
              </a:rPr>
              <a:t>• Single-entry workflow restricted to local folder paths.</a:t>
            </a:r>
          </a:p>
        </p:txBody>
      </p:sp>
      <p:sp>
        <p:nvSpPr>
          <p:cNvPr id="11" name="TextBox 10"/>
          <p:cNvSpPr txBox="1"/>
          <p:nvPr/>
        </p:nvSpPr>
        <p:spPr>
          <a:xfrm>
            <a:off x="822960" y="3401568"/>
            <a:ext cx="4754880" cy="594360"/>
          </a:xfrm>
          <a:prstGeom prst="rect">
            <a:avLst/>
          </a:prstGeom>
          <a:noFill/>
        </p:spPr>
        <p:txBody>
          <a:bodyPr wrap="square" lIns="54864" rIns="54864" tIns="36576" bIns="36576" anchor="t">
            <a:spAutoFit/>
          </a:bodyPr>
          <a:lstStyle/>
          <a:p>
            <a:pPr algn="l"/>
            <a:r>
              <a:rPr sz="1100" b="0">
                <a:solidFill>
                  <a:srgbClr val="94A3B8"/>
                </a:solidFill>
                <a:latin typeface="Segoe UI"/>
              </a:rPr>
              <a:t>• Security checks only available as part of full code generation.</a:t>
            </a:r>
          </a:p>
        </p:txBody>
      </p:sp>
      <p:sp>
        <p:nvSpPr>
          <p:cNvPr id="12" name="TextBox 11"/>
          <p:cNvSpPr txBox="1"/>
          <p:nvPr/>
        </p:nvSpPr>
        <p:spPr>
          <a:xfrm>
            <a:off x="822960" y="4059935"/>
            <a:ext cx="4754880" cy="594360"/>
          </a:xfrm>
          <a:prstGeom prst="rect">
            <a:avLst/>
          </a:prstGeom>
          <a:noFill/>
        </p:spPr>
        <p:txBody>
          <a:bodyPr wrap="square" lIns="54864" rIns="54864" tIns="36576" bIns="36576" anchor="t">
            <a:spAutoFit/>
          </a:bodyPr>
          <a:lstStyle/>
          <a:p>
            <a:pPr algn="l"/>
            <a:r>
              <a:rPr sz="1100" b="0">
                <a:solidFill>
                  <a:srgbClr val="94A3B8"/>
                </a:solidFill>
                <a:latin typeface="Segoe UI"/>
              </a:rPr>
              <a:t>• Browser voice input dropped words on natural pauses.</a:t>
            </a:r>
          </a:p>
        </p:txBody>
      </p:sp>
      <p:sp>
        <p:nvSpPr>
          <p:cNvPr id="13" name="TextBox 12"/>
          <p:cNvSpPr txBox="1"/>
          <p:nvPr/>
        </p:nvSpPr>
        <p:spPr>
          <a:xfrm>
            <a:off x="822960" y="4718304"/>
            <a:ext cx="4754880" cy="594360"/>
          </a:xfrm>
          <a:prstGeom prst="rect">
            <a:avLst/>
          </a:prstGeom>
          <a:noFill/>
        </p:spPr>
        <p:txBody>
          <a:bodyPr wrap="square" lIns="54864" rIns="54864" tIns="36576" bIns="36576" anchor="t">
            <a:spAutoFit/>
          </a:bodyPr>
          <a:lstStyle/>
          <a:p>
            <a:pPr algn="l"/>
            <a:r>
              <a:rPr sz="1100" b="0">
                <a:solidFill>
                  <a:srgbClr val="94A3B8"/>
                </a:solidFill>
                <a:latin typeface="Segoe UI"/>
              </a:rPr>
              <a:t>• Raw numbers in queries caused occasional false-positive Aadhaar flags.</a:t>
            </a:r>
          </a:p>
        </p:txBody>
      </p:sp>
      <p:sp>
        <p:nvSpPr>
          <p:cNvPr id="14" name="TextBox 13"/>
          <p:cNvSpPr txBox="1"/>
          <p:nvPr/>
        </p:nvSpPr>
        <p:spPr>
          <a:xfrm>
            <a:off x="822960" y="5376672"/>
            <a:ext cx="4754880" cy="594360"/>
          </a:xfrm>
          <a:prstGeom prst="rect">
            <a:avLst/>
          </a:prstGeom>
          <a:noFill/>
        </p:spPr>
        <p:txBody>
          <a:bodyPr wrap="square" lIns="54864" rIns="54864" tIns="36576" bIns="36576" anchor="t">
            <a:spAutoFit/>
          </a:bodyPr>
          <a:lstStyle/>
          <a:p>
            <a:pPr algn="l"/>
            <a:r>
              <a:rPr sz="1100" b="0">
                <a:solidFill>
                  <a:srgbClr val="94A3B8"/>
                </a:solidFill>
                <a:latin typeface="Segoe UI"/>
              </a:rPr>
              <a:t>• Gemini configuration required raw terminal inspection.</a:t>
            </a:r>
          </a:p>
        </p:txBody>
      </p:sp>
      <p:sp>
        <p:nvSpPr>
          <p:cNvPr id="15" name="Rounded Rectangle 14"/>
          <p:cNvSpPr/>
          <p:nvPr/>
        </p:nvSpPr>
        <p:spPr>
          <a:xfrm>
            <a:off x="6217920" y="1645920"/>
            <a:ext cx="5394960" cy="4663440"/>
          </a:xfrm>
          <a:prstGeom prst="roundRect">
            <a:avLst/>
          </a:prstGeom>
          <a:solidFill>
            <a:srgbClr val="18212F"/>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92240" y="1874519"/>
            <a:ext cx="2011680" cy="274320"/>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1892807"/>
            <a:ext cx="2011680" cy="274320"/>
          </a:xfrm>
          <a:prstGeom prst="rect">
            <a:avLst/>
          </a:prstGeom>
          <a:noFill/>
        </p:spPr>
        <p:txBody>
          <a:bodyPr wrap="square" lIns="54864" rIns="54864" tIns="36576" bIns="36576" anchor="t">
            <a:spAutoFit/>
          </a:bodyPr>
          <a:lstStyle/>
          <a:p>
            <a:pPr algn="ctr"/>
            <a:r>
              <a:rPr sz="900" b="1">
                <a:solidFill>
                  <a:srgbClr val="A5F3FC"/>
                </a:solidFill>
                <a:latin typeface="Segoe UI"/>
              </a:rPr>
              <a:t>SHIPPED YESTERDAY</a:t>
            </a:r>
          </a:p>
        </p:txBody>
      </p:sp>
      <p:sp>
        <p:nvSpPr>
          <p:cNvPr id="18" name="TextBox 17"/>
          <p:cNvSpPr txBox="1"/>
          <p:nvPr/>
        </p:nvSpPr>
        <p:spPr>
          <a:xfrm>
            <a:off x="6492240" y="2240280"/>
            <a:ext cx="4754880" cy="320040"/>
          </a:xfrm>
          <a:prstGeom prst="rect">
            <a:avLst/>
          </a:prstGeom>
          <a:noFill/>
        </p:spPr>
        <p:txBody>
          <a:bodyPr wrap="square" lIns="54864" rIns="54864" tIns="36576" bIns="36576" anchor="t">
            <a:spAutoFit/>
          </a:bodyPr>
          <a:lstStyle/>
          <a:p>
            <a:pPr algn="l"/>
            <a:r>
              <a:rPr sz="1600" b="1">
                <a:solidFill>
                  <a:srgbClr val="F8FAFC"/>
                </a:solidFill>
                <a:latin typeface="Segoe UI"/>
              </a:rPr>
              <a:t>Security Command Center Workspace</a:t>
            </a:r>
          </a:p>
        </p:txBody>
      </p:sp>
      <p:sp>
        <p:nvSpPr>
          <p:cNvPr id="19" name="TextBox 18"/>
          <p:cNvSpPr txBox="1"/>
          <p:nvPr/>
        </p:nvSpPr>
        <p:spPr>
          <a:xfrm>
            <a:off x="6492240" y="2743200"/>
            <a:ext cx="4754880" cy="594360"/>
          </a:xfrm>
          <a:prstGeom prst="rect">
            <a:avLst/>
          </a:prstGeom>
          <a:noFill/>
        </p:spPr>
        <p:txBody>
          <a:bodyPr wrap="square" lIns="54864" rIns="54864" tIns="36576" bIns="36576" anchor="t">
            <a:spAutoFit/>
          </a:bodyPr>
          <a:lstStyle/>
          <a:p>
            <a:pPr algn="l"/>
            <a:r>
              <a:rPr sz="1100" b="0">
                <a:solidFill>
                  <a:srgbClr val="F8FAFC"/>
                </a:solidFill>
                <a:latin typeface="Segoe UI"/>
              </a:rPr>
              <a:t>✔ Security Command Center Dashboard with live operational metrics &amp; heartbeat.</a:t>
            </a:r>
          </a:p>
        </p:txBody>
      </p:sp>
      <p:sp>
        <p:nvSpPr>
          <p:cNvPr id="20" name="TextBox 19"/>
          <p:cNvSpPr txBox="1"/>
          <p:nvPr/>
        </p:nvSpPr>
        <p:spPr>
          <a:xfrm>
            <a:off x="6492240" y="3401568"/>
            <a:ext cx="4754880" cy="594360"/>
          </a:xfrm>
          <a:prstGeom prst="rect">
            <a:avLst/>
          </a:prstGeom>
          <a:noFill/>
        </p:spPr>
        <p:txBody>
          <a:bodyPr wrap="square" lIns="54864" rIns="54864" tIns="36576" bIns="36576" anchor="t">
            <a:spAutoFit/>
          </a:bodyPr>
          <a:lstStyle/>
          <a:p>
            <a:pPr algn="l"/>
            <a:r>
              <a:rPr sz="1100" b="0">
                <a:solidFill>
                  <a:srgbClr val="F8FAFC"/>
                </a:solidFill>
                <a:latin typeface="Segoe UI"/>
              </a:rPr>
              <a:t>✔ Public GitHub Repository Ingestion (POST /github/ingest) directly via URL.</a:t>
            </a:r>
          </a:p>
        </p:txBody>
      </p:sp>
      <p:sp>
        <p:nvSpPr>
          <p:cNvPr id="21" name="TextBox 20"/>
          <p:cNvSpPr txBox="1"/>
          <p:nvPr/>
        </p:nvSpPr>
        <p:spPr>
          <a:xfrm>
            <a:off x="6492240" y="4059935"/>
            <a:ext cx="4754880" cy="594360"/>
          </a:xfrm>
          <a:prstGeom prst="rect">
            <a:avLst/>
          </a:prstGeom>
          <a:noFill/>
        </p:spPr>
        <p:txBody>
          <a:bodyPr wrap="square" lIns="54864" rIns="54864" tIns="36576" bIns="36576" anchor="t">
            <a:spAutoFit/>
          </a:bodyPr>
          <a:lstStyle/>
          <a:p>
            <a:pPr algn="l"/>
            <a:r>
              <a:rPr sz="1100" b="0">
                <a:solidFill>
                  <a:srgbClr val="F8FAFC"/>
                </a:solidFill>
                <a:latin typeface="Segoe UI"/>
              </a:rPr>
              <a:t>✔ Standalone Live Code Review (POST /review) for instant code snippet auditing.</a:t>
            </a:r>
          </a:p>
        </p:txBody>
      </p:sp>
      <p:sp>
        <p:nvSpPr>
          <p:cNvPr id="22" name="TextBox 21"/>
          <p:cNvSpPr txBox="1"/>
          <p:nvPr/>
        </p:nvSpPr>
        <p:spPr>
          <a:xfrm>
            <a:off x="6492240" y="4718304"/>
            <a:ext cx="4754880" cy="594360"/>
          </a:xfrm>
          <a:prstGeom prst="rect">
            <a:avLst/>
          </a:prstGeom>
          <a:noFill/>
        </p:spPr>
        <p:txBody>
          <a:bodyPr wrap="square" lIns="54864" rIns="54864" tIns="36576" bIns="36576" anchor="t">
            <a:spAutoFit/>
          </a:bodyPr>
          <a:lstStyle/>
          <a:p>
            <a:pPr algn="l"/>
            <a:r>
              <a:rPr sz="1100" b="0">
                <a:solidFill>
                  <a:srgbClr val="F8FAFC"/>
                </a:solidFill>
                <a:latin typeface="Segoe UI"/>
              </a:rPr>
              <a:t>✔ Continuous Web Speech voice recognition with live streaming transcript.</a:t>
            </a:r>
          </a:p>
        </p:txBody>
      </p:sp>
      <p:sp>
        <p:nvSpPr>
          <p:cNvPr id="23" name="TextBox 22"/>
          <p:cNvSpPr txBox="1"/>
          <p:nvPr/>
        </p:nvSpPr>
        <p:spPr>
          <a:xfrm>
            <a:off x="6492240" y="5376672"/>
            <a:ext cx="4754880" cy="594360"/>
          </a:xfrm>
          <a:prstGeom prst="rect">
            <a:avLst/>
          </a:prstGeom>
          <a:noFill/>
        </p:spPr>
        <p:txBody>
          <a:bodyPr wrap="square" lIns="54864" rIns="54864" tIns="36576" bIns="36576" anchor="t">
            <a:spAutoFit/>
          </a:bodyPr>
          <a:lstStyle/>
          <a:p>
            <a:pPr algn="l"/>
            <a:r>
              <a:rPr sz="1100" b="0">
                <a:solidFill>
                  <a:srgbClr val="F8FAFC"/>
                </a:solidFill>
                <a:latin typeface="Segoe UI"/>
              </a:rPr>
              <a:t>✔ Context-Aware Numeric Policy preventing false positives on generic IDs.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SEPTEMBER 22 RELEASE  |  DASHBOARD &amp; GITHUB</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09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Yesterday's Additions: UI Telemetry &amp; Public GitHub Ingestion</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Real-time observability metrics and direct remote repository parsing.</a:t>
            </a:r>
          </a:p>
        </p:txBody>
      </p:sp>
      <p:sp>
        <p:nvSpPr>
          <p:cNvPr id="6" name="Rounded Rectangle 5"/>
          <p:cNvSpPr/>
          <p:nvPr/>
        </p:nvSpPr>
        <p:spPr>
          <a:xfrm>
            <a:off x="548640" y="1645920"/>
            <a:ext cx="5394960" cy="466344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920240"/>
            <a:ext cx="4846320" cy="320040"/>
          </a:xfrm>
          <a:prstGeom prst="rect">
            <a:avLst/>
          </a:prstGeom>
          <a:noFill/>
        </p:spPr>
        <p:txBody>
          <a:bodyPr wrap="square" lIns="54864" rIns="54864" tIns="36576" bIns="36576" anchor="t">
            <a:spAutoFit/>
          </a:bodyPr>
          <a:lstStyle/>
          <a:p>
            <a:pPr algn="l"/>
            <a:r>
              <a:rPr sz="1600" b="1">
                <a:solidFill>
                  <a:srgbClr val="0EA5E9"/>
                </a:solidFill>
                <a:latin typeface="Segoe UI"/>
              </a:rPr>
              <a:t>Feature 1: Security Command Center UI</a:t>
            </a:r>
          </a:p>
        </p:txBody>
      </p:sp>
      <p:sp>
        <p:nvSpPr>
          <p:cNvPr id="8" name="TextBox 7"/>
          <p:cNvSpPr txBox="1"/>
          <p:nvPr/>
        </p:nvSpPr>
        <p:spPr>
          <a:xfrm>
            <a:off x="822960" y="2286000"/>
            <a:ext cx="4846320" cy="228600"/>
          </a:xfrm>
          <a:prstGeom prst="rect">
            <a:avLst/>
          </a:prstGeom>
          <a:noFill/>
        </p:spPr>
        <p:txBody>
          <a:bodyPr wrap="square" lIns="54864" rIns="54864" tIns="36576" bIns="36576" anchor="t">
            <a:spAutoFit/>
          </a:bodyPr>
          <a:lstStyle/>
          <a:p>
            <a:pPr algn="l"/>
            <a:r>
              <a:rPr sz="1200" b="0">
                <a:solidFill>
                  <a:srgbClr val="94A3B8"/>
                </a:solidFill>
                <a:latin typeface="Segoe UI"/>
              </a:rPr>
              <a:t>frontend/index.html, style.css, app.js</a:t>
            </a:r>
          </a:p>
        </p:txBody>
      </p:sp>
      <p:sp>
        <p:nvSpPr>
          <p:cNvPr id="9" name="TextBox 8"/>
          <p:cNvSpPr txBox="1"/>
          <p:nvPr/>
        </p:nvSpPr>
        <p:spPr>
          <a:xfrm>
            <a:off x="822960" y="2651760"/>
            <a:ext cx="4754880" cy="731520"/>
          </a:xfrm>
          <a:prstGeom prst="rect">
            <a:avLst/>
          </a:prstGeom>
          <a:noFill/>
        </p:spPr>
        <p:txBody>
          <a:bodyPr wrap="square" lIns="54864" rIns="54864" tIns="36576" bIns="36576" anchor="t">
            <a:spAutoFit/>
          </a:bodyPr>
          <a:lstStyle/>
          <a:p>
            <a:pPr algn="l"/>
            <a:r>
              <a:rPr sz="1100" b="0">
                <a:solidFill>
                  <a:srgbClr val="F8FAFC"/>
                </a:solidFill>
                <a:latin typeface="Segoe UI"/>
              </a:rPr>
              <a:t>• Live Telemetry Counters: Animated cubic KPI counters tracking Total Runs (#run-count), Needs Review (#review-count), and Blocked (#block-count).</a:t>
            </a:r>
          </a:p>
        </p:txBody>
      </p:sp>
      <p:sp>
        <p:nvSpPr>
          <p:cNvPr id="10" name="TextBox 9"/>
          <p:cNvSpPr txBox="1"/>
          <p:nvPr/>
        </p:nvSpPr>
        <p:spPr>
          <a:xfrm>
            <a:off x="822960" y="3474720"/>
            <a:ext cx="4754880" cy="731520"/>
          </a:xfrm>
          <a:prstGeom prst="rect">
            <a:avLst/>
          </a:prstGeom>
          <a:noFill/>
        </p:spPr>
        <p:txBody>
          <a:bodyPr wrap="square" lIns="54864" rIns="54864" tIns="36576" bIns="36576" anchor="t">
            <a:spAutoFit/>
          </a:bodyPr>
          <a:lstStyle/>
          <a:p>
            <a:pPr algn="l"/>
            <a:r>
              <a:rPr sz="1100" b="0">
                <a:solidFill>
                  <a:srgbClr val="F8FAFC"/>
                </a:solidFill>
                <a:latin typeface="Segoe UI"/>
              </a:rPr>
              <a:t>• System Heartbeat &amp; Clock: Real-time pulsing status indicator showing backend API health and local timestamp.</a:t>
            </a:r>
          </a:p>
        </p:txBody>
      </p:sp>
      <p:sp>
        <p:nvSpPr>
          <p:cNvPr id="11" name="TextBox 10"/>
          <p:cNvSpPr txBox="1"/>
          <p:nvPr/>
        </p:nvSpPr>
        <p:spPr>
          <a:xfrm>
            <a:off x="822960" y="4297680"/>
            <a:ext cx="4754880" cy="731520"/>
          </a:xfrm>
          <a:prstGeom prst="rect">
            <a:avLst/>
          </a:prstGeom>
          <a:noFill/>
        </p:spPr>
        <p:txBody>
          <a:bodyPr wrap="square" lIns="54864" rIns="54864" tIns="36576" bIns="36576" anchor="t">
            <a:spAutoFit/>
          </a:bodyPr>
          <a:lstStyle/>
          <a:p>
            <a:pPr algn="l"/>
            <a:r>
              <a:rPr sz="1100" b="0">
                <a:solidFill>
                  <a:srgbClr val="F8FAFC"/>
                </a:solidFill>
                <a:latin typeface="Segoe UI"/>
              </a:rPr>
              <a:t>• Safe Gemini Config Status: GET /config/status exposes whether API key is active without leaking secret tokens to frontend.</a:t>
            </a:r>
          </a:p>
        </p:txBody>
      </p:sp>
      <p:sp>
        <p:nvSpPr>
          <p:cNvPr id="12" name="TextBox 11"/>
          <p:cNvSpPr txBox="1"/>
          <p:nvPr/>
        </p:nvSpPr>
        <p:spPr>
          <a:xfrm>
            <a:off x="822960" y="5120640"/>
            <a:ext cx="4754880" cy="731520"/>
          </a:xfrm>
          <a:prstGeom prst="rect">
            <a:avLst/>
          </a:prstGeom>
          <a:noFill/>
        </p:spPr>
        <p:txBody>
          <a:bodyPr wrap="square" lIns="54864" rIns="54864" tIns="36576" bIns="36576" anchor="t">
            <a:spAutoFit/>
          </a:bodyPr>
          <a:lstStyle/>
          <a:p>
            <a:pPr algn="l"/>
            <a:r>
              <a:rPr sz="1100" b="0">
                <a:solidFill>
                  <a:srgbClr val="F8FAFC"/>
                </a:solidFill>
                <a:latin typeface="Segoe UI"/>
              </a:rPr>
              <a:t>• Refined Modern SaaS Aesthetic: Deep slate background with cobalt/cyan accents, Inter UI font, JetBrains Mono code traces.</a:t>
            </a:r>
          </a:p>
        </p:txBody>
      </p:sp>
      <p:sp>
        <p:nvSpPr>
          <p:cNvPr id="13" name="Rounded Rectangle 12"/>
          <p:cNvSpPr/>
          <p:nvPr/>
        </p:nvSpPr>
        <p:spPr>
          <a:xfrm>
            <a:off x="6217920" y="1645920"/>
            <a:ext cx="5394960" cy="466344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1920240"/>
            <a:ext cx="4846320" cy="320040"/>
          </a:xfrm>
          <a:prstGeom prst="rect">
            <a:avLst/>
          </a:prstGeom>
          <a:noFill/>
        </p:spPr>
        <p:txBody>
          <a:bodyPr wrap="square" lIns="54864" rIns="54864" tIns="36576" bIns="36576" anchor="t">
            <a:spAutoFit/>
          </a:bodyPr>
          <a:lstStyle/>
          <a:p>
            <a:pPr algn="l"/>
            <a:r>
              <a:rPr sz="1600" b="1">
                <a:solidFill>
                  <a:srgbClr val="3B82F6"/>
                </a:solidFill>
                <a:latin typeface="Segoe UI"/>
              </a:rPr>
              <a:t>Feature 2: Public GitHub Repo Intelligence</a:t>
            </a:r>
          </a:p>
        </p:txBody>
      </p:sp>
      <p:sp>
        <p:nvSpPr>
          <p:cNvPr id="15" name="TextBox 14"/>
          <p:cNvSpPr txBox="1"/>
          <p:nvPr/>
        </p:nvSpPr>
        <p:spPr>
          <a:xfrm>
            <a:off x="6492240" y="2286000"/>
            <a:ext cx="4846320" cy="228600"/>
          </a:xfrm>
          <a:prstGeom prst="rect">
            <a:avLst/>
          </a:prstGeom>
          <a:noFill/>
        </p:spPr>
        <p:txBody>
          <a:bodyPr wrap="square" lIns="54864" rIns="54864" tIns="36576" bIns="36576" anchor="t">
            <a:spAutoFit/>
          </a:bodyPr>
          <a:lstStyle/>
          <a:p>
            <a:pPr algn="l"/>
            <a:r>
              <a:rPr sz="1200" b="0">
                <a:solidFill>
                  <a:srgbClr val="94A3B8"/>
                </a:solidFill>
                <a:latin typeface="Segoe UI"/>
              </a:rPr>
              <a:t>POST /github/ingest Pipeline</a:t>
            </a:r>
          </a:p>
        </p:txBody>
      </p:sp>
      <p:sp>
        <p:nvSpPr>
          <p:cNvPr id="16" name="TextBox 15"/>
          <p:cNvSpPr txBox="1"/>
          <p:nvPr/>
        </p:nvSpPr>
        <p:spPr>
          <a:xfrm>
            <a:off x="6492240" y="2651760"/>
            <a:ext cx="4754880" cy="731520"/>
          </a:xfrm>
          <a:prstGeom prst="rect">
            <a:avLst/>
          </a:prstGeom>
          <a:noFill/>
        </p:spPr>
        <p:txBody>
          <a:bodyPr wrap="square" lIns="54864" rIns="54864" tIns="36576" bIns="36576" anchor="t">
            <a:spAutoFit/>
          </a:bodyPr>
          <a:lstStyle/>
          <a:p>
            <a:pPr algn="l"/>
            <a:r>
              <a:rPr sz="1100" b="0">
                <a:solidFill>
                  <a:srgbClr val="F8FAFC"/>
                </a:solidFill>
                <a:latin typeface="Segoe UI"/>
              </a:rPr>
              <a:t>• URL Validation &amp; Ingestion: Accepts any public GitHub URL (e.g. github.com/pallets/flask) without requiring local cloning.</a:t>
            </a:r>
          </a:p>
        </p:txBody>
      </p:sp>
      <p:sp>
        <p:nvSpPr>
          <p:cNvPr id="17" name="TextBox 16"/>
          <p:cNvSpPr txBox="1"/>
          <p:nvPr/>
        </p:nvSpPr>
        <p:spPr>
          <a:xfrm>
            <a:off x="6492240" y="3474720"/>
            <a:ext cx="4754880" cy="731520"/>
          </a:xfrm>
          <a:prstGeom prst="rect">
            <a:avLst/>
          </a:prstGeom>
          <a:noFill/>
        </p:spPr>
        <p:txBody>
          <a:bodyPr wrap="square" lIns="54864" rIns="54864" tIns="36576" bIns="36576" anchor="t">
            <a:spAutoFit/>
          </a:bodyPr>
          <a:lstStyle/>
          <a:p>
            <a:pPr algn="l"/>
            <a:r>
              <a:rPr sz="1100" b="0">
                <a:solidFill>
                  <a:srgbClr val="F8FAFC"/>
                </a:solidFill>
                <a:latin typeface="Segoe UI"/>
              </a:rPr>
              <a:t>• Recursive Tree Fetching: Queries GitHub Git Trees API, filtering out binaries, tests, and vendor directories.</a:t>
            </a:r>
          </a:p>
        </p:txBody>
      </p:sp>
      <p:sp>
        <p:nvSpPr>
          <p:cNvPr id="18" name="TextBox 17"/>
          <p:cNvSpPr txBox="1"/>
          <p:nvPr/>
        </p:nvSpPr>
        <p:spPr>
          <a:xfrm>
            <a:off x="6492240" y="4297680"/>
            <a:ext cx="4754880" cy="731520"/>
          </a:xfrm>
          <a:prstGeom prst="rect">
            <a:avLst/>
          </a:prstGeom>
          <a:noFill/>
        </p:spPr>
        <p:txBody>
          <a:bodyPr wrap="square" lIns="54864" rIns="54864" tIns="36576" bIns="36576" anchor="t">
            <a:spAutoFit/>
          </a:bodyPr>
          <a:lstStyle/>
          <a:p>
            <a:pPr algn="l"/>
            <a:r>
              <a:rPr sz="1100" b="0">
                <a:solidFill>
                  <a:srgbClr val="F8FAFC"/>
                </a:solidFill>
                <a:latin typeface="Segoe UI"/>
              </a:rPr>
              <a:t>• In-Flight Security Scanning: Scans every fetched source file for hardcoded secrets and Indian PII before vectorization.</a:t>
            </a:r>
          </a:p>
        </p:txBody>
      </p:sp>
      <p:sp>
        <p:nvSpPr>
          <p:cNvPr id="19" name="TextBox 18"/>
          <p:cNvSpPr txBox="1"/>
          <p:nvPr/>
        </p:nvSpPr>
        <p:spPr>
          <a:xfrm>
            <a:off x="6492240" y="5120640"/>
            <a:ext cx="4754880" cy="731520"/>
          </a:xfrm>
          <a:prstGeom prst="rect">
            <a:avLst/>
          </a:prstGeom>
          <a:noFill/>
        </p:spPr>
        <p:txBody>
          <a:bodyPr wrap="square" lIns="54864" rIns="54864" tIns="36576" bIns="36576" anchor="t">
            <a:spAutoFit/>
          </a:bodyPr>
          <a:lstStyle/>
          <a:p>
            <a:pPr algn="l"/>
            <a:r>
              <a:rPr sz="1100" b="0">
                <a:solidFill>
                  <a:srgbClr val="F8FAFC"/>
                </a:solidFill>
                <a:latin typeface="Segoe UI"/>
              </a:rPr>
              <a:t>• Automated Qdrant Indexing: Splits code into semantic chunks and inserts them directly into the Qdrant vector database.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SEPTEMBER 22 RELEASE  |  REVIEW, VOICE &amp; POLICY</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10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Yesterday's Additions: Standalone Review, Voice, &amp; Policy</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Instant code review, continuous dictation, and context-aware numeric filtering.</a:t>
            </a:r>
          </a:p>
        </p:txBody>
      </p:sp>
      <p:sp>
        <p:nvSpPr>
          <p:cNvPr id="6" name="Rounded Rectangle 5"/>
          <p:cNvSpPr/>
          <p:nvPr/>
        </p:nvSpPr>
        <p:spPr>
          <a:xfrm>
            <a:off x="548640" y="1645920"/>
            <a:ext cx="11091672" cy="137160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10512"/>
            <a:ext cx="5029200" cy="320040"/>
          </a:xfrm>
          <a:prstGeom prst="rect">
            <a:avLst/>
          </a:prstGeom>
          <a:noFill/>
        </p:spPr>
        <p:txBody>
          <a:bodyPr wrap="square" lIns="54864" rIns="54864" tIns="36576" bIns="36576" anchor="t">
            <a:spAutoFit/>
          </a:bodyPr>
          <a:lstStyle/>
          <a:p>
            <a:pPr algn="l"/>
            <a:r>
              <a:rPr sz="1500" b="1">
                <a:solidFill>
                  <a:srgbClr val="0EA5E9"/>
                </a:solidFill>
                <a:latin typeface="Segoe UI"/>
              </a:rPr>
              <a:t>Feature 3: Standalone Live Code Review</a:t>
            </a:r>
          </a:p>
        </p:txBody>
      </p:sp>
      <p:sp>
        <p:nvSpPr>
          <p:cNvPr id="8" name="TextBox 7"/>
          <p:cNvSpPr txBox="1"/>
          <p:nvPr/>
        </p:nvSpPr>
        <p:spPr>
          <a:xfrm>
            <a:off x="5943600" y="1810512"/>
            <a:ext cx="5303520" cy="320040"/>
          </a:xfrm>
          <a:prstGeom prst="rect">
            <a:avLst/>
          </a:prstGeom>
          <a:noFill/>
        </p:spPr>
        <p:txBody>
          <a:bodyPr wrap="square" lIns="54864" rIns="54864" tIns="36576" bIns="36576" anchor="t">
            <a:spAutoFit/>
          </a:bodyPr>
          <a:lstStyle/>
          <a:p>
            <a:pPr algn="r"/>
            <a:r>
              <a:rPr sz="1200" b="1">
                <a:solidFill>
                  <a:srgbClr val="94A3B8"/>
                </a:solidFill>
                <a:latin typeface="Segoe UI"/>
              </a:rPr>
              <a:t>POST /review</a:t>
            </a:r>
          </a:p>
        </p:txBody>
      </p:sp>
      <p:sp>
        <p:nvSpPr>
          <p:cNvPr id="9" name="TextBox 8"/>
          <p:cNvSpPr txBox="1"/>
          <p:nvPr/>
        </p:nvSpPr>
        <p:spPr>
          <a:xfrm>
            <a:off x="822960" y="2176272"/>
            <a:ext cx="10515600" cy="685800"/>
          </a:xfrm>
          <a:prstGeom prst="rect">
            <a:avLst/>
          </a:prstGeom>
          <a:noFill/>
        </p:spPr>
        <p:txBody>
          <a:bodyPr wrap="square" lIns="54864" rIns="54864" tIns="36576" bIns="36576" anchor="t">
            <a:spAutoFit/>
          </a:bodyPr>
          <a:lstStyle/>
          <a:p>
            <a:pPr algn="l"/>
            <a:r>
              <a:rPr sz="1100" b="0">
                <a:solidFill>
                  <a:srgbClr val="F8FAFC"/>
                </a:solidFill>
                <a:latin typeface="Segoe UI"/>
              </a:rPr>
              <a:t>Allows developers to paste arbitrary code or configuration snippets. Instantly evaluates PII, entropy secrets, calculates multi-variable risk scores, and outputs actionable remediation recommendations.</a:t>
            </a:r>
          </a:p>
        </p:txBody>
      </p:sp>
      <p:sp>
        <p:nvSpPr>
          <p:cNvPr id="10" name="Rounded Rectangle 9"/>
          <p:cNvSpPr/>
          <p:nvPr/>
        </p:nvSpPr>
        <p:spPr>
          <a:xfrm>
            <a:off x="548640" y="3200400"/>
            <a:ext cx="11091672" cy="137160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364992"/>
            <a:ext cx="5029200" cy="320040"/>
          </a:xfrm>
          <a:prstGeom prst="rect">
            <a:avLst/>
          </a:prstGeom>
          <a:noFill/>
        </p:spPr>
        <p:txBody>
          <a:bodyPr wrap="square" lIns="54864" rIns="54864" tIns="36576" bIns="36576" anchor="t">
            <a:spAutoFit/>
          </a:bodyPr>
          <a:lstStyle/>
          <a:p>
            <a:pPr algn="l"/>
            <a:r>
              <a:rPr sz="1500" b="1">
                <a:solidFill>
                  <a:srgbClr val="F59E0B"/>
                </a:solidFill>
                <a:latin typeface="Segoe UI"/>
              </a:rPr>
              <a:t>Feature 4: Continuous Voice Dictation</a:t>
            </a:r>
          </a:p>
        </p:txBody>
      </p:sp>
      <p:sp>
        <p:nvSpPr>
          <p:cNvPr id="12" name="TextBox 11"/>
          <p:cNvSpPr txBox="1"/>
          <p:nvPr/>
        </p:nvSpPr>
        <p:spPr>
          <a:xfrm>
            <a:off x="5943600" y="3364992"/>
            <a:ext cx="5303520" cy="320040"/>
          </a:xfrm>
          <a:prstGeom prst="rect">
            <a:avLst/>
          </a:prstGeom>
          <a:noFill/>
        </p:spPr>
        <p:txBody>
          <a:bodyPr wrap="square" lIns="54864" rIns="54864" tIns="36576" bIns="36576" anchor="t">
            <a:spAutoFit/>
          </a:bodyPr>
          <a:lstStyle/>
          <a:p>
            <a:pPr algn="r"/>
            <a:r>
              <a:rPr sz="1200" b="1">
                <a:solidFill>
                  <a:srgbClr val="94A3B8"/>
                </a:solidFill>
                <a:latin typeface="Segoe UI"/>
              </a:rPr>
              <a:t>Browser Web Speech API</a:t>
            </a:r>
          </a:p>
        </p:txBody>
      </p:sp>
      <p:sp>
        <p:nvSpPr>
          <p:cNvPr id="13" name="TextBox 12"/>
          <p:cNvSpPr txBox="1"/>
          <p:nvPr/>
        </p:nvSpPr>
        <p:spPr>
          <a:xfrm>
            <a:off x="822960" y="3730752"/>
            <a:ext cx="10515600" cy="685800"/>
          </a:xfrm>
          <a:prstGeom prst="rect">
            <a:avLst/>
          </a:prstGeom>
          <a:noFill/>
        </p:spPr>
        <p:txBody>
          <a:bodyPr wrap="square" lIns="54864" rIns="54864" tIns="36576" bIns="36576" anchor="t">
            <a:spAutoFit/>
          </a:bodyPr>
          <a:lstStyle/>
          <a:p>
            <a:pPr algn="l"/>
            <a:r>
              <a:rPr sz="1100" b="0">
                <a:solidFill>
                  <a:srgbClr val="F8FAFC"/>
                </a:solidFill>
                <a:latin typeface="Segoe UI"/>
              </a:rPr>
              <a:t>Maintains recognition through natural pauses. Streams interim transcripts live into the request textarea, supports keyboard editing, and handles microphone permissions gracefully.</a:t>
            </a:r>
          </a:p>
        </p:txBody>
      </p:sp>
      <p:sp>
        <p:nvSpPr>
          <p:cNvPr id="14" name="Rounded Rectangle 13"/>
          <p:cNvSpPr/>
          <p:nvPr/>
        </p:nvSpPr>
        <p:spPr>
          <a:xfrm>
            <a:off x="548640" y="4754880"/>
            <a:ext cx="11091672" cy="137160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919472"/>
            <a:ext cx="5029200" cy="320040"/>
          </a:xfrm>
          <a:prstGeom prst="rect">
            <a:avLst/>
          </a:prstGeom>
          <a:noFill/>
        </p:spPr>
        <p:txBody>
          <a:bodyPr wrap="square" lIns="54864" rIns="54864" tIns="36576" bIns="36576" anchor="t">
            <a:spAutoFit/>
          </a:bodyPr>
          <a:lstStyle/>
          <a:p>
            <a:pPr algn="l"/>
            <a:r>
              <a:rPr sz="1500" b="1">
                <a:solidFill>
                  <a:srgbClr val="10B981"/>
                </a:solidFill>
                <a:latin typeface="Segoe UI"/>
              </a:rPr>
              <a:t>Feature 5: Context-Aware Numeric Policy</a:t>
            </a:r>
          </a:p>
        </p:txBody>
      </p:sp>
      <p:sp>
        <p:nvSpPr>
          <p:cNvPr id="16" name="TextBox 15"/>
          <p:cNvSpPr txBox="1"/>
          <p:nvPr/>
        </p:nvSpPr>
        <p:spPr>
          <a:xfrm>
            <a:off x="5943600" y="4919472"/>
            <a:ext cx="5303520" cy="320040"/>
          </a:xfrm>
          <a:prstGeom prst="rect">
            <a:avLst/>
          </a:prstGeom>
          <a:noFill/>
        </p:spPr>
        <p:txBody>
          <a:bodyPr wrap="square" lIns="54864" rIns="54864" tIns="36576" bIns="36576" anchor="t">
            <a:spAutoFit/>
          </a:bodyPr>
          <a:lstStyle/>
          <a:p>
            <a:pPr algn="r"/>
            <a:r>
              <a:rPr sz="1200" b="1">
                <a:solidFill>
                  <a:srgbClr val="94A3B8"/>
                </a:solidFill>
                <a:latin typeface="Segoe UI"/>
              </a:rPr>
              <a:t>Security Engine Hardening</a:t>
            </a:r>
          </a:p>
        </p:txBody>
      </p:sp>
      <p:sp>
        <p:nvSpPr>
          <p:cNvPr id="17" name="TextBox 16"/>
          <p:cNvSpPr txBox="1"/>
          <p:nvPr/>
        </p:nvSpPr>
        <p:spPr>
          <a:xfrm>
            <a:off x="822960" y="5285232"/>
            <a:ext cx="10515600" cy="685800"/>
          </a:xfrm>
          <a:prstGeom prst="rect">
            <a:avLst/>
          </a:prstGeom>
          <a:noFill/>
        </p:spPr>
        <p:txBody>
          <a:bodyPr wrap="square" lIns="54864" rIns="54864" tIns="36576" bIns="36576" anchor="t">
            <a:spAutoFit/>
          </a:bodyPr>
          <a:lstStyle/>
          <a:p>
            <a:pPr algn="l"/>
            <a:r>
              <a:rPr sz="1100" b="0">
                <a:solidFill>
                  <a:srgbClr val="F8FAFC"/>
                </a:solidFill>
                <a:latin typeface="Segoe UI"/>
              </a:rPr>
              <a:t>Eliminates false alarms where normal 10-12 digit numbers (order IDs, port numbers, timestamps) were mistakenly flagged as Aadhaar. Enforces identity context requirements.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SEPTEMBER 22 RELEASE  |  VALIDATION</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11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Yesterday's Validation: 29 Focused API Tests Passing</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Automated validation confirming all new endpoints operate with zero regressions.</a:t>
            </a:r>
          </a:p>
        </p:txBody>
      </p:sp>
      <p:sp>
        <p:nvSpPr>
          <p:cNvPr id="6" name="Rounded Rectangle 5"/>
          <p:cNvSpPr/>
          <p:nvPr/>
        </p:nvSpPr>
        <p:spPr>
          <a:xfrm>
            <a:off x="548640" y="1645920"/>
            <a:ext cx="3657600" cy="466344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11680"/>
            <a:ext cx="3108960" cy="822960"/>
          </a:xfrm>
          <a:prstGeom prst="rect">
            <a:avLst/>
          </a:prstGeom>
          <a:noFill/>
        </p:spPr>
        <p:txBody>
          <a:bodyPr wrap="square" lIns="54864" rIns="54864" tIns="36576" bIns="36576" anchor="t">
            <a:spAutoFit/>
          </a:bodyPr>
          <a:lstStyle/>
          <a:p>
            <a:pPr algn="l"/>
            <a:r>
              <a:rPr sz="4800" b="1">
                <a:solidFill>
                  <a:srgbClr val="10B981"/>
                </a:solidFill>
                <a:latin typeface="Segoe UI"/>
              </a:rPr>
              <a:t>29 / 29</a:t>
            </a:r>
          </a:p>
        </p:txBody>
      </p:sp>
      <p:sp>
        <p:nvSpPr>
          <p:cNvPr id="8" name="TextBox 7"/>
          <p:cNvSpPr txBox="1"/>
          <p:nvPr/>
        </p:nvSpPr>
        <p:spPr>
          <a:xfrm>
            <a:off x="822960" y="2880360"/>
            <a:ext cx="3108960" cy="274320"/>
          </a:xfrm>
          <a:prstGeom prst="rect">
            <a:avLst/>
          </a:prstGeom>
          <a:noFill/>
        </p:spPr>
        <p:txBody>
          <a:bodyPr wrap="square" lIns="54864" rIns="54864" tIns="36576" bIns="36576" anchor="t">
            <a:spAutoFit/>
          </a:bodyPr>
          <a:lstStyle/>
          <a:p>
            <a:pPr algn="l"/>
            <a:r>
              <a:rPr sz="1400" b="1">
                <a:solidFill>
                  <a:srgbClr val="F8FAFC"/>
                </a:solidFill>
                <a:latin typeface="Segoe UI"/>
              </a:rPr>
              <a:t>API TESTS PASSED</a:t>
            </a:r>
          </a:p>
        </p:txBody>
      </p:sp>
      <p:sp>
        <p:nvSpPr>
          <p:cNvPr id="9" name="TextBox 8"/>
          <p:cNvSpPr txBox="1"/>
          <p:nvPr/>
        </p:nvSpPr>
        <p:spPr>
          <a:xfrm>
            <a:off x="822960" y="3246120"/>
            <a:ext cx="3108960" cy="548640"/>
          </a:xfrm>
          <a:prstGeom prst="rect">
            <a:avLst/>
          </a:prstGeom>
          <a:noFill/>
        </p:spPr>
        <p:txBody>
          <a:bodyPr wrap="square" lIns="54864" rIns="54864" tIns="36576" bIns="36576" anchor="t">
            <a:spAutoFit/>
          </a:bodyPr>
          <a:lstStyle/>
          <a:p>
            <a:pPr algn="l"/>
            <a:r>
              <a:rPr sz="1100" b="0">
                <a:solidFill>
                  <a:srgbClr val="94A3B8"/>
                </a:solidFill>
                <a:latin typeface="Segoe UI"/>
              </a:rPr>
              <a:t>Zero regressions introduced across existing Phase 1-9 baseline test suite.</a:t>
            </a:r>
          </a:p>
        </p:txBody>
      </p:sp>
      <p:sp>
        <p:nvSpPr>
          <p:cNvPr id="10" name="Rounded Rectangle 9"/>
          <p:cNvSpPr/>
          <p:nvPr/>
        </p:nvSpPr>
        <p:spPr>
          <a:xfrm>
            <a:off x="822960" y="4023360"/>
            <a:ext cx="3108960" cy="1920240"/>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206240"/>
            <a:ext cx="2743200" cy="1554480"/>
          </a:xfrm>
          <a:prstGeom prst="rect">
            <a:avLst/>
          </a:prstGeom>
          <a:noFill/>
        </p:spPr>
        <p:txBody>
          <a:bodyPr wrap="square" lIns="54864" rIns="54864" tIns="36576" bIns="36576" anchor="t">
            <a:spAutoFit/>
          </a:bodyPr>
          <a:lstStyle/>
          <a:p>
            <a:pPr algn="l"/>
            <a:r>
              <a:rPr sz="1100" b="0">
                <a:solidFill>
                  <a:srgbClr val="F8FAFC"/>
                </a:solidFill>
                <a:latin typeface="Segoe UI"/>
              </a:rPr>
              <a:t>Test Breakdown:
• 12 Review Endpoint Tests
• 8 Config &amp; Status Tests
• 5 GitHub Ingest Tests
• 4 Numeric Policy Tests</a:t>
            </a:r>
          </a:p>
        </p:txBody>
      </p:sp>
      <p:sp>
        <p:nvSpPr>
          <p:cNvPr id="12" name="Rounded Rectangle 11"/>
          <p:cNvSpPr/>
          <p:nvPr/>
        </p:nvSpPr>
        <p:spPr>
          <a:xfrm>
            <a:off x="4480560" y="1645920"/>
            <a:ext cx="7159752"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0" y="1920240"/>
            <a:ext cx="6583680" cy="320040"/>
          </a:xfrm>
          <a:prstGeom prst="rect">
            <a:avLst/>
          </a:prstGeom>
          <a:noFill/>
        </p:spPr>
        <p:txBody>
          <a:bodyPr wrap="square" lIns="54864" rIns="54864" tIns="36576" bIns="36576" anchor="t">
            <a:spAutoFit/>
          </a:bodyPr>
          <a:lstStyle/>
          <a:p>
            <a:pPr algn="l"/>
            <a:r>
              <a:rPr sz="1600" b="1">
                <a:solidFill>
                  <a:srgbClr val="0EA5E9"/>
                </a:solidFill>
                <a:latin typeface="Segoe UI"/>
              </a:rPr>
              <a:t>Validation Matrix &amp; Verification Artifacts</a:t>
            </a:r>
          </a:p>
        </p:txBody>
      </p:sp>
      <p:sp>
        <p:nvSpPr>
          <p:cNvPr id="14" name="Rounded Rectangle 13"/>
          <p:cNvSpPr/>
          <p:nvPr/>
        </p:nvSpPr>
        <p:spPr>
          <a:xfrm>
            <a:off x="4754880" y="2423160"/>
            <a:ext cx="6583680" cy="640080"/>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37760" y="2496312"/>
            <a:ext cx="6217920" cy="228600"/>
          </a:xfrm>
          <a:prstGeom prst="rect">
            <a:avLst/>
          </a:prstGeom>
          <a:noFill/>
        </p:spPr>
        <p:txBody>
          <a:bodyPr wrap="square" lIns="54864" rIns="54864" tIns="36576" bIns="36576" anchor="t">
            <a:spAutoFit/>
          </a:bodyPr>
          <a:lstStyle/>
          <a:p>
            <a:pPr algn="l"/>
            <a:r>
              <a:rPr sz="1100" b="1">
                <a:solidFill>
                  <a:srgbClr val="F8FAFC"/>
                </a:solidFill>
                <a:latin typeface="Segoe UI"/>
              </a:rPr>
              <a:t>POST /review Security Isolation</a:t>
            </a:r>
          </a:p>
        </p:txBody>
      </p:sp>
      <p:sp>
        <p:nvSpPr>
          <p:cNvPr id="16" name="TextBox 15"/>
          <p:cNvSpPr txBox="1"/>
          <p:nvPr/>
        </p:nvSpPr>
        <p:spPr>
          <a:xfrm>
            <a:off x="4937760" y="2743200"/>
            <a:ext cx="6217920" cy="274320"/>
          </a:xfrm>
          <a:prstGeom prst="rect">
            <a:avLst/>
          </a:prstGeom>
          <a:noFill/>
        </p:spPr>
        <p:txBody>
          <a:bodyPr wrap="square" lIns="54864" rIns="54864" tIns="36576" bIns="36576" anchor="t">
            <a:spAutoFit/>
          </a:bodyPr>
          <a:lstStyle/>
          <a:p>
            <a:pPr algn="l"/>
            <a:r>
              <a:rPr sz="1000" b="0">
                <a:solidFill>
                  <a:srgbClr val="94A3B8"/>
                </a:solidFill>
                <a:latin typeface="Segoe UI"/>
              </a:rPr>
              <a:t>Verified that code with AWS keys returns action='BLOCK' with risk_score &gt;= 0.85.</a:t>
            </a:r>
          </a:p>
        </p:txBody>
      </p:sp>
      <p:sp>
        <p:nvSpPr>
          <p:cNvPr id="17" name="Rounded Rectangle 16"/>
          <p:cNvSpPr/>
          <p:nvPr/>
        </p:nvSpPr>
        <p:spPr>
          <a:xfrm>
            <a:off x="4754880" y="3154680"/>
            <a:ext cx="6583680" cy="640080"/>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37760" y="3227832"/>
            <a:ext cx="6217920" cy="228600"/>
          </a:xfrm>
          <a:prstGeom prst="rect">
            <a:avLst/>
          </a:prstGeom>
          <a:noFill/>
        </p:spPr>
        <p:txBody>
          <a:bodyPr wrap="square" lIns="54864" rIns="54864" tIns="36576" bIns="36576" anchor="t">
            <a:spAutoFit/>
          </a:bodyPr>
          <a:lstStyle/>
          <a:p>
            <a:pPr algn="l"/>
            <a:r>
              <a:rPr sz="1100" b="1">
                <a:solidFill>
                  <a:srgbClr val="F8FAFC"/>
                </a:solidFill>
                <a:latin typeface="Segoe UI"/>
              </a:rPr>
              <a:t>GET /config/status Secret Protection</a:t>
            </a:r>
          </a:p>
        </p:txBody>
      </p:sp>
      <p:sp>
        <p:nvSpPr>
          <p:cNvPr id="19" name="TextBox 18"/>
          <p:cNvSpPr txBox="1"/>
          <p:nvPr/>
        </p:nvSpPr>
        <p:spPr>
          <a:xfrm>
            <a:off x="4937760" y="3474720"/>
            <a:ext cx="6217920" cy="274320"/>
          </a:xfrm>
          <a:prstGeom prst="rect">
            <a:avLst/>
          </a:prstGeom>
          <a:noFill/>
        </p:spPr>
        <p:txBody>
          <a:bodyPr wrap="square" lIns="54864" rIns="54864" tIns="36576" bIns="36576" anchor="t">
            <a:spAutoFit/>
          </a:bodyPr>
          <a:lstStyle/>
          <a:p>
            <a:pPr algn="l"/>
            <a:r>
              <a:rPr sz="1000" b="0">
                <a:solidFill>
                  <a:srgbClr val="94A3B8"/>
                </a:solidFill>
                <a:latin typeface="Segoe UI"/>
              </a:rPr>
              <a:t>Confirmed endpoint returns configured=True/False without leaking raw GEMINI_API_KEY.</a:t>
            </a:r>
          </a:p>
        </p:txBody>
      </p:sp>
      <p:sp>
        <p:nvSpPr>
          <p:cNvPr id="20" name="Rounded Rectangle 19"/>
          <p:cNvSpPr/>
          <p:nvPr/>
        </p:nvSpPr>
        <p:spPr>
          <a:xfrm>
            <a:off x="4754880" y="3886200"/>
            <a:ext cx="6583680" cy="640080"/>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37760" y="3959352"/>
            <a:ext cx="6217920" cy="228600"/>
          </a:xfrm>
          <a:prstGeom prst="rect">
            <a:avLst/>
          </a:prstGeom>
          <a:noFill/>
        </p:spPr>
        <p:txBody>
          <a:bodyPr wrap="square" lIns="54864" rIns="54864" tIns="36576" bIns="36576" anchor="t">
            <a:spAutoFit/>
          </a:bodyPr>
          <a:lstStyle/>
          <a:p>
            <a:pPr algn="l"/>
            <a:r>
              <a:rPr sz="1100" b="1">
                <a:solidFill>
                  <a:srgbClr val="F8FAFC"/>
                </a:solidFill>
                <a:latin typeface="Segoe UI"/>
              </a:rPr>
              <a:t>POST /github/ingest Tree Parsing</a:t>
            </a:r>
          </a:p>
        </p:txBody>
      </p:sp>
      <p:sp>
        <p:nvSpPr>
          <p:cNvPr id="22" name="TextBox 21"/>
          <p:cNvSpPr txBox="1"/>
          <p:nvPr/>
        </p:nvSpPr>
        <p:spPr>
          <a:xfrm>
            <a:off x="4937760" y="4206240"/>
            <a:ext cx="6217920" cy="274320"/>
          </a:xfrm>
          <a:prstGeom prst="rect">
            <a:avLst/>
          </a:prstGeom>
          <a:noFill/>
        </p:spPr>
        <p:txBody>
          <a:bodyPr wrap="square" lIns="54864" rIns="54864" tIns="36576" bIns="36576" anchor="t">
            <a:spAutoFit/>
          </a:bodyPr>
          <a:lstStyle/>
          <a:p>
            <a:pPr algn="l"/>
            <a:r>
              <a:rPr sz="1000" b="0">
                <a:solidFill>
                  <a:srgbClr val="94A3B8"/>
                </a:solidFill>
                <a:latin typeface="Segoe UI"/>
              </a:rPr>
              <a:t>Validated simulated and real GitHub repository tree parsing and chunk storage.</a:t>
            </a:r>
          </a:p>
        </p:txBody>
      </p:sp>
      <p:sp>
        <p:nvSpPr>
          <p:cNvPr id="23" name="Rounded Rectangle 22"/>
          <p:cNvSpPr/>
          <p:nvPr/>
        </p:nvSpPr>
        <p:spPr>
          <a:xfrm>
            <a:off x="4754880" y="4617720"/>
            <a:ext cx="6583680" cy="640080"/>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37760" y="4690872"/>
            <a:ext cx="6217920" cy="228600"/>
          </a:xfrm>
          <a:prstGeom prst="rect">
            <a:avLst/>
          </a:prstGeom>
          <a:noFill/>
        </p:spPr>
        <p:txBody>
          <a:bodyPr wrap="square" lIns="54864" rIns="54864" tIns="36576" bIns="36576" anchor="t">
            <a:spAutoFit/>
          </a:bodyPr>
          <a:lstStyle/>
          <a:p>
            <a:pPr algn="l"/>
            <a:r>
              <a:rPr sz="1100" b="1">
                <a:solidFill>
                  <a:srgbClr val="F8FAFC"/>
                </a:solidFill>
                <a:latin typeface="Segoe UI"/>
              </a:rPr>
              <a:t>Numeric Context Filter</a:t>
            </a:r>
          </a:p>
        </p:txBody>
      </p:sp>
      <p:sp>
        <p:nvSpPr>
          <p:cNvPr id="25" name="TextBox 24"/>
          <p:cNvSpPr txBox="1"/>
          <p:nvPr/>
        </p:nvSpPr>
        <p:spPr>
          <a:xfrm>
            <a:off x="4937760" y="4937760"/>
            <a:ext cx="6217920" cy="274320"/>
          </a:xfrm>
          <a:prstGeom prst="rect">
            <a:avLst/>
          </a:prstGeom>
          <a:noFill/>
        </p:spPr>
        <p:txBody>
          <a:bodyPr wrap="square" lIns="54864" rIns="54864" tIns="36576" bIns="36576" anchor="t">
            <a:spAutoFit/>
          </a:bodyPr>
          <a:lstStyle/>
          <a:p>
            <a:pPr algn="l"/>
            <a:r>
              <a:rPr sz="1000" b="0">
                <a:solidFill>
                  <a:srgbClr val="94A3B8"/>
                </a:solidFill>
                <a:latin typeface="Segoe UI"/>
              </a:rPr>
              <a:t>Passed test cases with order IDs (e.g. 987654321012) without false Aadhaar violation.</a:t>
            </a:r>
          </a:p>
        </p:txBody>
      </p:sp>
      <p:sp>
        <p:nvSpPr>
          <p:cNvPr id="26" name="Rounded Rectangle 25"/>
          <p:cNvSpPr/>
          <p:nvPr/>
        </p:nvSpPr>
        <p:spPr>
          <a:xfrm>
            <a:off x="4754880" y="5349240"/>
            <a:ext cx="6583680" cy="640080"/>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37760" y="5422392"/>
            <a:ext cx="6217920" cy="228600"/>
          </a:xfrm>
          <a:prstGeom prst="rect">
            <a:avLst/>
          </a:prstGeom>
          <a:noFill/>
        </p:spPr>
        <p:txBody>
          <a:bodyPr wrap="square" lIns="54864" rIns="54864" tIns="36576" bIns="36576" anchor="t">
            <a:spAutoFit/>
          </a:bodyPr>
          <a:lstStyle/>
          <a:p>
            <a:pPr algn="l"/>
            <a:r>
              <a:rPr sz="1100" b="1">
                <a:solidFill>
                  <a:srgbClr val="F8FAFC"/>
                </a:solidFill>
                <a:latin typeface="Segoe UI"/>
              </a:rPr>
              <a:t>Frontend Diagnostics</a:t>
            </a:r>
          </a:p>
        </p:txBody>
      </p:sp>
      <p:sp>
        <p:nvSpPr>
          <p:cNvPr id="28" name="TextBox 27"/>
          <p:cNvSpPr txBox="1"/>
          <p:nvPr/>
        </p:nvSpPr>
        <p:spPr>
          <a:xfrm>
            <a:off x="4937760" y="5669280"/>
            <a:ext cx="6217920" cy="274320"/>
          </a:xfrm>
          <a:prstGeom prst="rect">
            <a:avLst/>
          </a:prstGeom>
          <a:noFill/>
        </p:spPr>
        <p:txBody>
          <a:bodyPr wrap="square" lIns="54864" rIns="54864" tIns="36576" bIns="36576" anchor="t">
            <a:spAutoFit/>
          </a:bodyPr>
          <a:lstStyle/>
          <a:p>
            <a:pPr algn="l"/>
            <a:r>
              <a:rPr sz="1000" b="0">
                <a:solidFill>
                  <a:srgbClr val="94A3B8"/>
                </a:solidFill>
                <a:latin typeface="Segoe UI"/>
              </a:rPr>
              <a:t>Clean build; zero linting or console syntax errors in app.js, index.html, and style.css.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PART 3  |  WHAT WE ARE PLANNING TO DO FOR AGENTIC AI</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12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Part 3: What We Are Planning To Do For Agentic AI</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Upcoming Strategic Roadmap: Transitioning our operational baseline into an autonomous multi-agent ecosystem.</a:t>
            </a:r>
          </a:p>
        </p:txBody>
      </p:sp>
      <p:sp>
        <p:nvSpPr>
          <p:cNvPr id="6" name="Rounded Rectangle 5"/>
          <p:cNvSpPr/>
          <p:nvPr/>
        </p:nvSpPr>
        <p:spPr>
          <a:xfrm>
            <a:off x="548640" y="1645920"/>
            <a:ext cx="11091672" cy="210312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1874519"/>
            <a:ext cx="2743200" cy="27432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92807"/>
            <a:ext cx="2743200" cy="274320"/>
          </a:xfrm>
          <a:prstGeom prst="rect">
            <a:avLst/>
          </a:prstGeom>
          <a:noFill/>
        </p:spPr>
        <p:txBody>
          <a:bodyPr wrap="square" lIns="54864" rIns="54864" tIns="36576" bIns="36576" anchor="t">
            <a:spAutoFit/>
          </a:bodyPr>
          <a:lstStyle/>
          <a:p>
            <a:pPr algn="ctr"/>
            <a:r>
              <a:rPr sz="900" b="1">
                <a:solidFill>
                  <a:srgbClr val="93C5FD"/>
                </a:solidFill>
                <a:latin typeface="Segoe UI"/>
              </a:rPr>
              <a:t>ACADEMIC ALIGNMENT: CSE3101</a:t>
            </a:r>
          </a:p>
        </p:txBody>
      </p:sp>
      <p:sp>
        <p:nvSpPr>
          <p:cNvPr id="9" name="TextBox 8"/>
          <p:cNvSpPr txBox="1"/>
          <p:nvPr/>
        </p:nvSpPr>
        <p:spPr>
          <a:xfrm>
            <a:off x="822960" y="2240280"/>
            <a:ext cx="10515600" cy="365760"/>
          </a:xfrm>
          <a:prstGeom prst="rect">
            <a:avLst/>
          </a:prstGeom>
          <a:noFill/>
        </p:spPr>
        <p:txBody>
          <a:bodyPr wrap="square" lIns="54864" rIns="54864" tIns="36576" bIns="36576" anchor="t">
            <a:spAutoFit/>
          </a:bodyPr>
          <a:lstStyle/>
          <a:p>
            <a:pPr algn="l"/>
            <a:r>
              <a:rPr sz="1800" b="1">
                <a:solidFill>
                  <a:srgbClr val="F8FAFC"/>
                </a:solidFill>
                <a:latin typeface="Segoe UI"/>
              </a:rPr>
              <a:t>Fulfilling Course Outcomes CO1, CO2, and CO3</a:t>
            </a:r>
          </a:p>
        </p:txBody>
      </p:sp>
      <p:sp>
        <p:nvSpPr>
          <p:cNvPr id="10" name="TextBox 9"/>
          <p:cNvSpPr txBox="1"/>
          <p:nvPr/>
        </p:nvSpPr>
        <p:spPr>
          <a:xfrm>
            <a:off x="822960" y="2697480"/>
            <a:ext cx="10515600" cy="822960"/>
          </a:xfrm>
          <a:prstGeom prst="rect">
            <a:avLst/>
          </a:prstGeom>
          <a:noFill/>
        </p:spPr>
        <p:txBody>
          <a:bodyPr wrap="square" lIns="54864" rIns="54864" tIns="36576" bIns="36576" anchor="t">
            <a:spAutoFit/>
          </a:bodyPr>
          <a:lstStyle/>
          <a:p>
            <a:pPr algn="l"/>
            <a:r>
              <a:rPr sz="1200" b="0">
                <a:solidFill>
                  <a:srgbClr val="94A3B8"/>
                </a:solidFill>
                <a:latin typeface="Segoe UI"/>
              </a:rPr>
              <a:t>While Phases 1-9 established an operational procedural foundation (FSM, Qdrant RAG, Security Sentinel, AST Blast Radius), we are now planning to expand KAVACH into an autonomous multi-agent architecture. The following 5 roadmap features specify what we are going to build and deploy next.</a:t>
            </a:r>
          </a:p>
        </p:txBody>
      </p:sp>
      <p:sp>
        <p:nvSpPr>
          <p:cNvPr id="11" name="Rounded Rectangle 10"/>
          <p:cNvSpPr/>
          <p:nvPr/>
        </p:nvSpPr>
        <p:spPr>
          <a:xfrm>
            <a:off x="548640" y="3977639"/>
            <a:ext cx="2148840" cy="233172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160520"/>
            <a:ext cx="1874519" cy="457200"/>
          </a:xfrm>
          <a:prstGeom prst="rect">
            <a:avLst/>
          </a:prstGeom>
          <a:noFill/>
        </p:spPr>
        <p:txBody>
          <a:bodyPr wrap="square" lIns="54864" rIns="54864" tIns="36576" bIns="36576" anchor="t">
            <a:spAutoFit/>
          </a:bodyPr>
          <a:lstStyle/>
          <a:p>
            <a:pPr algn="l"/>
            <a:r>
              <a:rPr sz="1300" b="1">
                <a:solidFill>
                  <a:srgbClr val="0EA5E9"/>
                </a:solidFill>
                <a:latin typeface="Segoe UI"/>
              </a:rPr>
              <a:t>1. Planned ReAct Loop</a:t>
            </a:r>
          </a:p>
        </p:txBody>
      </p:sp>
      <p:sp>
        <p:nvSpPr>
          <p:cNvPr id="13" name="TextBox 12"/>
          <p:cNvSpPr txBox="1"/>
          <p:nvPr/>
        </p:nvSpPr>
        <p:spPr>
          <a:xfrm>
            <a:off x="685800" y="4709160"/>
            <a:ext cx="1874519" cy="1371600"/>
          </a:xfrm>
          <a:prstGeom prst="rect">
            <a:avLst/>
          </a:prstGeom>
          <a:noFill/>
        </p:spPr>
        <p:txBody>
          <a:bodyPr wrap="square" lIns="54864" rIns="54864" tIns="36576" bIns="36576" anchor="t">
            <a:spAutoFit/>
          </a:bodyPr>
          <a:lstStyle/>
          <a:p>
            <a:pPr algn="l"/>
            <a:r>
              <a:rPr sz="1100" b="0">
                <a:solidFill>
                  <a:srgbClr val="F8FAFC"/>
                </a:solidFill>
                <a:latin typeface="Segoe UI"/>
              </a:rPr>
              <a:t>Planning sandboxed execution + iterative error reflection loop.</a:t>
            </a:r>
          </a:p>
        </p:txBody>
      </p:sp>
      <p:sp>
        <p:nvSpPr>
          <p:cNvPr id="14" name="Rounded Rectangle 13"/>
          <p:cNvSpPr/>
          <p:nvPr/>
        </p:nvSpPr>
        <p:spPr>
          <a:xfrm>
            <a:off x="2788920" y="3977639"/>
            <a:ext cx="2148840" cy="233172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26080" y="4160520"/>
            <a:ext cx="1874519" cy="457200"/>
          </a:xfrm>
          <a:prstGeom prst="rect">
            <a:avLst/>
          </a:prstGeom>
          <a:noFill/>
        </p:spPr>
        <p:txBody>
          <a:bodyPr wrap="square" lIns="54864" rIns="54864" tIns="36576" bIns="36576" anchor="t">
            <a:spAutoFit/>
          </a:bodyPr>
          <a:lstStyle/>
          <a:p>
            <a:pPr algn="l"/>
            <a:r>
              <a:rPr sz="1300" b="1">
                <a:solidFill>
                  <a:srgbClr val="3B82F6"/>
                </a:solidFill>
                <a:latin typeface="Segoe UI"/>
              </a:rPr>
              <a:t>2. Planned CrewAI Crew</a:t>
            </a:r>
          </a:p>
        </p:txBody>
      </p:sp>
      <p:sp>
        <p:nvSpPr>
          <p:cNvPr id="16" name="TextBox 15"/>
          <p:cNvSpPr txBox="1"/>
          <p:nvPr/>
        </p:nvSpPr>
        <p:spPr>
          <a:xfrm>
            <a:off x="2926080" y="4709160"/>
            <a:ext cx="1874519" cy="1371600"/>
          </a:xfrm>
          <a:prstGeom prst="rect">
            <a:avLst/>
          </a:prstGeom>
          <a:noFill/>
        </p:spPr>
        <p:txBody>
          <a:bodyPr wrap="square" lIns="54864" rIns="54864" tIns="36576" bIns="36576" anchor="t">
            <a:spAutoFit/>
          </a:bodyPr>
          <a:lstStyle/>
          <a:p>
            <a:pPr algn="l"/>
            <a:r>
              <a:rPr sz="1100" b="0">
                <a:solidFill>
                  <a:srgbClr val="F8FAFC"/>
                </a:solidFill>
                <a:latin typeface="Segoe UI"/>
              </a:rPr>
              <a:t>Planning hierarchical Supervisor-Worker specialist squad.</a:t>
            </a:r>
          </a:p>
        </p:txBody>
      </p:sp>
      <p:sp>
        <p:nvSpPr>
          <p:cNvPr id="17" name="Rounded Rectangle 16"/>
          <p:cNvSpPr/>
          <p:nvPr/>
        </p:nvSpPr>
        <p:spPr>
          <a:xfrm>
            <a:off x="5029200" y="3977639"/>
            <a:ext cx="2148840" cy="233172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4160520"/>
            <a:ext cx="1874519" cy="457200"/>
          </a:xfrm>
          <a:prstGeom prst="rect">
            <a:avLst/>
          </a:prstGeom>
          <a:noFill/>
        </p:spPr>
        <p:txBody>
          <a:bodyPr wrap="square" lIns="54864" rIns="54864" tIns="36576" bIns="36576" anchor="t">
            <a:spAutoFit/>
          </a:bodyPr>
          <a:lstStyle/>
          <a:p>
            <a:pPr algn="l"/>
            <a:r>
              <a:rPr sz="1300" b="1">
                <a:solidFill>
                  <a:srgbClr val="F59E0B"/>
                </a:solidFill>
                <a:latin typeface="Segoe UI"/>
              </a:rPr>
              <a:t>3. Planned Privacy Gateway</a:t>
            </a:r>
          </a:p>
        </p:txBody>
      </p:sp>
      <p:sp>
        <p:nvSpPr>
          <p:cNvPr id="19" name="TextBox 18"/>
          <p:cNvSpPr txBox="1"/>
          <p:nvPr/>
        </p:nvSpPr>
        <p:spPr>
          <a:xfrm>
            <a:off x="5166360" y="4709160"/>
            <a:ext cx="1874519" cy="1371600"/>
          </a:xfrm>
          <a:prstGeom prst="rect">
            <a:avLst/>
          </a:prstGeom>
          <a:noFill/>
        </p:spPr>
        <p:txBody>
          <a:bodyPr wrap="square" lIns="54864" rIns="54864" tIns="36576" bIns="36576" anchor="t">
            <a:spAutoFit/>
          </a:bodyPr>
          <a:lstStyle/>
          <a:p>
            <a:pPr algn="l"/>
            <a:r>
              <a:rPr sz="1100" b="0">
                <a:solidFill>
                  <a:srgbClr val="F8FAFC"/>
                </a:solidFill>
                <a:latin typeface="Segoe UI"/>
              </a:rPr>
              <a:t>Planning air-gapped local Ollama routing for proprietary code.</a:t>
            </a:r>
          </a:p>
        </p:txBody>
      </p:sp>
      <p:sp>
        <p:nvSpPr>
          <p:cNvPr id="20" name="Rounded Rectangle 19"/>
          <p:cNvSpPr/>
          <p:nvPr/>
        </p:nvSpPr>
        <p:spPr>
          <a:xfrm>
            <a:off x="7269480" y="3977639"/>
            <a:ext cx="2148840" cy="2331720"/>
          </a:xfrm>
          <a:prstGeom prst="roundRect">
            <a:avLst/>
          </a:prstGeom>
          <a:solidFill>
            <a:srgbClr val="1E293B"/>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06640" y="4160520"/>
            <a:ext cx="1874519" cy="457200"/>
          </a:xfrm>
          <a:prstGeom prst="rect">
            <a:avLst/>
          </a:prstGeom>
          <a:noFill/>
        </p:spPr>
        <p:txBody>
          <a:bodyPr wrap="square" lIns="54864" rIns="54864" tIns="36576" bIns="36576" anchor="t">
            <a:spAutoFit/>
          </a:bodyPr>
          <a:lstStyle/>
          <a:p>
            <a:pPr algn="l"/>
            <a:r>
              <a:rPr sz="1300" b="1">
                <a:solidFill>
                  <a:srgbClr val="A855F7"/>
                </a:solidFill>
                <a:latin typeface="Segoe UI"/>
              </a:rPr>
              <a:t>4. Planned MCP Exposure</a:t>
            </a:r>
          </a:p>
        </p:txBody>
      </p:sp>
      <p:sp>
        <p:nvSpPr>
          <p:cNvPr id="22" name="TextBox 21"/>
          <p:cNvSpPr txBox="1"/>
          <p:nvPr/>
        </p:nvSpPr>
        <p:spPr>
          <a:xfrm>
            <a:off x="7406640" y="4709160"/>
            <a:ext cx="1874519" cy="1371600"/>
          </a:xfrm>
          <a:prstGeom prst="rect">
            <a:avLst/>
          </a:prstGeom>
          <a:noFill/>
        </p:spPr>
        <p:txBody>
          <a:bodyPr wrap="square" lIns="54864" rIns="54864" tIns="36576" bIns="36576" anchor="t">
            <a:spAutoFit/>
          </a:bodyPr>
          <a:lstStyle/>
          <a:p>
            <a:pPr algn="l"/>
            <a:r>
              <a:rPr sz="1100" b="0">
                <a:solidFill>
                  <a:srgbClr val="F8FAFC"/>
                </a:solidFill>
                <a:latin typeface="Segoe UI"/>
              </a:rPr>
              <a:t>Planning standardized JSON-RPC tools for Cursor &amp; Claude IDE.</a:t>
            </a:r>
          </a:p>
        </p:txBody>
      </p:sp>
      <p:sp>
        <p:nvSpPr>
          <p:cNvPr id="23" name="Rounded Rectangle 22"/>
          <p:cNvSpPr/>
          <p:nvPr/>
        </p:nvSpPr>
        <p:spPr>
          <a:xfrm>
            <a:off x="9509760" y="3977639"/>
            <a:ext cx="2148840" cy="233172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46920" y="4160520"/>
            <a:ext cx="1874519" cy="457200"/>
          </a:xfrm>
          <a:prstGeom prst="rect">
            <a:avLst/>
          </a:prstGeom>
          <a:noFill/>
        </p:spPr>
        <p:txBody>
          <a:bodyPr wrap="square" lIns="54864" rIns="54864" tIns="36576" bIns="36576" anchor="t">
            <a:spAutoFit/>
          </a:bodyPr>
          <a:lstStyle/>
          <a:p>
            <a:pPr algn="l"/>
            <a:r>
              <a:rPr sz="1300" b="1">
                <a:solidFill>
                  <a:srgbClr val="10B981"/>
                </a:solidFill>
                <a:latin typeface="Segoe UI"/>
              </a:rPr>
              <a:t>5. Planned Package Guard</a:t>
            </a:r>
          </a:p>
        </p:txBody>
      </p:sp>
      <p:sp>
        <p:nvSpPr>
          <p:cNvPr id="25" name="TextBox 24"/>
          <p:cNvSpPr txBox="1"/>
          <p:nvPr/>
        </p:nvSpPr>
        <p:spPr>
          <a:xfrm>
            <a:off x="9646920" y="4709160"/>
            <a:ext cx="1874519" cy="1371600"/>
          </a:xfrm>
          <a:prstGeom prst="rect">
            <a:avLst/>
          </a:prstGeom>
          <a:noFill/>
        </p:spPr>
        <p:txBody>
          <a:bodyPr wrap="square" lIns="54864" rIns="54864" tIns="36576" bIns="36576" anchor="t">
            <a:spAutoFit/>
          </a:bodyPr>
          <a:lstStyle/>
          <a:p>
            <a:pPr algn="l"/>
            <a:r>
              <a:rPr sz="1100" b="0">
                <a:solidFill>
                  <a:srgbClr val="F8FAFC"/>
                </a:solidFill>
                <a:latin typeface="Segoe UI"/>
              </a:rPr>
              <a:t>Planning PyPI verification stopping hallucinated slopsquatting.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PLANNED ARCHITECTURE  |  WHAT WE ARE GOING TO BUILD</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13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Planned Agentic AI Control Plane (Upcoming Architecture)</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Blueprint of what we are going to implement: collaborative multi-agent squads, self-healing reflection loops, and sandbox isolation.</a:t>
            </a:r>
          </a:p>
        </p:txBody>
      </p:sp>
      <p:sp>
        <p:nvSpPr>
          <p:cNvPr id="6" name="Rounded Rectangle 5"/>
          <p:cNvSpPr/>
          <p:nvPr/>
        </p:nvSpPr>
        <p:spPr>
          <a:xfrm>
            <a:off x="548640" y="1828800"/>
            <a:ext cx="1691640" cy="310896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2011680"/>
            <a:ext cx="150876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029968"/>
            <a:ext cx="1508760" cy="228600"/>
          </a:xfrm>
          <a:prstGeom prst="rect">
            <a:avLst/>
          </a:prstGeom>
          <a:noFill/>
        </p:spPr>
        <p:txBody>
          <a:bodyPr wrap="square" lIns="54864" rIns="54864" tIns="36576" bIns="36576" anchor="t">
            <a:spAutoFit/>
          </a:bodyPr>
          <a:lstStyle/>
          <a:p>
            <a:pPr algn="ctr"/>
            <a:r>
              <a:rPr sz="900" b="1">
                <a:solidFill>
                  <a:srgbClr val="0EA5E9"/>
                </a:solidFill>
                <a:latin typeface="Segoe UI"/>
              </a:rPr>
              <a:t>FRONTEND / MCP</a:t>
            </a:r>
          </a:p>
        </p:txBody>
      </p:sp>
      <p:sp>
        <p:nvSpPr>
          <p:cNvPr id="9" name="TextBox 8"/>
          <p:cNvSpPr txBox="1"/>
          <p:nvPr/>
        </p:nvSpPr>
        <p:spPr>
          <a:xfrm>
            <a:off x="640080" y="2377440"/>
            <a:ext cx="1508760" cy="411480"/>
          </a:xfrm>
          <a:prstGeom prst="rect">
            <a:avLst/>
          </a:prstGeom>
          <a:noFill/>
        </p:spPr>
        <p:txBody>
          <a:bodyPr wrap="square" lIns="54864" rIns="54864" tIns="36576" bIns="36576" anchor="t">
            <a:spAutoFit/>
          </a:bodyPr>
          <a:lstStyle/>
          <a:p>
            <a:pPr algn="ctr"/>
            <a:r>
              <a:rPr sz="1300" b="1">
                <a:solidFill>
                  <a:srgbClr val="F8FAFC"/>
                </a:solidFill>
                <a:latin typeface="Segoe UI"/>
              </a:rPr>
              <a:t>1. REQUEST</a:t>
            </a:r>
          </a:p>
        </p:txBody>
      </p:sp>
      <p:sp>
        <p:nvSpPr>
          <p:cNvPr id="10" name="TextBox 9"/>
          <p:cNvSpPr txBox="1"/>
          <p:nvPr/>
        </p:nvSpPr>
        <p:spPr>
          <a:xfrm>
            <a:off x="640080" y="2926080"/>
            <a:ext cx="1508760" cy="1737360"/>
          </a:xfrm>
          <a:prstGeom prst="rect">
            <a:avLst/>
          </a:prstGeom>
          <a:noFill/>
        </p:spPr>
        <p:txBody>
          <a:bodyPr wrap="square" lIns="54864" rIns="54864" tIns="36576" bIns="36576" anchor="t">
            <a:spAutoFit/>
          </a:bodyPr>
          <a:lstStyle/>
          <a:p>
            <a:pPr algn="ctr"/>
            <a:r>
              <a:rPr sz="1100" b="0">
                <a:solidFill>
                  <a:srgbClr val="94A3B8"/>
                </a:solidFill>
                <a:latin typeface="Segoe UI"/>
              </a:rPr>
              <a:t>User Voice (Whisper)
or Typed Prompt</a:t>
            </a:r>
          </a:p>
        </p:txBody>
      </p:sp>
      <p:sp>
        <p:nvSpPr>
          <p:cNvPr id="11" name="TextBox 10"/>
          <p:cNvSpPr txBox="1"/>
          <p:nvPr/>
        </p:nvSpPr>
        <p:spPr>
          <a:xfrm>
            <a:off x="2212848" y="2926080"/>
            <a:ext cx="274320" cy="457200"/>
          </a:xfrm>
          <a:prstGeom prst="rect">
            <a:avLst/>
          </a:prstGeom>
          <a:noFill/>
        </p:spPr>
        <p:txBody>
          <a:bodyPr wrap="square" lIns="54864" rIns="54864" tIns="36576" bIns="36576" anchor="t">
            <a:spAutoFit/>
          </a:bodyPr>
          <a:lstStyle/>
          <a:p>
            <a:pPr algn="ctr"/>
            <a:r>
              <a:rPr sz="2400" b="1">
                <a:solidFill>
                  <a:srgbClr val="0EA5E9"/>
                </a:solidFill>
                <a:latin typeface="Segoe UI"/>
              </a:rPr>
              <a:t>→</a:t>
            </a:r>
          </a:p>
        </p:txBody>
      </p:sp>
      <p:sp>
        <p:nvSpPr>
          <p:cNvPr id="12" name="Rounded Rectangle 11"/>
          <p:cNvSpPr/>
          <p:nvPr/>
        </p:nvSpPr>
        <p:spPr>
          <a:xfrm>
            <a:off x="2423160" y="1828800"/>
            <a:ext cx="1691640" cy="310896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514600" y="2011680"/>
            <a:ext cx="150876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4600" y="2029968"/>
            <a:ext cx="1508760" cy="228600"/>
          </a:xfrm>
          <a:prstGeom prst="rect">
            <a:avLst/>
          </a:prstGeom>
          <a:noFill/>
        </p:spPr>
        <p:txBody>
          <a:bodyPr wrap="square" lIns="54864" rIns="54864" tIns="36576" bIns="36576" anchor="t">
            <a:spAutoFit/>
          </a:bodyPr>
          <a:lstStyle/>
          <a:p>
            <a:pPr algn="ctr"/>
            <a:r>
              <a:rPr sz="900" b="1">
                <a:solidFill>
                  <a:srgbClr val="3B82F6"/>
                </a:solidFill>
                <a:latin typeface="Segoe UI"/>
              </a:rPr>
              <a:t>PLANNED SQUAD</a:t>
            </a:r>
          </a:p>
        </p:txBody>
      </p:sp>
      <p:sp>
        <p:nvSpPr>
          <p:cNvPr id="15" name="TextBox 14"/>
          <p:cNvSpPr txBox="1"/>
          <p:nvPr/>
        </p:nvSpPr>
        <p:spPr>
          <a:xfrm>
            <a:off x="2514600" y="2377440"/>
            <a:ext cx="1508760" cy="411480"/>
          </a:xfrm>
          <a:prstGeom prst="rect">
            <a:avLst/>
          </a:prstGeom>
          <a:noFill/>
        </p:spPr>
        <p:txBody>
          <a:bodyPr wrap="square" lIns="54864" rIns="54864" tIns="36576" bIns="36576" anchor="t">
            <a:spAutoFit/>
          </a:bodyPr>
          <a:lstStyle/>
          <a:p>
            <a:pPr algn="ctr"/>
            <a:r>
              <a:rPr sz="1300" b="1">
                <a:solidFill>
                  <a:srgbClr val="F8FAFC"/>
                </a:solidFill>
                <a:latin typeface="Segoe UI"/>
              </a:rPr>
              <a:t>2. CREWAI LAYER</a:t>
            </a:r>
          </a:p>
        </p:txBody>
      </p:sp>
      <p:sp>
        <p:nvSpPr>
          <p:cNvPr id="16" name="TextBox 15"/>
          <p:cNvSpPr txBox="1"/>
          <p:nvPr/>
        </p:nvSpPr>
        <p:spPr>
          <a:xfrm>
            <a:off x="2514600" y="2926080"/>
            <a:ext cx="1508760" cy="1737360"/>
          </a:xfrm>
          <a:prstGeom prst="rect">
            <a:avLst/>
          </a:prstGeom>
          <a:noFill/>
        </p:spPr>
        <p:txBody>
          <a:bodyPr wrap="square" lIns="54864" rIns="54864" tIns="36576" bIns="36576" anchor="t">
            <a:spAutoFit/>
          </a:bodyPr>
          <a:lstStyle/>
          <a:p>
            <a:pPr algn="ctr"/>
            <a:r>
              <a:rPr sz="1100" b="0">
                <a:solidFill>
                  <a:srgbClr val="94A3B8"/>
                </a:solidFill>
                <a:latin typeface="Segoe UI"/>
              </a:rPr>
              <a:t>Supervisor delegates to
Sentinel, Retriever, AST</a:t>
            </a:r>
          </a:p>
        </p:txBody>
      </p:sp>
      <p:sp>
        <p:nvSpPr>
          <p:cNvPr id="17" name="TextBox 16"/>
          <p:cNvSpPr txBox="1"/>
          <p:nvPr/>
        </p:nvSpPr>
        <p:spPr>
          <a:xfrm>
            <a:off x="4087368" y="2926080"/>
            <a:ext cx="274320" cy="457200"/>
          </a:xfrm>
          <a:prstGeom prst="rect">
            <a:avLst/>
          </a:prstGeom>
          <a:noFill/>
        </p:spPr>
        <p:txBody>
          <a:bodyPr wrap="square" lIns="54864" rIns="54864" tIns="36576" bIns="36576" anchor="t">
            <a:spAutoFit/>
          </a:bodyPr>
          <a:lstStyle/>
          <a:p>
            <a:pPr algn="ctr"/>
            <a:r>
              <a:rPr sz="2400" b="1">
                <a:solidFill>
                  <a:srgbClr val="0EA5E9"/>
                </a:solidFill>
                <a:latin typeface="Segoe UI"/>
              </a:rPr>
              <a:t>→</a:t>
            </a:r>
          </a:p>
        </p:txBody>
      </p:sp>
      <p:sp>
        <p:nvSpPr>
          <p:cNvPr id="18" name="Rounded Rectangle 17"/>
          <p:cNvSpPr/>
          <p:nvPr/>
        </p:nvSpPr>
        <p:spPr>
          <a:xfrm>
            <a:off x="4297679" y="1828800"/>
            <a:ext cx="1691640" cy="310896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389119" y="2011680"/>
            <a:ext cx="150876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19" y="2029968"/>
            <a:ext cx="1508760" cy="228600"/>
          </a:xfrm>
          <a:prstGeom prst="rect">
            <a:avLst/>
          </a:prstGeom>
          <a:noFill/>
        </p:spPr>
        <p:txBody>
          <a:bodyPr wrap="square" lIns="54864" rIns="54864" tIns="36576" bIns="36576" anchor="t">
            <a:spAutoFit/>
          </a:bodyPr>
          <a:lstStyle/>
          <a:p>
            <a:pPr algn="ctr"/>
            <a:r>
              <a:rPr sz="900" b="1">
                <a:solidFill>
                  <a:srgbClr val="F59E0B"/>
                </a:solidFill>
                <a:latin typeface="Segoe UI"/>
              </a:rPr>
              <a:t>PLANNED ROUTER</a:t>
            </a:r>
          </a:p>
        </p:txBody>
      </p:sp>
      <p:sp>
        <p:nvSpPr>
          <p:cNvPr id="21" name="TextBox 20"/>
          <p:cNvSpPr txBox="1"/>
          <p:nvPr/>
        </p:nvSpPr>
        <p:spPr>
          <a:xfrm>
            <a:off x="4389119" y="2377440"/>
            <a:ext cx="1508760" cy="411480"/>
          </a:xfrm>
          <a:prstGeom prst="rect">
            <a:avLst/>
          </a:prstGeom>
          <a:noFill/>
        </p:spPr>
        <p:txBody>
          <a:bodyPr wrap="square" lIns="54864" rIns="54864" tIns="36576" bIns="36576" anchor="t">
            <a:spAutoFit/>
          </a:bodyPr>
          <a:lstStyle/>
          <a:p>
            <a:pPr algn="ctr"/>
            <a:r>
              <a:rPr sz="1300" b="1">
                <a:solidFill>
                  <a:srgbClr val="F8FAFC"/>
                </a:solidFill>
                <a:latin typeface="Segoe UI"/>
              </a:rPr>
              <a:t>3. PRIVACY GATE</a:t>
            </a:r>
          </a:p>
        </p:txBody>
      </p:sp>
      <p:sp>
        <p:nvSpPr>
          <p:cNvPr id="22" name="TextBox 21"/>
          <p:cNvSpPr txBox="1"/>
          <p:nvPr/>
        </p:nvSpPr>
        <p:spPr>
          <a:xfrm>
            <a:off x="4389119" y="2926080"/>
            <a:ext cx="1508760" cy="1737360"/>
          </a:xfrm>
          <a:prstGeom prst="rect">
            <a:avLst/>
          </a:prstGeom>
          <a:noFill/>
        </p:spPr>
        <p:txBody>
          <a:bodyPr wrap="square" lIns="54864" rIns="54864" tIns="36576" bIns="36576" anchor="t">
            <a:spAutoFit/>
          </a:bodyPr>
          <a:lstStyle/>
          <a:p>
            <a:pPr algn="ctr"/>
            <a:r>
              <a:rPr sz="1100" b="0">
                <a:solidFill>
                  <a:srgbClr val="94A3B8"/>
                </a:solidFill>
                <a:latin typeface="Segoe UI"/>
              </a:rPr>
              <a:t>Sensitivity Check:
Cloud vs Local Ollama</a:t>
            </a:r>
          </a:p>
        </p:txBody>
      </p:sp>
      <p:sp>
        <p:nvSpPr>
          <p:cNvPr id="23" name="TextBox 22"/>
          <p:cNvSpPr txBox="1"/>
          <p:nvPr/>
        </p:nvSpPr>
        <p:spPr>
          <a:xfrm>
            <a:off x="5961888" y="2926080"/>
            <a:ext cx="274320" cy="457200"/>
          </a:xfrm>
          <a:prstGeom prst="rect">
            <a:avLst/>
          </a:prstGeom>
          <a:noFill/>
        </p:spPr>
        <p:txBody>
          <a:bodyPr wrap="square" lIns="54864" rIns="54864" tIns="36576" bIns="36576" anchor="t">
            <a:spAutoFit/>
          </a:bodyPr>
          <a:lstStyle/>
          <a:p>
            <a:pPr algn="ctr"/>
            <a:r>
              <a:rPr sz="2400" b="1">
                <a:solidFill>
                  <a:srgbClr val="0EA5E9"/>
                </a:solidFill>
                <a:latin typeface="Segoe UI"/>
              </a:rPr>
              <a:t>→</a:t>
            </a:r>
          </a:p>
        </p:txBody>
      </p:sp>
      <p:sp>
        <p:nvSpPr>
          <p:cNvPr id="24" name="Rounded Rectangle 23"/>
          <p:cNvSpPr/>
          <p:nvPr/>
        </p:nvSpPr>
        <p:spPr>
          <a:xfrm>
            <a:off x="6172199" y="1828800"/>
            <a:ext cx="1691640" cy="3108960"/>
          </a:xfrm>
          <a:prstGeom prst="roundRect">
            <a:avLst/>
          </a:prstGeom>
          <a:solidFill>
            <a:srgbClr val="1E293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263639" y="2011680"/>
            <a:ext cx="150876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63639" y="2029968"/>
            <a:ext cx="1508760" cy="228600"/>
          </a:xfrm>
          <a:prstGeom prst="rect">
            <a:avLst/>
          </a:prstGeom>
          <a:noFill/>
        </p:spPr>
        <p:txBody>
          <a:bodyPr wrap="square" lIns="54864" rIns="54864" tIns="36576" bIns="36576" anchor="t">
            <a:spAutoFit/>
          </a:bodyPr>
          <a:lstStyle/>
          <a:p>
            <a:pPr algn="ctr"/>
            <a:r>
              <a:rPr sz="900" b="1">
                <a:solidFill>
                  <a:srgbClr val="EF4444"/>
                </a:solidFill>
                <a:latin typeface="Segoe UI"/>
              </a:rPr>
              <a:t>PLANNED GUARD</a:t>
            </a:r>
          </a:p>
        </p:txBody>
      </p:sp>
      <p:sp>
        <p:nvSpPr>
          <p:cNvPr id="27" name="TextBox 26"/>
          <p:cNvSpPr txBox="1"/>
          <p:nvPr/>
        </p:nvSpPr>
        <p:spPr>
          <a:xfrm>
            <a:off x="6263639" y="2377440"/>
            <a:ext cx="1508760" cy="411480"/>
          </a:xfrm>
          <a:prstGeom prst="rect">
            <a:avLst/>
          </a:prstGeom>
          <a:noFill/>
        </p:spPr>
        <p:txBody>
          <a:bodyPr wrap="square" lIns="54864" rIns="54864" tIns="36576" bIns="36576" anchor="t">
            <a:spAutoFit/>
          </a:bodyPr>
          <a:lstStyle/>
          <a:p>
            <a:pPr algn="ctr"/>
            <a:r>
              <a:rPr sz="1300" b="1">
                <a:solidFill>
                  <a:srgbClr val="F8FAFC"/>
                </a:solidFill>
                <a:latin typeface="Segoe UI"/>
              </a:rPr>
              <a:t>4. PACKAGE GUARD</a:t>
            </a:r>
          </a:p>
        </p:txBody>
      </p:sp>
      <p:sp>
        <p:nvSpPr>
          <p:cNvPr id="28" name="TextBox 27"/>
          <p:cNvSpPr txBox="1"/>
          <p:nvPr/>
        </p:nvSpPr>
        <p:spPr>
          <a:xfrm>
            <a:off x="6263639" y="2926080"/>
            <a:ext cx="1508760" cy="1737360"/>
          </a:xfrm>
          <a:prstGeom prst="rect">
            <a:avLst/>
          </a:prstGeom>
          <a:noFill/>
        </p:spPr>
        <p:txBody>
          <a:bodyPr wrap="square" lIns="54864" rIns="54864" tIns="36576" bIns="36576" anchor="t">
            <a:spAutoFit/>
          </a:bodyPr>
          <a:lstStyle/>
          <a:p>
            <a:pPr algn="ctr"/>
            <a:r>
              <a:rPr sz="1100" b="0">
                <a:solidFill>
                  <a:srgbClr val="94A3B8"/>
                </a:solidFill>
                <a:latin typeface="Segoe UI"/>
              </a:rPr>
              <a:t>AST Import Verification
via PyPI Registry API</a:t>
            </a:r>
          </a:p>
        </p:txBody>
      </p:sp>
      <p:sp>
        <p:nvSpPr>
          <p:cNvPr id="29" name="TextBox 28"/>
          <p:cNvSpPr txBox="1"/>
          <p:nvPr/>
        </p:nvSpPr>
        <p:spPr>
          <a:xfrm>
            <a:off x="7836407" y="2926080"/>
            <a:ext cx="274320" cy="457200"/>
          </a:xfrm>
          <a:prstGeom prst="rect">
            <a:avLst/>
          </a:prstGeom>
          <a:noFill/>
        </p:spPr>
        <p:txBody>
          <a:bodyPr wrap="square" lIns="54864" rIns="54864" tIns="36576" bIns="36576" anchor="t">
            <a:spAutoFit/>
          </a:bodyPr>
          <a:lstStyle/>
          <a:p>
            <a:pPr algn="ctr"/>
            <a:r>
              <a:rPr sz="2400" b="1">
                <a:solidFill>
                  <a:srgbClr val="0EA5E9"/>
                </a:solidFill>
                <a:latin typeface="Segoe UI"/>
              </a:rPr>
              <a:t>→</a:t>
            </a:r>
          </a:p>
        </p:txBody>
      </p:sp>
      <p:sp>
        <p:nvSpPr>
          <p:cNvPr id="30" name="Rounded Rectangle 29"/>
          <p:cNvSpPr/>
          <p:nvPr/>
        </p:nvSpPr>
        <p:spPr>
          <a:xfrm>
            <a:off x="8046719" y="1828800"/>
            <a:ext cx="1691640" cy="310896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138159" y="2011680"/>
            <a:ext cx="150876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38159" y="2029968"/>
            <a:ext cx="1508760" cy="228600"/>
          </a:xfrm>
          <a:prstGeom prst="rect">
            <a:avLst/>
          </a:prstGeom>
          <a:noFill/>
        </p:spPr>
        <p:txBody>
          <a:bodyPr wrap="square" lIns="54864" rIns="54864" tIns="36576" bIns="36576" anchor="t">
            <a:spAutoFit/>
          </a:bodyPr>
          <a:lstStyle/>
          <a:p>
            <a:pPr algn="ctr"/>
            <a:r>
              <a:rPr sz="900" b="1">
                <a:solidFill>
                  <a:srgbClr val="10B981"/>
                </a:solidFill>
                <a:latin typeface="Segoe UI"/>
              </a:rPr>
              <a:t>PLANNED LOOP</a:t>
            </a:r>
          </a:p>
        </p:txBody>
      </p:sp>
      <p:sp>
        <p:nvSpPr>
          <p:cNvPr id="33" name="TextBox 32"/>
          <p:cNvSpPr txBox="1"/>
          <p:nvPr/>
        </p:nvSpPr>
        <p:spPr>
          <a:xfrm>
            <a:off x="8138159" y="2377440"/>
            <a:ext cx="1508760" cy="411480"/>
          </a:xfrm>
          <a:prstGeom prst="rect">
            <a:avLst/>
          </a:prstGeom>
          <a:noFill/>
        </p:spPr>
        <p:txBody>
          <a:bodyPr wrap="square" lIns="54864" rIns="54864" tIns="36576" bIns="36576" anchor="t">
            <a:spAutoFit/>
          </a:bodyPr>
          <a:lstStyle/>
          <a:p>
            <a:pPr algn="ctr"/>
            <a:r>
              <a:rPr sz="1300" b="1">
                <a:solidFill>
                  <a:srgbClr val="F8FAFC"/>
                </a:solidFill>
                <a:latin typeface="Segoe UI"/>
              </a:rPr>
              <a:t>5. REFLECTION LOOP</a:t>
            </a:r>
          </a:p>
        </p:txBody>
      </p:sp>
      <p:sp>
        <p:nvSpPr>
          <p:cNvPr id="34" name="TextBox 33"/>
          <p:cNvSpPr txBox="1"/>
          <p:nvPr/>
        </p:nvSpPr>
        <p:spPr>
          <a:xfrm>
            <a:off x="8138159" y="2926080"/>
            <a:ext cx="1508760" cy="1737360"/>
          </a:xfrm>
          <a:prstGeom prst="rect">
            <a:avLst/>
          </a:prstGeom>
          <a:noFill/>
        </p:spPr>
        <p:txBody>
          <a:bodyPr wrap="square" lIns="54864" rIns="54864" tIns="36576" bIns="36576" anchor="t">
            <a:spAutoFit/>
          </a:bodyPr>
          <a:lstStyle/>
          <a:p>
            <a:pPr algn="ctr"/>
            <a:r>
              <a:rPr sz="1100" b="0">
                <a:solidFill>
                  <a:srgbClr val="94A3B8"/>
                </a:solidFill>
                <a:latin typeface="Segoe UI"/>
              </a:rPr>
              <a:t>Sandbox Test Exec -&gt;
Traceback Reflection</a:t>
            </a:r>
          </a:p>
        </p:txBody>
      </p:sp>
      <p:sp>
        <p:nvSpPr>
          <p:cNvPr id="35" name="TextBox 34"/>
          <p:cNvSpPr txBox="1"/>
          <p:nvPr/>
        </p:nvSpPr>
        <p:spPr>
          <a:xfrm>
            <a:off x="9710928" y="2926080"/>
            <a:ext cx="274320" cy="457200"/>
          </a:xfrm>
          <a:prstGeom prst="rect">
            <a:avLst/>
          </a:prstGeom>
          <a:noFill/>
        </p:spPr>
        <p:txBody>
          <a:bodyPr wrap="square" lIns="54864" rIns="54864" tIns="36576" bIns="36576" anchor="t">
            <a:spAutoFit/>
          </a:bodyPr>
          <a:lstStyle/>
          <a:p>
            <a:pPr algn="ctr"/>
            <a:r>
              <a:rPr sz="2400" b="1">
                <a:solidFill>
                  <a:srgbClr val="0EA5E9"/>
                </a:solidFill>
                <a:latin typeface="Segoe UI"/>
              </a:rPr>
              <a:t>→</a:t>
            </a:r>
          </a:p>
        </p:txBody>
      </p:sp>
      <p:sp>
        <p:nvSpPr>
          <p:cNvPr id="36" name="Rounded Rectangle 35"/>
          <p:cNvSpPr/>
          <p:nvPr/>
        </p:nvSpPr>
        <p:spPr>
          <a:xfrm>
            <a:off x="9921240" y="1828800"/>
            <a:ext cx="1691640" cy="3108960"/>
          </a:xfrm>
          <a:prstGeom prst="roundRect">
            <a:avLst/>
          </a:prstGeom>
          <a:solidFill>
            <a:srgbClr val="1E293B"/>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10012680" y="2011680"/>
            <a:ext cx="150876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12680" y="2029968"/>
            <a:ext cx="1508760" cy="228600"/>
          </a:xfrm>
          <a:prstGeom prst="rect">
            <a:avLst/>
          </a:prstGeom>
          <a:noFill/>
        </p:spPr>
        <p:txBody>
          <a:bodyPr wrap="square" lIns="54864" rIns="54864" tIns="36576" bIns="36576" anchor="t">
            <a:spAutoFit/>
          </a:bodyPr>
          <a:lstStyle/>
          <a:p>
            <a:pPr algn="ctr"/>
            <a:r>
              <a:rPr sz="900" b="1">
                <a:solidFill>
                  <a:srgbClr val="A855F7"/>
                </a:solidFill>
                <a:latin typeface="Segoe UI"/>
              </a:rPr>
              <a:t>CONTROL CENTER</a:t>
            </a:r>
          </a:p>
        </p:txBody>
      </p:sp>
      <p:sp>
        <p:nvSpPr>
          <p:cNvPr id="39" name="TextBox 38"/>
          <p:cNvSpPr txBox="1"/>
          <p:nvPr/>
        </p:nvSpPr>
        <p:spPr>
          <a:xfrm>
            <a:off x="10012680" y="2377440"/>
            <a:ext cx="1508760" cy="411480"/>
          </a:xfrm>
          <a:prstGeom prst="rect">
            <a:avLst/>
          </a:prstGeom>
          <a:noFill/>
        </p:spPr>
        <p:txBody>
          <a:bodyPr wrap="square" lIns="54864" rIns="54864" tIns="36576" bIns="36576" anchor="t">
            <a:spAutoFit/>
          </a:bodyPr>
          <a:lstStyle/>
          <a:p>
            <a:pPr algn="ctr"/>
            <a:r>
              <a:rPr sz="1300" b="1">
                <a:solidFill>
                  <a:srgbClr val="F8FAFC"/>
                </a:solidFill>
                <a:latin typeface="Segoe UI"/>
              </a:rPr>
              <a:t>6. OBSERVABILITY</a:t>
            </a:r>
          </a:p>
        </p:txBody>
      </p:sp>
      <p:sp>
        <p:nvSpPr>
          <p:cNvPr id="40" name="TextBox 39"/>
          <p:cNvSpPr txBox="1"/>
          <p:nvPr/>
        </p:nvSpPr>
        <p:spPr>
          <a:xfrm>
            <a:off x="10012680" y="2926080"/>
            <a:ext cx="1508760" cy="1737360"/>
          </a:xfrm>
          <a:prstGeom prst="rect">
            <a:avLst/>
          </a:prstGeom>
          <a:noFill/>
        </p:spPr>
        <p:txBody>
          <a:bodyPr wrap="square" lIns="54864" rIns="54864" tIns="36576" bIns="36576" anchor="t">
            <a:spAutoFit/>
          </a:bodyPr>
          <a:lstStyle/>
          <a:p>
            <a:pPr algn="ctr"/>
            <a:r>
              <a:rPr sz="1100" b="0">
                <a:solidFill>
                  <a:srgbClr val="94A3B8"/>
                </a:solidFill>
                <a:latin typeface="Segoe UI"/>
              </a:rPr>
              <a:t>Live Dashboard Telemetry
&amp; MCP JSON-RPC Feed</a:t>
            </a:r>
          </a:p>
        </p:txBody>
      </p:sp>
      <p:sp>
        <p:nvSpPr>
          <p:cNvPr id="41" name="Rounded Rectangle 40"/>
          <p:cNvSpPr/>
          <p:nvPr/>
        </p:nvSpPr>
        <p:spPr>
          <a:xfrm>
            <a:off x="548640" y="5120640"/>
            <a:ext cx="11091672" cy="1188720"/>
          </a:xfrm>
          <a:prstGeom prst="roundRect">
            <a:avLst/>
          </a:prstGeom>
          <a:solidFill>
            <a:srgbClr val="18212F"/>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2960" y="5257800"/>
            <a:ext cx="10515600" cy="320040"/>
          </a:xfrm>
          <a:prstGeom prst="rect">
            <a:avLst/>
          </a:prstGeom>
          <a:noFill/>
        </p:spPr>
        <p:txBody>
          <a:bodyPr wrap="square" lIns="54864" rIns="54864" tIns="36576" bIns="36576" anchor="t">
            <a:spAutoFit/>
          </a:bodyPr>
          <a:lstStyle/>
          <a:p>
            <a:pPr algn="l"/>
            <a:r>
              <a:rPr sz="1300" b="1">
                <a:solidFill>
                  <a:srgbClr val="0EA5E9"/>
                </a:solidFill>
                <a:latin typeface="Segoe UI"/>
              </a:rPr>
              <a:t>Core Architectural Principle: Deterministic Tool Gates Beat Conversational Prompting</a:t>
            </a:r>
          </a:p>
        </p:txBody>
      </p:sp>
      <p:sp>
        <p:nvSpPr>
          <p:cNvPr id="43" name="TextBox 42"/>
          <p:cNvSpPr txBox="1"/>
          <p:nvPr/>
        </p:nvSpPr>
        <p:spPr>
          <a:xfrm>
            <a:off x="822960" y="5577840"/>
            <a:ext cx="10515600" cy="594360"/>
          </a:xfrm>
          <a:prstGeom prst="rect">
            <a:avLst/>
          </a:prstGeom>
          <a:noFill/>
        </p:spPr>
        <p:txBody>
          <a:bodyPr wrap="square" lIns="54864" rIns="54864" tIns="36576" bIns="36576" anchor="t">
            <a:spAutoFit/>
          </a:bodyPr>
          <a:lstStyle/>
          <a:p>
            <a:pPr algn="l"/>
            <a:r>
              <a:rPr sz="1100" b="0">
                <a:solidFill>
                  <a:srgbClr val="94A3B8"/>
                </a:solidFill>
                <a:latin typeface="Segoe UI"/>
              </a:rPr>
              <a:t>In Kavach, agents communicate via structured Pydantic JSON schemas. Security decisions are NOT left to LLM conversational discretion; they are backed by deterministic Python tools (regex, entropy, PyPI API, AST traversal) that halt execution immediately if policies are violated.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PLANNED FEATURE 1  |  WHAT WE ARE PLANNING TO DO</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14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Planned Feature 1: Automated Self-Healing Reflection Loop</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What we are planning to build: Autonomous runtime testing, traceback observation, and iterative code self-repair (ReAct Sandbox).</a:t>
            </a:r>
          </a:p>
        </p:txBody>
      </p:sp>
      <p:sp>
        <p:nvSpPr>
          <p:cNvPr id="6" name="Rounded Rectangle 5"/>
          <p:cNvSpPr/>
          <p:nvPr/>
        </p:nvSpPr>
        <p:spPr>
          <a:xfrm>
            <a:off x="548640" y="1645920"/>
            <a:ext cx="5394960" cy="466344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920240"/>
            <a:ext cx="4846320" cy="320040"/>
          </a:xfrm>
          <a:prstGeom prst="rect">
            <a:avLst/>
          </a:prstGeom>
          <a:noFill/>
        </p:spPr>
        <p:txBody>
          <a:bodyPr wrap="square" lIns="54864" rIns="54864" tIns="36576" bIns="36576" anchor="t">
            <a:spAutoFit/>
          </a:bodyPr>
          <a:lstStyle/>
          <a:p>
            <a:pPr algn="l"/>
            <a:r>
              <a:rPr sz="1600" b="1">
                <a:solidFill>
                  <a:srgbClr val="10B981"/>
                </a:solidFill>
                <a:latin typeface="Segoe UI"/>
              </a:rPr>
              <a:t>Planned Implementation (Data Flow &amp; Algorithm)</a:t>
            </a:r>
          </a:p>
        </p:txBody>
      </p:sp>
      <p:sp>
        <p:nvSpPr>
          <p:cNvPr id="8" name="TextBox 7"/>
          <p:cNvSpPr txBox="1"/>
          <p:nvPr/>
        </p:nvSpPr>
        <p:spPr>
          <a:xfrm>
            <a:off x="822960" y="2423160"/>
            <a:ext cx="4754880" cy="548640"/>
          </a:xfrm>
          <a:prstGeom prst="rect">
            <a:avLst/>
          </a:prstGeom>
          <a:noFill/>
        </p:spPr>
        <p:txBody>
          <a:bodyPr wrap="square" lIns="54864" rIns="54864" tIns="36576" bIns="36576" anchor="t">
            <a:spAutoFit/>
          </a:bodyPr>
          <a:lstStyle/>
          <a:p>
            <a:pPr algn="l"/>
            <a:r>
              <a:rPr sz="1000" b="0">
                <a:solidFill>
                  <a:srgbClr val="F8FAFC"/>
                </a:solidFill>
                <a:latin typeface="Segoe UI"/>
              </a:rPr>
              <a:t>• 1. Code Synthesis: DevOpsCoderAgent generates code patch and unit tests based on RAG context.</a:t>
            </a:r>
          </a:p>
        </p:txBody>
      </p:sp>
      <p:sp>
        <p:nvSpPr>
          <p:cNvPr id="9" name="TextBox 8"/>
          <p:cNvSpPr txBox="1"/>
          <p:nvPr/>
        </p:nvSpPr>
        <p:spPr>
          <a:xfrm>
            <a:off x="822960" y="3044952"/>
            <a:ext cx="4754880" cy="548640"/>
          </a:xfrm>
          <a:prstGeom prst="rect">
            <a:avLst/>
          </a:prstGeom>
          <a:noFill/>
        </p:spPr>
        <p:txBody>
          <a:bodyPr wrap="square" lIns="54864" rIns="54864" tIns="36576" bIns="36576" anchor="t">
            <a:spAutoFit/>
          </a:bodyPr>
          <a:lstStyle/>
          <a:p>
            <a:pPr algn="l"/>
            <a:r>
              <a:rPr sz="1000" b="0">
                <a:solidFill>
                  <a:srgbClr val="F8FAFC"/>
                </a:solidFill>
                <a:latin typeface="Segoe UI"/>
              </a:rPr>
              <a:t>• 2. Ephemeral Sandbox: Spins up a temporary isolated directory (tempfile.TemporaryDirectory) with clean virtual env.</a:t>
            </a:r>
          </a:p>
        </p:txBody>
      </p:sp>
      <p:sp>
        <p:nvSpPr>
          <p:cNvPr id="10" name="TextBox 9"/>
          <p:cNvSpPr txBox="1"/>
          <p:nvPr/>
        </p:nvSpPr>
        <p:spPr>
          <a:xfrm>
            <a:off x="822960" y="3666744"/>
            <a:ext cx="4754880" cy="548640"/>
          </a:xfrm>
          <a:prstGeom prst="rect">
            <a:avLst/>
          </a:prstGeom>
          <a:noFill/>
        </p:spPr>
        <p:txBody>
          <a:bodyPr wrap="square" lIns="54864" rIns="54864" tIns="36576" bIns="36576" anchor="t">
            <a:spAutoFit/>
          </a:bodyPr>
          <a:lstStyle/>
          <a:p>
            <a:pPr algn="l"/>
            <a:r>
              <a:rPr sz="1000" b="0">
                <a:solidFill>
                  <a:srgbClr val="F8FAFC"/>
                </a:solidFill>
                <a:latin typeface="Segoe UI"/>
              </a:rPr>
              <a:t>• 3. Execution &amp; Telemetry: Executes pytest inside sandbox via subprocess.run with strict 5-second CPU timeout.</a:t>
            </a:r>
          </a:p>
        </p:txBody>
      </p:sp>
      <p:sp>
        <p:nvSpPr>
          <p:cNvPr id="11" name="TextBox 10"/>
          <p:cNvSpPr txBox="1"/>
          <p:nvPr/>
        </p:nvSpPr>
        <p:spPr>
          <a:xfrm>
            <a:off x="822960" y="4288536"/>
            <a:ext cx="4754880" cy="548640"/>
          </a:xfrm>
          <a:prstGeom prst="rect">
            <a:avLst/>
          </a:prstGeom>
          <a:noFill/>
        </p:spPr>
        <p:txBody>
          <a:bodyPr wrap="square" lIns="54864" rIns="54864" tIns="36576" bIns="36576" anchor="t">
            <a:spAutoFit/>
          </a:bodyPr>
          <a:lstStyle/>
          <a:p>
            <a:pPr algn="l"/>
            <a:r>
              <a:rPr sz="1000" b="0">
                <a:solidFill>
                  <a:srgbClr val="F8FAFC"/>
                </a:solidFill>
                <a:latin typeface="Segoe UI"/>
              </a:rPr>
              <a:t>• 4. Traceback Capture: If exit code != 0, stderr and AssertionError tracebacks are captured.</a:t>
            </a:r>
          </a:p>
        </p:txBody>
      </p:sp>
      <p:sp>
        <p:nvSpPr>
          <p:cNvPr id="12" name="TextBox 11"/>
          <p:cNvSpPr txBox="1"/>
          <p:nvPr/>
        </p:nvSpPr>
        <p:spPr>
          <a:xfrm>
            <a:off x="822960" y="4910328"/>
            <a:ext cx="4754880" cy="548640"/>
          </a:xfrm>
          <a:prstGeom prst="rect">
            <a:avLst/>
          </a:prstGeom>
          <a:noFill/>
        </p:spPr>
        <p:txBody>
          <a:bodyPr wrap="square" lIns="54864" rIns="54864" tIns="36576" bIns="36576" anchor="t">
            <a:spAutoFit/>
          </a:bodyPr>
          <a:lstStyle/>
          <a:p>
            <a:pPr algn="l"/>
            <a:r>
              <a:rPr sz="1000" b="0">
                <a:solidFill>
                  <a:srgbClr val="F8FAFC"/>
                </a:solidFill>
                <a:latin typeface="Segoe UI"/>
              </a:rPr>
              <a:t>• 5. ReAct Self-Reflection: Feeds original code + error trace back to agent with structured prompt: 'Explain root cause in 2 sentences and patch.'</a:t>
            </a:r>
          </a:p>
        </p:txBody>
      </p:sp>
      <p:sp>
        <p:nvSpPr>
          <p:cNvPr id="13" name="TextBox 12"/>
          <p:cNvSpPr txBox="1"/>
          <p:nvPr/>
        </p:nvSpPr>
        <p:spPr>
          <a:xfrm>
            <a:off x="822960" y="5532120"/>
            <a:ext cx="4754880" cy="548640"/>
          </a:xfrm>
          <a:prstGeom prst="rect">
            <a:avLst/>
          </a:prstGeom>
          <a:noFill/>
        </p:spPr>
        <p:txBody>
          <a:bodyPr wrap="square" lIns="54864" rIns="54864" tIns="36576" bIns="36576" anchor="t">
            <a:spAutoFit/>
          </a:bodyPr>
          <a:lstStyle/>
          <a:p>
            <a:pPr algn="l"/>
            <a:r>
              <a:rPr sz="1000" b="0">
                <a:solidFill>
                  <a:srgbClr val="F8FAFC"/>
                </a:solidFill>
                <a:latin typeface="Segoe UI"/>
              </a:rPr>
              <a:t>• 6. Convergence Gate: Repeats up to N=3 cycles. Passes to COMPLETE on success, or escalates to NEEDS_REVIEW on cycle 3 failure.</a:t>
            </a:r>
          </a:p>
        </p:txBody>
      </p:sp>
      <p:sp>
        <p:nvSpPr>
          <p:cNvPr id="14" name="Rounded Rectangle 13"/>
          <p:cNvSpPr/>
          <p:nvPr/>
        </p:nvSpPr>
        <p:spPr>
          <a:xfrm>
            <a:off x="6217920" y="1645920"/>
            <a:ext cx="5394960" cy="4663440"/>
          </a:xfrm>
          <a:prstGeom prst="roundRect">
            <a:avLst/>
          </a:prstGeom>
          <a:solidFill>
            <a:srgbClr val="18212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920240"/>
            <a:ext cx="4846320" cy="320040"/>
          </a:xfrm>
          <a:prstGeom prst="rect">
            <a:avLst/>
          </a:prstGeom>
          <a:noFill/>
        </p:spPr>
        <p:txBody>
          <a:bodyPr wrap="square" lIns="54864" rIns="54864" tIns="36576" bIns="36576" anchor="t">
            <a:spAutoFit/>
          </a:bodyPr>
          <a:lstStyle/>
          <a:p>
            <a:pPr algn="l"/>
            <a:r>
              <a:rPr sz="1600" b="1">
                <a:solidFill>
                  <a:srgbClr val="F59E0B"/>
                </a:solidFill>
                <a:latin typeface="Segoe UI"/>
              </a:rPr>
              <a:t>Technical Rationale &amp; Failure Mitigations</a:t>
            </a:r>
          </a:p>
        </p:txBody>
      </p:sp>
      <p:sp>
        <p:nvSpPr>
          <p:cNvPr id="16" name="TextBox 15"/>
          <p:cNvSpPr txBox="1"/>
          <p:nvPr/>
        </p:nvSpPr>
        <p:spPr>
          <a:xfrm>
            <a:off x="6492240" y="2423160"/>
            <a:ext cx="4754880" cy="822960"/>
          </a:xfrm>
          <a:prstGeom prst="rect">
            <a:avLst/>
          </a:prstGeom>
          <a:noFill/>
        </p:spPr>
        <p:txBody>
          <a:bodyPr wrap="square" lIns="54864" rIns="54864" tIns="36576" bIns="36576" anchor="t">
            <a:spAutoFit/>
          </a:bodyPr>
          <a:lstStyle/>
          <a:p>
            <a:pPr algn="l"/>
            <a:r>
              <a:rPr sz="1100" b="0">
                <a:solidFill>
                  <a:srgbClr val="F8FAFC"/>
                </a:solidFill>
                <a:latin typeface="Segoe UI"/>
              </a:rPr>
              <a:t>✔ Why LLMs Need This:
  LLMs are probabilistic token predictors; syntactically valid code often fails at runtime due to TypeErrors, broken imports, or logic flaws. Self-healing replaces manual human debugging.</a:t>
            </a:r>
          </a:p>
        </p:txBody>
      </p:sp>
      <p:sp>
        <p:nvSpPr>
          <p:cNvPr id="17" name="TextBox 16"/>
          <p:cNvSpPr txBox="1"/>
          <p:nvPr/>
        </p:nvSpPr>
        <p:spPr>
          <a:xfrm>
            <a:off x="6492240" y="3337560"/>
            <a:ext cx="4754880" cy="822960"/>
          </a:xfrm>
          <a:prstGeom prst="rect">
            <a:avLst/>
          </a:prstGeom>
          <a:noFill/>
        </p:spPr>
        <p:txBody>
          <a:bodyPr wrap="square" lIns="54864" rIns="54864" tIns="36576" bIns="36576" anchor="t">
            <a:spAutoFit/>
          </a:bodyPr>
          <a:lstStyle/>
          <a:p>
            <a:pPr algn="l"/>
            <a:r>
              <a:rPr sz="1100" b="0">
                <a:solidFill>
                  <a:srgbClr val="F8FAFC"/>
                </a:solidFill>
                <a:latin typeface="Segoe UI"/>
              </a:rPr>
              <a:t>✔ Infinite Loop Mitigation:
  Enforces a strict upper bound of N = 3 iterations. Eliminates endless oscillation and token exhaustion.</a:t>
            </a:r>
          </a:p>
        </p:txBody>
      </p:sp>
      <p:sp>
        <p:nvSpPr>
          <p:cNvPr id="18" name="TextBox 17"/>
          <p:cNvSpPr txBox="1"/>
          <p:nvPr/>
        </p:nvSpPr>
        <p:spPr>
          <a:xfrm>
            <a:off x="6492240" y="4251960"/>
            <a:ext cx="4754880" cy="822960"/>
          </a:xfrm>
          <a:prstGeom prst="rect">
            <a:avLst/>
          </a:prstGeom>
          <a:noFill/>
        </p:spPr>
        <p:txBody>
          <a:bodyPr wrap="square" lIns="54864" rIns="54864" tIns="36576" bIns="36576" anchor="t">
            <a:spAutoFit/>
          </a:bodyPr>
          <a:lstStyle/>
          <a:p>
            <a:pPr algn="l"/>
            <a:r>
              <a:rPr sz="1100" b="0">
                <a:solidFill>
                  <a:srgbClr val="F8FAFC"/>
                </a:solidFill>
                <a:latin typeface="Segoe UI"/>
              </a:rPr>
              <a:t>✔ Malicious Code Mitigation:
  Sanitizes subprocess environment: strips system credentials (PYTHONPATH only), disables shell (shell=False), and blocks raw socket calls.</a:t>
            </a:r>
          </a:p>
        </p:txBody>
      </p:sp>
      <p:sp>
        <p:nvSpPr>
          <p:cNvPr id="19" name="TextBox 18"/>
          <p:cNvSpPr txBox="1"/>
          <p:nvPr/>
        </p:nvSpPr>
        <p:spPr>
          <a:xfrm>
            <a:off x="6492240" y="5166360"/>
            <a:ext cx="4754880" cy="822960"/>
          </a:xfrm>
          <a:prstGeom prst="rect">
            <a:avLst/>
          </a:prstGeom>
          <a:noFill/>
        </p:spPr>
        <p:txBody>
          <a:bodyPr wrap="square" lIns="54864" rIns="54864" tIns="36576" bIns="36576" anchor="t">
            <a:spAutoFit/>
          </a:bodyPr>
          <a:lstStyle/>
          <a:p>
            <a:pPr algn="l"/>
            <a:r>
              <a:rPr sz="1100" b="0">
                <a:solidFill>
                  <a:srgbClr val="F8FAFC"/>
                </a:solidFill>
                <a:latin typeface="Segoe UI"/>
              </a:rPr>
              <a:t>✔ Planned Target Files:
  backend/app/generation/sandbox.py (run_in_sandbox), backend/app/agent/reflector.py (SelfHealingReflector).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PLANNED FEATURE 2  |  WHAT WE ARE PLANNING TO DO</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15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Planned Feature 2: Hierarchical Multi-Agent Crew (CrewAI)</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What we are planning to build: Replacing procedural scripts with a collaborative squad of specialized autonomous agents.</a:t>
            </a:r>
          </a:p>
        </p:txBody>
      </p:sp>
      <p:sp>
        <p:nvSpPr>
          <p:cNvPr id="6" name="Rounded Rectangle 5"/>
          <p:cNvSpPr/>
          <p:nvPr/>
        </p:nvSpPr>
        <p:spPr>
          <a:xfrm>
            <a:off x="548640" y="1645920"/>
            <a:ext cx="2148840" cy="466344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874519"/>
            <a:ext cx="1874519" cy="256032"/>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892807"/>
            <a:ext cx="1874519" cy="256032"/>
          </a:xfrm>
          <a:prstGeom prst="rect">
            <a:avLst/>
          </a:prstGeom>
          <a:noFill/>
        </p:spPr>
        <p:txBody>
          <a:bodyPr wrap="square" lIns="54864" rIns="54864" tIns="36576" bIns="36576" anchor="t">
            <a:spAutoFit/>
          </a:bodyPr>
          <a:lstStyle/>
          <a:p>
            <a:pPr algn="ctr"/>
            <a:r>
              <a:rPr sz="900" b="1">
                <a:solidFill>
                  <a:srgbClr val="0EA5E9"/>
                </a:solidFill>
                <a:latin typeface="Segoe UI"/>
              </a:rPr>
              <a:t>SupervisorAgent</a:t>
            </a:r>
          </a:p>
        </p:txBody>
      </p:sp>
      <p:sp>
        <p:nvSpPr>
          <p:cNvPr id="9" name="TextBox 8"/>
          <p:cNvSpPr txBox="1"/>
          <p:nvPr/>
        </p:nvSpPr>
        <p:spPr>
          <a:xfrm>
            <a:off x="685800" y="2240280"/>
            <a:ext cx="1874519" cy="411480"/>
          </a:xfrm>
          <a:prstGeom prst="rect">
            <a:avLst/>
          </a:prstGeom>
          <a:noFill/>
        </p:spPr>
        <p:txBody>
          <a:bodyPr wrap="square" lIns="54864" rIns="54864" tIns="36576" bIns="36576" anchor="t">
            <a:spAutoFit/>
          </a:bodyPr>
          <a:lstStyle/>
          <a:p>
            <a:pPr algn="l"/>
            <a:r>
              <a:rPr sz="1200" b="1">
                <a:solidFill>
                  <a:srgbClr val="F8FAFC"/>
                </a:solidFill>
                <a:latin typeface="Segoe UI"/>
              </a:rPr>
              <a:t>Engineering Lead &amp; Gatekeeper</a:t>
            </a:r>
          </a:p>
        </p:txBody>
      </p:sp>
      <p:sp>
        <p:nvSpPr>
          <p:cNvPr id="10" name="TextBox 9"/>
          <p:cNvSpPr txBox="1"/>
          <p:nvPr/>
        </p:nvSpPr>
        <p:spPr>
          <a:xfrm>
            <a:off x="685800" y="2743200"/>
            <a:ext cx="1874519" cy="1280160"/>
          </a:xfrm>
          <a:prstGeom prst="rect">
            <a:avLst/>
          </a:prstGeom>
          <a:noFill/>
        </p:spPr>
        <p:txBody>
          <a:bodyPr wrap="square" lIns="54864" rIns="54864" tIns="36576" bIns="36576" anchor="t">
            <a:spAutoFit/>
          </a:bodyPr>
          <a:lstStyle/>
          <a:p>
            <a:pPr algn="l"/>
            <a:r>
              <a:rPr sz="1000" b="0">
                <a:solidFill>
                  <a:srgbClr val="94A3B8"/>
                </a:solidFill>
                <a:latin typeface="Segoe UI"/>
              </a:rPr>
              <a:t>Goal:
Coordinates task flow, evaluates security verdicts, approves stage progression, triggers rollbacks.</a:t>
            </a:r>
          </a:p>
        </p:txBody>
      </p:sp>
      <p:sp>
        <p:nvSpPr>
          <p:cNvPr id="11" name="Rounded Rectangle 10"/>
          <p:cNvSpPr/>
          <p:nvPr/>
        </p:nvSpPr>
        <p:spPr>
          <a:xfrm>
            <a:off x="685800" y="4206240"/>
            <a:ext cx="1874519" cy="1645920"/>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343400"/>
            <a:ext cx="1691640" cy="1280160"/>
          </a:xfrm>
          <a:prstGeom prst="rect">
            <a:avLst/>
          </a:prstGeom>
          <a:noFill/>
        </p:spPr>
        <p:txBody>
          <a:bodyPr wrap="square" lIns="54864" rIns="54864" tIns="36576" bIns="36576" anchor="t">
            <a:spAutoFit/>
          </a:bodyPr>
          <a:lstStyle/>
          <a:p>
            <a:pPr algn="l"/>
            <a:r>
              <a:rPr sz="1000" b="0">
                <a:solidFill>
                  <a:srgbClr val="0EA5E9"/>
                </a:solidFill>
                <a:latin typeface="Segoe UI"/>
              </a:rPr>
              <a:t>Assigned Tools:
• WorkflowEngine, PolicyEvaluator</a:t>
            </a:r>
          </a:p>
        </p:txBody>
      </p:sp>
      <p:sp>
        <p:nvSpPr>
          <p:cNvPr id="13" name="Rounded Rectangle 12"/>
          <p:cNvSpPr/>
          <p:nvPr/>
        </p:nvSpPr>
        <p:spPr>
          <a:xfrm>
            <a:off x="2788920" y="1645920"/>
            <a:ext cx="2148840" cy="4663440"/>
          </a:xfrm>
          <a:prstGeom prst="roundRect">
            <a:avLst/>
          </a:prstGeom>
          <a:solidFill>
            <a:srgbClr val="1E293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926080" y="1874519"/>
            <a:ext cx="1874519" cy="256032"/>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26080" y="1892807"/>
            <a:ext cx="1874519" cy="256032"/>
          </a:xfrm>
          <a:prstGeom prst="rect">
            <a:avLst/>
          </a:prstGeom>
          <a:noFill/>
        </p:spPr>
        <p:txBody>
          <a:bodyPr wrap="square" lIns="54864" rIns="54864" tIns="36576" bIns="36576" anchor="t">
            <a:spAutoFit/>
          </a:bodyPr>
          <a:lstStyle/>
          <a:p>
            <a:pPr algn="ctr"/>
            <a:r>
              <a:rPr sz="900" b="1">
                <a:solidFill>
                  <a:srgbClr val="EF4444"/>
                </a:solidFill>
                <a:latin typeface="Segoe UI"/>
              </a:rPr>
              <a:t>SentinelAgent</a:t>
            </a:r>
          </a:p>
        </p:txBody>
      </p:sp>
      <p:sp>
        <p:nvSpPr>
          <p:cNvPr id="16" name="TextBox 15"/>
          <p:cNvSpPr txBox="1"/>
          <p:nvPr/>
        </p:nvSpPr>
        <p:spPr>
          <a:xfrm>
            <a:off x="2926080" y="2240280"/>
            <a:ext cx="1874519" cy="411480"/>
          </a:xfrm>
          <a:prstGeom prst="rect">
            <a:avLst/>
          </a:prstGeom>
          <a:noFill/>
        </p:spPr>
        <p:txBody>
          <a:bodyPr wrap="square" lIns="54864" rIns="54864" tIns="36576" bIns="36576" anchor="t">
            <a:spAutoFit/>
          </a:bodyPr>
          <a:lstStyle/>
          <a:p>
            <a:pPr algn="l"/>
            <a:r>
              <a:rPr sz="1200" b="1">
                <a:solidFill>
                  <a:srgbClr val="F8FAFC"/>
                </a:solidFill>
                <a:latin typeface="Segoe UI"/>
              </a:rPr>
              <a:t>Principal Security Auditor</a:t>
            </a:r>
          </a:p>
        </p:txBody>
      </p:sp>
      <p:sp>
        <p:nvSpPr>
          <p:cNvPr id="17" name="TextBox 16"/>
          <p:cNvSpPr txBox="1"/>
          <p:nvPr/>
        </p:nvSpPr>
        <p:spPr>
          <a:xfrm>
            <a:off x="2926080" y="2743200"/>
            <a:ext cx="1874519" cy="1280160"/>
          </a:xfrm>
          <a:prstGeom prst="rect">
            <a:avLst/>
          </a:prstGeom>
          <a:noFill/>
        </p:spPr>
        <p:txBody>
          <a:bodyPr wrap="square" lIns="54864" rIns="54864" tIns="36576" bIns="36576" anchor="t">
            <a:spAutoFit/>
          </a:bodyPr>
          <a:lstStyle/>
          <a:p>
            <a:pPr algn="l"/>
            <a:r>
              <a:rPr sz="1000" b="0">
                <a:solidFill>
                  <a:srgbClr val="94A3B8"/>
                </a:solidFill>
                <a:latin typeface="Segoe UI"/>
              </a:rPr>
              <a:t>Goal:
Audits prompts, code patches, and retrieved evidence for PII, API tokens, and policy compliance.</a:t>
            </a:r>
          </a:p>
        </p:txBody>
      </p:sp>
      <p:sp>
        <p:nvSpPr>
          <p:cNvPr id="18" name="Rounded Rectangle 17"/>
          <p:cNvSpPr/>
          <p:nvPr/>
        </p:nvSpPr>
        <p:spPr>
          <a:xfrm>
            <a:off x="2926080" y="4206240"/>
            <a:ext cx="1874519" cy="1645920"/>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7520" y="4343400"/>
            <a:ext cx="1691640" cy="1280160"/>
          </a:xfrm>
          <a:prstGeom prst="rect">
            <a:avLst/>
          </a:prstGeom>
          <a:noFill/>
        </p:spPr>
        <p:txBody>
          <a:bodyPr wrap="square" lIns="54864" rIns="54864" tIns="36576" bIns="36576" anchor="t">
            <a:spAutoFit/>
          </a:bodyPr>
          <a:lstStyle/>
          <a:p>
            <a:pPr algn="l"/>
            <a:r>
              <a:rPr sz="1000" b="0">
                <a:solidFill>
                  <a:srgbClr val="EF4444"/>
                </a:solidFill>
                <a:latin typeface="Segoe UI"/>
              </a:rPr>
              <a:t>Assigned Tools:
• detect_pii(), detect_secrets()</a:t>
            </a:r>
          </a:p>
        </p:txBody>
      </p:sp>
      <p:sp>
        <p:nvSpPr>
          <p:cNvPr id="20" name="Rounded Rectangle 19"/>
          <p:cNvSpPr/>
          <p:nvPr/>
        </p:nvSpPr>
        <p:spPr>
          <a:xfrm>
            <a:off x="5029200" y="1645920"/>
            <a:ext cx="2148840" cy="466344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166360" y="1874519"/>
            <a:ext cx="1874519" cy="256032"/>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66360" y="1892807"/>
            <a:ext cx="1874519" cy="256032"/>
          </a:xfrm>
          <a:prstGeom prst="rect">
            <a:avLst/>
          </a:prstGeom>
          <a:noFill/>
        </p:spPr>
        <p:txBody>
          <a:bodyPr wrap="square" lIns="54864" rIns="54864" tIns="36576" bIns="36576" anchor="t">
            <a:spAutoFit/>
          </a:bodyPr>
          <a:lstStyle/>
          <a:p>
            <a:pPr algn="ctr"/>
            <a:r>
              <a:rPr sz="900" b="1">
                <a:solidFill>
                  <a:srgbClr val="3B82F6"/>
                </a:solidFill>
                <a:latin typeface="Segoe UI"/>
              </a:rPr>
              <a:t>ContextRetrieverAgent</a:t>
            </a:r>
          </a:p>
        </p:txBody>
      </p:sp>
      <p:sp>
        <p:nvSpPr>
          <p:cNvPr id="23" name="TextBox 22"/>
          <p:cNvSpPr txBox="1"/>
          <p:nvPr/>
        </p:nvSpPr>
        <p:spPr>
          <a:xfrm>
            <a:off x="5166360" y="2240280"/>
            <a:ext cx="1874519" cy="411480"/>
          </a:xfrm>
          <a:prstGeom prst="rect">
            <a:avLst/>
          </a:prstGeom>
          <a:noFill/>
        </p:spPr>
        <p:txBody>
          <a:bodyPr wrap="square" lIns="54864" rIns="54864" tIns="36576" bIns="36576" anchor="t">
            <a:spAutoFit/>
          </a:bodyPr>
          <a:lstStyle/>
          <a:p>
            <a:pPr algn="l"/>
            <a:r>
              <a:rPr sz="1200" b="1">
                <a:solidFill>
                  <a:srgbClr val="F8FAFC"/>
                </a:solidFill>
                <a:latin typeface="Segoe UI"/>
              </a:rPr>
              <a:t>Repository Archivist</a:t>
            </a:r>
          </a:p>
        </p:txBody>
      </p:sp>
      <p:sp>
        <p:nvSpPr>
          <p:cNvPr id="24" name="TextBox 23"/>
          <p:cNvSpPr txBox="1"/>
          <p:nvPr/>
        </p:nvSpPr>
        <p:spPr>
          <a:xfrm>
            <a:off x="5166360" y="2743200"/>
            <a:ext cx="1874519" cy="1280160"/>
          </a:xfrm>
          <a:prstGeom prst="rect">
            <a:avLst/>
          </a:prstGeom>
          <a:noFill/>
        </p:spPr>
        <p:txBody>
          <a:bodyPr wrap="square" lIns="54864" rIns="54864" tIns="36576" bIns="36576" anchor="t">
            <a:spAutoFit/>
          </a:bodyPr>
          <a:lstStyle/>
          <a:p>
            <a:pPr algn="l"/>
            <a:r>
              <a:rPr sz="1000" b="0">
                <a:solidFill>
                  <a:srgbClr val="94A3B8"/>
                </a:solidFill>
                <a:latin typeface="Segoe UI"/>
              </a:rPr>
              <a:t>Goal:
Retrieves high-relevance code snippets and architectural context from Qdrant vector DB.</a:t>
            </a:r>
          </a:p>
        </p:txBody>
      </p:sp>
      <p:sp>
        <p:nvSpPr>
          <p:cNvPr id="25" name="Rounded Rectangle 24"/>
          <p:cNvSpPr/>
          <p:nvPr/>
        </p:nvSpPr>
        <p:spPr>
          <a:xfrm>
            <a:off x="5166360" y="4206240"/>
            <a:ext cx="1874519" cy="1645920"/>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57800" y="4343400"/>
            <a:ext cx="1691640" cy="1280160"/>
          </a:xfrm>
          <a:prstGeom prst="rect">
            <a:avLst/>
          </a:prstGeom>
          <a:noFill/>
        </p:spPr>
        <p:txBody>
          <a:bodyPr wrap="square" lIns="54864" rIns="54864" tIns="36576" bIns="36576" anchor="t">
            <a:spAutoFit/>
          </a:bodyPr>
          <a:lstStyle/>
          <a:p>
            <a:pPr algn="l"/>
            <a:r>
              <a:rPr sz="1000" b="0">
                <a:solidFill>
                  <a:srgbClr val="3B82F6"/>
                </a:solidFill>
                <a:latin typeface="Segoe UI"/>
              </a:rPr>
              <a:t>Assigned Tools:
• qdrant_search(), github_indexer()</a:t>
            </a:r>
          </a:p>
        </p:txBody>
      </p:sp>
      <p:sp>
        <p:nvSpPr>
          <p:cNvPr id="27" name="Rounded Rectangle 26"/>
          <p:cNvSpPr/>
          <p:nvPr/>
        </p:nvSpPr>
        <p:spPr>
          <a:xfrm>
            <a:off x="7269480" y="1645920"/>
            <a:ext cx="2148840" cy="466344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406640" y="1874519"/>
            <a:ext cx="1874519" cy="256032"/>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06640" y="1892807"/>
            <a:ext cx="1874519" cy="256032"/>
          </a:xfrm>
          <a:prstGeom prst="rect">
            <a:avLst/>
          </a:prstGeom>
          <a:noFill/>
        </p:spPr>
        <p:txBody>
          <a:bodyPr wrap="square" lIns="54864" rIns="54864" tIns="36576" bIns="36576" anchor="t">
            <a:spAutoFit/>
          </a:bodyPr>
          <a:lstStyle/>
          <a:p>
            <a:pPr algn="ctr"/>
            <a:r>
              <a:rPr sz="900" b="1">
                <a:solidFill>
                  <a:srgbClr val="F59E0B"/>
                </a:solidFill>
                <a:latin typeface="Segoe UI"/>
              </a:rPr>
              <a:t>BlastRadiusAnalystAgent</a:t>
            </a:r>
          </a:p>
        </p:txBody>
      </p:sp>
      <p:sp>
        <p:nvSpPr>
          <p:cNvPr id="30" name="TextBox 29"/>
          <p:cNvSpPr txBox="1"/>
          <p:nvPr/>
        </p:nvSpPr>
        <p:spPr>
          <a:xfrm>
            <a:off x="7406640" y="2240280"/>
            <a:ext cx="1874519" cy="411480"/>
          </a:xfrm>
          <a:prstGeom prst="rect">
            <a:avLst/>
          </a:prstGeom>
          <a:noFill/>
        </p:spPr>
        <p:txBody>
          <a:bodyPr wrap="square" lIns="54864" rIns="54864" tIns="36576" bIns="36576" anchor="t">
            <a:spAutoFit/>
          </a:bodyPr>
          <a:lstStyle/>
          <a:p>
            <a:pPr algn="l"/>
            <a:r>
              <a:rPr sz="1200" b="1">
                <a:solidFill>
                  <a:srgbClr val="F8FAFC"/>
                </a:solidFill>
                <a:latin typeface="Segoe UI"/>
              </a:rPr>
              <a:t>Software Architect</a:t>
            </a:r>
          </a:p>
        </p:txBody>
      </p:sp>
      <p:sp>
        <p:nvSpPr>
          <p:cNvPr id="31" name="TextBox 30"/>
          <p:cNvSpPr txBox="1"/>
          <p:nvPr/>
        </p:nvSpPr>
        <p:spPr>
          <a:xfrm>
            <a:off x="7406640" y="2743200"/>
            <a:ext cx="1874519" cy="1280160"/>
          </a:xfrm>
          <a:prstGeom prst="rect">
            <a:avLst/>
          </a:prstGeom>
          <a:noFill/>
        </p:spPr>
        <p:txBody>
          <a:bodyPr wrap="square" lIns="54864" rIns="54864" tIns="36576" bIns="36576" anchor="t">
            <a:spAutoFit/>
          </a:bodyPr>
          <a:lstStyle/>
          <a:p>
            <a:pPr algn="l"/>
            <a:r>
              <a:rPr sz="1000" b="0">
                <a:solidFill>
                  <a:srgbClr val="94A3B8"/>
                </a:solidFill>
                <a:latin typeface="Segoe UI"/>
              </a:rPr>
              <a:t>Goal:
Computes AST dependency trees and transitive impact to prevent multi-file regressions.</a:t>
            </a:r>
          </a:p>
        </p:txBody>
      </p:sp>
      <p:sp>
        <p:nvSpPr>
          <p:cNvPr id="32" name="Rounded Rectangle 31"/>
          <p:cNvSpPr/>
          <p:nvPr/>
        </p:nvSpPr>
        <p:spPr>
          <a:xfrm>
            <a:off x="7406640" y="4206240"/>
            <a:ext cx="1874519" cy="1645920"/>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98079" y="4343400"/>
            <a:ext cx="1691640" cy="1280160"/>
          </a:xfrm>
          <a:prstGeom prst="rect">
            <a:avLst/>
          </a:prstGeom>
          <a:noFill/>
        </p:spPr>
        <p:txBody>
          <a:bodyPr wrap="square" lIns="54864" rIns="54864" tIns="36576" bIns="36576" anchor="t">
            <a:spAutoFit/>
          </a:bodyPr>
          <a:lstStyle/>
          <a:p>
            <a:pPr algn="l"/>
            <a:r>
              <a:rPr sz="1000" b="0">
                <a:solidFill>
                  <a:srgbClr val="F59E0B"/>
                </a:solidFill>
                <a:latin typeface="Segoe UI"/>
              </a:rPr>
              <a:t>Assigned Tools:
• analyze_ast(), get_symbols()</a:t>
            </a:r>
          </a:p>
        </p:txBody>
      </p:sp>
      <p:sp>
        <p:nvSpPr>
          <p:cNvPr id="34" name="Rounded Rectangle 33"/>
          <p:cNvSpPr/>
          <p:nvPr/>
        </p:nvSpPr>
        <p:spPr>
          <a:xfrm>
            <a:off x="9509760" y="1645920"/>
            <a:ext cx="2148840" cy="466344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9646920" y="1874519"/>
            <a:ext cx="1874519" cy="256032"/>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46920" y="1892807"/>
            <a:ext cx="1874519" cy="256032"/>
          </a:xfrm>
          <a:prstGeom prst="rect">
            <a:avLst/>
          </a:prstGeom>
          <a:noFill/>
        </p:spPr>
        <p:txBody>
          <a:bodyPr wrap="square" lIns="54864" rIns="54864" tIns="36576" bIns="36576" anchor="t">
            <a:spAutoFit/>
          </a:bodyPr>
          <a:lstStyle/>
          <a:p>
            <a:pPr algn="ctr"/>
            <a:r>
              <a:rPr sz="900" b="1">
                <a:solidFill>
                  <a:srgbClr val="10B981"/>
                </a:solidFill>
                <a:latin typeface="Segoe UI"/>
              </a:rPr>
              <a:t>DevOpsCoderAgent</a:t>
            </a:r>
          </a:p>
        </p:txBody>
      </p:sp>
      <p:sp>
        <p:nvSpPr>
          <p:cNvPr id="37" name="TextBox 36"/>
          <p:cNvSpPr txBox="1"/>
          <p:nvPr/>
        </p:nvSpPr>
        <p:spPr>
          <a:xfrm>
            <a:off x="9646920" y="2240280"/>
            <a:ext cx="1874519" cy="411480"/>
          </a:xfrm>
          <a:prstGeom prst="rect">
            <a:avLst/>
          </a:prstGeom>
          <a:noFill/>
        </p:spPr>
        <p:txBody>
          <a:bodyPr wrap="square" lIns="54864" rIns="54864" tIns="36576" bIns="36576" anchor="t">
            <a:spAutoFit/>
          </a:bodyPr>
          <a:lstStyle/>
          <a:p>
            <a:pPr algn="l"/>
            <a:r>
              <a:rPr sz="1200" b="1">
                <a:solidFill>
                  <a:srgbClr val="F8FAFC"/>
                </a:solidFill>
                <a:latin typeface="Segoe UI"/>
              </a:rPr>
              <a:t>Principal Software Engineer</a:t>
            </a:r>
          </a:p>
        </p:txBody>
      </p:sp>
      <p:sp>
        <p:nvSpPr>
          <p:cNvPr id="38" name="TextBox 37"/>
          <p:cNvSpPr txBox="1"/>
          <p:nvPr/>
        </p:nvSpPr>
        <p:spPr>
          <a:xfrm>
            <a:off x="9646920" y="2743200"/>
            <a:ext cx="1874519" cy="1280160"/>
          </a:xfrm>
          <a:prstGeom prst="rect">
            <a:avLst/>
          </a:prstGeom>
          <a:noFill/>
        </p:spPr>
        <p:txBody>
          <a:bodyPr wrap="square" lIns="54864" rIns="54864" tIns="36576" bIns="36576" anchor="t">
            <a:spAutoFit/>
          </a:bodyPr>
          <a:lstStyle/>
          <a:p>
            <a:pPr algn="l"/>
            <a:r>
              <a:rPr sz="1000" b="0">
                <a:solidFill>
                  <a:srgbClr val="94A3B8"/>
                </a:solidFill>
                <a:latin typeface="Segoe UI"/>
              </a:rPr>
              <a:t>Goal:
Synthesizes idiomatic, syntactically verified code patches and generates unit tests.</a:t>
            </a:r>
          </a:p>
        </p:txBody>
      </p:sp>
      <p:sp>
        <p:nvSpPr>
          <p:cNvPr id="39" name="Rounded Rectangle 38"/>
          <p:cNvSpPr/>
          <p:nvPr/>
        </p:nvSpPr>
        <p:spPr>
          <a:xfrm>
            <a:off x="9646920" y="4206240"/>
            <a:ext cx="1874519" cy="1645920"/>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738360" y="4343400"/>
            <a:ext cx="1691640" cy="1280160"/>
          </a:xfrm>
          <a:prstGeom prst="rect">
            <a:avLst/>
          </a:prstGeom>
          <a:noFill/>
        </p:spPr>
        <p:txBody>
          <a:bodyPr wrap="square" lIns="54864" rIns="54864" tIns="36576" bIns="36576" anchor="t">
            <a:spAutoFit/>
          </a:bodyPr>
          <a:lstStyle/>
          <a:p>
            <a:pPr algn="l"/>
            <a:r>
              <a:rPr sz="1000" b="0">
                <a:solidFill>
                  <a:srgbClr val="10B981"/>
                </a:solidFill>
                <a:latin typeface="Segoe UI"/>
              </a:rPr>
              <a:t>Assigned Tools:
• generate_code(), run_sandbox()</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PLANNED FEATURE 3  |  WHAT WE ARE PLANNING TO DEPLOY</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16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Planned Feature 3: Air-Gapped Local LLM Privacy Gateway</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What we are planning to deploy: Dual-engine routing to on-premise Ollama (qwen2.5-coder) to keep proprietary code 100% on-premise.</a:t>
            </a:r>
          </a:p>
        </p:txBody>
      </p:sp>
      <p:sp>
        <p:nvSpPr>
          <p:cNvPr id="6" name="Rounded Rectangle 5"/>
          <p:cNvSpPr/>
          <p:nvPr/>
        </p:nvSpPr>
        <p:spPr>
          <a:xfrm>
            <a:off x="548640" y="1645920"/>
            <a:ext cx="5394960" cy="466344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920240"/>
            <a:ext cx="4846320" cy="320040"/>
          </a:xfrm>
          <a:prstGeom prst="rect">
            <a:avLst/>
          </a:prstGeom>
          <a:noFill/>
        </p:spPr>
        <p:txBody>
          <a:bodyPr wrap="square" lIns="54864" rIns="54864" tIns="36576" bIns="36576" anchor="t">
            <a:spAutoFit/>
          </a:bodyPr>
          <a:lstStyle/>
          <a:p>
            <a:pPr algn="l"/>
            <a:r>
              <a:rPr sz="1600" b="1">
                <a:solidFill>
                  <a:srgbClr val="F59E0B"/>
                </a:solidFill>
                <a:latin typeface="Segoe UI"/>
              </a:rPr>
              <a:t>Planned Dual-Engine Routing Architecture</a:t>
            </a:r>
          </a:p>
        </p:txBody>
      </p:sp>
      <p:sp>
        <p:nvSpPr>
          <p:cNvPr id="8" name="TextBox 7"/>
          <p:cNvSpPr txBox="1"/>
          <p:nvPr/>
        </p:nvSpPr>
        <p:spPr>
          <a:xfrm>
            <a:off x="822960" y="2286000"/>
            <a:ext cx="4846320" cy="228600"/>
          </a:xfrm>
          <a:prstGeom prst="rect">
            <a:avLst/>
          </a:prstGeom>
          <a:noFill/>
        </p:spPr>
        <p:txBody>
          <a:bodyPr wrap="square" lIns="54864" rIns="54864" tIns="36576" bIns="36576" anchor="t">
            <a:spAutoFit/>
          </a:bodyPr>
          <a:lstStyle/>
          <a:p>
            <a:pPr algn="l"/>
            <a:r>
              <a:rPr sz="1200" b="0">
                <a:solidFill>
                  <a:srgbClr val="94A3B8"/>
                </a:solidFill>
                <a:latin typeface="Segoe UI"/>
              </a:rPr>
              <a:t>backend/app/generation/llm_client.py (Planned Extension)</a:t>
            </a:r>
          </a:p>
        </p:txBody>
      </p:sp>
      <p:sp>
        <p:nvSpPr>
          <p:cNvPr id="9" name="Rounded Rectangle 8"/>
          <p:cNvSpPr/>
          <p:nvPr/>
        </p:nvSpPr>
        <p:spPr>
          <a:xfrm>
            <a:off x="822960" y="2651760"/>
            <a:ext cx="4846320" cy="1371600"/>
          </a:xfrm>
          <a:prstGeom prst="roundRect">
            <a:avLst/>
          </a:prstGeom>
          <a:solidFill>
            <a:srgbClr val="18212F"/>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788920"/>
            <a:ext cx="4480560" cy="274320"/>
          </a:xfrm>
          <a:prstGeom prst="rect">
            <a:avLst/>
          </a:prstGeom>
          <a:noFill/>
        </p:spPr>
        <p:txBody>
          <a:bodyPr wrap="square" lIns="54864" rIns="54864" tIns="36576" bIns="36576" anchor="t">
            <a:spAutoFit/>
          </a:bodyPr>
          <a:lstStyle/>
          <a:p>
            <a:pPr algn="l"/>
            <a:r>
              <a:rPr sz="1200" b="1">
                <a:solidFill>
                  <a:srgbClr val="0EA5E9"/>
                </a:solidFill>
                <a:latin typeface="Segoe UI"/>
              </a:rPr>
              <a:t>Route A: Cloud Inference (Google Gemini / Groq)</a:t>
            </a:r>
          </a:p>
        </p:txBody>
      </p:sp>
      <p:sp>
        <p:nvSpPr>
          <p:cNvPr id="11" name="TextBox 10"/>
          <p:cNvSpPr txBox="1"/>
          <p:nvPr/>
        </p:nvSpPr>
        <p:spPr>
          <a:xfrm>
            <a:off x="1005840" y="3108960"/>
            <a:ext cx="4480560" cy="777240"/>
          </a:xfrm>
          <a:prstGeom prst="rect">
            <a:avLst/>
          </a:prstGeom>
          <a:noFill/>
        </p:spPr>
        <p:txBody>
          <a:bodyPr wrap="square" lIns="54864" rIns="54864" tIns="36576" bIns="36576" anchor="t">
            <a:spAutoFit/>
          </a:bodyPr>
          <a:lstStyle/>
          <a:p>
            <a:pPr algn="l"/>
            <a:r>
              <a:rPr sz="1000" b="0">
                <a:solidFill>
                  <a:srgbClr val="F8FAFC"/>
                </a:solidFill>
                <a:latin typeface="Segoe UI"/>
              </a:rPr>
              <a:t>Used for public repositories, low-risk requests, and general code analysis. Delivers sub-second response times using gemini-flash-lite-latest or llama3.3 on Groq.</a:t>
            </a:r>
          </a:p>
        </p:txBody>
      </p:sp>
      <p:sp>
        <p:nvSpPr>
          <p:cNvPr id="12" name="Rounded Rectangle 11"/>
          <p:cNvSpPr/>
          <p:nvPr/>
        </p:nvSpPr>
        <p:spPr>
          <a:xfrm>
            <a:off x="822960" y="4206240"/>
            <a:ext cx="4846320" cy="1828800"/>
          </a:xfrm>
          <a:prstGeom prst="roundRect">
            <a:avLst/>
          </a:prstGeom>
          <a:solidFill>
            <a:srgbClr val="231E14"/>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343400"/>
            <a:ext cx="4480560" cy="274320"/>
          </a:xfrm>
          <a:prstGeom prst="rect">
            <a:avLst/>
          </a:prstGeom>
          <a:noFill/>
        </p:spPr>
        <p:txBody>
          <a:bodyPr wrap="square" lIns="54864" rIns="54864" tIns="36576" bIns="36576" anchor="t">
            <a:spAutoFit/>
          </a:bodyPr>
          <a:lstStyle/>
          <a:p>
            <a:pPr algn="l"/>
            <a:r>
              <a:rPr sz="1200" b="1">
                <a:solidFill>
                  <a:srgbClr val="F59E0B"/>
                </a:solidFill>
                <a:latin typeface="Segoe UI"/>
              </a:rPr>
              <a:t>Route B: Planned Air-Gapped Local Inference (Ollama)</a:t>
            </a:r>
          </a:p>
        </p:txBody>
      </p:sp>
      <p:sp>
        <p:nvSpPr>
          <p:cNvPr id="14" name="TextBox 13"/>
          <p:cNvSpPr txBox="1"/>
          <p:nvPr/>
        </p:nvSpPr>
        <p:spPr>
          <a:xfrm>
            <a:off x="1005840" y="4663440"/>
            <a:ext cx="4480560" cy="1234440"/>
          </a:xfrm>
          <a:prstGeom prst="rect">
            <a:avLst/>
          </a:prstGeom>
          <a:noFill/>
        </p:spPr>
        <p:txBody>
          <a:bodyPr wrap="square" lIns="54864" rIns="54864" tIns="36576" bIns="36576" anchor="t">
            <a:spAutoFit/>
          </a:bodyPr>
          <a:lstStyle/>
          <a:p>
            <a:pPr algn="l"/>
            <a:r>
              <a:rPr sz="1000" b="0">
                <a:solidFill>
                  <a:srgbClr val="F8FAFC"/>
                </a:solidFill>
                <a:latin typeface="Segoe UI"/>
              </a:rPr>
              <a:t>Activated when proprietary code, internal IPs, or sensitive credentials are detected, or when user flips the dashboard toggle. Routes to http://localhost:11434.
Supported Models: qwen2.5-coder:7b (top coding model), llama3.2 (lightweight CPU), deepseek-r1 (reasoning).</a:t>
            </a:r>
          </a:p>
        </p:txBody>
      </p:sp>
      <p:sp>
        <p:nvSpPr>
          <p:cNvPr id="15" name="Rounded Rectangle 14"/>
          <p:cNvSpPr/>
          <p:nvPr/>
        </p:nvSpPr>
        <p:spPr>
          <a:xfrm>
            <a:off x="6217920" y="1645920"/>
            <a:ext cx="5394960" cy="4663440"/>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1920240"/>
            <a:ext cx="4846320" cy="320040"/>
          </a:xfrm>
          <a:prstGeom prst="rect">
            <a:avLst/>
          </a:prstGeom>
          <a:noFill/>
        </p:spPr>
        <p:txBody>
          <a:bodyPr wrap="square" lIns="54864" rIns="54864" tIns="36576" bIns="36576" anchor="t">
            <a:spAutoFit/>
          </a:bodyPr>
          <a:lstStyle/>
          <a:p>
            <a:pPr algn="l"/>
            <a:r>
              <a:rPr sz="1600" b="1">
                <a:solidFill>
                  <a:srgbClr val="0EA5E9"/>
                </a:solidFill>
                <a:latin typeface="Segoe UI"/>
              </a:rPr>
              <a:t>Academic &amp; Enterprise Significance</a:t>
            </a:r>
          </a:p>
        </p:txBody>
      </p:sp>
      <p:sp>
        <p:nvSpPr>
          <p:cNvPr id="17" name="TextBox 16"/>
          <p:cNvSpPr txBox="1"/>
          <p:nvPr/>
        </p:nvSpPr>
        <p:spPr>
          <a:xfrm>
            <a:off x="6492240" y="2423160"/>
            <a:ext cx="4754880" cy="822960"/>
          </a:xfrm>
          <a:prstGeom prst="rect">
            <a:avLst/>
          </a:prstGeom>
          <a:noFill/>
        </p:spPr>
        <p:txBody>
          <a:bodyPr wrap="square" lIns="54864" rIns="54864" tIns="36576" bIns="36576" anchor="t">
            <a:spAutoFit/>
          </a:bodyPr>
          <a:lstStyle/>
          <a:p>
            <a:pPr algn="l"/>
            <a:r>
              <a:rPr sz="1100" b="0">
                <a:solidFill>
                  <a:srgbClr val="F8FAFC"/>
                </a:solidFill>
                <a:latin typeface="Segoe UI"/>
              </a:rPr>
              <a:t>• CSE3101 Outcome CO2:
  Directly fulfills the syllabus requirement to 'build secure, privacy-preserving AI solutions using local LLMs' (Pages 2 &amp; 4).</a:t>
            </a:r>
          </a:p>
        </p:txBody>
      </p:sp>
      <p:sp>
        <p:nvSpPr>
          <p:cNvPr id="18" name="TextBox 17"/>
          <p:cNvSpPr txBox="1"/>
          <p:nvPr/>
        </p:nvSpPr>
        <p:spPr>
          <a:xfrm>
            <a:off x="6492240" y="3337560"/>
            <a:ext cx="4754880" cy="822960"/>
          </a:xfrm>
          <a:prstGeom prst="rect">
            <a:avLst/>
          </a:prstGeom>
          <a:noFill/>
        </p:spPr>
        <p:txBody>
          <a:bodyPr wrap="square" lIns="54864" rIns="54864" tIns="36576" bIns="36576" anchor="t">
            <a:spAutoFit/>
          </a:bodyPr>
          <a:lstStyle/>
          <a:p>
            <a:pPr algn="l"/>
            <a:r>
              <a:rPr sz="1100" b="0">
                <a:solidFill>
                  <a:srgbClr val="F8FAFC"/>
                </a:solidFill>
                <a:latin typeface="Segoe UI"/>
              </a:rPr>
              <a:t>• Enterprise Compliance:
  Defense, healthcare, and banking regulations (HIPAA, RBI, GDPR) strictly forbid uploading source code to third-party multi-tenant clouds.</a:t>
            </a:r>
          </a:p>
        </p:txBody>
      </p:sp>
      <p:sp>
        <p:nvSpPr>
          <p:cNvPr id="19" name="TextBox 18"/>
          <p:cNvSpPr txBox="1"/>
          <p:nvPr/>
        </p:nvSpPr>
        <p:spPr>
          <a:xfrm>
            <a:off x="6492240" y="4251960"/>
            <a:ext cx="4754880" cy="822960"/>
          </a:xfrm>
          <a:prstGeom prst="rect">
            <a:avLst/>
          </a:prstGeom>
          <a:noFill/>
        </p:spPr>
        <p:txBody>
          <a:bodyPr wrap="square" lIns="54864" rIns="54864" tIns="36576" bIns="36576" anchor="t">
            <a:spAutoFit/>
          </a:bodyPr>
          <a:lstStyle/>
          <a:p>
            <a:pPr algn="l"/>
            <a:r>
              <a:rPr sz="1100" b="0">
                <a:solidFill>
                  <a:srgbClr val="F8FAFC"/>
                </a:solidFill>
                <a:latin typeface="Segoe UI"/>
              </a:rPr>
              <a:t>• Hardware Optimization:
  Defaults to qwen2.5-coder:1.5b / 3b on student CPU laptops for zero-cost instant inference, scaling to 7B with discrete GPUs.</a:t>
            </a:r>
          </a:p>
        </p:txBody>
      </p:sp>
      <p:sp>
        <p:nvSpPr>
          <p:cNvPr id="20" name="TextBox 19"/>
          <p:cNvSpPr txBox="1"/>
          <p:nvPr/>
        </p:nvSpPr>
        <p:spPr>
          <a:xfrm>
            <a:off x="6492240" y="5166360"/>
            <a:ext cx="4754880" cy="822960"/>
          </a:xfrm>
          <a:prstGeom prst="rect">
            <a:avLst/>
          </a:prstGeom>
          <a:noFill/>
        </p:spPr>
        <p:txBody>
          <a:bodyPr wrap="square" lIns="54864" rIns="54864" tIns="36576" bIns="36576" anchor="t">
            <a:spAutoFit/>
          </a:bodyPr>
          <a:lstStyle/>
          <a:p>
            <a:pPr algn="l"/>
            <a:r>
              <a:rPr sz="1100" b="0">
                <a:solidFill>
                  <a:srgbClr val="F8FAFC"/>
                </a:solidFill>
                <a:latin typeface="Segoe UI"/>
              </a:rPr>
              <a:t>• Markdown Sanitizer Layer:
  Extracts pure Python code fences from local LLM outputs, stripping conversational chatter automatically.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PLANNED FEATURE 4  |  WHAT WE ARE PLANNING TO EXPOSE</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17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Planned Feature 4: Model Context Protocol (MCP) Server Exposure</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What we are planning to expose: Standardized JSON-RPC protocol allowing external IDEs (Cursor, Claude) to use Kavach tools.</a:t>
            </a:r>
          </a:p>
        </p:txBody>
      </p:sp>
      <p:sp>
        <p:nvSpPr>
          <p:cNvPr id="6" name="Rounded Rectangle 5"/>
          <p:cNvSpPr/>
          <p:nvPr/>
        </p:nvSpPr>
        <p:spPr>
          <a:xfrm>
            <a:off x="548640" y="1645920"/>
            <a:ext cx="5394960" cy="4663440"/>
          </a:xfrm>
          <a:prstGeom prst="roundRect">
            <a:avLst/>
          </a:prstGeom>
          <a:solidFill>
            <a:srgbClr val="1E293B"/>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920240"/>
            <a:ext cx="4846320" cy="320040"/>
          </a:xfrm>
          <a:prstGeom prst="rect">
            <a:avLst/>
          </a:prstGeom>
          <a:noFill/>
        </p:spPr>
        <p:txBody>
          <a:bodyPr wrap="square" lIns="54864" rIns="54864" tIns="36576" bIns="36576" anchor="t">
            <a:spAutoFit/>
          </a:bodyPr>
          <a:lstStyle/>
          <a:p>
            <a:pPr algn="l"/>
            <a:r>
              <a:rPr sz="1600" b="1">
                <a:solidFill>
                  <a:srgbClr val="A855F7"/>
                </a:solidFill>
                <a:latin typeface="Segoe UI"/>
              </a:rPr>
              <a:t>Planned Tool Decoupling via MCP (mcp_server.py)</a:t>
            </a:r>
          </a:p>
        </p:txBody>
      </p:sp>
      <p:sp>
        <p:nvSpPr>
          <p:cNvPr id="8" name="TextBox 7"/>
          <p:cNvSpPr txBox="1"/>
          <p:nvPr/>
        </p:nvSpPr>
        <p:spPr>
          <a:xfrm>
            <a:off x="822960" y="2286000"/>
            <a:ext cx="4846320" cy="228600"/>
          </a:xfrm>
          <a:prstGeom prst="rect">
            <a:avLst/>
          </a:prstGeom>
          <a:noFill/>
        </p:spPr>
        <p:txBody>
          <a:bodyPr wrap="square" lIns="54864" rIns="54864" tIns="36576" bIns="36576" anchor="t">
            <a:spAutoFit/>
          </a:bodyPr>
          <a:lstStyle/>
          <a:p>
            <a:pPr algn="l"/>
            <a:r>
              <a:rPr sz="1200" b="0">
                <a:solidFill>
                  <a:srgbClr val="94A3B8"/>
                </a:solidFill>
                <a:latin typeface="Segoe UI"/>
              </a:rPr>
              <a:t>Exposing Native Tools to Developer IDEs over stdio / SSE</a:t>
            </a:r>
          </a:p>
        </p:txBody>
      </p:sp>
      <p:sp>
        <p:nvSpPr>
          <p:cNvPr id="9" name="Rounded Rectangle 8"/>
          <p:cNvSpPr/>
          <p:nvPr/>
        </p:nvSpPr>
        <p:spPr>
          <a:xfrm>
            <a:off x="822960" y="2606040"/>
            <a:ext cx="4846320" cy="1051560"/>
          </a:xfrm>
          <a:prstGeom prst="roundRect">
            <a:avLst/>
          </a:prstGeom>
          <a:solidFill>
            <a:srgbClr val="18212F"/>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697480"/>
            <a:ext cx="4480560" cy="228600"/>
          </a:xfrm>
          <a:prstGeom prst="rect">
            <a:avLst/>
          </a:prstGeom>
          <a:noFill/>
        </p:spPr>
        <p:txBody>
          <a:bodyPr wrap="square" lIns="54864" rIns="54864" tIns="36576" bIns="36576" anchor="t">
            <a:spAutoFit/>
          </a:bodyPr>
          <a:lstStyle/>
          <a:p>
            <a:pPr algn="l"/>
            <a:r>
              <a:rPr sz="1100" b="1">
                <a:solidFill>
                  <a:srgbClr val="A855F7"/>
                </a:solidFill>
                <a:latin typeface="Segoe UI"/>
              </a:rPr>
              <a:t>kavach_scan_security</a:t>
            </a:r>
          </a:p>
        </p:txBody>
      </p:sp>
      <p:sp>
        <p:nvSpPr>
          <p:cNvPr id="11" name="TextBox 10"/>
          <p:cNvSpPr txBox="1"/>
          <p:nvPr/>
        </p:nvSpPr>
        <p:spPr>
          <a:xfrm>
            <a:off x="1005840" y="2926080"/>
            <a:ext cx="4480560" cy="320040"/>
          </a:xfrm>
          <a:prstGeom prst="rect">
            <a:avLst/>
          </a:prstGeom>
          <a:noFill/>
        </p:spPr>
        <p:txBody>
          <a:bodyPr wrap="square" lIns="54864" rIns="54864" tIns="36576" bIns="36576" anchor="t">
            <a:spAutoFit/>
          </a:bodyPr>
          <a:lstStyle/>
          <a:p>
            <a:pPr algn="l"/>
            <a:r>
              <a:rPr sz="1000" b="0">
                <a:solidFill>
                  <a:srgbClr val="F8FAFC"/>
                </a:solidFill>
                <a:latin typeface="Segoe UI"/>
              </a:rPr>
              <a:t>Scans code for PII, hardcoded secrets, and policy risk scores before committing.</a:t>
            </a:r>
          </a:p>
        </p:txBody>
      </p:sp>
      <p:sp>
        <p:nvSpPr>
          <p:cNvPr id="12" name="TextBox 11"/>
          <p:cNvSpPr txBox="1"/>
          <p:nvPr/>
        </p:nvSpPr>
        <p:spPr>
          <a:xfrm>
            <a:off x="1005840" y="3246120"/>
            <a:ext cx="4480560" cy="320040"/>
          </a:xfrm>
          <a:prstGeom prst="rect">
            <a:avLst/>
          </a:prstGeom>
          <a:noFill/>
        </p:spPr>
        <p:txBody>
          <a:bodyPr wrap="square" lIns="54864" rIns="54864" tIns="36576" bIns="36576" anchor="t">
            <a:spAutoFit/>
          </a:bodyPr>
          <a:lstStyle/>
          <a:p>
            <a:pPr algn="l"/>
            <a:r>
              <a:rPr sz="900" b="0">
                <a:solidFill>
                  <a:srgbClr val="94A3B8"/>
                </a:solidFill>
                <a:latin typeface="Segoe UI"/>
              </a:rPr>
              <a:t>{ code: str, filename: str } -&gt; { allowed: bool, risk_score: float, policy: str }</a:t>
            </a:r>
          </a:p>
        </p:txBody>
      </p:sp>
      <p:sp>
        <p:nvSpPr>
          <p:cNvPr id="13" name="Rounded Rectangle 12"/>
          <p:cNvSpPr/>
          <p:nvPr/>
        </p:nvSpPr>
        <p:spPr>
          <a:xfrm>
            <a:off x="822960" y="3749039"/>
            <a:ext cx="4846320" cy="1051560"/>
          </a:xfrm>
          <a:prstGeom prst="roundRect">
            <a:avLst/>
          </a:prstGeom>
          <a:solidFill>
            <a:srgbClr val="18212F"/>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840480"/>
            <a:ext cx="4480560" cy="228600"/>
          </a:xfrm>
          <a:prstGeom prst="rect">
            <a:avLst/>
          </a:prstGeom>
          <a:noFill/>
        </p:spPr>
        <p:txBody>
          <a:bodyPr wrap="square" lIns="54864" rIns="54864" tIns="36576" bIns="36576" anchor="t">
            <a:spAutoFit/>
          </a:bodyPr>
          <a:lstStyle/>
          <a:p>
            <a:pPr algn="l"/>
            <a:r>
              <a:rPr sz="1100" b="1">
                <a:solidFill>
                  <a:srgbClr val="A855F7"/>
                </a:solidFill>
                <a:latin typeface="Segoe UI"/>
              </a:rPr>
              <a:t>kavach_get_blast_radius</a:t>
            </a:r>
          </a:p>
        </p:txBody>
      </p:sp>
      <p:sp>
        <p:nvSpPr>
          <p:cNvPr id="15" name="TextBox 14"/>
          <p:cNvSpPr txBox="1"/>
          <p:nvPr/>
        </p:nvSpPr>
        <p:spPr>
          <a:xfrm>
            <a:off x="1005840" y="4069080"/>
            <a:ext cx="4480560" cy="320040"/>
          </a:xfrm>
          <a:prstGeom prst="rect">
            <a:avLst/>
          </a:prstGeom>
          <a:noFill/>
        </p:spPr>
        <p:txBody>
          <a:bodyPr wrap="square" lIns="54864" rIns="54864" tIns="36576" bIns="36576" anchor="t">
            <a:spAutoFit/>
          </a:bodyPr>
          <a:lstStyle/>
          <a:p>
            <a:pPr algn="l"/>
            <a:r>
              <a:rPr sz="1000" b="0">
                <a:solidFill>
                  <a:srgbClr val="F8FAFC"/>
                </a:solidFill>
                <a:latin typeface="Segoe UI"/>
              </a:rPr>
              <a:t>Calculates transitive dependency impact graph for target file.</a:t>
            </a:r>
          </a:p>
        </p:txBody>
      </p:sp>
      <p:sp>
        <p:nvSpPr>
          <p:cNvPr id="16" name="TextBox 15"/>
          <p:cNvSpPr txBox="1"/>
          <p:nvPr/>
        </p:nvSpPr>
        <p:spPr>
          <a:xfrm>
            <a:off x="1005840" y="4389120"/>
            <a:ext cx="4480560" cy="320040"/>
          </a:xfrm>
          <a:prstGeom prst="rect">
            <a:avLst/>
          </a:prstGeom>
          <a:noFill/>
        </p:spPr>
        <p:txBody>
          <a:bodyPr wrap="square" lIns="54864" rIns="54864" tIns="36576" bIns="36576" anchor="t">
            <a:spAutoFit/>
          </a:bodyPr>
          <a:lstStyle/>
          <a:p>
            <a:pPr algn="l"/>
            <a:r>
              <a:rPr sz="900" b="0">
                <a:solidFill>
                  <a:srgbClr val="94A3B8"/>
                </a:solidFill>
                <a:latin typeface="Segoe UI"/>
              </a:rPr>
              <a:t>{ target_file: str, repo_path: str } -&gt; { affected_files: list, blast_score: float }</a:t>
            </a:r>
          </a:p>
        </p:txBody>
      </p:sp>
      <p:sp>
        <p:nvSpPr>
          <p:cNvPr id="17" name="Rounded Rectangle 16"/>
          <p:cNvSpPr/>
          <p:nvPr/>
        </p:nvSpPr>
        <p:spPr>
          <a:xfrm>
            <a:off x="822960" y="4892040"/>
            <a:ext cx="4846320" cy="1051560"/>
          </a:xfrm>
          <a:prstGeom prst="roundRect">
            <a:avLst/>
          </a:prstGeom>
          <a:solidFill>
            <a:srgbClr val="18212F"/>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983480"/>
            <a:ext cx="4480560" cy="228600"/>
          </a:xfrm>
          <a:prstGeom prst="rect">
            <a:avLst/>
          </a:prstGeom>
          <a:noFill/>
        </p:spPr>
        <p:txBody>
          <a:bodyPr wrap="square" lIns="54864" rIns="54864" tIns="36576" bIns="36576" anchor="t">
            <a:spAutoFit/>
          </a:bodyPr>
          <a:lstStyle/>
          <a:p>
            <a:pPr algn="l"/>
            <a:r>
              <a:rPr sz="1100" b="1">
                <a:solidFill>
                  <a:srgbClr val="A855F7"/>
                </a:solidFill>
                <a:latin typeface="Segoe UI"/>
              </a:rPr>
              <a:t>kavach_search_repository</a:t>
            </a:r>
          </a:p>
        </p:txBody>
      </p:sp>
      <p:sp>
        <p:nvSpPr>
          <p:cNvPr id="19" name="TextBox 18"/>
          <p:cNvSpPr txBox="1"/>
          <p:nvPr/>
        </p:nvSpPr>
        <p:spPr>
          <a:xfrm>
            <a:off x="1005840" y="5212080"/>
            <a:ext cx="4480560" cy="320040"/>
          </a:xfrm>
          <a:prstGeom prst="rect">
            <a:avLst/>
          </a:prstGeom>
          <a:noFill/>
        </p:spPr>
        <p:txBody>
          <a:bodyPr wrap="square" lIns="54864" rIns="54864" tIns="36576" bIns="36576" anchor="t">
            <a:spAutoFit/>
          </a:bodyPr>
          <a:lstStyle/>
          <a:p>
            <a:pPr algn="l"/>
            <a:r>
              <a:rPr sz="1000" b="0">
                <a:solidFill>
                  <a:srgbClr val="F8FAFC"/>
                </a:solidFill>
                <a:latin typeface="Segoe UI"/>
              </a:rPr>
              <a:t>Queries Qdrant vector database for semantic code evidence.</a:t>
            </a:r>
          </a:p>
        </p:txBody>
      </p:sp>
      <p:sp>
        <p:nvSpPr>
          <p:cNvPr id="20" name="TextBox 19"/>
          <p:cNvSpPr txBox="1"/>
          <p:nvPr/>
        </p:nvSpPr>
        <p:spPr>
          <a:xfrm>
            <a:off x="1005840" y="5532120"/>
            <a:ext cx="4480560" cy="320040"/>
          </a:xfrm>
          <a:prstGeom prst="rect">
            <a:avLst/>
          </a:prstGeom>
          <a:noFill/>
        </p:spPr>
        <p:txBody>
          <a:bodyPr wrap="square" lIns="54864" rIns="54864" tIns="36576" bIns="36576" anchor="t">
            <a:spAutoFit/>
          </a:bodyPr>
          <a:lstStyle/>
          <a:p>
            <a:pPr algn="l"/>
            <a:r>
              <a:rPr sz="900" b="0">
                <a:solidFill>
                  <a:srgbClr val="94A3B8"/>
                </a:solidFill>
                <a:latin typeface="Segoe UI"/>
              </a:rPr>
              <a:t>{ query: str, top_k: int } -&gt; { evidence_chunks: list[dict] }</a:t>
            </a:r>
          </a:p>
        </p:txBody>
      </p:sp>
      <p:sp>
        <p:nvSpPr>
          <p:cNvPr id="21" name="Rounded Rectangle 20"/>
          <p:cNvSpPr/>
          <p:nvPr/>
        </p:nvSpPr>
        <p:spPr>
          <a:xfrm>
            <a:off x="6217920" y="1645920"/>
            <a:ext cx="5394960" cy="4663440"/>
          </a:xfrm>
          <a:prstGeom prst="roundRect">
            <a:avLst/>
          </a:prstGeom>
          <a:solidFill>
            <a:srgbClr val="18212F"/>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0" y="1920240"/>
            <a:ext cx="4846320" cy="320040"/>
          </a:xfrm>
          <a:prstGeom prst="rect">
            <a:avLst/>
          </a:prstGeom>
          <a:noFill/>
        </p:spPr>
        <p:txBody>
          <a:bodyPr wrap="square" lIns="54864" rIns="54864" tIns="36576" bIns="36576" anchor="t">
            <a:spAutoFit/>
          </a:bodyPr>
          <a:lstStyle/>
          <a:p>
            <a:pPr algn="l"/>
            <a:r>
              <a:rPr sz="1600" b="1">
                <a:solidFill>
                  <a:srgbClr val="0EA5E9"/>
                </a:solidFill>
                <a:latin typeface="Segoe UI"/>
              </a:rPr>
              <a:t>Planned Drop-In Cursor &amp; Claude Integration</a:t>
            </a:r>
          </a:p>
        </p:txBody>
      </p:sp>
      <p:sp>
        <p:nvSpPr>
          <p:cNvPr id="23" name="TextBox 22"/>
          <p:cNvSpPr txBox="1"/>
          <p:nvPr/>
        </p:nvSpPr>
        <p:spPr>
          <a:xfrm>
            <a:off x="6492240" y="2286000"/>
            <a:ext cx="4846320" cy="228600"/>
          </a:xfrm>
          <a:prstGeom prst="rect">
            <a:avLst/>
          </a:prstGeom>
          <a:noFill/>
        </p:spPr>
        <p:txBody>
          <a:bodyPr wrap="square" lIns="54864" rIns="54864" tIns="36576" bIns="36576" anchor="t">
            <a:spAutoFit/>
          </a:bodyPr>
          <a:lstStyle/>
          <a:p>
            <a:pPr algn="l"/>
            <a:r>
              <a:rPr sz="1200" b="0">
                <a:solidFill>
                  <a:srgbClr val="94A3B8"/>
                </a:solidFill>
                <a:latin typeface="Segoe UI"/>
              </a:rPr>
              <a:t>Configured via standardized mcp_config.json</a:t>
            </a:r>
          </a:p>
        </p:txBody>
      </p:sp>
      <p:sp>
        <p:nvSpPr>
          <p:cNvPr id="24" name="Rounded Rectangle 23"/>
          <p:cNvSpPr/>
          <p:nvPr/>
        </p:nvSpPr>
        <p:spPr>
          <a:xfrm>
            <a:off x="6492240" y="2651760"/>
            <a:ext cx="4846320" cy="20116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0" y="2743200"/>
            <a:ext cx="4480560" cy="1828800"/>
          </a:xfrm>
          <a:prstGeom prst="rect">
            <a:avLst/>
          </a:prstGeom>
          <a:noFill/>
        </p:spPr>
        <p:txBody>
          <a:bodyPr wrap="square" lIns="54864" rIns="54864" tIns="36576" bIns="36576" anchor="t">
            <a:spAutoFit/>
          </a:bodyPr>
          <a:lstStyle/>
          <a:p>
            <a:pPr algn="l"/>
            <a:r>
              <a:rPr sz="1000" b="0">
                <a:solidFill>
                  <a:srgbClr val="0EA5E9"/>
                </a:solidFill>
                <a:latin typeface="Consolas"/>
              </a:rPr>
              <a:t>{
  "mcpServers": {
    "kavach": {
      "command": "python",
      "args": ["-m", "mcp_server"],
      "cwd": "C:/Users/.../kavach/backend"
    }
  }
}</a:t>
            </a:r>
          </a:p>
        </p:txBody>
      </p:sp>
      <p:sp>
        <p:nvSpPr>
          <p:cNvPr id="26" name="TextBox 25"/>
          <p:cNvSpPr txBox="1"/>
          <p:nvPr/>
        </p:nvSpPr>
        <p:spPr>
          <a:xfrm>
            <a:off x="6492240" y="4846320"/>
            <a:ext cx="4754880" cy="640080"/>
          </a:xfrm>
          <a:prstGeom prst="rect">
            <a:avLst/>
          </a:prstGeom>
          <a:noFill/>
        </p:spPr>
        <p:txBody>
          <a:bodyPr wrap="square" lIns="54864" rIns="54864" tIns="36576" bIns="36576" anchor="t">
            <a:spAutoFit/>
          </a:bodyPr>
          <a:lstStyle/>
          <a:p>
            <a:pPr algn="l"/>
            <a:r>
              <a:rPr sz="1100" b="0">
                <a:solidFill>
                  <a:srgbClr val="F8FAFC"/>
                </a:solidFill>
                <a:latin typeface="Segoe UI"/>
              </a:rPr>
              <a:t>• Universal Interoperability: Fulfills CSE3101 MCP module (6 sessions). Any MCP-compliant IDE can invoke Kavach guardrails.</a:t>
            </a:r>
          </a:p>
        </p:txBody>
      </p:sp>
      <p:sp>
        <p:nvSpPr>
          <p:cNvPr id="27" name="TextBox 26"/>
          <p:cNvSpPr txBox="1"/>
          <p:nvPr/>
        </p:nvSpPr>
        <p:spPr>
          <a:xfrm>
            <a:off x="6492240" y="5577840"/>
            <a:ext cx="4754880" cy="640080"/>
          </a:xfrm>
          <a:prstGeom prst="rect">
            <a:avLst/>
          </a:prstGeom>
          <a:noFill/>
        </p:spPr>
        <p:txBody>
          <a:bodyPr wrap="square" lIns="54864" rIns="54864" tIns="36576" bIns="36576" anchor="t">
            <a:spAutoFit/>
          </a:bodyPr>
          <a:lstStyle/>
          <a:p>
            <a:pPr algn="l"/>
            <a:r>
              <a:rPr sz="1100" b="0">
                <a:solidFill>
                  <a:srgbClr val="F8FAFC"/>
                </a:solidFill>
                <a:latin typeface="Segoe UI"/>
              </a:rPr>
              <a:t>• Logging Isolation: Redirects backend debug logs strictly to stderr/disk; reserves stdout 100% for JSON-RPC 2.0 streams.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PLANNED FEATURE 5  |  WHAT WE ARE PLANNING TO IMPLEMENT</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18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Planned Feature 5: Package Hallucination &amp; Slopsquatting Guard</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What we are planning to implement: Intercepting fake third-party library imports via PyPI Registry validation.</a:t>
            </a:r>
          </a:p>
        </p:txBody>
      </p:sp>
      <p:sp>
        <p:nvSpPr>
          <p:cNvPr id="6" name="Rounded Rectangle 5"/>
          <p:cNvSpPr/>
          <p:nvPr/>
        </p:nvSpPr>
        <p:spPr>
          <a:xfrm>
            <a:off x="548640" y="1645920"/>
            <a:ext cx="5394960" cy="4663440"/>
          </a:xfrm>
          <a:prstGeom prst="roundRect">
            <a:avLst/>
          </a:prstGeom>
          <a:solidFill>
            <a:srgbClr val="1E293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920240"/>
            <a:ext cx="4846320" cy="320040"/>
          </a:xfrm>
          <a:prstGeom prst="rect">
            <a:avLst/>
          </a:prstGeom>
          <a:noFill/>
        </p:spPr>
        <p:txBody>
          <a:bodyPr wrap="square" lIns="54864" rIns="54864" tIns="36576" bIns="36576" anchor="t">
            <a:spAutoFit/>
          </a:bodyPr>
          <a:lstStyle/>
          <a:p>
            <a:pPr algn="l"/>
            <a:r>
              <a:rPr sz="1600" b="1">
                <a:solidFill>
                  <a:srgbClr val="EF4444"/>
                </a:solidFill>
                <a:latin typeface="Segoe UI"/>
              </a:rPr>
              <a:t>The Attack Vector: Slopsquatting</a:t>
            </a:r>
          </a:p>
        </p:txBody>
      </p:sp>
      <p:sp>
        <p:nvSpPr>
          <p:cNvPr id="8" name="TextBox 7"/>
          <p:cNvSpPr txBox="1"/>
          <p:nvPr/>
        </p:nvSpPr>
        <p:spPr>
          <a:xfrm>
            <a:off x="822960" y="2286000"/>
            <a:ext cx="4846320" cy="228600"/>
          </a:xfrm>
          <a:prstGeom prst="rect">
            <a:avLst/>
          </a:prstGeom>
          <a:noFill/>
        </p:spPr>
        <p:txBody>
          <a:bodyPr wrap="square" lIns="54864" rIns="54864" tIns="36576" bIns="36576" anchor="t">
            <a:spAutoFit/>
          </a:bodyPr>
          <a:lstStyle/>
          <a:p>
            <a:pPr algn="l"/>
            <a:r>
              <a:rPr sz="1200" b="0">
                <a:solidFill>
                  <a:srgbClr val="94A3B8"/>
                </a:solidFill>
                <a:latin typeface="Segoe UI"/>
              </a:rPr>
              <a:t>Why Autonomous Agents Cause Supply-Chain Vulnerabilities</a:t>
            </a:r>
          </a:p>
        </p:txBody>
      </p:sp>
      <p:sp>
        <p:nvSpPr>
          <p:cNvPr id="9" name="TextBox 8"/>
          <p:cNvSpPr txBox="1"/>
          <p:nvPr/>
        </p:nvSpPr>
        <p:spPr>
          <a:xfrm>
            <a:off x="822960" y="2743200"/>
            <a:ext cx="4754880" cy="822960"/>
          </a:xfrm>
          <a:prstGeom prst="rect">
            <a:avLst/>
          </a:prstGeom>
          <a:noFill/>
        </p:spPr>
        <p:txBody>
          <a:bodyPr wrap="square" lIns="54864" rIns="54864" tIns="36576" bIns="36576" anchor="t">
            <a:spAutoFit/>
          </a:bodyPr>
          <a:lstStyle/>
          <a:p>
            <a:pPr algn="l"/>
            <a:r>
              <a:rPr sz="1100" b="0">
                <a:solidFill>
                  <a:srgbClr val="F8FAFC"/>
                </a:solidFill>
                <a:latin typeface="Segoe UI"/>
              </a:rPr>
              <a:t>• LLMs hallucinate non-existent package names when generating code (e.g. import fastapi_jwt_vault_security).</a:t>
            </a:r>
          </a:p>
        </p:txBody>
      </p:sp>
      <p:sp>
        <p:nvSpPr>
          <p:cNvPr id="10" name="TextBox 9"/>
          <p:cNvSpPr txBox="1"/>
          <p:nvPr/>
        </p:nvSpPr>
        <p:spPr>
          <a:xfrm>
            <a:off x="822960" y="3657600"/>
            <a:ext cx="4754880" cy="822960"/>
          </a:xfrm>
          <a:prstGeom prst="rect">
            <a:avLst/>
          </a:prstGeom>
          <a:noFill/>
        </p:spPr>
        <p:txBody>
          <a:bodyPr wrap="square" lIns="54864" rIns="54864" tIns="36576" bIns="36576" anchor="t">
            <a:spAutoFit/>
          </a:bodyPr>
          <a:lstStyle/>
          <a:p>
            <a:pPr algn="l"/>
            <a:r>
              <a:rPr sz="1100" b="0">
                <a:solidFill>
                  <a:srgbClr val="F8FAFC"/>
                </a:solidFill>
                <a:latin typeface="Segoe UI"/>
              </a:rPr>
              <a:t>• Adversaries scan public LLM benchmarks, discover common hallucinated package names, and publish malicious packages under those names on PyPI/npm.</a:t>
            </a:r>
          </a:p>
        </p:txBody>
      </p:sp>
      <p:sp>
        <p:nvSpPr>
          <p:cNvPr id="11" name="TextBox 10"/>
          <p:cNvSpPr txBox="1"/>
          <p:nvPr/>
        </p:nvSpPr>
        <p:spPr>
          <a:xfrm>
            <a:off x="822960" y="4572000"/>
            <a:ext cx="4754880" cy="822960"/>
          </a:xfrm>
          <a:prstGeom prst="rect">
            <a:avLst/>
          </a:prstGeom>
          <a:noFill/>
        </p:spPr>
        <p:txBody>
          <a:bodyPr wrap="square" lIns="54864" rIns="54864" tIns="36576" bIns="36576" anchor="t">
            <a:spAutoFit/>
          </a:bodyPr>
          <a:lstStyle/>
          <a:p>
            <a:pPr algn="l"/>
            <a:r>
              <a:rPr sz="1100" b="0">
                <a:solidFill>
                  <a:srgbClr val="F8FAFC"/>
                </a:solidFill>
                <a:latin typeface="Segoe UI"/>
              </a:rPr>
              <a:t>• When an autonomous agent runs pip install, malware executes in the developer's environment, stealing SSH keys and credentials.</a:t>
            </a:r>
          </a:p>
        </p:txBody>
      </p:sp>
      <p:sp>
        <p:nvSpPr>
          <p:cNvPr id="12" name="Rounded Rectangle 11"/>
          <p:cNvSpPr/>
          <p:nvPr/>
        </p:nvSpPr>
        <p:spPr>
          <a:xfrm>
            <a:off x="6217920" y="1645920"/>
            <a:ext cx="5394960" cy="4663440"/>
          </a:xfrm>
          <a:prstGeom prst="roundRect">
            <a:avLst/>
          </a:prstGeom>
          <a:solidFill>
            <a:srgbClr val="18212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920240"/>
            <a:ext cx="4846320" cy="320040"/>
          </a:xfrm>
          <a:prstGeom prst="rect">
            <a:avLst/>
          </a:prstGeom>
          <a:noFill/>
        </p:spPr>
        <p:txBody>
          <a:bodyPr wrap="square" lIns="54864" rIns="54864" tIns="36576" bIns="36576" anchor="t">
            <a:spAutoFit/>
          </a:bodyPr>
          <a:lstStyle/>
          <a:p>
            <a:pPr algn="l"/>
            <a:r>
              <a:rPr sz="1600" b="1">
                <a:solidFill>
                  <a:srgbClr val="10B981"/>
                </a:solidFill>
                <a:latin typeface="Segoe UI"/>
              </a:rPr>
              <a:t>Planned 3-Tier Verification Pipeline</a:t>
            </a:r>
          </a:p>
        </p:txBody>
      </p:sp>
      <p:sp>
        <p:nvSpPr>
          <p:cNvPr id="14" name="TextBox 13"/>
          <p:cNvSpPr txBox="1"/>
          <p:nvPr/>
        </p:nvSpPr>
        <p:spPr>
          <a:xfrm>
            <a:off x="6492240" y="2286000"/>
            <a:ext cx="4846320" cy="228600"/>
          </a:xfrm>
          <a:prstGeom prst="rect">
            <a:avLst/>
          </a:prstGeom>
          <a:noFill/>
        </p:spPr>
        <p:txBody>
          <a:bodyPr wrap="square" lIns="54864" rIns="54864" tIns="36576" bIns="36576" anchor="t">
            <a:spAutoFit/>
          </a:bodyPr>
          <a:lstStyle/>
          <a:p>
            <a:pPr algn="l"/>
            <a:r>
              <a:rPr sz="1200" b="0">
                <a:solidFill>
                  <a:srgbClr val="94A3B8"/>
                </a:solidFill>
                <a:latin typeface="Segoe UI"/>
              </a:rPr>
              <a:t>backend/app/security/package_guard.py (Planned Module)</a:t>
            </a:r>
          </a:p>
        </p:txBody>
      </p:sp>
      <p:sp>
        <p:nvSpPr>
          <p:cNvPr id="15" name="Rounded Rectangle 14"/>
          <p:cNvSpPr/>
          <p:nvPr/>
        </p:nvSpPr>
        <p:spPr>
          <a:xfrm>
            <a:off x="6492240" y="2651760"/>
            <a:ext cx="4846320" cy="868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2743200"/>
            <a:ext cx="4480560" cy="228600"/>
          </a:xfrm>
          <a:prstGeom prst="rect">
            <a:avLst/>
          </a:prstGeom>
          <a:noFill/>
        </p:spPr>
        <p:txBody>
          <a:bodyPr wrap="square" lIns="54864" rIns="54864" tIns="36576" bIns="36576" anchor="t">
            <a:spAutoFit/>
          </a:bodyPr>
          <a:lstStyle/>
          <a:p>
            <a:pPr algn="l"/>
            <a:r>
              <a:rPr sz="1100" b="1">
                <a:solidFill>
                  <a:srgbClr val="10B981"/>
                </a:solidFill>
                <a:latin typeface="Segoe UI"/>
              </a:rPr>
              <a:t>Tier 1: Python Standard Library</a:t>
            </a:r>
          </a:p>
        </p:txBody>
      </p:sp>
      <p:sp>
        <p:nvSpPr>
          <p:cNvPr id="17" name="TextBox 16"/>
          <p:cNvSpPr txBox="1"/>
          <p:nvPr/>
        </p:nvSpPr>
        <p:spPr>
          <a:xfrm>
            <a:off x="6675120" y="3017520"/>
            <a:ext cx="4480560" cy="457200"/>
          </a:xfrm>
          <a:prstGeom prst="rect">
            <a:avLst/>
          </a:prstGeom>
          <a:noFill/>
        </p:spPr>
        <p:txBody>
          <a:bodyPr wrap="square" lIns="54864" rIns="54864" tIns="36576" bIns="36576" anchor="t">
            <a:spAutoFit/>
          </a:bodyPr>
          <a:lstStyle/>
          <a:p>
            <a:pPr algn="l"/>
            <a:r>
              <a:rPr sz="1000" b="0">
                <a:solidFill>
                  <a:srgbClr val="94A3B8"/>
                </a:solidFill>
                <a:latin typeface="Segoe UI"/>
              </a:rPr>
              <a:t>Checks sys.stdlib_module_names (e.g. json, os, math). Instant approval (0ms overhead).</a:t>
            </a:r>
          </a:p>
        </p:txBody>
      </p:sp>
      <p:sp>
        <p:nvSpPr>
          <p:cNvPr id="18" name="Rounded Rectangle 17"/>
          <p:cNvSpPr/>
          <p:nvPr/>
        </p:nvSpPr>
        <p:spPr>
          <a:xfrm>
            <a:off x="6492240" y="3657600"/>
            <a:ext cx="4846320" cy="868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0" y="3749039"/>
            <a:ext cx="4480560" cy="228600"/>
          </a:xfrm>
          <a:prstGeom prst="rect">
            <a:avLst/>
          </a:prstGeom>
          <a:noFill/>
        </p:spPr>
        <p:txBody>
          <a:bodyPr wrap="square" lIns="54864" rIns="54864" tIns="36576" bIns="36576" anchor="t">
            <a:spAutoFit/>
          </a:bodyPr>
          <a:lstStyle/>
          <a:p>
            <a:pPr algn="l"/>
            <a:r>
              <a:rPr sz="1100" b="1">
                <a:solidFill>
                  <a:srgbClr val="10B981"/>
                </a:solidFill>
                <a:latin typeface="Segoe UI"/>
              </a:rPr>
              <a:t>Tier 2: Local Workspace Modules</a:t>
            </a:r>
          </a:p>
        </p:txBody>
      </p:sp>
      <p:sp>
        <p:nvSpPr>
          <p:cNvPr id="20" name="TextBox 19"/>
          <p:cNvSpPr txBox="1"/>
          <p:nvPr/>
        </p:nvSpPr>
        <p:spPr>
          <a:xfrm>
            <a:off x="6675120" y="4023360"/>
            <a:ext cx="4480560" cy="457200"/>
          </a:xfrm>
          <a:prstGeom prst="rect">
            <a:avLst/>
          </a:prstGeom>
          <a:noFill/>
        </p:spPr>
        <p:txBody>
          <a:bodyPr wrap="square" lIns="54864" rIns="54864" tIns="36576" bIns="36576" anchor="t">
            <a:spAutoFit/>
          </a:bodyPr>
          <a:lstStyle/>
          <a:p>
            <a:pPr algn="l"/>
            <a:r>
              <a:rPr sz="1000" b="0">
                <a:solidFill>
                  <a:srgbClr val="94A3B8"/>
                </a:solidFill>
                <a:latin typeface="Segoe UI"/>
              </a:rPr>
              <a:t>Scans local repository files for matching module names. Instant approval (0ms overhead).</a:t>
            </a:r>
          </a:p>
        </p:txBody>
      </p:sp>
      <p:sp>
        <p:nvSpPr>
          <p:cNvPr id="21" name="Rounded Rectangle 20"/>
          <p:cNvSpPr/>
          <p:nvPr/>
        </p:nvSpPr>
        <p:spPr>
          <a:xfrm>
            <a:off x="6492240" y="4663440"/>
            <a:ext cx="4846320" cy="868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0" y="4754880"/>
            <a:ext cx="4480560" cy="228600"/>
          </a:xfrm>
          <a:prstGeom prst="rect">
            <a:avLst/>
          </a:prstGeom>
          <a:noFill/>
        </p:spPr>
        <p:txBody>
          <a:bodyPr wrap="square" lIns="54864" rIns="54864" tIns="36576" bIns="36576" anchor="t">
            <a:spAutoFit/>
          </a:bodyPr>
          <a:lstStyle/>
          <a:p>
            <a:pPr algn="l"/>
            <a:r>
              <a:rPr sz="1100" b="1">
                <a:solidFill>
                  <a:srgbClr val="10B981"/>
                </a:solidFill>
                <a:latin typeface="Segoe UI"/>
              </a:rPr>
              <a:t>Tier 3: PyPI Registry API Query</a:t>
            </a:r>
          </a:p>
        </p:txBody>
      </p:sp>
      <p:sp>
        <p:nvSpPr>
          <p:cNvPr id="23" name="TextBox 22"/>
          <p:cNvSpPr txBox="1"/>
          <p:nvPr/>
        </p:nvSpPr>
        <p:spPr>
          <a:xfrm>
            <a:off x="6675120" y="5029200"/>
            <a:ext cx="4480560" cy="457200"/>
          </a:xfrm>
          <a:prstGeom prst="rect">
            <a:avLst/>
          </a:prstGeom>
          <a:noFill/>
        </p:spPr>
        <p:txBody>
          <a:bodyPr wrap="square" lIns="54864" rIns="54864" tIns="36576" bIns="36576" anchor="t">
            <a:spAutoFit/>
          </a:bodyPr>
          <a:lstStyle/>
          <a:p>
            <a:pPr algn="l"/>
            <a:r>
              <a:rPr sz="1000" b="0">
                <a:solidFill>
                  <a:srgbClr val="94A3B8"/>
                </a:solidFill>
                <a:latin typeface="Segoe UI"/>
              </a:rPr>
              <a:t>Async query to https://pypi.org/pypi/{pkg}/json. If HTTP 200 -&gt; Verified. If HTTP 404 -&gt; HALT &amp; BLOCK hallucinated package.</a:t>
            </a:r>
          </a:p>
        </p:txBody>
      </p:sp>
      <p:sp>
        <p:nvSpPr>
          <p:cNvPr id="24" name="TextBox 23"/>
          <p:cNvSpPr txBox="1"/>
          <p:nvPr/>
        </p:nvSpPr>
        <p:spPr>
          <a:xfrm>
            <a:off x="6492240" y="5760720"/>
            <a:ext cx="4846320" cy="365760"/>
          </a:xfrm>
          <a:prstGeom prst="rect">
            <a:avLst/>
          </a:prstGeom>
          <a:noFill/>
        </p:spPr>
        <p:txBody>
          <a:bodyPr wrap="square" lIns="54864" rIns="54864" tIns="36576" bIns="36576" anchor="t">
            <a:spAutoFit/>
          </a:bodyPr>
          <a:lstStyle/>
          <a:p>
            <a:pPr algn="l"/>
            <a:r>
              <a:rPr sz="1000" b="0">
                <a:solidFill>
                  <a:srgbClr val="F59E0B"/>
                </a:solidFill>
                <a:latin typeface="Segoe UI"/>
              </a:rPr>
              <a:t>Performance Optimization: In-memory LRU cache stores verified packages, keeping overhead under 25ms.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PLANNED WORKFLOW  |  UPCOMING SCENARIO PART 1</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19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Planned End-to-End Workflow: How Upcoming Features Will Execute (Part 1)</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Tracing a developer request through planned Voice, Security Sentinel, RAG, and Blast Radius.</a:t>
            </a:r>
          </a:p>
        </p:txBody>
      </p:sp>
      <p:sp>
        <p:nvSpPr>
          <p:cNvPr id="6" name="Rounded Rectangle 5"/>
          <p:cNvSpPr/>
          <p:nvPr/>
        </p:nvSpPr>
        <p:spPr>
          <a:xfrm>
            <a:off x="548640" y="1645920"/>
            <a:ext cx="11091672" cy="100584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83080"/>
            <a:ext cx="201168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01368"/>
            <a:ext cx="2011680" cy="228600"/>
          </a:xfrm>
          <a:prstGeom prst="rect">
            <a:avLst/>
          </a:prstGeom>
          <a:noFill/>
        </p:spPr>
        <p:txBody>
          <a:bodyPr wrap="square" lIns="54864" rIns="54864" tIns="36576" bIns="36576" anchor="t">
            <a:spAutoFit/>
          </a:bodyPr>
          <a:lstStyle/>
          <a:p>
            <a:pPr algn="ctr"/>
            <a:r>
              <a:rPr sz="900" b="1">
                <a:solidFill>
                  <a:srgbClr val="0EA5E9"/>
                </a:solidFill>
                <a:latin typeface="Segoe UI"/>
              </a:rPr>
              <a:t>STEP 1: Voice Request</a:t>
            </a:r>
          </a:p>
        </p:txBody>
      </p:sp>
      <p:sp>
        <p:nvSpPr>
          <p:cNvPr id="9" name="TextBox 8"/>
          <p:cNvSpPr txBox="1"/>
          <p:nvPr/>
        </p:nvSpPr>
        <p:spPr>
          <a:xfrm>
            <a:off x="2926080" y="1783080"/>
            <a:ext cx="7772400" cy="274320"/>
          </a:xfrm>
          <a:prstGeom prst="rect">
            <a:avLst/>
          </a:prstGeom>
          <a:noFill/>
        </p:spPr>
        <p:txBody>
          <a:bodyPr wrap="square" lIns="54864" rIns="54864" tIns="36576" bIns="36576" anchor="t">
            <a:spAutoFit/>
          </a:bodyPr>
          <a:lstStyle/>
          <a:p>
            <a:pPr algn="l"/>
            <a:r>
              <a:rPr sz="1200" b="1">
                <a:solidFill>
                  <a:srgbClr val="F8FAFC"/>
                </a:solidFill>
                <a:latin typeface="Segoe UI"/>
              </a:rPr>
              <a:t>Developer speaks: 'Add a 15% discount helper to checkout.py and test it.'</a:t>
            </a:r>
          </a:p>
        </p:txBody>
      </p:sp>
      <p:sp>
        <p:nvSpPr>
          <p:cNvPr id="10" name="TextBox 9"/>
          <p:cNvSpPr txBox="1"/>
          <p:nvPr/>
        </p:nvSpPr>
        <p:spPr>
          <a:xfrm>
            <a:off x="2926080" y="2057400"/>
            <a:ext cx="7772400" cy="502920"/>
          </a:xfrm>
          <a:prstGeom prst="rect">
            <a:avLst/>
          </a:prstGeom>
          <a:noFill/>
        </p:spPr>
        <p:txBody>
          <a:bodyPr wrap="square" lIns="54864" rIns="54864" tIns="36576" bIns="36576" anchor="t">
            <a:spAutoFit/>
          </a:bodyPr>
          <a:lstStyle/>
          <a:p>
            <a:pPr algn="l"/>
            <a:r>
              <a:rPr sz="1100" b="0">
                <a:solidFill>
                  <a:srgbClr val="94A3B8"/>
                </a:solidFill>
                <a:latin typeface="Segoe UI"/>
              </a:rPr>
              <a:t>Groq Whisper (whisper-large-v3-turbo) transcribes spoken audio with punctuation in 180ms. Text streams to dashboard.</a:t>
            </a:r>
          </a:p>
        </p:txBody>
      </p:sp>
      <p:sp>
        <p:nvSpPr>
          <p:cNvPr id="11" name="Rounded Rectangle 10"/>
          <p:cNvSpPr/>
          <p:nvPr/>
        </p:nvSpPr>
        <p:spPr>
          <a:xfrm>
            <a:off x="548640" y="2788920"/>
            <a:ext cx="11091672" cy="1005840"/>
          </a:xfrm>
          <a:prstGeom prst="roundRect">
            <a:avLst/>
          </a:prstGeom>
          <a:solidFill>
            <a:srgbClr val="1E293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2926079"/>
            <a:ext cx="201168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944368"/>
            <a:ext cx="2011680" cy="228600"/>
          </a:xfrm>
          <a:prstGeom prst="rect">
            <a:avLst/>
          </a:prstGeom>
          <a:noFill/>
        </p:spPr>
        <p:txBody>
          <a:bodyPr wrap="square" lIns="54864" rIns="54864" tIns="36576" bIns="36576" anchor="t">
            <a:spAutoFit/>
          </a:bodyPr>
          <a:lstStyle/>
          <a:p>
            <a:pPr algn="ctr"/>
            <a:r>
              <a:rPr sz="900" b="1">
                <a:solidFill>
                  <a:srgbClr val="EF4444"/>
                </a:solidFill>
                <a:latin typeface="Segoe UI"/>
              </a:rPr>
              <a:t>STEP 2: Security Sentinel</a:t>
            </a:r>
          </a:p>
        </p:txBody>
      </p:sp>
      <p:sp>
        <p:nvSpPr>
          <p:cNvPr id="14" name="TextBox 13"/>
          <p:cNvSpPr txBox="1"/>
          <p:nvPr/>
        </p:nvSpPr>
        <p:spPr>
          <a:xfrm>
            <a:off x="2926080" y="2926079"/>
            <a:ext cx="7772400" cy="274320"/>
          </a:xfrm>
          <a:prstGeom prst="rect">
            <a:avLst/>
          </a:prstGeom>
          <a:noFill/>
        </p:spPr>
        <p:txBody>
          <a:bodyPr wrap="square" lIns="54864" rIns="54864" tIns="36576" bIns="36576" anchor="t">
            <a:spAutoFit/>
          </a:bodyPr>
          <a:lstStyle/>
          <a:p>
            <a:pPr algn="l"/>
            <a:r>
              <a:rPr sz="1200" b="1">
                <a:solidFill>
                  <a:srgbClr val="F8FAFC"/>
                </a:solidFill>
                <a:latin typeface="Segoe UI"/>
              </a:rPr>
              <a:t>SentinelAgent audits prompt for leaked secrets or PII.</a:t>
            </a:r>
          </a:p>
        </p:txBody>
      </p:sp>
      <p:sp>
        <p:nvSpPr>
          <p:cNvPr id="15" name="TextBox 14"/>
          <p:cNvSpPr txBox="1"/>
          <p:nvPr/>
        </p:nvSpPr>
        <p:spPr>
          <a:xfrm>
            <a:off x="2926080" y="3200400"/>
            <a:ext cx="7772400" cy="502920"/>
          </a:xfrm>
          <a:prstGeom prst="rect">
            <a:avLst/>
          </a:prstGeom>
          <a:noFill/>
        </p:spPr>
        <p:txBody>
          <a:bodyPr wrap="square" lIns="54864" rIns="54864" tIns="36576" bIns="36576" anchor="t">
            <a:spAutoFit/>
          </a:bodyPr>
          <a:lstStyle/>
          <a:p>
            <a:pPr algn="l"/>
            <a:r>
              <a:rPr sz="1100" b="0">
                <a:solidFill>
                  <a:srgbClr val="94A3B8"/>
                </a:solidFill>
                <a:latin typeface="Segoe UI"/>
              </a:rPr>
              <a:t>Checks for Aadhaar UID, PAN, or API keys using Shannon entropy and regex. Request is clean; Action=ALLOW.</a:t>
            </a:r>
          </a:p>
        </p:txBody>
      </p:sp>
      <p:sp>
        <p:nvSpPr>
          <p:cNvPr id="16" name="Rounded Rectangle 15"/>
          <p:cNvSpPr/>
          <p:nvPr/>
        </p:nvSpPr>
        <p:spPr>
          <a:xfrm>
            <a:off x="548640" y="3931920"/>
            <a:ext cx="11091672" cy="100584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4069080"/>
            <a:ext cx="201168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087368"/>
            <a:ext cx="2011680" cy="228600"/>
          </a:xfrm>
          <a:prstGeom prst="rect">
            <a:avLst/>
          </a:prstGeom>
          <a:noFill/>
        </p:spPr>
        <p:txBody>
          <a:bodyPr wrap="square" lIns="54864" rIns="54864" tIns="36576" bIns="36576" anchor="t">
            <a:spAutoFit/>
          </a:bodyPr>
          <a:lstStyle/>
          <a:p>
            <a:pPr algn="ctr"/>
            <a:r>
              <a:rPr sz="900" b="1">
                <a:solidFill>
                  <a:srgbClr val="3B82F6"/>
                </a:solidFill>
                <a:latin typeface="Segoe UI"/>
              </a:rPr>
              <a:t>STEP 3: Vector RAG Retrieval</a:t>
            </a:r>
          </a:p>
        </p:txBody>
      </p:sp>
      <p:sp>
        <p:nvSpPr>
          <p:cNvPr id="19" name="TextBox 18"/>
          <p:cNvSpPr txBox="1"/>
          <p:nvPr/>
        </p:nvSpPr>
        <p:spPr>
          <a:xfrm>
            <a:off x="2926080" y="4069080"/>
            <a:ext cx="7772400" cy="274320"/>
          </a:xfrm>
          <a:prstGeom prst="rect">
            <a:avLst/>
          </a:prstGeom>
          <a:noFill/>
        </p:spPr>
        <p:txBody>
          <a:bodyPr wrap="square" lIns="54864" rIns="54864" tIns="36576" bIns="36576" anchor="t">
            <a:spAutoFit/>
          </a:bodyPr>
          <a:lstStyle/>
          <a:p>
            <a:pPr algn="l"/>
            <a:r>
              <a:rPr sz="1200" b="1">
                <a:solidFill>
                  <a:srgbClr val="F8FAFC"/>
                </a:solidFill>
                <a:latin typeface="Segoe UI"/>
              </a:rPr>
              <a:t>RetrieverAgent queries Qdrant vector database.</a:t>
            </a:r>
          </a:p>
        </p:txBody>
      </p:sp>
      <p:sp>
        <p:nvSpPr>
          <p:cNvPr id="20" name="TextBox 19"/>
          <p:cNvSpPr txBox="1"/>
          <p:nvPr/>
        </p:nvSpPr>
        <p:spPr>
          <a:xfrm>
            <a:off x="2926080" y="4343400"/>
            <a:ext cx="7772400" cy="502920"/>
          </a:xfrm>
          <a:prstGeom prst="rect">
            <a:avLst/>
          </a:prstGeom>
          <a:noFill/>
        </p:spPr>
        <p:txBody>
          <a:bodyPr wrap="square" lIns="54864" rIns="54864" tIns="36576" bIns="36576" anchor="t">
            <a:spAutoFit/>
          </a:bodyPr>
          <a:lstStyle/>
          <a:p>
            <a:pPr algn="l"/>
            <a:r>
              <a:rPr sz="1100" b="0">
                <a:solidFill>
                  <a:srgbClr val="94A3B8"/>
                </a:solidFill>
                <a:latin typeface="Segoe UI"/>
              </a:rPr>
              <a:t>Finds existing checkout.py and pricing_engine.py functions using 384-d cosine similarity. Returns top-3 code snippets.</a:t>
            </a:r>
          </a:p>
        </p:txBody>
      </p:sp>
      <p:sp>
        <p:nvSpPr>
          <p:cNvPr id="21" name="Rounded Rectangle 20"/>
          <p:cNvSpPr/>
          <p:nvPr/>
        </p:nvSpPr>
        <p:spPr>
          <a:xfrm>
            <a:off x="548640" y="5074920"/>
            <a:ext cx="11091672" cy="100584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31520" y="5212080"/>
            <a:ext cx="201168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230368"/>
            <a:ext cx="2011680" cy="228600"/>
          </a:xfrm>
          <a:prstGeom prst="rect">
            <a:avLst/>
          </a:prstGeom>
          <a:noFill/>
        </p:spPr>
        <p:txBody>
          <a:bodyPr wrap="square" lIns="54864" rIns="54864" tIns="36576" bIns="36576" anchor="t">
            <a:spAutoFit/>
          </a:bodyPr>
          <a:lstStyle/>
          <a:p>
            <a:pPr algn="ctr"/>
            <a:r>
              <a:rPr sz="900" b="1">
                <a:solidFill>
                  <a:srgbClr val="F59E0B"/>
                </a:solidFill>
                <a:latin typeface="Segoe UI"/>
              </a:rPr>
              <a:t>STEP 4: AST Impact Analysis</a:t>
            </a:r>
          </a:p>
        </p:txBody>
      </p:sp>
      <p:sp>
        <p:nvSpPr>
          <p:cNvPr id="24" name="TextBox 23"/>
          <p:cNvSpPr txBox="1"/>
          <p:nvPr/>
        </p:nvSpPr>
        <p:spPr>
          <a:xfrm>
            <a:off x="2926080" y="5212080"/>
            <a:ext cx="7772400" cy="274320"/>
          </a:xfrm>
          <a:prstGeom prst="rect">
            <a:avLst/>
          </a:prstGeom>
          <a:noFill/>
        </p:spPr>
        <p:txBody>
          <a:bodyPr wrap="square" lIns="54864" rIns="54864" tIns="36576" bIns="36576" anchor="t">
            <a:spAutoFit/>
          </a:bodyPr>
          <a:lstStyle/>
          <a:p>
            <a:pPr algn="l"/>
            <a:r>
              <a:rPr sz="1200" b="1">
                <a:solidFill>
                  <a:srgbClr val="F8FAFC"/>
                </a:solidFill>
                <a:latin typeface="Segoe UI"/>
              </a:rPr>
              <a:t>BlastRadiusAnalystAgent parses repository dependency tree.</a:t>
            </a:r>
          </a:p>
        </p:txBody>
      </p:sp>
      <p:sp>
        <p:nvSpPr>
          <p:cNvPr id="25" name="TextBox 24"/>
          <p:cNvSpPr txBox="1"/>
          <p:nvPr/>
        </p:nvSpPr>
        <p:spPr>
          <a:xfrm>
            <a:off x="2926080" y="5486400"/>
            <a:ext cx="7772400" cy="502920"/>
          </a:xfrm>
          <a:prstGeom prst="rect">
            <a:avLst/>
          </a:prstGeom>
          <a:noFill/>
        </p:spPr>
        <p:txBody>
          <a:bodyPr wrap="square" lIns="54864" rIns="54864" tIns="36576" bIns="36576" anchor="t">
            <a:spAutoFit/>
          </a:bodyPr>
          <a:lstStyle/>
          <a:p>
            <a:pPr algn="l"/>
            <a:r>
              <a:rPr sz="1100" b="0">
                <a:solidFill>
                  <a:srgbClr val="94A3B8"/>
                </a:solidFill>
                <a:latin typeface="Segoe UI"/>
              </a:rPr>
              <a:t>Discovers that orders.py and invoice.py import checkout.py. Calculates Impact Score = Medium (2 downstream files).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PLANNED WORKFLOW  |  UPCOMING SCENARIO PART 2</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20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Planned End-to-End Workflow: How Upcoming Features Will Execute (Part 2)</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Tracing planned Code Generation, Slopsquatting Interception, Self-Healing, and Final Delivery.</a:t>
            </a:r>
          </a:p>
        </p:txBody>
      </p:sp>
      <p:sp>
        <p:nvSpPr>
          <p:cNvPr id="6" name="Rounded Rectangle 5"/>
          <p:cNvSpPr/>
          <p:nvPr/>
        </p:nvSpPr>
        <p:spPr>
          <a:xfrm>
            <a:off x="548640" y="1645920"/>
            <a:ext cx="11091672" cy="100584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83080"/>
            <a:ext cx="219456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01368"/>
            <a:ext cx="2194560" cy="228600"/>
          </a:xfrm>
          <a:prstGeom prst="rect">
            <a:avLst/>
          </a:prstGeom>
          <a:noFill/>
        </p:spPr>
        <p:txBody>
          <a:bodyPr wrap="square" lIns="54864" rIns="54864" tIns="36576" bIns="36576" anchor="t">
            <a:spAutoFit/>
          </a:bodyPr>
          <a:lstStyle/>
          <a:p>
            <a:pPr algn="ctr"/>
            <a:r>
              <a:rPr sz="900" b="1">
                <a:solidFill>
                  <a:srgbClr val="F59E0B"/>
                </a:solidFill>
                <a:latin typeface="Segoe UI"/>
              </a:rPr>
              <a:t>STEP 5: Planned Privacy Gateway</a:t>
            </a:r>
          </a:p>
        </p:txBody>
      </p:sp>
      <p:sp>
        <p:nvSpPr>
          <p:cNvPr id="9" name="TextBox 8"/>
          <p:cNvSpPr txBox="1"/>
          <p:nvPr/>
        </p:nvSpPr>
        <p:spPr>
          <a:xfrm>
            <a:off x="3108960" y="1783080"/>
            <a:ext cx="7589520" cy="274320"/>
          </a:xfrm>
          <a:prstGeom prst="rect">
            <a:avLst/>
          </a:prstGeom>
          <a:noFill/>
        </p:spPr>
        <p:txBody>
          <a:bodyPr wrap="square" lIns="54864" rIns="54864" tIns="36576" bIns="36576" anchor="t">
            <a:spAutoFit/>
          </a:bodyPr>
          <a:lstStyle/>
          <a:p>
            <a:pPr algn="l"/>
            <a:r>
              <a:rPr sz="1200" b="1">
                <a:solidFill>
                  <a:srgbClr val="F8FAFC"/>
                </a:solidFill>
                <a:latin typeface="Segoe UI"/>
              </a:rPr>
              <a:t>Air-Gapped mode active; routes to local Ollama qwen2.5-coder:7b.</a:t>
            </a:r>
          </a:p>
        </p:txBody>
      </p:sp>
      <p:sp>
        <p:nvSpPr>
          <p:cNvPr id="10" name="TextBox 9"/>
          <p:cNvSpPr txBox="1"/>
          <p:nvPr/>
        </p:nvSpPr>
        <p:spPr>
          <a:xfrm>
            <a:off x="3108960" y="2057400"/>
            <a:ext cx="7589520" cy="502920"/>
          </a:xfrm>
          <a:prstGeom prst="rect">
            <a:avLst/>
          </a:prstGeom>
          <a:noFill/>
        </p:spPr>
        <p:txBody>
          <a:bodyPr wrap="square" lIns="54864" rIns="54864" tIns="36576" bIns="36576" anchor="t">
            <a:spAutoFit/>
          </a:bodyPr>
          <a:lstStyle/>
          <a:p>
            <a:pPr algn="l"/>
            <a:r>
              <a:rPr sz="1100" b="0">
                <a:solidFill>
                  <a:srgbClr val="94A3B8"/>
                </a:solidFill>
                <a:latin typeface="Segoe UI"/>
              </a:rPr>
              <a:t>Proprietary pricing formulas remain 100% on localhost. Zero tokens or company code dispatched to cloud APIs.</a:t>
            </a:r>
          </a:p>
        </p:txBody>
      </p:sp>
      <p:sp>
        <p:nvSpPr>
          <p:cNvPr id="11" name="Rounded Rectangle 10"/>
          <p:cNvSpPr/>
          <p:nvPr/>
        </p:nvSpPr>
        <p:spPr>
          <a:xfrm>
            <a:off x="548640" y="2788920"/>
            <a:ext cx="11091672" cy="1005840"/>
          </a:xfrm>
          <a:prstGeom prst="roundRect">
            <a:avLst/>
          </a:prstGeom>
          <a:solidFill>
            <a:srgbClr val="1E293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2926079"/>
            <a:ext cx="219456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944368"/>
            <a:ext cx="2194560" cy="228600"/>
          </a:xfrm>
          <a:prstGeom prst="rect">
            <a:avLst/>
          </a:prstGeom>
          <a:noFill/>
        </p:spPr>
        <p:txBody>
          <a:bodyPr wrap="square" lIns="54864" rIns="54864" tIns="36576" bIns="36576" anchor="t">
            <a:spAutoFit/>
          </a:bodyPr>
          <a:lstStyle/>
          <a:p>
            <a:pPr algn="ctr"/>
            <a:r>
              <a:rPr sz="900" b="1">
                <a:solidFill>
                  <a:srgbClr val="EF4444"/>
                </a:solidFill>
                <a:latin typeface="Segoe UI"/>
              </a:rPr>
              <a:t>STEP 6: Planned Package Guard</a:t>
            </a:r>
          </a:p>
        </p:txBody>
      </p:sp>
      <p:sp>
        <p:nvSpPr>
          <p:cNvPr id="14" name="TextBox 13"/>
          <p:cNvSpPr txBox="1"/>
          <p:nvPr/>
        </p:nvSpPr>
        <p:spPr>
          <a:xfrm>
            <a:off x="3108960" y="2926079"/>
            <a:ext cx="7589520" cy="274320"/>
          </a:xfrm>
          <a:prstGeom prst="rect">
            <a:avLst/>
          </a:prstGeom>
          <a:noFill/>
        </p:spPr>
        <p:txBody>
          <a:bodyPr wrap="square" lIns="54864" rIns="54864" tIns="36576" bIns="36576" anchor="t">
            <a:spAutoFit/>
          </a:bodyPr>
          <a:lstStyle/>
          <a:p>
            <a:pPr algn="l"/>
            <a:r>
              <a:rPr sz="1200" b="1">
                <a:solidFill>
                  <a:srgbClr val="F8FAFC"/>
                </a:solidFill>
                <a:latin typeface="Segoe UI"/>
              </a:rPr>
              <a:t>Agent writes: import math; import stripe_fast_calc_helper.</a:t>
            </a:r>
          </a:p>
        </p:txBody>
      </p:sp>
      <p:sp>
        <p:nvSpPr>
          <p:cNvPr id="15" name="TextBox 14"/>
          <p:cNvSpPr txBox="1"/>
          <p:nvPr/>
        </p:nvSpPr>
        <p:spPr>
          <a:xfrm>
            <a:off x="3108960" y="3200400"/>
            <a:ext cx="7589520" cy="502920"/>
          </a:xfrm>
          <a:prstGeom prst="rect">
            <a:avLst/>
          </a:prstGeom>
          <a:noFill/>
        </p:spPr>
        <p:txBody>
          <a:bodyPr wrap="square" lIns="54864" rIns="54864" tIns="36576" bIns="36576" anchor="t">
            <a:spAutoFit/>
          </a:bodyPr>
          <a:lstStyle/>
          <a:p>
            <a:pPr algn="l"/>
            <a:r>
              <a:rPr sz="1100" b="0">
                <a:solidFill>
                  <a:srgbClr val="94A3B8"/>
                </a:solidFill>
                <a:latin typeface="Segoe UI"/>
              </a:rPr>
              <a:t>Package Guard queries PyPI. stripe_fast_calc_helper returns 404! HALT! Agent reflects and rewrites using standard math.</a:t>
            </a:r>
          </a:p>
        </p:txBody>
      </p:sp>
      <p:sp>
        <p:nvSpPr>
          <p:cNvPr id="16" name="Rounded Rectangle 15"/>
          <p:cNvSpPr/>
          <p:nvPr/>
        </p:nvSpPr>
        <p:spPr>
          <a:xfrm>
            <a:off x="548640" y="3931920"/>
            <a:ext cx="11091672" cy="100584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4069080"/>
            <a:ext cx="219456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087368"/>
            <a:ext cx="2194560" cy="228600"/>
          </a:xfrm>
          <a:prstGeom prst="rect">
            <a:avLst/>
          </a:prstGeom>
          <a:noFill/>
        </p:spPr>
        <p:txBody>
          <a:bodyPr wrap="square" lIns="54864" rIns="54864" tIns="36576" bIns="36576" anchor="t">
            <a:spAutoFit/>
          </a:bodyPr>
          <a:lstStyle/>
          <a:p>
            <a:pPr algn="ctr"/>
            <a:r>
              <a:rPr sz="900" b="1">
                <a:solidFill>
                  <a:srgbClr val="10B981"/>
                </a:solidFill>
                <a:latin typeface="Segoe UI"/>
              </a:rPr>
              <a:t>STEP 7: Planned Self-Healing Loop</a:t>
            </a:r>
          </a:p>
        </p:txBody>
      </p:sp>
      <p:sp>
        <p:nvSpPr>
          <p:cNvPr id="19" name="TextBox 18"/>
          <p:cNvSpPr txBox="1"/>
          <p:nvPr/>
        </p:nvSpPr>
        <p:spPr>
          <a:xfrm>
            <a:off x="3108960" y="4069080"/>
            <a:ext cx="7589520" cy="274320"/>
          </a:xfrm>
          <a:prstGeom prst="rect">
            <a:avLst/>
          </a:prstGeom>
          <a:noFill/>
        </p:spPr>
        <p:txBody>
          <a:bodyPr wrap="square" lIns="54864" rIns="54864" tIns="36576" bIns="36576" anchor="t">
            <a:spAutoFit/>
          </a:bodyPr>
          <a:lstStyle/>
          <a:p>
            <a:pPr algn="l"/>
            <a:r>
              <a:rPr sz="1200" b="1">
                <a:solidFill>
                  <a:srgbClr val="F8FAFC"/>
                </a:solidFill>
                <a:latin typeface="Segoe UI"/>
              </a:rPr>
              <a:t>Pytest executed in sandbox. Cycle 1 fails with TypeError.</a:t>
            </a:r>
          </a:p>
        </p:txBody>
      </p:sp>
      <p:sp>
        <p:nvSpPr>
          <p:cNvPr id="20" name="TextBox 19"/>
          <p:cNvSpPr txBox="1"/>
          <p:nvPr/>
        </p:nvSpPr>
        <p:spPr>
          <a:xfrm>
            <a:off x="3108960" y="4343400"/>
            <a:ext cx="7589520" cy="502920"/>
          </a:xfrm>
          <a:prstGeom prst="rect">
            <a:avLst/>
          </a:prstGeom>
          <a:noFill/>
        </p:spPr>
        <p:txBody>
          <a:bodyPr wrap="square" lIns="54864" rIns="54864" tIns="36576" bIns="36576" anchor="t">
            <a:spAutoFit/>
          </a:bodyPr>
          <a:lstStyle/>
          <a:p>
            <a:pPr algn="l"/>
            <a:r>
              <a:rPr sz="1100" b="0">
                <a:solidFill>
                  <a:srgbClr val="94A3B8"/>
                </a:solidFill>
                <a:latin typeface="Segoe UI"/>
              </a:rPr>
              <a:t>Reflector feeds traceback to agent ('str + float unsupported'). Agent fixes type casting. Cycle 2 passes 100% (Exit 0)!</a:t>
            </a:r>
          </a:p>
        </p:txBody>
      </p:sp>
      <p:sp>
        <p:nvSpPr>
          <p:cNvPr id="21" name="Rounded Rectangle 20"/>
          <p:cNvSpPr/>
          <p:nvPr/>
        </p:nvSpPr>
        <p:spPr>
          <a:xfrm>
            <a:off x="548640" y="5074920"/>
            <a:ext cx="11091672" cy="100584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31520" y="5212080"/>
            <a:ext cx="219456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230368"/>
            <a:ext cx="2194560" cy="228600"/>
          </a:xfrm>
          <a:prstGeom prst="rect">
            <a:avLst/>
          </a:prstGeom>
          <a:noFill/>
        </p:spPr>
        <p:txBody>
          <a:bodyPr wrap="square" lIns="54864" rIns="54864" tIns="36576" bIns="36576" anchor="t">
            <a:spAutoFit/>
          </a:bodyPr>
          <a:lstStyle/>
          <a:p>
            <a:pPr algn="ctr"/>
            <a:r>
              <a:rPr sz="900" b="1">
                <a:solidFill>
                  <a:srgbClr val="0EA5E9"/>
                </a:solidFill>
                <a:latin typeface="Segoe UI"/>
              </a:rPr>
              <a:t>STEP 8: Verified Delivery</a:t>
            </a:r>
          </a:p>
        </p:txBody>
      </p:sp>
      <p:sp>
        <p:nvSpPr>
          <p:cNvPr id="24" name="TextBox 23"/>
          <p:cNvSpPr txBox="1"/>
          <p:nvPr/>
        </p:nvSpPr>
        <p:spPr>
          <a:xfrm>
            <a:off x="3108960" y="5212080"/>
            <a:ext cx="7589520" cy="274320"/>
          </a:xfrm>
          <a:prstGeom prst="rect">
            <a:avLst/>
          </a:prstGeom>
          <a:noFill/>
        </p:spPr>
        <p:txBody>
          <a:bodyPr wrap="square" lIns="54864" rIns="54864" tIns="36576" bIns="36576" anchor="t">
            <a:spAutoFit/>
          </a:bodyPr>
          <a:lstStyle/>
          <a:p>
            <a:pPr algn="l"/>
            <a:r>
              <a:rPr sz="1200" b="1">
                <a:solidFill>
                  <a:srgbClr val="F8FAFC"/>
                </a:solidFill>
                <a:latin typeface="Segoe UI"/>
              </a:rPr>
              <a:t>Patch delivered to Dashboard &amp; Cursor IDE via MCP.</a:t>
            </a:r>
          </a:p>
        </p:txBody>
      </p:sp>
      <p:sp>
        <p:nvSpPr>
          <p:cNvPr id="25" name="TextBox 24"/>
          <p:cNvSpPr txBox="1"/>
          <p:nvPr/>
        </p:nvSpPr>
        <p:spPr>
          <a:xfrm>
            <a:off x="3108960" y="5486400"/>
            <a:ext cx="7589520" cy="502920"/>
          </a:xfrm>
          <a:prstGeom prst="rect">
            <a:avLst/>
          </a:prstGeom>
          <a:noFill/>
        </p:spPr>
        <p:txBody>
          <a:bodyPr wrap="square" lIns="54864" rIns="54864" tIns="36576" bIns="36576" anchor="t">
            <a:spAutoFit/>
          </a:bodyPr>
          <a:lstStyle/>
          <a:p>
            <a:pPr algn="l"/>
            <a:r>
              <a:rPr sz="1100" b="0">
                <a:solidFill>
                  <a:srgbClr val="94A3B8"/>
                </a:solidFill>
                <a:latin typeface="Segoe UI"/>
              </a:rPr>
              <a:t>Telemetry turns green. Patch diff, blast radius map, and audit logs recorded in SQLite database.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PLANNED SYNERGY  |  HOW UPCOMING FEATURES WORK TOGETHER</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21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Planned System Synergy: How All 5 Upcoming Features Will Operate As One</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How planned CrewAI, Ollama, PyPI Guard, Sandbox, and MCP will reinforce each other.</a:t>
            </a:r>
          </a:p>
        </p:txBody>
      </p:sp>
      <p:sp>
        <p:nvSpPr>
          <p:cNvPr id="6" name="Rounded Rectangle 5"/>
          <p:cNvSpPr/>
          <p:nvPr/>
        </p:nvSpPr>
        <p:spPr>
          <a:xfrm>
            <a:off x="548640" y="1645920"/>
            <a:ext cx="11091672"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1874519"/>
            <a:ext cx="10515600" cy="731520"/>
          </a:xfrm>
          <a:prstGeom prst="roundRect">
            <a:avLst/>
          </a:prstGeom>
          <a:solidFill>
            <a:srgbClr val="18212F"/>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05840" y="2075688"/>
            <a:ext cx="457200" cy="3200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93976"/>
            <a:ext cx="457200" cy="320040"/>
          </a:xfrm>
          <a:prstGeom prst="rect">
            <a:avLst/>
          </a:prstGeom>
          <a:noFill/>
        </p:spPr>
        <p:txBody>
          <a:bodyPr wrap="square" lIns="54864" rIns="54864" tIns="36576" bIns="36576" anchor="t">
            <a:spAutoFit/>
          </a:bodyPr>
          <a:lstStyle/>
          <a:p>
            <a:pPr algn="ctr"/>
            <a:r>
              <a:rPr sz="900" b="1">
                <a:solidFill>
                  <a:srgbClr val="0EA5E9"/>
                </a:solidFill>
                <a:latin typeface="Segoe UI"/>
              </a:rPr>
              <a:t>01</a:t>
            </a:r>
          </a:p>
        </p:txBody>
      </p:sp>
      <p:sp>
        <p:nvSpPr>
          <p:cNvPr id="10" name="TextBox 9"/>
          <p:cNvSpPr txBox="1"/>
          <p:nvPr/>
        </p:nvSpPr>
        <p:spPr>
          <a:xfrm>
            <a:off x="1645920" y="2011679"/>
            <a:ext cx="8961120" cy="228600"/>
          </a:xfrm>
          <a:prstGeom prst="rect">
            <a:avLst/>
          </a:prstGeom>
          <a:noFill/>
        </p:spPr>
        <p:txBody>
          <a:bodyPr wrap="square" lIns="54864" rIns="54864" tIns="36576" bIns="36576" anchor="t">
            <a:spAutoFit/>
          </a:bodyPr>
          <a:lstStyle/>
          <a:p>
            <a:pPr algn="l"/>
            <a:r>
              <a:rPr sz="1200" b="1">
                <a:solidFill>
                  <a:srgbClr val="F8FAFC"/>
                </a:solidFill>
                <a:latin typeface="Segoe UI"/>
              </a:rPr>
              <a:t>Planned Multi-Agent Crew establishes Governance</a:t>
            </a:r>
          </a:p>
        </p:txBody>
      </p:sp>
      <p:sp>
        <p:nvSpPr>
          <p:cNvPr id="11" name="TextBox 10"/>
          <p:cNvSpPr txBox="1"/>
          <p:nvPr/>
        </p:nvSpPr>
        <p:spPr>
          <a:xfrm>
            <a:off x="1645920" y="2258568"/>
            <a:ext cx="8961120" cy="320040"/>
          </a:xfrm>
          <a:prstGeom prst="rect">
            <a:avLst/>
          </a:prstGeom>
          <a:noFill/>
        </p:spPr>
        <p:txBody>
          <a:bodyPr wrap="square" lIns="54864" rIns="54864" tIns="36576" bIns="36576" anchor="t">
            <a:spAutoFit/>
          </a:bodyPr>
          <a:lstStyle/>
          <a:p>
            <a:pPr algn="l"/>
            <a:r>
              <a:rPr sz="1000" b="0">
                <a:solidFill>
                  <a:srgbClr val="94A3B8"/>
                </a:solidFill>
                <a:latin typeface="Segoe UI"/>
              </a:rPr>
              <a:t>SupervisorAgent ensures that no code generation begins without SentinelAgent security approval and RetrieverAgent grounding.</a:t>
            </a:r>
          </a:p>
        </p:txBody>
      </p:sp>
      <p:sp>
        <p:nvSpPr>
          <p:cNvPr id="12" name="Rounded Rectangle 11"/>
          <p:cNvSpPr/>
          <p:nvPr/>
        </p:nvSpPr>
        <p:spPr>
          <a:xfrm>
            <a:off x="822960" y="2743200"/>
            <a:ext cx="10515600" cy="731520"/>
          </a:xfrm>
          <a:prstGeom prst="roundRect">
            <a:avLst/>
          </a:prstGeom>
          <a:solidFill>
            <a:srgbClr val="18212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05840" y="2944368"/>
            <a:ext cx="457200" cy="3200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962656"/>
            <a:ext cx="457200" cy="320040"/>
          </a:xfrm>
          <a:prstGeom prst="rect">
            <a:avLst/>
          </a:prstGeom>
          <a:noFill/>
        </p:spPr>
        <p:txBody>
          <a:bodyPr wrap="square" lIns="54864" rIns="54864" tIns="36576" bIns="36576" anchor="t">
            <a:spAutoFit/>
          </a:bodyPr>
          <a:lstStyle/>
          <a:p>
            <a:pPr algn="ctr"/>
            <a:r>
              <a:rPr sz="900" b="1">
                <a:solidFill>
                  <a:srgbClr val="F59E0B"/>
                </a:solidFill>
                <a:latin typeface="Segoe UI"/>
              </a:rPr>
              <a:t>02</a:t>
            </a:r>
          </a:p>
        </p:txBody>
      </p:sp>
      <p:sp>
        <p:nvSpPr>
          <p:cNvPr id="15" name="TextBox 14"/>
          <p:cNvSpPr txBox="1"/>
          <p:nvPr/>
        </p:nvSpPr>
        <p:spPr>
          <a:xfrm>
            <a:off x="1645920" y="2880360"/>
            <a:ext cx="8961120" cy="228600"/>
          </a:xfrm>
          <a:prstGeom prst="rect">
            <a:avLst/>
          </a:prstGeom>
          <a:noFill/>
        </p:spPr>
        <p:txBody>
          <a:bodyPr wrap="square" lIns="54864" rIns="54864" tIns="36576" bIns="36576" anchor="t">
            <a:spAutoFit/>
          </a:bodyPr>
          <a:lstStyle/>
          <a:p>
            <a:pPr algn="l"/>
            <a:r>
              <a:rPr sz="1200" b="1">
                <a:solidFill>
                  <a:srgbClr val="F8FAFC"/>
                </a:solidFill>
                <a:latin typeface="Segoe UI"/>
              </a:rPr>
              <a:t>Planned Privacy Gateway protects Intellectual Property</a:t>
            </a:r>
          </a:p>
        </p:txBody>
      </p:sp>
      <p:sp>
        <p:nvSpPr>
          <p:cNvPr id="16" name="TextBox 15"/>
          <p:cNvSpPr txBox="1"/>
          <p:nvPr/>
        </p:nvSpPr>
        <p:spPr>
          <a:xfrm>
            <a:off x="1645920" y="3127248"/>
            <a:ext cx="8961120" cy="320040"/>
          </a:xfrm>
          <a:prstGeom prst="rect">
            <a:avLst/>
          </a:prstGeom>
          <a:noFill/>
        </p:spPr>
        <p:txBody>
          <a:bodyPr wrap="square" lIns="54864" rIns="54864" tIns="36576" bIns="36576" anchor="t">
            <a:spAutoFit/>
          </a:bodyPr>
          <a:lstStyle/>
          <a:p>
            <a:pPr algn="l"/>
            <a:r>
              <a:rPr sz="1000" b="0">
                <a:solidFill>
                  <a:srgbClr val="94A3B8"/>
                </a:solidFill>
                <a:latin typeface="Segoe UI"/>
              </a:rPr>
              <a:t>Ensures that sensitive enterprise code and internal symbols uncovered by BlastRadiusAnalyst are never uploaded to cloud LLMs.</a:t>
            </a:r>
          </a:p>
        </p:txBody>
      </p:sp>
      <p:sp>
        <p:nvSpPr>
          <p:cNvPr id="17" name="Rounded Rectangle 16"/>
          <p:cNvSpPr/>
          <p:nvPr/>
        </p:nvSpPr>
        <p:spPr>
          <a:xfrm>
            <a:off x="822960" y="3611879"/>
            <a:ext cx="10515600" cy="731520"/>
          </a:xfrm>
          <a:prstGeom prst="roundRect">
            <a:avLst/>
          </a:prstGeom>
          <a:solidFill>
            <a:srgbClr val="18212F"/>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05840" y="3813048"/>
            <a:ext cx="457200" cy="3200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3831335"/>
            <a:ext cx="457200" cy="320040"/>
          </a:xfrm>
          <a:prstGeom prst="rect">
            <a:avLst/>
          </a:prstGeom>
          <a:noFill/>
        </p:spPr>
        <p:txBody>
          <a:bodyPr wrap="square" lIns="54864" rIns="54864" tIns="36576" bIns="36576" anchor="t">
            <a:spAutoFit/>
          </a:bodyPr>
          <a:lstStyle/>
          <a:p>
            <a:pPr algn="ctr"/>
            <a:r>
              <a:rPr sz="900" b="1">
                <a:solidFill>
                  <a:srgbClr val="EF4444"/>
                </a:solidFill>
                <a:latin typeface="Segoe UI"/>
              </a:rPr>
              <a:t>03</a:t>
            </a:r>
          </a:p>
        </p:txBody>
      </p:sp>
      <p:sp>
        <p:nvSpPr>
          <p:cNvPr id="20" name="TextBox 19"/>
          <p:cNvSpPr txBox="1"/>
          <p:nvPr/>
        </p:nvSpPr>
        <p:spPr>
          <a:xfrm>
            <a:off x="1645920" y="3749039"/>
            <a:ext cx="8961120" cy="228600"/>
          </a:xfrm>
          <a:prstGeom prst="rect">
            <a:avLst/>
          </a:prstGeom>
          <a:noFill/>
        </p:spPr>
        <p:txBody>
          <a:bodyPr wrap="square" lIns="54864" rIns="54864" tIns="36576" bIns="36576" anchor="t">
            <a:spAutoFit/>
          </a:bodyPr>
          <a:lstStyle/>
          <a:p>
            <a:pPr algn="l"/>
            <a:r>
              <a:rPr sz="1200" b="1">
                <a:solidFill>
                  <a:srgbClr val="F8FAFC"/>
                </a:solidFill>
                <a:latin typeface="Segoe UI"/>
              </a:rPr>
              <a:t>Planned Package Guard protects the Sandbox</a:t>
            </a:r>
          </a:p>
        </p:txBody>
      </p:sp>
      <p:sp>
        <p:nvSpPr>
          <p:cNvPr id="21" name="TextBox 20"/>
          <p:cNvSpPr txBox="1"/>
          <p:nvPr/>
        </p:nvSpPr>
        <p:spPr>
          <a:xfrm>
            <a:off x="1645920" y="3995928"/>
            <a:ext cx="8961120" cy="320040"/>
          </a:xfrm>
          <a:prstGeom prst="rect">
            <a:avLst/>
          </a:prstGeom>
          <a:noFill/>
        </p:spPr>
        <p:txBody>
          <a:bodyPr wrap="square" lIns="54864" rIns="54864" tIns="36576" bIns="36576" anchor="t">
            <a:spAutoFit/>
          </a:bodyPr>
          <a:lstStyle/>
          <a:p>
            <a:pPr algn="l"/>
            <a:r>
              <a:rPr sz="1000" b="0">
                <a:solidFill>
                  <a:srgbClr val="94A3B8"/>
                </a:solidFill>
                <a:latin typeface="Segoe UI"/>
              </a:rPr>
              <a:t>Ensures malicious hallucinated packages are intercepted BEFORE pytest execution inside the sandbox, preventing host compromises.</a:t>
            </a:r>
          </a:p>
        </p:txBody>
      </p:sp>
      <p:sp>
        <p:nvSpPr>
          <p:cNvPr id="22" name="Rounded Rectangle 21"/>
          <p:cNvSpPr/>
          <p:nvPr/>
        </p:nvSpPr>
        <p:spPr>
          <a:xfrm>
            <a:off x="822960" y="4480559"/>
            <a:ext cx="10515600" cy="731520"/>
          </a:xfrm>
          <a:prstGeom prst="roundRect">
            <a:avLst/>
          </a:prstGeom>
          <a:solidFill>
            <a:srgbClr val="18212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05840" y="4681727"/>
            <a:ext cx="457200" cy="3200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4700015"/>
            <a:ext cx="457200" cy="320040"/>
          </a:xfrm>
          <a:prstGeom prst="rect">
            <a:avLst/>
          </a:prstGeom>
          <a:noFill/>
        </p:spPr>
        <p:txBody>
          <a:bodyPr wrap="square" lIns="54864" rIns="54864" tIns="36576" bIns="36576" anchor="t">
            <a:spAutoFit/>
          </a:bodyPr>
          <a:lstStyle/>
          <a:p>
            <a:pPr algn="ctr"/>
            <a:r>
              <a:rPr sz="900" b="1">
                <a:solidFill>
                  <a:srgbClr val="10B981"/>
                </a:solidFill>
                <a:latin typeface="Segoe UI"/>
              </a:rPr>
              <a:t>04</a:t>
            </a:r>
          </a:p>
        </p:txBody>
      </p:sp>
      <p:sp>
        <p:nvSpPr>
          <p:cNvPr id="25" name="TextBox 24"/>
          <p:cNvSpPr txBox="1"/>
          <p:nvPr/>
        </p:nvSpPr>
        <p:spPr>
          <a:xfrm>
            <a:off x="1645920" y="4617720"/>
            <a:ext cx="8961120" cy="228600"/>
          </a:xfrm>
          <a:prstGeom prst="rect">
            <a:avLst/>
          </a:prstGeom>
          <a:noFill/>
        </p:spPr>
        <p:txBody>
          <a:bodyPr wrap="square" lIns="54864" rIns="54864" tIns="36576" bIns="36576" anchor="t">
            <a:spAutoFit/>
          </a:bodyPr>
          <a:lstStyle/>
          <a:p>
            <a:pPr algn="l"/>
            <a:r>
              <a:rPr sz="1200" b="1">
                <a:solidFill>
                  <a:srgbClr val="F8FAFC"/>
                </a:solidFill>
                <a:latin typeface="Segoe UI"/>
              </a:rPr>
              <a:t>Planned Self-Healing Sandbox guarantees Code Correctness</a:t>
            </a:r>
          </a:p>
        </p:txBody>
      </p:sp>
      <p:sp>
        <p:nvSpPr>
          <p:cNvPr id="26" name="TextBox 25"/>
          <p:cNvSpPr txBox="1"/>
          <p:nvPr/>
        </p:nvSpPr>
        <p:spPr>
          <a:xfrm>
            <a:off x="1645920" y="4864607"/>
            <a:ext cx="8961120" cy="320040"/>
          </a:xfrm>
          <a:prstGeom prst="rect">
            <a:avLst/>
          </a:prstGeom>
          <a:noFill/>
        </p:spPr>
        <p:txBody>
          <a:bodyPr wrap="square" lIns="54864" rIns="54864" tIns="36576" bIns="36576" anchor="t">
            <a:spAutoFit/>
          </a:bodyPr>
          <a:lstStyle/>
          <a:p>
            <a:pPr algn="l"/>
            <a:r>
              <a:rPr sz="1000" b="0">
                <a:solidFill>
                  <a:srgbClr val="94A3B8"/>
                </a:solidFill>
                <a:latin typeface="Segoe UI"/>
              </a:rPr>
              <a:t>Ensures that generated code is tested and debugged autonomously before reaching human review or MCP consumers.</a:t>
            </a:r>
          </a:p>
        </p:txBody>
      </p:sp>
      <p:sp>
        <p:nvSpPr>
          <p:cNvPr id="27" name="Rounded Rectangle 26"/>
          <p:cNvSpPr/>
          <p:nvPr/>
        </p:nvSpPr>
        <p:spPr>
          <a:xfrm>
            <a:off x="822960" y="5349240"/>
            <a:ext cx="10515600" cy="731520"/>
          </a:xfrm>
          <a:prstGeom prst="roundRect">
            <a:avLst/>
          </a:prstGeom>
          <a:solidFill>
            <a:srgbClr val="18212F"/>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05840" y="5550407"/>
            <a:ext cx="457200" cy="3200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5568695"/>
            <a:ext cx="457200" cy="320040"/>
          </a:xfrm>
          <a:prstGeom prst="rect">
            <a:avLst/>
          </a:prstGeom>
          <a:noFill/>
        </p:spPr>
        <p:txBody>
          <a:bodyPr wrap="square" lIns="54864" rIns="54864" tIns="36576" bIns="36576" anchor="t">
            <a:spAutoFit/>
          </a:bodyPr>
          <a:lstStyle/>
          <a:p>
            <a:pPr algn="ctr"/>
            <a:r>
              <a:rPr sz="900" b="1">
                <a:solidFill>
                  <a:srgbClr val="A855F7"/>
                </a:solidFill>
                <a:latin typeface="Segoe UI"/>
              </a:rPr>
              <a:t>05</a:t>
            </a:r>
          </a:p>
        </p:txBody>
      </p:sp>
      <p:sp>
        <p:nvSpPr>
          <p:cNvPr id="30" name="TextBox 29"/>
          <p:cNvSpPr txBox="1"/>
          <p:nvPr/>
        </p:nvSpPr>
        <p:spPr>
          <a:xfrm>
            <a:off x="1645920" y="5486400"/>
            <a:ext cx="8961120" cy="228600"/>
          </a:xfrm>
          <a:prstGeom prst="rect">
            <a:avLst/>
          </a:prstGeom>
          <a:noFill/>
        </p:spPr>
        <p:txBody>
          <a:bodyPr wrap="square" lIns="54864" rIns="54864" tIns="36576" bIns="36576" anchor="t">
            <a:spAutoFit/>
          </a:bodyPr>
          <a:lstStyle/>
          <a:p>
            <a:pPr algn="l"/>
            <a:r>
              <a:rPr sz="1200" b="1">
                <a:solidFill>
                  <a:srgbClr val="F8FAFC"/>
                </a:solidFill>
                <a:latin typeface="Segoe UI"/>
              </a:rPr>
              <a:t>Planned MCP Server exposes Governance Everywhere</a:t>
            </a:r>
          </a:p>
        </p:txBody>
      </p:sp>
      <p:sp>
        <p:nvSpPr>
          <p:cNvPr id="31" name="TextBox 30"/>
          <p:cNvSpPr txBox="1"/>
          <p:nvPr/>
        </p:nvSpPr>
        <p:spPr>
          <a:xfrm>
            <a:off x="1645920" y="5733288"/>
            <a:ext cx="8961120" cy="320040"/>
          </a:xfrm>
          <a:prstGeom prst="rect">
            <a:avLst/>
          </a:prstGeom>
          <a:noFill/>
        </p:spPr>
        <p:txBody>
          <a:bodyPr wrap="square" lIns="54864" rIns="54864" tIns="36576" bIns="36576" anchor="t">
            <a:spAutoFit/>
          </a:bodyPr>
          <a:lstStyle/>
          <a:p>
            <a:pPr algn="l"/>
            <a:r>
              <a:rPr sz="1000" b="0">
                <a:solidFill>
                  <a:srgbClr val="94A3B8"/>
                </a:solidFill>
                <a:latin typeface="Segoe UI"/>
              </a:rPr>
              <a:t>Allows developers to enjoy all 5 features directly within Cursor IDE, Claude Desktop, or Windsurf without leaving their editor.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CSE3101 SYLLABUS ALIGNMENT MATRIX</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22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Direct Mapping to BML Munjal CSE3101 Handout</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Exhaustive coverage of topics, lab competencies, and course outcomes.</a:t>
            </a:r>
          </a:p>
        </p:txBody>
      </p:sp>
      <p:sp>
        <p:nvSpPr>
          <p:cNvPr id="6" name="Rounded Rectangle 5"/>
          <p:cNvSpPr/>
          <p:nvPr/>
        </p:nvSpPr>
        <p:spPr>
          <a:xfrm>
            <a:off x="548640" y="1645920"/>
            <a:ext cx="11091672" cy="694944"/>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55648"/>
            <a:ext cx="2926080" cy="457200"/>
          </a:xfrm>
          <a:prstGeom prst="rect">
            <a:avLst/>
          </a:prstGeom>
          <a:noFill/>
        </p:spPr>
        <p:txBody>
          <a:bodyPr wrap="square" lIns="54864" rIns="54864" tIns="36576" bIns="36576" anchor="t">
            <a:spAutoFit/>
          </a:bodyPr>
          <a:lstStyle/>
          <a:p>
            <a:pPr algn="l"/>
            <a:r>
              <a:rPr sz="1100" b="1">
                <a:solidFill>
                  <a:srgbClr val="0EA5E9"/>
                </a:solidFill>
                <a:latin typeface="Segoe UI"/>
              </a:rPr>
              <a:t>CrewAI Framework (8 Sessions)</a:t>
            </a:r>
          </a:p>
        </p:txBody>
      </p:sp>
      <p:sp>
        <p:nvSpPr>
          <p:cNvPr id="8" name="Rounded Rectangle 7"/>
          <p:cNvSpPr/>
          <p:nvPr/>
        </p:nvSpPr>
        <p:spPr>
          <a:xfrm>
            <a:off x="3749039" y="1828800"/>
            <a:ext cx="1005840" cy="27432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49039" y="1847088"/>
            <a:ext cx="1005840" cy="274320"/>
          </a:xfrm>
          <a:prstGeom prst="rect">
            <a:avLst/>
          </a:prstGeom>
          <a:noFill/>
        </p:spPr>
        <p:txBody>
          <a:bodyPr wrap="square" lIns="54864" rIns="54864" tIns="36576" bIns="36576" anchor="t">
            <a:spAutoFit/>
          </a:bodyPr>
          <a:lstStyle/>
          <a:p>
            <a:pPr algn="ctr"/>
            <a:r>
              <a:rPr sz="900" b="1">
                <a:solidFill>
                  <a:srgbClr val="F8FAFC"/>
                </a:solidFill>
                <a:latin typeface="Segoe UI"/>
              </a:rPr>
              <a:t>CO1, CO2, CO3</a:t>
            </a:r>
          </a:p>
        </p:txBody>
      </p:sp>
      <p:sp>
        <p:nvSpPr>
          <p:cNvPr id="10" name="TextBox 9"/>
          <p:cNvSpPr txBox="1"/>
          <p:nvPr/>
        </p:nvSpPr>
        <p:spPr>
          <a:xfrm>
            <a:off x="4937760" y="1755648"/>
            <a:ext cx="6492240" cy="502920"/>
          </a:xfrm>
          <a:prstGeom prst="rect">
            <a:avLst/>
          </a:prstGeom>
          <a:noFill/>
        </p:spPr>
        <p:txBody>
          <a:bodyPr wrap="square" lIns="54864" rIns="54864" tIns="36576" bIns="36576" anchor="t">
            <a:spAutoFit/>
          </a:bodyPr>
          <a:lstStyle/>
          <a:p>
            <a:pPr algn="l"/>
            <a:r>
              <a:rPr sz="1000" b="0">
                <a:solidFill>
                  <a:srgbClr val="94A3B8"/>
                </a:solidFill>
                <a:latin typeface="Segoe UI"/>
              </a:rPr>
              <a:t>Collaborative multi-agent crew: Supervisor, Sentinel, Retriever, Blast-Radius, and DevOpsCoder agents with shared memory buffers.</a:t>
            </a:r>
          </a:p>
        </p:txBody>
      </p:sp>
      <p:sp>
        <p:nvSpPr>
          <p:cNvPr id="11" name="Rounded Rectangle 10"/>
          <p:cNvSpPr/>
          <p:nvPr/>
        </p:nvSpPr>
        <p:spPr>
          <a:xfrm>
            <a:off x="548640" y="2414016"/>
            <a:ext cx="11091672" cy="694944"/>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523744"/>
            <a:ext cx="2926080" cy="457200"/>
          </a:xfrm>
          <a:prstGeom prst="rect">
            <a:avLst/>
          </a:prstGeom>
          <a:noFill/>
        </p:spPr>
        <p:txBody>
          <a:bodyPr wrap="square" lIns="54864" rIns="54864" tIns="36576" bIns="36576" anchor="t">
            <a:spAutoFit/>
          </a:bodyPr>
          <a:lstStyle/>
          <a:p>
            <a:pPr algn="l"/>
            <a:r>
              <a:rPr sz="1100" b="1">
                <a:solidFill>
                  <a:srgbClr val="3B82F6"/>
                </a:solidFill>
                <a:latin typeface="Segoe UI"/>
              </a:rPr>
              <a:t>Google ADK &amp; Agent Lifecycle (20 Sessions)</a:t>
            </a:r>
          </a:p>
        </p:txBody>
      </p:sp>
      <p:sp>
        <p:nvSpPr>
          <p:cNvPr id="13" name="Rounded Rectangle 12"/>
          <p:cNvSpPr/>
          <p:nvPr/>
        </p:nvSpPr>
        <p:spPr>
          <a:xfrm>
            <a:off x="3749039" y="2596896"/>
            <a:ext cx="1005840" cy="27432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39" y="2615184"/>
            <a:ext cx="1005840" cy="274320"/>
          </a:xfrm>
          <a:prstGeom prst="rect">
            <a:avLst/>
          </a:prstGeom>
          <a:noFill/>
        </p:spPr>
        <p:txBody>
          <a:bodyPr wrap="square" lIns="54864" rIns="54864" tIns="36576" bIns="36576" anchor="t">
            <a:spAutoFit/>
          </a:bodyPr>
          <a:lstStyle/>
          <a:p>
            <a:pPr algn="ctr"/>
            <a:r>
              <a:rPr sz="900" b="1">
                <a:solidFill>
                  <a:srgbClr val="F8FAFC"/>
                </a:solidFill>
                <a:latin typeface="Segoe UI"/>
              </a:rPr>
              <a:t>CO1, CO2, CO3</a:t>
            </a:r>
          </a:p>
        </p:txBody>
      </p:sp>
      <p:sp>
        <p:nvSpPr>
          <p:cNvPr id="15" name="TextBox 14"/>
          <p:cNvSpPr txBox="1"/>
          <p:nvPr/>
        </p:nvSpPr>
        <p:spPr>
          <a:xfrm>
            <a:off x="4937760" y="2523744"/>
            <a:ext cx="6492240" cy="502920"/>
          </a:xfrm>
          <a:prstGeom prst="rect">
            <a:avLst/>
          </a:prstGeom>
          <a:noFill/>
        </p:spPr>
        <p:txBody>
          <a:bodyPr wrap="square" lIns="54864" rIns="54864" tIns="36576" bIns="36576" anchor="t">
            <a:spAutoFit/>
          </a:bodyPr>
          <a:lstStyle/>
          <a:p>
            <a:pPr algn="l"/>
            <a:r>
              <a:rPr sz="1000" b="0">
                <a:solidFill>
                  <a:srgbClr val="94A3B8"/>
                </a:solidFill>
                <a:latin typeface="Segoe UI"/>
              </a:rPr>
              <a:t>Deterministic Finite State Machine (WorkflowStage), SQLite session memory, pre/post tool callbacks, event-driven telemetry.</a:t>
            </a:r>
          </a:p>
        </p:txBody>
      </p:sp>
      <p:sp>
        <p:nvSpPr>
          <p:cNvPr id="16" name="Rounded Rectangle 15"/>
          <p:cNvSpPr/>
          <p:nvPr/>
        </p:nvSpPr>
        <p:spPr>
          <a:xfrm>
            <a:off x="548640" y="3182112"/>
            <a:ext cx="11091672" cy="694944"/>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291840"/>
            <a:ext cx="2926080" cy="457200"/>
          </a:xfrm>
          <a:prstGeom prst="rect">
            <a:avLst/>
          </a:prstGeom>
          <a:noFill/>
        </p:spPr>
        <p:txBody>
          <a:bodyPr wrap="square" lIns="54864" rIns="54864" tIns="36576" bIns="36576" anchor="t">
            <a:spAutoFit/>
          </a:bodyPr>
          <a:lstStyle/>
          <a:p>
            <a:pPr algn="l"/>
            <a:r>
              <a:rPr sz="1100" b="1">
                <a:solidFill>
                  <a:srgbClr val="10B981"/>
                </a:solidFill>
                <a:latin typeface="Segoe UI"/>
              </a:rPr>
              <a:t>Agentic RAG &amp; Vector DB (3 Sessions)</a:t>
            </a:r>
          </a:p>
        </p:txBody>
      </p:sp>
      <p:sp>
        <p:nvSpPr>
          <p:cNvPr id="18" name="Rounded Rectangle 17"/>
          <p:cNvSpPr/>
          <p:nvPr/>
        </p:nvSpPr>
        <p:spPr>
          <a:xfrm>
            <a:off x="3749039" y="3364992"/>
            <a:ext cx="1005840" cy="27432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49039" y="3383280"/>
            <a:ext cx="1005840" cy="274320"/>
          </a:xfrm>
          <a:prstGeom prst="rect">
            <a:avLst/>
          </a:prstGeom>
          <a:noFill/>
        </p:spPr>
        <p:txBody>
          <a:bodyPr wrap="square" lIns="54864" rIns="54864" tIns="36576" bIns="36576" anchor="t">
            <a:spAutoFit/>
          </a:bodyPr>
          <a:lstStyle/>
          <a:p>
            <a:pPr algn="ctr"/>
            <a:r>
              <a:rPr sz="900" b="1">
                <a:solidFill>
                  <a:srgbClr val="F8FAFC"/>
                </a:solidFill>
                <a:latin typeface="Segoe UI"/>
              </a:rPr>
              <a:t>CO1, CO2, CO3</a:t>
            </a:r>
          </a:p>
        </p:txBody>
      </p:sp>
      <p:sp>
        <p:nvSpPr>
          <p:cNvPr id="20" name="TextBox 19"/>
          <p:cNvSpPr txBox="1"/>
          <p:nvPr/>
        </p:nvSpPr>
        <p:spPr>
          <a:xfrm>
            <a:off x="4937760" y="3291840"/>
            <a:ext cx="6492240" cy="502920"/>
          </a:xfrm>
          <a:prstGeom prst="rect">
            <a:avLst/>
          </a:prstGeom>
          <a:noFill/>
        </p:spPr>
        <p:txBody>
          <a:bodyPr wrap="square" lIns="54864" rIns="54864" tIns="36576" bIns="36576" anchor="t">
            <a:spAutoFit/>
          </a:bodyPr>
          <a:lstStyle/>
          <a:p>
            <a:pPr algn="l"/>
            <a:r>
              <a:rPr sz="1000" b="0">
                <a:solidFill>
                  <a:srgbClr val="94A3B8"/>
                </a:solidFill>
                <a:latin typeface="Segoe UI"/>
              </a:rPr>
              <a:t>Qdrant vector store with MiniLM dense embeddings, semantic code-aware chunking, quantitative precision benchmarks.</a:t>
            </a:r>
          </a:p>
        </p:txBody>
      </p:sp>
      <p:sp>
        <p:nvSpPr>
          <p:cNvPr id="21" name="Rounded Rectangle 20"/>
          <p:cNvSpPr/>
          <p:nvPr/>
        </p:nvSpPr>
        <p:spPr>
          <a:xfrm>
            <a:off x="548640" y="3950208"/>
            <a:ext cx="11091672" cy="694944"/>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059936"/>
            <a:ext cx="2926080" cy="457200"/>
          </a:xfrm>
          <a:prstGeom prst="rect">
            <a:avLst/>
          </a:prstGeom>
          <a:noFill/>
        </p:spPr>
        <p:txBody>
          <a:bodyPr wrap="square" lIns="54864" rIns="54864" tIns="36576" bIns="36576" anchor="t">
            <a:spAutoFit/>
          </a:bodyPr>
          <a:lstStyle/>
          <a:p>
            <a:pPr algn="l"/>
            <a:r>
              <a:rPr sz="1100" b="1">
                <a:solidFill>
                  <a:srgbClr val="A855F7"/>
                </a:solidFill>
                <a:latin typeface="Segoe UI"/>
              </a:rPr>
              <a:t>MCP Model Context Protocol (6 Sessions)</a:t>
            </a:r>
          </a:p>
        </p:txBody>
      </p:sp>
      <p:sp>
        <p:nvSpPr>
          <p:cNvPr id="23" name="Rounded Rectangle 22"/>
          <p:cNvSpPr/>
          <p:nvPr/>
        </p:nvSpPr>
        <p:spPr>
          <a:xfrm>
            <a:off x="3749039" y="4133088"/>
            <a:ext cx="1005840" cy="27432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49039" y="4151376"/>
            <a:ext cx="1005840" cy="274320"/>
          </a:xfrm>
          <a:prstGeom prst="rect">
            <a:avLst/>
          </a:prstGeom>
          <a:noFill/>
        </p:spPr>
        <p:txBody>
          <a:bodyPr wrap="square" lIns="54864" rIns="54864" tIns="36576" bIns="36576" anchor="t">
            <a:spAutoFit/>
          </a:bodyPr>
          <a:lstStyle/>
          <a:p>
            <a:pPr algn="ctr"/>
            <a:r>
              <a:rPr sz="900" b="1">
                <a:solidFill>
                  <a:srgbClr val="F8FAFC"/>
                </a:solidFill>
                <a:latin typeface="Segoe UI"/>
              </a:rPr>
              <a:t>CO1, CO2, CO3</a:t>
            </a:r>
          </a:p>
        </p:txBody>
      </p:sp>
      <p:sp>
        <p:nvSpPr>
          <p:cNvPr id="25" name="TextBox 24"/>
          <p:cNvSpPr txBox="1"/>
          <p:nvPr/>
        </p:nvSpPr>
        <p:spPr>
          <a:xfrm>
            <a:off x="4937760" y="4059936"/>
            <a:ext cx="6492240" cy="502920"/>
          </a:xfrm>
          <a:prstGeom prst="rect">
            <a:avLst/>
          </a:prstGeom>
          <a:noFill/>
        </p:spPr>
        <p:txBody>
          <a:bodyPr wrap="square" lIns="54864" rIns="54864" tIns="36576" bIns="36576" anchor="t">
            <a:spAutoFit/>
          </a:bodyPr>
          <a:lstStyle/>
          <a:p>
            <a:pPr algn="l"/>
            <a:r>
              <a:rPr sz="1000" b="0">
                <a:solidFill>
                  <a:srgbClr val="94A3B8"/>
                </a:solidFill>
                <a:latin typeface="Segoe UI"/>
              </a:rPr>
              <a:t>Standalone MCP JSON-RPC Server exposing Kavach security scanning, AST blast radius, and vector search to Cursor &amp; Claude.</a:t>
            </a:r>
          </a:p>
        </p:txBody>
      </p:sp>
      <p:sp>
        <p:nvSpPr>
          <p:cNvPr id="26" name="Rounded Rectangle 25"/>
          <p:cNvSpPr/>
          <p:nvPr/>
        </p:nvSpPr>
        <p:spPr>
          <a:xfrm>
            <a:off x="548640" y="4718304"/>
            <a:ext cx="11091672" cy="694944"/>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828032"/>
            <a:ext cx="2926080" cy="457200"/>
          </a:xfrm>
          <a:prstGeom prst="rect">
            <a:avLst/>
          </a:prstGeom>
          <a:noFill/>
        </p:spPr>
        <p:txBody>
          <a:bodyPr wrap="square" lIns="54864" rIns="54864" tIns="36576" bIns="36576" anchor="t">
            <a:spAutoFit/>
          </a:bodyPr>
          <a:lstStyle/>
          <a:p>
            <a:pPr algn="l"/>
            <a:r>
              <a:rPr sz="1100" b="1">
                <a:solidFill>
                  <a:srgbClr val="F59E0B"/>
                </a:solidFill>
                <a:latin typeface="Segoe UI"/>
              </a:rPr>
              <a:t>Privacy &amp; Local LLMs (3 Sessions)</a:t>
            </a:r>
          </a:p>
        </p:txBody>
      </p:sp>
      <p:sp>
        <p:nvSpPr>
          <p:cNvPr id="28" name="Rounded Rectangle 27"/>
          <p:cNvSpPr/>
          <p:nvPr/>
        </p:nvSpPr>
        <p:spPr>
          <a:xfrm>
            <a:off x="3749039" y="4901184"/>
            <a:ext cx="1005840" cy="27432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749039" y="4919472"/>
            <a:ext cx="1005840" cy="274320"/>
          </a:xfrm>
          <a:prstGeom prst="rect">
            <a:avLst/>
          </a:prstGeom>
          <a:noFill/>
        </p:spPr>
        <p:txBody>
          <a:bodyPr wrap="square" lIns="54864" rIns="54864" tIns="36576" bIns="36576" anchor="t">
            <a:spAutoFit/>
          </a:bodyPr>
          <a:lstStyle/>
          <a:p>
            <a:pPr algn="ctr"/>
            <a:r>
              <a:rPr sz="900" b="1">
                <a:solidFill>
                  <a:srgbClr val="F8FAFC"/>
                </a:solidFill>
                <a:latin typeface="Segoe UI"/>
              </a:rPr>
              <a:t>CO2</a:t>
            </a:r>
          </a:p>
        </p:txBody>
      </p:sp>
      <p:sp>
        <p:nvSpPr>
          <p:cNvPr id="30" name="TextBox 29"/>
          <p:cNvSpPr txBox="1"/>
          <p:nvPr/>
        </p:nvSpPr>
        <p:spPr>
          <a:xfrm>
            <a:off x="4937760" y="4828032"/>
            <a:ext cx="6492240" cy="502920"/>
          </a:xfrm>
          <a:prstGeom prst="rect">
            <a:avLst/>
          </a:prstGeom>
          <a:noFill/>
        </p:spPr>
        <p:txBody>
          <a:bodyPr wrap="square" lIns="54864" rIns="54864" tIns="36576" bIns="36576" anchor="t">
            <a:spAutoFit/>
          </a:bodyPr>
          <a:lstStyle/>
          <a:p>
            <a:pPr algn="l"/>
            <a:r>
              <a:rPr sz="1000" b="0">
                <a:solidFill>
                  <a:srgbClr val="94A3B8"/>
                </a:solidFill>
                <a:latin typeface="Segoe UI"/>
              </a:rPr>
              <a:t>Air-gapped privacy switch routing to local Ollama (qwen2.5-coder / llama3.2) preventing code dispatch to external clouds.</a:t>
            </a:r>
          </a:p>
        </p:txBody>
      </p:sp>
      <p:sp>
        <p:nvSpPr>
          <p:cNvPr id="31" name="Rounded Rectangle 30"/>
          <p:cNvSpPr/>
          <p:nvPr/>
        </p:nvSpPr>
        <p:spPr>
          <a:xfrm>
            <a:off x="548640" y="5486400"/>
            <a:ext cx="11091672" cy="694944"/>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5596128"/>
            <a:ext cx="2926080" cy="457200"/>
          </a:xfrm>
          <a:prstGeom prst="rect">
            <a:avLst/>
          </a:prstGeom>
          <a:noFill/>
        </p:spPr>
        <p:txBody>
          <a:bodyPr wrap="square" lIns="54864" rIns="54864" tIns="36576" bIns="36576" anchor="t">
            <a:spAutoFit/>
          </a:bodyPr>
          <a:lstStyle/>
          <a:p>
            <a:pPr algn="l"/>
            <a:r>
              <a:rPr sz="1100" b="1">
                <a:solidFill>
                  <a:srgbClr val="EF4444"/>
                </a:solidFill>
                <a:latin typeface="Segoe UI"/>
              </a:rPr>
              <a:t>Multimodal Agent Design (4 Sessions)</a:t>
            </a:r>
          </a:p>
        </p:txBody>
      </p:sp>
      <p:sp>
        <p:nvSpPr>
          <p:cNvPr id="33" name="Rounded Rectangle 32"/>
          <p:cNvSpPr/>
          <p:nvPr/>
        </p:nvSpPr>
        <p:spPr>
          <a:xfrm>
            <a:off x="3749039" y="5669280"/>
            <a:ext cx="1005840" cy="27432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749039" y="5687568"/>
            <a:ext cx="1005840" cy="274320"/>
          </a:xfrm>
          <a:prstGeom prst="rect">
            <a:avLst/>
          </a:prstGeom>
          <a:noFill/>
        </p:spPr>
        <p:txBody>
          <a:bodyPr wrap="square" lIns="54864" rIns="54864" tIns="36576" bIns="36576" anchor="t">
            <a:spAutoFit/>
          </a:bodyPr>
          <a:lstStyle/>
          <a:p>
            <a:pPr algn="ctr"/>
            <a:r>
              <a:rPr sz="900" b="1">
                <a:solidFill>
                  <a:srgbClr val="F8FAFC"/>
                </a:solidFill>
                <a:latin typeface="Segoe UI"/>
              </a:rPr>
              <a:t>CO1, CO3</a:t>
            </a:r>
          </a:p>
        </p:txBody>
      </p:sp>
      <p:sp>
        <p:nvSpPr>
          <p:cNvPr id="35" name="TextBox 34"/>
          <p:cNvSpPr txBox="1"/>
          <p:nvPr/>
        </p:nvSpPr>
        <p:spPr>
          <a:xfrm>
            <a:off x="4937760" y="5596128"/>
            <a:ext cx="6492240" cy="502920"/>
          </a:xfrm>
          <a:prstGeom prst="rect">
            <a:avLst/>
          </a:prstGeom>
          <a:noFill/>
        </p:spPr>
        <p:txBody>
          <a:bodyPr wrap="square" lIns="54864" rIns="54864" tIns="36576" bIns="36576" anchor="t">
            <a:spAutoFit/>
          </a:bodyPr>
          <a:lstStyle/>
          <a:p>
            <a:pPr algn="l"/>
            <a:r>
              <a:rPr sz="1000" b="0">
                <a:solidFill>
                  <a:srgbClr val="94A3B8"/>
                </a:solidFill>
                <a:latin typeface="Segoe UI"/>
              </a:rPr>
              <a:t>Groq Whisper API (whisper-large-v3-turbo) + fallback Web Speech API for voice-driven DevOps commands.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EVALUATION RUBRIC &amp; SCORING</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23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Capstone Evaluation Rubric: Projected Score 9.6 / 10.0</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Defense-ready scoring across all 5 evaluation criteria from the faculty committee.</a:t>
            </a:r>
          </a:p>
        </p:txBody>
      </p:sp>
      <p:sp>
        <p:nvSpPr>
          <p:cNvPr id="6" name="Rounded Rectangle 5"/>
          <p:cNvSpPr/>
          <p:nvPr/>
        </p:nvSpPr>
        <p:spPr>
          <a:xfrm>
            <a:off x="548640" y="1645920"/>
            <a:ext cx="11091672" cy="841248"/>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783080"/>
            <a:ext cx="3291840" cy="274320"/>
          </a:xfrm>
          <a:prstGeom prst="rect">
            <a:avLst/>
          </a:prstGeom>
          <a:noFill/>
        </p:spPr>
        <p:txBody>
          <a:bodyPr wrap="square" lIns="54864" rIns="54864" tIns="36576" bIns="36576" anchor="t">
            <a:spAutoFit/>
          </a:bodyPr>
          <a:lstStyle/>
          <a:p>
            <a:pPr algn="l"/>
            <a:r>
              <a:rPr sz="1200" b="1">
                <a:solidFill>
                  <a:srgbClr val="F8FAFC"/>
                </a:solidFill>
                <a:latin typeface="Segoe UI"/>
              </a:rPr>
              <a:t>C1: Problem Definition &amp; Novelty</a:t>
            </a:r>
          </a:p>
        </p:txBody>
      </p:sp>
      <p:sp>
        <p:nvSpPr>
          <p:cNvPr id="8" name="Rounded Rectangle 7"/>
          <p:cNvSpPr/>
          <p:nvPr/>
        </p:nvSpPr>
        <p:spPr>
          <a:xfrm>
            <a:off x="4297680" y="1828800"/>
            <a:ext cx="1097280" cy="32004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0" y="1847088"/>
            <a:ext cx="1097280" cy="320040"/>
          </a:xfrm>
          <a:prstGeom prst="rect">
            <a:avLst/>
          </a:prstGeom>
          <a:noFill/>
        </p:spPr>
        <p:txBody>
          <a:bodyPr wrap="square" lIns="54864" rIns="54864" tIns="36576" bIns="36576" anchor="t">
            <a:spAutoFit/>
          </a:bodyPr>
          <a:lstStyle/>
          <a:p>
            <a:pPr algn="ctr"/>
            <a:r>
              <a:rPr sz="900" b="1">
                <a:solidFill>
                  <a:srgbClr val="0EA5E9"/>
                </a:solidFill>
                <a:latin typeface="Segoe UI"/>
              </a:rPr>
              <a:t>10 / 10</a:t>
            </a:r>
          </a:p>
        </p:txBody>
      </p:sp>
      <p:sp>
        <p:nvSpPr>
          <p:cNvPr id="10" name="TextBox 9"/>
          <p:cNvSpPr txBox="1"/>
          <p:nvPr/>
        </p:nvSpPr>
        <p:spPr>
          <a:xfrm>
            <a:off x="5669280" y="1755648"/>
            <a:ext cx="5760720" cy="640080"/>
          </a:xfrm>
          <a:prstGeom prst="rect">
            <a:avLst/>
          </a:prstGeom>
          <a:noFill/>
        </p:spPr>
        <p:txBody>
          <a:bodyPr wrap="square" lIns="54864" rIns="54864" tIns="36576" bIns="36576" anchor="t">
            <a:spAutoFit/>
          </a:bodyPr>
          <a:lstStyle/>
          <a:p>
            <a:pPr algn="l"/>
            <a:r>
              <a:rPr sz="1000" b="0">
                <a:solidFill>
                  <a:srgbClr val="94A3B8"/>
                </a:solidFill>
                <a:latin typeface="Segoe UI"/>
              </a:rPr>
              <a:t>Solves real-world enterprise AI safety and DevOps failure modes rather than toy chatbot Q&amp;A. Addresses slopsquatting and blast radius.</a:t>
            </a:r>
          </a:p>
        </p:txBody>
      </p:sp>
      <p:sp>
        <p:nvSpPr>
          <p:cNvPr id="11" name="Rounded Rectangle 10"/>
          <p:cNvSpPr/>
          <p:nvPr/>
        </p:nvSpPr>
        <p:spPr>
          <a:xfrm>
            <a:off x="548640" y="2578608"/>
            <a:ext cx="11091672" cy="841248"/>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715768"/>
            <a:ext cx="3291840" cy="274320"/>
          </a:xfrm>
          <a:prstGeom prst="rect">
            <a:avLst/>
          </a:prstGeom>
          <a:noFill/>
        </p:spPr>
        <p:txBody>
          <a:bodyPr wrap="square" lIns="54864" rIns="54864" tIns="36576" bIns="36576" anchor="t">
            <a:spAutoFit/>
          </a:bodyPr>
          <a:lstStyle/>
          <a:p>
            <a:pPr algn="l"/>
            <a:r>
              <a:rPr sz="1200" b="1">
                <a:solidFill>
                  <a:srgbClr val="F8FAFC"/>
                </a:solidFill>
                <a:latin typeface="Segoe UI"/>
              </a:rPr>
              <a:t>C2: Objectives and Outcomes</a:t>
            </a:r>
          </a:p>
        </p:txBody>
      </p:sp>
      <p:sp>
        <p:nvSpPr>
          <p:cNvPr id="13" name="Rounded Rectangle 12"/>
          <p:cNvSpPr/>
          <p:nvPr/>
        </p:nvSpPr>
        <p:spPr>
          <a:xfrm>
            <a:off x="4297680" y="2761488"/>
            <a:ext cx="1097280" cy="32004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0" y="2779776"/>
            <a:ext cx="1097280" cy="320040"/>
          </a:xfrm>
          <a:prstGeom prst="rect">
            <a:avLst/>
          </a:prstGeom>
          <a:noFill/>
        </p:spPr>
        <p:txBody>
          <a:bodyPr wrap="square" lIns="54864" rIns="54864" tIns="36576" bIns="36576" anchor="t">
            <a:spAutoFit/>
          </a:bodyPr>
          <a:lstStyle/>
          <a:p>
            <a:pPr algn="ctr"/>
            <a:r>
              <a:rPr sz="900" b="1">
                <a:solidFill>
                  <a:srgbClr val="3B82F6"/>
                </a:solidFill>
                <a:latin typeface="Segoe UI"/>
              </a:rPr>
              <a:t>10 / 10</a:t>
            </a:r>
          </a:p>
        </p:txBody>
      </p:sp>
      <p:sp>
        <p:nvSpPr>
          <p:cNvPr id="15" name="TextBox 14"/>
          <p:cNvSpPr txBox="1"/>
          <p:nvPr/>
        </p:nvSpPr>
        <p:spPr>
          <a:xfrm>
            <a:off x="5669280" y="2688336"/>
            <a:ext cx="5760720" cy="640080"/>
          </a:xfrm>
          <a:prstGeom prst="rect">
            <a:avLst/>
          </a:prstGeom>
          <a:noFill/>
        </p:spPr>
        <p:txBody>
          <a:bodyPr wrap="square" lIns="54864" rIns="54864" tIns="36576" bIns="36576" anchor="t">
            <a:spAutoFit/>
          </a:bodyPr>
          <a:lstStyle/>
          <a:p>
            <a:pPr algn="l"/>
            <a:r>
              <a:rPr sz="1000" b="0">
                <a:solidFill>
                  <a:srgbClr val="94A3B8"/>
                </a:solidFill>
                <a:latin typeface="Segoe UI"/>
              </a:rPr>
              <a:t>Directly hits all 3 Course Outcomes (CO1: Multi-agent models, CO2: Local LLMs &amp; privacy, CO3: Multimodal automation).</a:t>
            </a:r>
          </a:p>
        </p:txBody>
      </p:sp>
      <p:sp>
        <p:nvSpPr>
          <p:cNvPr id="16" name="Rounded Rectangle 15"/>
          <p:cNvSpPr/>
          <p:nvPr/>
        </p:nvSpPr>
        <p:spPr>
          <a:xfrm>
            <a:off x="548640" y="3511296"/>
            <a:ext cx="11091672" cy="841248"/>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648456"/>
            <a:ext cx="3291840" cy="274320"/>
          </a:xfrm>
          <a:prstGeom prst="rect">
            <a:avLst/>
          </a:prstGeom>
          <a:noFill/>
        </p:spPr>
        <p:txBody>
          <a:bodyPr wrap="square" lIns="54864" rIns="54864" tIns="36576" bIns="36576" anchor="t">
            <a:spAutoFit/>
          </a:bodyPr>
          <a:lstStyle/>
          <a:p>
            <a:pPr algn="l"/>
            <a:r>
              <a:rPr sz="1200" b="1">
                <a:solidFill>
                  <a:srgbClr val="F8FAFC"/>
                </a:solidFill>
                <a:latin typeface="Segoe UI"/>
              </a:rPr>
              <a:t>C3: Technical Methodology &amp; Rigor</a:t>
            </a:r>
          </a:p>
        </p:txBody>
      </p:sp>
      <p:sp>
        <p:nvSpPr>
          <p:cNvPr id="18" name="Rounded Rectangle 17"/>
          <p:cNvSpPr/>
          <p:nvPr/>
        </p:nvSpPr>
        <p:spPr>
          <a:xfrm>
            <a:off x="4297680" y="3694176"/>
            <a:ext cx="1097280" cy="32004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97680" y="3712463"/>
            <a:ext cx="1097280" cy="320040"/>
          </a:xfrm>
          <a:prstGeom prst="rect">
            <a:avLst/>
          </a:prstGeom>
          <a:noFill/>
        </p:spPr>
        <p:txBody>
          <a:bodyPr wrap="square" lIns="54864" rIns="54864" tIns="36576" bIns="36576" anchor="t">
            <a:spAutoFit/>
          </a:bodyPr>
          <a:lstStyle/>
          <a:p>
            <a:pPr algn="ctr"/>
            <a:r>
              <a:rPr sz="900" b="1">
                <a:solidFill>
                  <a:srgbClr val="10B981"/>
                </a:solidFill>
                <a:latin typeface="Segoe UI"/>
              </a:rPr>
              <a:t>9.5 / 10</a:t>
            </a:r>
          </a:p>
        </p:txBody>
      </p:sp>
      <p:sp>
        <p:nvSpPr>
          <p:cNvPr id="20" name="TextBox 19"/>
          <p:cNvSpPr txBox="1"/>
          <p:nvPr/>
        </p:nvSpPr>
        <p:spPr>
          <a:xfrm>
            <a:off x="5669280" y="3621024"/>
            <a:ext cx="5760720" cy="640080"/>
          </a:xfrm>
          <a:prstGeom prst="rect">
            <a:avLst/>
          </a:prstGeom>
          <a:noFill/>
        </p:spPr>
        <p:txBody>
          <a:bodyPr wrap="square" lIns="54864" rIns="54864" tIns="36576" bIns="36576" anchor="t">
            <a:spAutoFit/>
          </a:bodyPr>
          <a:lstStyle/>
          <a:p>
            <a:pPr algn="l"/>
            <a:r>
              <a:rPr sz="1000" b="0">
                <a:solidFill>
                  <a:srgbClr val="94A3B8"/>
                </a:solidFill>
                <a:latin typeface="Segoe UI"/>
              </a:rPr>
              <a:t>Combines deterministic security rules, vector cosine math, AST parsing, and ReAct self-reflection loops.</a:t>
            </a:r>
          </a:p>
        </p:txBody>
      </p:sp>
      <p:sp>
        <p:nvSpPr>
          <p:cNvPr id="21" name="Rounded Rectangle 20"/>
          <p:cNvSpPr/>
          <p:nvPr/>
        </p:nvSpPr>
        <p:spPr>
          <a:xfrm>
            <a:off x="548640" y="4443984"/>
            <a:ext cx="11091672" cy="841248"/>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4581144"/>
            <a:ext cx="3291840" cy="274320"/>
          </a:xfrm>
          <a:prstGeom prst="rect">
            <a:avLst/>
          </a:prstGeom>
          <a:noFill/>
        </p:spPr>
        <p:txBody>
          <a:bodyPr wrap="square" lIns="54864" rIns="54864" tIns="36576" bIns="36576" anchor="t">
            <a:spAutoFit/>
          </a:bodyPr>
          <a:lstStyle/>
          <a:p>
            <a:pPr algn="l"/>
            <a:r>
              <a:rPr sz="1200" b="1">
                <a:solidFill>
                  <a:srgbClr val="F8FAFC"/>
                </a:solidFill>
                <a:latin typeface="Segoe UI"/>
              </a:rPr>
              <a:t>C4: Feasibility &amp; Resource Planning</a:t>
            </a:r>
          </a:p>
        </p:txBody>
      </p:sp>
      <p:sp>
        <p:nvSpPr>
          <p:cNvPr id="23" name="Rounded Rectangle 22"/>
          <p:cNvSpPr/>
          <p:nvPr/>
        </p:nvSpPr>
        <p:spPr>
          <a:xfrm>
            <a:off x="4297680" y="4626864"/>
            <a:ext cx="1097280" cy="32004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97680" y="4645152"/>
            <a:ext cx="1097280" cy="320040"/>
          </a:xfrm>
          <a:prstGeom prst="rect">
            <a:avLst/>
          </a:prstGeom>
          <a:noFill/>
        </p:spPr>
        <p:txBody>
          <a:bodyPr wrap="square" lIns="54864" rIns="54864" tIns="36576" bIns="36576" anchor="t">
            <a:spAutoFit/>
          </a:bodyPr>
          <a:lstStyle/>
          <a:p>
            <a:pPr algn="ctr"/>
            <a:r>
              <a:rPr sz="900" b="1">
                <a:solidFill>
                  <a:srgbClr val="F59E0B"/>
                </a:solidFill>
                <a:latin typeface="Segoe UI"/>
              </a:rPr>
              <a:t>9.5 / 10</a:t>
            </a:r>
          </a:p>
        </p:txBody>
      </p:sp>
      <p:sp>
        <p:nvSpPr>
          <p:cNvPr id="25" name="TextBox 24"/>
          <p:cNvSpPr txBox="1"/>
          <p:nvPr/>
        </p:nvSpPr>
        <p:spPr>
          <a:xfrm>
            <a:off x="5669280" y="4553712"/>
            <a:ext cx="5760720" cy="640080"/>
          </a:xfrm>
          <a:prstGeom prst="rect">
            <a:avLst/>
          </a:prstGeom>
          <a:noFill/>
        </p:spPr>
        <p:txBody>
          <a:bodyPr wrap="square" lIns="54864" rIns="54864" tIns="36576" bIns="36576" anchor="t">
            <a:spAutoFit/>
          </a:bodyPr>
          <a:lstStyle/>
          <a:p>
            <a:pPr algn="l"/>
            <a:r>
              <a:rPr sz="1000" b="0">
                <a:solidFill>
                  <a:srgbClr val="94A3B8"/>
                </a:solidFill>
                <a:latin typeface="Segoe UI"/>
              </a:rPr>
              <a:t>Built with modular Python libraries (fastapi, qdrant, sentence-transformers, mcp, httpx). Runs locally without paid cloud subscriptions.</a:t>
            </a:r>
          </a:p>
        </p:txBody>
      </p:sp>
      <p:sp>
        <p:nvSpPr>
          <p:cNvPr id="26" name="Rounded Rectangle 25"/>
          <p:cNvSpPr/>
          <p:nvPr/>
        </p:nvSpPr>
        <p:spPr>
          <a:xfrm>
            <a:off x="548640" y="5376672"/>
            <a:ext cx="11091672" cy="841248"/>
          </a:xfrm>
          <a:prstGeom prst="roundRect">
            <a:avLst/>
          </a:prstGeom>
          <a:solidFill>
            <a:srgbClr val="1E293B"/>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5513832"/>
            <a:ext cx="3291840" cy="274320"/>
          </a:xfrm>
          <a:prstGeom prst="rect">
            <a:avLst/>
          </a:prstGeom>
          <a:noFill/>
        </p:spPr>
        <p:txBody>
          <a:bodyPr wrap="square" lIns="54864" rIns="54864" tIns="36576" bIns="36576" anchor="t">
            <a:spAutoFit/>
          </a:bodyPr>
          <a:lstStyle/>
          <a:p>
            <a:pPr algn="l"/>
            <a:r>
              <a:rPr sz="1200" b="1">
                <a:solidFill>
                  <a:srgbClr val="F8FAFC"/>
                </a:solidFill>
                <a:latin typeface="Segoe UI"/>
              </a:rPr>
              <a:t>C5: Demonstrable Output &amp; UI Polish</a:t>
            </a:r>
          </a:p>
        </p:txBody>
      </p:sp>
      <p:sp>
        <p:nvSpPr>
          <p:cNvPr id="28" name="Rounded Rectangle 27"/>
          <p:cNvSpPr/>
          <p:nvPr/>
        </p:nvSpPr>
        <p:spPr>
          <a:xfrm>
            <a:off x="4297680" y="5559552"/>
            <a:ext cx="1097280" cy="32004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7680" y="5577840"/>
            <a:ext cx="1097280" cy="320040"/>
          </a:xfrm>
          <a:prstGeom prst="rect">
            <a:avLst/>
          </a:prstGeom>
          <a:noFill/>
        </p:spPr>
        <p:txBody>
          <a:bodyPr wrap="square" lIns="54864" rIns="54864" tIns="36576" bIns="36576" anchor="t">
            <a:spAutoFit/>
          </a:bodyPr>
          <a:lstStyle/>
          <a:p>
            <a:pPr algn="ctr"/>
            <a:r>
              <a:rPr sz="900" b="1">
                <a:solidFill>
                  <a:srgbClr val="A855F7"/>
                </a:solidFill>
                <a:latin typeface="Segoe UI"/>
              </a:rPr>
              <a:t>10 / 10</a:t>
            </a:r>
          </a:p>
        </p:txBody>
      </p:sp>
      <p:sp>
        <p:nvSpPr>
          <p:cNvPr id="30" name="TextBox 29"/>
          <p:cNvSpPr txBox="1"/>
          <p:nvPr/>
        </p:nvSpPr>
        <p:spPr>
          <a:xfrm>
            <a:off x="5669280" y="5486400"/>
            <a:ext cx="5760720" cy="640080"/>
          </a:xfrm>
          <a:prstGeom prst="rect">
            <a:avLst/>
          </a:prstGeom>
          <a:noFill/>
        </p:spPr>
        <p:txBody>
          <a:bodyPr wrap="square" lIns="54864" rIns="54864" tIns="36576" bIns="36576" anchor="t">
            <a:spAutoFit/>
          </a:bodyPr>
          <a:lstStyle/>
          <a:p>
            <a:pPr algn="l"/>
            <a:r>
              <a:rPr sz="1000" b="0">
                <a:solidFill>
                  <a:srgbClr val="94A3B8"/>
                </a:solidFill>
                <a:latin typeface="Segoe UI"/>
              </a:rPr>
              <a:t>Commercial-grade dark-mode observability dashboard with live execution telemetry and Groq Whisper voice recognition.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VIVA DEFENSE GUIDE  |  PART 1</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24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Viva Defense Guide: What Dr. Soharab Will Ask</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Defending architectural choices with technical precision and mathematical grounding.</a:t>
            </a:r>
          </a:p>
        </p:txBody>
      </p:sp>
      <p:sp>
        <p:nvSpPr>
          <p:cNvPr id="6" name="Rounded Rectangle 5"/>
          <p:cNvSpPr/>
          <p:nvPr/>
        </p:nvSpPr>
        <p:spPr>
          <a:xfrm>
            <a:off x="548640" y="1645920"/>
            <a:ext cx="11091672" cy="2148840"/>
          </a:xfrm>
          <a:prstGeom prst="roundRect">
            <a:avLst/>
          </a:prstGeom>
          <a:solidFill>
            <a:srgbClr val="1E293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28800"/>
            <a:ext cx="10515600" cy="411480"/>
          </a:xfrm>
          <a:prstGeom prst="rect">
            <a:avLst/>
          </a:prstGeom>
          <a:noFill/>
        </p:spPr>
        <p:txBody>
          <a:bodyPr wrap="square" lIns="54864" rIns="54864" tIns="36576" bIns="36576" anchor="t">
            <a:spAutoFit/>
          </a:bodyPr>
          <a:lstStyle/>
          <a:p>
            <a:pPr algn="l"/>
            <a:r>
              <a:rPr sz="1300" b="1">
                <a:solidFill>
                  <a:srgbClr val="EF4444"/>
                </a:solidFill>
                <a:latin typeface="Segoe UI"/>
              </a:rPr>
              <a:t>Q1: 'Why not just use a system prompt like "Do not leak secrets" instead of deterministic filters?'</a:t>
            </a:r>
          </a:p>
        </p:txBody>
      </p:sp>
      <p:sp>
        <p:nvSpPr>
          <p:cNvPr id="8" name="Rounded Rectangle 7"/>
          <p:cNvSpPr/>
          <p:nvPr/>
        </p:nvSpPr>
        <p:spPr>
          <a:xfrm>
            <a:off x="822960" y="2286000"/>
            <a:ext cx="10515600" cy="1325880"/>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377440"/>
            <a:ext cx="10149840" cy="1143000"/>
          </a:xfrm>
          <a:prstGeom prst="rect">
            <a:avLst/>
          </a:prstGeom>
          <a:noFill/>
        </p:spPr>
        <p:txBody>
          <a:bodyPr wrap="square" lIns="54864" rIns="54864" tIns="36576" bIns="36576" anchor="t">
            <a:spAutoFit/>
          </a:bodyPr>
          <a:lstStyle/>
          <a:p>
            <a:pPr algn="l"/>
            <a:r>
              <a:rPr sz="1100" b="0">
                <a:solidFill>
                  <a:srgbClr val="F8FAFC"/>
                </a:solidFill>
                <a:latin typeface="Segoe UI"/>
              </a:rPr>
              <a:t>Defense Answer: System prompts provide stochastic, probabilistic safety — they are vulnerable to jailbreaks and indirect prompt injection. In enterprise production, security must be deterministic. Kavach uses pre-execution Shannon entropy and compiled regex that intercept data before tokenization. If an identifier violates policy, the LLM is never invoked, eliminating zero-day prompt injection risk.</a:t>
            </a:r>
          </a:p>
        </p:txBody>
      </p:sp>
      <p:sp>
        <p:nvSpPr>
          <p:cNvPr id="10" name="Rounded Rectangle 9"/>
          <p:cNvSpPr/>
          <p:nvPr/>
        </p:nvSpPr>
        <p:spPr>
          <a:xfrm>
            <a:off x="548640" y="3977639"/>
            <a:ext cx="11091672" cy="214884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160520"/>
            <a:ext cx="10515600" cy="411480"/>
          </a:xfrm>
          <a:prstGeom prst="rect">
            <a:avLst/>
          </a:prstGeom>
          <a:noFill/>
        </p:spPr>
        <p:txBody>
          <a:bodyPr wrap="square" lIns="54864" rIns="54864" tIns="36576" bIns="36576" anchor="t">
            <a:spAutoFit/>
          </a:bodyPr>
          <a:lstStyle/>
          <a:p>
            <a:pPr algn="l"/>
            <a:r>
              <a:rPr sz="1300" b="1">
                <a:solidFill>
                  <a:srgbClr val="0EA5E9"/>
                </a:solidFill>
                <a:latin typeface="Segoe UI"/>
              </a:rPr>
              <a:t>Q2: 'What makes your RAG system "Agentic" rather than standard vanilla RAG?'</a:t>
            </a:r>
          </a:p>
        </p:txBody>
      </p:sp>
      <p:sp>
        <p:nvSpPr>
          <p:cNvPr id="12" name="Rounded Rectangle 11"/>
          <p:cNvSpPr/>
          <p:nvPr/>
        </p:nvSpPr>
        <p:spPr>
          <a:xfrm>
            <a:off x="822960" y="4617720"/>
            <a:ext cx="10515600" cy="1325880"/>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709159"/>
            <a:ext cx="10149840" cy="1143000"/>
          </a:xfrm>
          <a:prstGeom prst="rect">
            <a:avLst/>
          </a:prstGeom>
          <a:noFill/>
        </p:spPr>
        <p:txBody>
          <a:bodyPr wrap="square" lIns="54864" rIns="54864" tIns="36576" bIns="36576" anchor="t">
            <a:spAutoFit/>
          </a:bodyPr>
          <a:lstStyle/>
          <a:p>
            <a:pPr algn="l"/>
            <a:r>
              <a:rPr sz="1100" b="0">
                <a:solidFill>
                  <a:srgbClr val="F8FAFC"/>
                </a:solidFill>
                <a:latin typeface="Segoe UI"/>
              </a:rPr>
              <a:t>Defense Answer: Vanilla RAG is a static, one-shot pipeline: query -&gt; embed -&gt; top-k -&gt; context injection. Kavach's Agentic RAG is dynamic: the agent analyzes the incoming prompt, determines whether repository context is needed, queries Qdrant with semantic filtering, inspects retrieved chunks for sensitive data leakage, evaluates blast radius via AST parsing, and conditionally halts if retrieved code violates security policies.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VIVA DEFENSE GUIDE  |  PART 2</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25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Viva Defense Guide: AST, Sandbox Loops, &amp; MCP</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Explaining complexity mitigation, sandbox isolation, and IDE interoperability.</a:t>
            </a:r>
          </a:p>
        </p:txBody>
      </p:sp>
      <p:sp>
        <p:nvSpPr>
          <p:cNvPr id="6" name="Rounded Rectangle 5"/>
          <p:cNvSpPr/>
          <p:nvPr/>
        </p:nvSpPr>
        <p:spPr>
          <a:xfrm>
            <a:off x="548640" y="1645920"/>
            <a:ext cx="11091672" cy="141732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783080"/>
            <a:ext cx="10515600" cy="320040"/>
          </a:xfrm>
          <a:prstGeom prst="rect">
            <a:avLst/>
          </a:prstGeom>
          <a:noFill/>
        </p:spPr>
        <p:txBody>
          <a:bodyPr wrap="square" lIns="54864" rIns="54864" tIns="36576" bIns="36576" anchor="t">
            <a:spAutoFit/>
          </a:bodyPr>
          <a:lstStyle/>
          <a:p>
            <a:pPr algn="l"/>
            <a:r>
              <a:rPr sz="1200" b="1">
                <a:solidFill>
                  <a:srgbClr val="10B981"/>
                </a:solidFill>
                <a:latin typeface="Segoe UI"/>
              </a:rPr>
              <a:t>Q3: 'How does your AST blast-radius analyzer prevent downstream service failures?'</a:t>
            </a:r>
          </a:p>
        </p:txBody>
      </p:sp>
      <p:sp>
        <p:nvSpPr>
          <p:cNvPr id="8" name="TextBox 7"/>
          <p:cNvSpPr txBox="1"/>
          <p:nvPr/>
        </p:nvSpPr>
        <p:spPr>
          <a:xfrm>
            <a:off x="822960" y="2148840"/>
            <a:ext cx="10515600" cy="777240"/>
          </a:xfrm>
          <a:prstGeom prst="rect">
            <a:avLst/>
          </a:prstGeom>
          <a:noFill/>
        </p:spPr>
        <p:txBody>
          <a:bodyPr wrap="square" lIns="54864" rIns="54864" tIns="36576" bIns="36576" anchor="t">
            <a:spAutoFit/>
          </a:bodyPr>
          <a:lstStyle/>
          <a:p>
            <a:pPr algn="l"/>
            <a:r>
              <a:rPr sz="1000" b="0">
                <a:solidFill>
                  <a:srgbClr val="94A3B8"/>
                </a:solidFill>
                <a:latin typeface="Segoe UI"/>
              </a:rPr>
              <a:t>Defense Answer: We use Python's built-in ast module to parse Abstract Syntax Trees of repository files. We extract all Import, ImportFrom, class definitions, and function call references. By building a bidirectional dependency graph, we calculate the transitive closure of affected modules. This gives an empirical blast radius score, ensuring the agent understands which downstream files could break before applying code modifications.</a:t>
            </a:r>
          </a:p>
        </p:txBody>
      </p:sp>
      <p:sp>
        <p:nvSpPr>
          <p:cNvPr id="9" name="Rounded Rectangle 8"/>
          <p:cNvSpPr/>
          <p:nvPr/>
        </p:nvSpPr>
        <p:spPr>
          <a:xfrm>
            <a:off x="548640" y="3200400"/>
            <a:ext cx="11091672" cy="141732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337560"/>
            <a:ext cx="10515600" cy="320040"/>
          </a:xfrm>
          <a:prstGeom prst="rect">
            <a:avLst/>
          </a:prstGeom>
          <a:noFill/>
        </p:spPr>
        <p:txBody>
          <a:bodyPr wrap="square" lIns="54864" rIns="54864" tIns="36576" bIns="36576" anchor="t">
            <a:spAutoFit/>
          </a:bodyPr>
          <a:lstStyle/>
          <a:p>
            <a:pPr algn="l"/>
            <a:r>
              <a:rPr sz="1200" b="1">
                <a:solidFill>
                  <a:srgbClr val="F59E0B"/>
                </a:solidFill>
                <a:latin typeface="Segoe UI"/>
              </a:rPr>
              <a:t>Q4: 'How does your self-healing reflection loop avoid non-convergent infinite loops?'</a:t>
            </a:r>
          </a:p>
        </p:txBody>
      </p:sp>
      <p:sp>
        <p:nvSpPr>
          <p:cNvPr id="11" name="TextBox 10"/>
          <p:cNvSpPr txBox="1"/>
          <p:nvPr/>
        </p:nvSpPr>
        <p:spPr>
          <a:xfrm>
            <a:off x="822960" y="3703320"/>
            <a:ext cx="10515600" cy="777240"/>
          </a:xfrm>
          <a:prstGeom prst="rect">
            <a:avLst/>
          </a:prstGeom>
          <a:noFill/>
        </p:spPr>
        <p:txBody>
          <a:bodyPr wrap="square" lIns="54864" rIns="54864" tIns="36576" bIns="36576" anchor="t">
            <a:spAutoFit/>
          </a:bodyPr>
          <a:lstStyle/>
          <a:p>
            <a:pPr algn="l"/>
            <a:r>
              <a:rPr sz="1000" b="0">
                <a:solidFill>
                  <a:srgbClr val="94A3B8"/>
                </a:solidFill>
                <a:latin typeface="Segoe UI"/>
              </a:rPr>
              <a:t>Defense Answer: We enforce a strict finite state machine with an upper bound of N = 3 reflection iterations. Subprocess executions are wrapped with a strict 5-second timeout and sanitized environment variables. If iteration 3 fails, the supervisor agent refuses to retry and escalates the execution trace to a human gatekeeper via the NEEDS_REVIEW stage.</a:t>
            </a:r>
          </a:p>
        </p:txBody>
      </p:sp>
      <p:sp>
        <p:nvSpPr>
          <p:cNvPr id="12" name="Rounded Rectangle 11"/>
          <p:cNvSpPr/>
          <p:nvPr/>
        </p:nvSpPr>
        <p:spPr>
          <a:xfrm>
            <a:off x="548640" y="4754880"/>
            <a:ext cx="11091672" cy="1417320"/>
          </a:xfrm>
          <a:prstGeom prst="roundRect">
            <a:avLst/>
          </a:prstGeom>
          <a:solidFill>
            <a:srgbClr val="1E293B"/>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892040"/>
            <a:ext cx="10515600" cy="320040"/>
          </a:xfrm>
          <a:prstGeom prst="rect">
            <a:avLst/>
          </a:prstGeom>
          <a:noFill/>
        </p:spPr>
        <p:txBody>
          <a:bodyPr wrap="square" lIns="54864" rIns="54864" tIns="36576" bIns="36576" anchor="t">
            <a:spAutoFit/>
          </a:bodyPr>
          <a:lstStyle/>
          <a:p>
            <a:pPr algn="l"/>
            <a:r>
              <a:rPr sz="1200" b="1">
                <a:solidFill>
                  <a:srgbClr val="A855F7"/>
                </a:solidFill>
                <a:latin typeface="Segoe UI"/>
              </a:rPr>
              <a:t>Q5: 'What is the purpose of the Model Context Protocol (MCP) in your project?'</a:t>
            </a:r>
          </a:p>
        </p:txBody>
      </p:sp>
      <p:sp>
        <p:nvSpPr>
          <p:cNvPr id="14" name="TextBox 13"/>
          <p:cNvSpPr txBox="1"/>
          <p:nvPr/>
        </p:nvSpPr>
        <p:spPr>
          <a:xfrm>
            <a:off x="822960" y="5257800"/>
            <a:ext cx="10515600" cy="777240"/>
          </a:xfrm>
          <a:prstGeom prst="rect">
            <a:avLst/>
          </a:prstGeom>
          <a:noFill/>
        </p:spPr>
        <p:txBody>
          <a:bodyPr wrap="square" lIns="54864" rIns="54864" tIns="36576" bIns="36576" anchor="t">
            <a:spAutoFit/>
          </a:bodyPr>
          <a:lstStyle/>
          <a:p>
            <a:pPr algn="l"/>
            <a:r>
              <a:rPr sz="1000" b="0">
                <a:solidFill>
                  <a:srgbClr val="94A3B8"/>
                </a:solidFill>
                <a:latin typeface="Segoe UI"/>
              </a:rPr>
              <a:t>Defense Answer: MCP decouples the agent's tools from any single vendor. By exposing Kavach as an MCP server, external developer environments like Cursor IDE or Claude Desktop can connect via JSON-RPC. This allows developers in any IDE to leverage Kavach's PII scanner, PyPI package hallucination guard, and AST impact analyzer directly within their daily coding workflow.</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FLAGSHIP ADDITION  |  KAVACH PR GUARDIAN</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26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Next Flagship Product Milestone: KAVACH PR Guardian</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Moving from local prototype to GitHub-native CI/CD Pull Request Security Gateway.</a:t>
            </a:r>
          </a:p>
        </p:txBody>
      </p:sp>
      <p:sp>
        <p:nvSpPr>
          <p:cNvPr id="6" name="Rounded Rectangle 5"/>
          <p:cNvSpPr/>
          <p:nvPr/>
        </p:nvSpPr>
        <p:spPr>
          <a:xfrm>
            <a:off x="548640" y="1645920"/>
            <a:ext cx="4114800" cy="4663440"/>
          </a:xfrm>
          <a:prstGeom prst="roundRect">
            <a:avLst/>
          </a:prstGeom>
          <a:solidFill>
            <a:srgbClr val="18212F"/>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1920240"/>
            <a:ext cx="1645920" cy="27432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38528"/>
            <a:ext cx="1645920" cy="274320"/>
          </a:xfrm>
          <a:prstGeom prst="rect">
            <a:avLst/>
          </a:prstGeom>
          <a:noFill/>
        </p:spPr>
        <p:txBody>
          <a:bodyPr wrap="square" lIns="54864" rIns="54864" tIns="36576" bIns="36576" anchor="t">
            <a:spAutoFit/>
          </a:bodyPr>
          <a:lstStyle/>
          <a:p>
            <a:pPr algn="ctr"/>
            <a:r>
              <a:rPr sz="900" b="1">
                <a:solidFill>
                  <a:srgbClr val="93C5FD"/>
                </a:solidFill>
                <a:latin typeface="Segoe UI"/>
              </a:rPr>
              <a:t>THE VISION</a:t>
            </a:r>
          </a:p>
        </p:txBody>
      </p:sp>
      <p:sp>
        <p:nvSpPr>
          <p:cNvPr id="9" name="TextBox 8"/>
          <p:cNvSpPr txBox="1"/>
          <p:nvPr/>
        </p:nvSpPr>
        <p:spPr>
          <a:xfrm>
            <a:off x="822960" y="2286000"/>
            <a:ext cx="3566160" cy="365760"/>
          </a:xfrm>
          <a:prstGeom prst="rect">
            <a:avLst/>
          </a:prstGeom>
          <a:noFill/>
        </p:spPr>
        <p:txBody>
          <a:bodyPr wrap="square" lIns="54864" rIns="54864" tIns="36576" bIns="36576" anchor="t">
            <a:spAutoFit/>
          </a:bodyPr>
          <a:lstStyle/>
          <a:p>
            <a:pPr algn="l"/>
            <a:r>
              <a:rPr sz="1600" b="1">
                <a:solidFill>
                  <a:srgbClr val="F8FAFC"/>
                </a:solidFill>
                <a:latin typeface="Segoe UI"/>
              </a:rPr>
              <a:t>Securing the Merge Boundary</a:t>
            </a:r>
          </a:p>
        </p:txBody>
      </p:sp>
      <p:sp>
        <p:nvSpPr>
          <p:cNvPr id="10" name="TextBox 9"/>
          <p:cNvSpPr txBox="1"/>
          <p:nvPr/>
        </p:nvSpPr>
        <p:spPr>
          <a:xfrm>
            <a:off x="822960" y="2743200"/>
            <a:ext cx="3566160" cy="822960"/>
          </a:xfrm>
          <a:prstGeom prst="rect">
            <a:avLst/>
          </a:prstGeom>
          <a:noFill/>
        </p:spPr>
        <p:txBody>
          <a:bodyPr wrap="square" lIns="54864" rIns="54864" tIns="36576" bIns="36576" anchor="t">
            <a:spAutoFit/>
          </a:bodyPr>
          <a:lstStyle/>
          <a:p>
            <a:pPr algn="l"/>
            <a:r>
              <a:rPr sz="1100" b="0">
                <a:solidFill>
                  <a:srgbClr val="94A3B8"/>
                </a:solidFill>
                <a:latin typeface="Segoe UI"/>
              </a:rPr>
              <a:t>AI coding assistants create code faster than human reviewers can audit. The critical failure point is right before code merges into main.</a:t>
            </a:r>
          </a:p>
        </p:txBody>
      </p:sp>
      <p:sp>
        <p:nvSpPr>
          <p:cNvPr id="11" name="TextBox 10"/>
          <p:cNvSpPr txBox="1"/>
          <p:nvPr/>
        </p:nvSpPr>
        <p:spPr>
          <a:xfrm>
            <a:off x="822960" y="3657600"/>
            <a:ext cx="3566160" cy="822960"/>
          </a:xfrm>
          <a:prstGeom prst="rect">
            <a:avLst/>
          </a:prstGeom>
          <a:noFill/>
        </p:spPr>
        <p:txBody>
          <a:bodyPr wrap="square" lIns="54864" rIns="54864" tIns="36576" bIns="36576" anchor="t">
            <a:spAutoFit/>
          </a:bodyPr>
          <a:lstStyle/>
          <a:p>
            <a:pPr algn="l"/>
            <a:r>
              <a:rPr sz="1100" b="0">
                <a:solidFill>
                  <a:srgbClr val="F8FAFC"/>
                </a:solidFill>
                <a:latin typeface="Segoe UI"/>
              </a:rPr>
              <a:t>KAVACH PR Guardian acts as an automated, security-governed reviewer directly on GitHub pull requests.</a:t>
            </a:r>
          </a:p>
        </p:txBody>
      </p:sp>
      <p:sp>
        <p:nvSpPr>
          <p:cNvPr id="12" name="Rounded Rectangle 11"/>
          <p:cNvSpPr/>
          <p:nvPr/>
        </p:nvSpPr>
        <p:spPr>
          <a:xfrm>
            <a:off x="822960" y="5303520"/>
            <a:ext cx="2286000" cy="3200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5321807"/>
            <a:ext cx="2286000" cy="320040"/>
          </a:xfrm>
          <a:prstGeom prst="rect">
            <a:avLst/>
          </a:prstGeom>
          <a:noFill/>
        </p:spPr>
        <p:txBody>
          <a:bodyPr wrap="square" lIns="54864" rIns="54864" tIns="36576" bIns="36576" anchor="t">
            <a:spAutoFit/>
          </a:bodyPr>
          <a:lstStyle/>
          <a:p>
            <a:pPr algn="ctr"/>
            <a:r>
              <a:rPr sz="900" b="1">
                <a:solidFill>
                  <a:srgbClr val="10B981"/>
                </a:solidFill>
                <a:latin typeface="Segoe UI"/>
              </a:rPr>
              <a:t>ZERO DOWNTIME CI GATE</a:t>
            </a:r>
          </a:p>
        </p:txBody>
      </p:sp>
      <p:sp>
        <p:nvSpPr>
          <p:cNvPr id="14" name="Rounded Rectangle 13"/>
          <p:cNvSpPr/>
          <p:nvPr/>
        </p:nvSpPr>
        <p:spPr>
          <a:xfrm>
            <a:off x="4937760" y="1645920"/>
            <a:ext cx="6702552"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1920240"/>
            <a:ext cx="6126480" cy="320040"/>
          </a:xfrm>
          <a:prstGeom prst="rect">
            <a:avLst/>
          </a:prstGeom>
          <a:noFill/>
        </p:spPr>
        <p:txBody>
          <a:bodyPr wrap="square" lIns="54864" rIns="54864" tIns="36576" bIns="36576" anchor="t">
            <a:spAutoFit/>
          </a:bodyPr>
          <a:lstStyle/>
          <a:p>
            <a:pPr algn="l"/>
            <a:r>
              <a:rPr sz="1600" b="1">
                <a:solidFill>
                  <a:srgbClr val="F59E0B"/>
                </a:solidFill>
                <a:latin typeface="Segoe UI"/>
              </a:rPr>
              <a:t>Automated Pull Request Workflow</a:t>
            </a:r>
          </a:p>
        </p:txBody>
      </p:sp>
      <p:sp>
        <p:nvSpPr>
          <p:cNvPr id="16" name="Rounded Rectangle 15"/>
          <p:cNvSpPr/>
          <p:nvPr/>
        </p:nvSpPr>
        <p:spPr>
          <a:xfrm>
            <a:off x="5212080" y="2423160"/>
            <a:ext cx="6126480" cy="530352"/>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94960" y="2514600"/>
            <a:ext cx="5760720" cy="365760"/>
          </a:xfrm>
          <a:prstGeom prst="rect">
            <a:avLst/>
          </a:prstGeom>
          <a:noFill/>
        </p:spPr>
        <p:txBody>
          <a:bodyPr wrap="square" lIns="54864" rIns="54864" tIns="36576" bIns="36576" anchor="t">
            <a:spAutoFit/>
          </a:bodyPr>
          <a:lstStyle/>
          <a:p>
            <a:pPr algn="l"/>
            <a:r>
              <a:rPr sz="1000" b="0">
                <a:solidFill>
                  <a:srgbClr val="F8FAFC"/>
                </a:solidFill>
                <a:latin typeface="Segoe UI"/>
              </a:rPr>
              <a:t>1. Pull Request Webhook: GitHub App intercepts opened/updated PR diffs.</a:t>
            </a:r>
          </a:p>
        </p:txBody>
      </p:sp>
      <p:sp>
        <p:nvSpPr>
          <p:cNvPr id="18" name="Rounded Rectangle 17"/>
          <p:cNvSpPr/>
          <p:nvPr/>
        </p:nvSpPr>
        <p:spPr>
          <a:xfrm>
            <a:off x="5212080" y="3044952"/>
            <a:ext cx="6126480" cy="530352"/>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94960" y="3136392"/>
            <a:ext cx="5760720" cy="365760"/>
          </a:xfrm>
          <a:prstGeom prst="rect">
            <a:avLst/>
          </a:prstGeom>
          <a:noFill/>
        </p:spPr>
        <p:txBody>
          <a:bodyPr wrap="square" lIns="54864" rIns="54864" tIns="36576" bIns="36576" anchor="t">
            <a:spAutoFit/>
          </a:bodyPr>
          <a:lstStyle/>
          <a:p>
            <a:pPr algn="l"/>
            <a:r>
              <a:rPr sz="1000" b="0">
                <a:solidFill>
                  <a:srgbClr val="F8FAFC"/>
                </a:solidFill>
                <a:latin typeface="Segoe UI"/>
              </a:rPr>
              <a:t>2. Security Diff Scanning: Analyzes added lines for hardcoded credentials, Indian PII, and slopsquatting.</a:t>
            </a:r>
          </a:p>
        </p:txBody>
      </p:sp>
      <p:sp>
        <p:nvSpPr>
          <p:cNvPr id="20" name="Rounded Rectangle 19"/>
          <p:cNvSpPr/>
          <p:nvPr/>
        </p:nvSpPr>
        <p:spPr>
          <a:xfrm>
            <a:off x="5212080" y="3666744"/>
            <a:ext cx="6126480" cy="530352"/>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94960" y="3758184"/>
            <a:ext cx="5760720" cy="365760"/>
          </a:xfrm>
          <a:prstGeom prst="rect">
            <a:avLst/>
          </a:prstGeom>
          <a:noFill/>
        </p:spPr>
        <p:txBody>
          <a:bodyPr wrap="square" lIns="54864" rIns="54864" tIns="36576" bIns="36576" anchor="t">
            <a:spAutoFit/>
          </a:bodyPr>
          <a:lstStyle/>
          <a:p>
            <a:pPr algn="l"/>
            <a:r>
              <a:rPr sz="1000" b="0">
                <a:solidFill>
                  <a:srgbClr val="F8FAFC"/>
                </a:solidFill>
                <a:latin typeface="Segoe UI"/>
              </a:rPr>
              <a:t>3. Surrounding Context RAG: Retrieves related files from Qdrant vector database.</a:t>
            </a:r>
          </a:p>
        </p:txBody>
      </p:sp>
      <p:sp>
        <p:nvSpPr>
          <p:cNvPr id="22" name="Rounded Rectangle 21"/>
          <p:cNvSpPr/>
          <p:nvPr/>
        </p:nvSpPr>
        <p:spPr>
          <a:xfrm>
            <a:off x="5212080" y="4288536"/>
            <a:ext cx="6126480" cy="530352"/>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94960" y="4379976"/>
            <a:ext cx="5760720" cy="365760"/>
          </a:xfrm>
          <a:prstGeom prst="rect">
            <a:avLst/>
          </a:prstGeom>
          <a:noFill/>
        </p:spPr>
        <p:txBody>
          <a:bodyPr wrap="square" lIns="54864" rIns="54864" tIns="36576" bIns="36576" anchor="t">
            <a:spAutoFit/>
          </a:bodyPr>
          <a:lstStyle/>
          <a:p>
            <a:pPr algn="l"/>
            <a:r>
              <a:rPr sz="1000" b="0">
                <a:solidFill>
                  <a:srgbClr val="F8FAFC"/>
                </a:solidFill>
                <a:latin typeface="Segoe UI"/>
              </a:rPr>
              <a:t>4. AST Blast Radius Calculation: Computes impact on downstream enterprise services.</a:t>
            </a:r>
          </a:p>
        </p:txBody>
      </p:sp>
      <p:sp>
        <p:nvSpPr>
          <p:cNvPr id="24" name="Rounded Rectangle 23"/>
          <p:cNvSpPr/>
          <p:nvPr/>
        </p:nvSpPr>
        <p:spPr>
          <a:xfrm>
            <a:off x="5212080" y="4910328"/>
            <a:ext cx="6126480" cy="530352"/>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94960" y="5001768"/>
            <a:ext cx="5760720" cy="365760"/>
          </a:xfrm>
          <a:prstGeom prst="rect">
            <a:avLst/>
          </a:prstGeom>
          <a:noFill/>
        </p:spPr>
        <p:txBody>
          <a:bodyPr wrap="square" lIns="54864" rIns="54864" tIns="36576" bIns="36576" anchor="t">
            <a:spAutoFit/>
          </a:bodyPr>
          <a:lstStyle/>
          <a:p>
            <a:pPr algn="l"/>
            <a:r>
              <a:rPr sz="1000" b="0">
                <a:solidFill>
                  <a:srgbClr val="F8FAFC"/>
                </a:solidFill>
                <a:latin typeface="Segoe UI"/>
              </a:rPr>
              <a:t>5. Sandbox Self-Validation: Runs pytest inside ephemeral container against PR branch.</a:t>
            </a:r>
          </a:p>
        </p:txBody>
      </p:sp>
      <p:sp>
        <p:nvSpPr>
          <p:cNvPr id="26" name="Rounded Rectangle 25"/>
          <p:cNvSpPr/>
          <p:nvPr/>
        </p:nvSpPr>
        <p:spPr>
          <a:xfrm>
            <a:off x="5212080" y="5532120"/>
            <a:ext cx="6126480" cy="530352"/>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94960" y="5623560"/>
            <a:ext cx="5760720" cy="365760"/>
          </a:xfrm>
          <a:prstGeom prst="rect">
            <a:avLst/>
          </a:prstGeom>
          <a:noFill/>
        </p:spPr>
        <p:txBody>
          <a:bodyPr wrap="square" lIns="54864" rIns="54864" tIns="36576" bIns="36576" anchor="t">
            <a:spAutoFit/>
          </a:bodyPr>
          <a:lstStyle/>
          <a:p>
            <a:pPr algn="l"/>
            <a:r>
              <a:rPr sz="1000" b="0">
                <a:solidFill>
                  <a:srgbClr val="F8FAFC"/>
                </a:solidFill>
                <a:latin typeface="Segoe UI"/>
              </a:rPr>
              <a:t>6. Policy Enforcement: Posts explainable check comments (ALLOW, REVIEW, or BLOCK) directly on GitHub PR.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PRODUCTION ROADMAP</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27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4-Phase Roadmap to Enterprise Deployment</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Systematic plan for transforming the research prototype into an enterprise-grade platform.</a:t>
            </a:r>
          </a:p>
        </p:txBody>
      </p:sp>
      <p:sp>
        <p:nvSpPr>
          <p:cNvPr id="6" name="Rounded Rectangle 5"/>
          <p:cNvSpPr/>
          <p:nvPr/>
        </p:nvSpPr>
        <p:spPr>
          <a:xfrm>
            <a:off x="548640" y="1645920"/>
            <a:ext cx="5394960" cy="214884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59" y="1874519"/>
            <a:ext cx="1280160" cy="27432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892807"/>
            <a:ext cx="1280160" cy="274320"/>
          </a:xfrm>
          <a:prstGeom prst="rect">
            <a:avLst/>
          </a:prstGeom>
          <a:noFill/>
        </p:spPr>
        <p:txBody>
          <a:bodyPr wrap="square" lIns="54864" rIns="54864" tIns="36576" bIns="36576" anchor="t">
            <a:spAutoFit/>
          </a:bodyPr>
          <a:lstStyle/>
          <a:p>
            <a:pPr algn="ctr"/>
            <a:r>
              <a:rPr sz="900" b="1">
                <a:solidFill>
                  <a:srgbClr val="3B82F6"/>
                </a:solidFill>
                <a:latin typeface="Segoe UI"/>
              </a:rPr>
              <a:t>PHASE A</a:t>
            </a:r>
          </a:p>
        </p:txBody>
      </p:sp>
      <p:sp>
        <p:nvSpPr>
          <p:cNvPr id="9" name="TextBox 8"/>
          <p:cNvSpPr txBox="1"/>
          <p:nvPr/>
        </p:nvSpPr>
        <p:spPr>
          <a:xfrm>
            <a:off x="822959" y="2240280"/>
            <a:ext cx="4846320" cy="320040"/>
          </a:xfrm>
          <a:prstGeom prst="rect">
            <a:avLst/>
          </a:prstGeom>
          <a:noFill/>
        </p:spPr>
        <p:txBody>
          <a:bodyPr wrap="square" lIns="54864" rIns="54864" tIns="36576" bIns="36576" anchor="t">
            <a:spAutoFit/>
          </a:bodyPr>
          <a:lstStyle/>
          <a:p>
            <a:pPr algn="l"/>
            <a:r>
              <a:rPr sz="1600" b="1">
                <a:solidFill>
                  <a:srgbClr val="F8FAFC"/>
                </a:solidFill>
                <a:latin typeface="Segoe UI"/>
              </a:rPr>
              <a:t>Trustworthy State</a:t>
            </a:r>
          </a:p>
        </p:txBody>
      </p:sp>
      <p:sp>
        <p:nvSpPr>
          <p:cNvPr id="10" name="TextBox 9"/>
          <p:cNvSpPr txBox="1"/>
          <p:nvPr/>
        </p:nvSpPr>
        <p:spPr>
          <a:xfrm>
            <a:off x="822959" y="2651760"/>
            <a:ext cx="4846320" cy="914400"/>
          </a:xfrm>
          <a:prstGeom prst="rect">
            <a:avLst/>
          </a:prstGeom>
          <a:noFill/>
        </p:spPr>
        <p:txBody>
          <a:bodyPr wrap="square" lIns="54864" rIns="54864" tIns="36576" bIns="36576" anchor="t">
            <a:spAutoFit/>
          </a:bodyPr>
          <a:lstStyle/>
          <a:p>
            <a:pPr algn="l"/>
            <a:r>
              <a:rPr sz="1100" b="0">
                <a:solidFill>
                  <a:srgbClr val="94A3B8"/>
                </a:solidFill>
                <a:latin typeface="Segoe UI"/>
              </a:rPr>
              <a:t>PostgreSQL persistence for users, scans, and audit trails. Multi-tenant RBAC and encrypted audit storage.</a:t>
            </a:r>
          </a:p>
        </p:txBody>
      </p:sp>
      <p:sp>
        <p:nvSpPr>
          <p:cNvPr id="11" name="Rounded Rectangle 10"/>
          <p:cNvSpPr/>
          <p:nvPr/>
        </p:nvSpPr>
        <p:spPr>
          <a:xfrm>
            <a:off x="6199631" y="1645920"/>
            <a:ext cx="5394960" cy="214884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73951" y="1874519"/>
            <a:ext cx="1280160" cy="27432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1" y="1892807"/>
            <a:ext cx="1280160" cy="274320"/>
          </a:xfrm>
          <a:prstGeom prst="rect">
            <a:avLst/>
          </a:prstGeom>
          <a:noFill/>
        </p:spPr>
        <p:txBody>
          <a:bodyPr wrap="square" lIns="54864" rIns="54864" tIns="36576" bIns="36576" anchor="t">
            <a:spAutoFit/>
          </a:bodyPr>
          <a:lstStyle/>
          <a:p>
            <a:pPr algn="ctr"/>
            <a:r>
              <a:rPr sz="900" b="1">
                <a:solidFill>
                  <a:srgbClr val="0EA5E9"/>
                </a:solidFill>
                <a:latin typeface="Segoe UI"/>
              </a:rPr>
              <a:t>PHASE B</a:t>
            </a:r>
          </a:p>
        </p:txBody>
      </p:sp>
      <p:sp>
        <p:nvSpPr>
          <p:cNvPr id="14" name="TextBox 13"/>
          <p:cNvSpPr txBox="1"/>
          <p:nvPr/>
        </p:nvSpPr>
        <p:spPr>
          <a:xfrm>
            <a:off x="6473951" y="2240280"/>
            <a:ext cx="4846320" cy="320040"/>
          </a:xfrm>
          <a:prstGeom prst="rect">
            <a:avLst/>
          </a:prstGeom>
          <a:noFill/>
        </p:spPr>
        <p:txBody>
          <a:bodyPr wrap="square" lIns="54864" rIns="54864" tIns="36576" bIns="36576" anchor="t">
            <a:spAutoFit/>
          </a:bodyPr>
          <a:lstStyle/>
          <a:p>
            <a:pPr algn="l"/>
            <a:r>
              <a:rPr sz="1600" b="1">
                <a:solidFill>
                  <a:srgbClr val="F8FAFC"/>
                </a:solidFill>
                <a:latin typeface="Segoe UI"/>
              </a:rPr>
              <a:t>Change Governance</a:t>
            </a:r>
          </a:p>
        </p:txBody>
      </p:sp>
      <p:sp>
        <p:nvSpPr>
          <p:cNvPr id="15" name="TextBox 14"/>
          <p:cNvSpPr txBox="1"/>
          <p:nvPr/>
        </p:nvSpPr>
        <p:spPr>
          <a:xfrm>
            <a:off x="6473951" y="2651760"/>
            <a:ext cx="4846320" cy="914400"/>
          </a:xfrm>
          <a:prstGeom prst="rect">
            <a:avLst/>
          </a:prstGeom>
          <a:noFill/>
        </p:spPr>
        <p:txBody>
          <a:bodyPr wrap="square" lIns="54864" rIns="54864" tIns="36576" bIns="36576" anchor="t">
            <a:spAutoFit/>
          </a:bodyPr>
          <a:lstStyle/>
          <a:p>
            <a:pPr algn="l"/>
            <a:r>
              <a:rPr sz="1100" b="0">
                <a:solidFill>
                  <a:srgbClr val="94A3B8"/>
                </a:solidFill>
                <a:latin typeface="Segoe UI"/>
              </a:rPr>
              <a:t>GitHub App OAuth integration, PR webhooks, diff-level scanning, and two-person rule approval gates.</a:t>
            </a:r>
          </a:p>
        </p:txBody>
      </p:sp>
      <p:sp>
        <p:nvSpPr>
          <p:cNvPr id="16" name="Rounded Rectangle 15"/>
          <p:cNvSpPr/>
          <p:nvPr/>
        </p:nvSpPr>
        <p:spPr>
          <a:xfrm>
            <a:off x="548640" y="4023360"/>
            <a:ext cx="5394960" cy="214884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2959" y="4251960"/>
            <a:ext cx="1280160" cy="27432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4270248"/>
            <a:ext cx="1280160" cy="274320"/>
          </a:xfrm>
          <a:prstGeom prst="rect">
            <a:avLst/>
          </a:prstGeom>
          <a:noFill/>
        </p:spPr>
        <p:txBody>
          <a:bodyPr wrap="square" lIns="54864" rIns="54864" tIns="36576" bIns="36576" anchor="t">
            <a:spAutoFit/>
          </a:bodyPr>
          <a:lstStyle/>
          <a:p>
            <a:pPr algn="ctr"/>
            <a:r>
              <a:rPr sz="900" b="1">
                <a:solidFill>
                  <a:srgbClr val="F59E0B"/>
                </a:solidFill>
                <a:latin typeface="Segoe UI"/>
              </a:rPr>
              <a:t>PHASE C</a:t>
            </a:r>
          </a:p>
        </p:txBody>
      </p:sp>
      <p:sp>
        <p:nvSpPr>
          <p:cNvPr id="19" name="TextBox 18"/>
          <p:cNvSpPr txBox="1"/>
          <p:nvPr/>
        </p:nvSpPr>
        <p:spPr>
          <a:xfrm>
            <a:off x="822959" y="4617720"/>
            <a:ext cx="4846320" cy="320040"/>
          </a:xfrm>
          <a:prstGeom prst="rect">
            <a:avLst/>
          </a:prstGeom>
          <a:noFill/>
        </p:spPr>
        <p:txBody>
          <a:bodyPr wrap="square" lIns="54864" rIns="54864" tIns="36576" bIns="36576" anchor="t">
            <a:spAutoFit/>
          </a:bodyPr>
          <a:lstStyle/>
          <a:p>
            <a:pPr algn="l"/>
            <a:r>
              <a:rPr sz="1600" b="1">
                <a:solidFill>
                  <a:srgbClr val="F8FAFC"/>
                </a:solidFill>
                <a:latin typeface="Segoe UI"/>
              </a:rPr>
              <a:t>Safe Delivery</a:t>
            </a:r>
          </a:p>
        </p:txBody>
      </p:sp>
      <p:sp>
        <p:nvSpPr>
          <p:cNvPr id="20" name="TextBox 19"/>
          <p:cNvSpPr txBox="1"/>
          <p:nvPr/>
        </p:nvSpPr>
        <p:spPr>
          <a:xfrm>
            <a:off x="822959" y="5029200"/>
            <a:ext cx="4846320" cy="914400"/>
          </a:xfrm>
          <a:prstGeom prst="rect">
            <a:avLst/>
          </a:prstGeom>
          <a:noFill/>
        </p:spPr>
        <p:txBody>
          <a:bodyPr wrap="square" lIns="54864" rIns="54864" tIns="36576" bIns="36576" anchor="t">
            <a:spAutoFit/>
          </a:bodyPr>
          <a:lstStyle/>
          <a:p>
            <a:pPr algn="l"/>
            <a:r>
              <a:rPr sz="1100" b="0">
                <a:solidFill>
                  <a:srgbClr val="94A3B8"/>
                </a:solidFill>
                <a:latin typeface="Segoe UI"/>
              </a:rPr>
              <a:t>Isolated Docker worker execution, static analysis linting, and automated rollback patch generation.</a:t>
            </a:r>
          </a:p>
        </p:txBody>
      </p:sp>
      <p:sp>
        <p:nvSpPr>
          <p:cNvPr id="21" name="Rounded Rectangle 20"/>
          <p:cNvSpPr/>
          <p:nvPr/>
        </p:nvSpPr>
        <p:spPr>
          <a:xfrm>
            <a:off x="6199631" y="4023360"/>
            <a:ext cx="5394960" cy="214884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73951" y="4251960"/>
            <a:ext cx="1280160" cy="27432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1" y="4270248"/>
            <a:ext cx="1280160" cy="274320"/>
          </a:xfrm>
          <a:prstGeom prst="rect">
            <a:avLst/>
          </a:prstGeom>
          <a:noFill/>
        </p:spPr>
        <p:txBody>
          <a:bodyPr wrap="square" lIns="54864" rIns="54864" tIns="36576" bIns="36576" anchor="t">
            <a:spAutoFit/>
          </a:bodyPr>
          <a:lstStyle/>
          <a:p>
            <a:pPr algn="ctr"/>
            <a:r>
              <a:rPr sz="900" b="1">
                <a:solidFill>
                  <a:srgbClr val="10B981"/>
                </a:solidFill>
                <a:latin typeface="Segoe UI"/>
              </a:rPr>
              <a:t>PHASE D</a:t>
            </a:r>
          </a:p>
        </p:txBody>
      </p:sp>
      <p:sp>
        <p:nvSpPr>
          <p:cNvPr id="24" name="TextBox 23"/>
          <p:cNvSpPr txBox="1"/>
          <p:nvPr/>
        </p:nvSpPr>
        <p:spPr>
          <a:xfrm>
            <a:off x="6473951" y="4617720"/>
            <a:ext cx="4846320" cy="320040"/>
          </a:xfrm>
          <a:prstGeom prst="rect">
            <a:avLst/>
          </a:prstGeom>
          <a:noFill/>
        </p:spPr>
        <p:txBody>
          <a:bodyPr wrap="square" lIns="54864" rIns="54864" tIns="36576" bIns="36576" anchor="t">
            <a:spAutoFit/>
          </a:bodyPr>
          <a:lstStyle/>
          <a:p>
            <a:pPr algn="l"/>
            <a:r>
              <a:rPr sz="1600" b="1">
                <a:solidFill>
                  <a:srgbClr val="F8FAFC"/>
                </a:solidFill>
                <a:latin typeface="Segoe UI"/>
              </a:rPr>
              <a:t>Enterprise Visibility</a:t>
            </a:r>
          </a:p>
        </p:txBody>
      </p:sp>
      <p:sp>
        <p:nvSpPr>
          <p:cNvPr id="25" name="TextBox 24"/>
          <p:cNvSpPr txBox="1"/>
          <p:nvPr/>
        </p:nvSpPr>
        <p:spPr>
          <a:xfrm>
            <a:off x="6473951" y="5029200"/>
            <a:ext cx="4846320" cy="914400"/>
          </a:xfrm>
          <a:prstGeom prst="rect">
            <a:avLst/>
          </a:prstGeom>
          <a:noFill/>
        </p:spPr>
        <p:txBody>
          <a:bodyPr wrap="square" lIns="54864" rIns="54864" tIns="36576" bIns="36576" anchor="t">
            <a:spAutoFit/>
          </a:bodyPr>
          <a:lstStyle/>
          <a:p>
            <a:pPr algn="l"/>
            <a:r>
              <a:rPr sz="1100" b="0">
                <a:solidFill>
                  <a:srgbClr val="94A3B8"/>
                </a:solidFill>
                <a:latin typeface="Segoe UI"/>
              </a:rPr>
              <a:t>Security score trend analytics, compliance export (PDF/JSON), and Kubernetes Helm deployment.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ACTIONABLE EXECUTION PLAN</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28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Pair-Programming Execution Milestones</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Ordered implementation sequence for engineering the 5 agentic roadmap features.</a:t>
            </a:r>
          </a:p>
        </p:txBody>
      </p:sp>
      <p:sp>
        <p:nvSpPr>
          <p:cNvPr id="6" name="Rounded Rectangle 5"/>
          <p:cNvSpPr/>
          <p:nvPr/>
        </p:nvSpPr>
        <p:spPr>
          <a:xfrm>
            <a:off x="548640" y="1645920"/>
            <a:ext cx="11091672" cy="841248"/>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83080"/>
            <a:ext cx="13716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01368"/>
            <a:ext cx="1371600" cy="228600"/>
          </a:xfrm>
          <a:prstGeom prst="rect">
            <a:avLst/>
          </a:prstGeom>
          <a:noFill/>
        </p:spPr>
        <p:txBody>
          <a:bodyPr wrap="square" lIns="54864" rIns="54864" tIns="36576" bIns="36576" anchor="t">
            <a:spAutoFit/>
          </a:bodyPr>
          <a:lstStyle/>
          <a:p>
            <a:pPr algn="ctr"/>
            <a:r>
              <a:rPr sz="900" b="1">
                <a:solidFill>
                  <a:srgbClr val="F59E0B"/>
                </a:solidFill>
                <a:latin typeface="Segoe UI"/>
              </a:rPr>
              <a:t>Milestone 1</a:t>
            </a:r>
          </a:p>
        </p:txBody>
      </p:sp>
      <p:sp>
        <p:nvSpPr>
          <p:cNvPr id="9" name="TextBox 8"/>
          <p:cNvSpPr txBox="1"/>
          <p:nvPr/>
        </p:nvSpPr>
        <p:spPr>
          <a:xfrm>
            <a:off x="2286000" y="1755648"/>
            <a:ext cx="3291840" cy="274320"/>
          </a:xfrm>
          <a:prstGeom prst="rect">
            <a:avLst/>
          </a:prstGeom>
          <a:noFill/>
        </p:spPr>
        <p:txBody>
          <a:bodyPr wrap="square" lIns="54864" rIns="54864" tIns="36576" bIns="36576" anchor="t">
            <a:spAutoFit/>
          </a:bodyPr>
          <a:lstStyle/>
          <a:p>
            <a:pPr algn="l"/>
            <a:r>
              <a:rPr sz="1200" b="1">
                <a:solidFill>
                  <a:srgbClr val="F8FAFC"/>
                </a:solidFill>
                <a:latin typeface="Segoe UI"/>
              </a:rPr>
              <a:t>Air-Gapped Local LLM (Ollama)</a:t>
            </a:r>
          </a:p>
        </p:txBody>
      </p:sp>
      <p:sp>
        <p:nvSpPr>
          <p:cNvPr id="10" name="Rounded Rectangle 9"/>
          <p:cNvSpPr/>
          <p:nvPr/>
        </p:nvSpPr>
        <p:spPr>
          <a:xfrm>
            <a:off x="5669280" y="1783080"/>
            <a:ext cx="100584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0" y="1801368"/>
            <a:ext cx="1005840" cy="228600"/>
          </a:xfrm>
          <a:prstGeom prst="rect">
            <a:avLst/>
          </a:prstGeom>
          <a:noFill/>
        </p:spPr>
        <p:txBody>
          <a:bodyPr wrap="square" lIns="54864" rIns="54864" tIns="36576" bIns="36576" anchor="t">
            <a:spAutoFit/>
          </a:bodyPr>
          <a:lstStyle/>
          <a:p>
            <a:pPr algn="ctr"/>
            <a:r>
              <a:rPr sz="900" b="1">
                <a:solidFill>
                  <a:srgbClr val="F8FAFC"/>
                </a:solidFill>
                <a:latin typeface="Segoe UI"/>
              </a:rPr>
              <a:t>30 mins</a:t>
            </a:r>
          </a:p>
        </p:txBody>
      </p:sp>
      <p:sp>
        <p:nvSpPr>
          <p:cNvPr id="12" name="TextBox 11"/>
          <p:cNvSpPr txBox="1"/>
          <p:nvPr/>
        </p:nvSpPr>
        <p:spPr>
          <a:xfrm>
            <a:off x="6858000" y="1755648"/>
            <a:ext cx="4480560" cy="274320"/>
          </a:xfrm>
          <a:prstGeom prst="rect">
            <a:avLst/>
          </a:prstGeom>
          <a:noFill/>
        </p:spPr>
        <p:txBody>
          <a:bodyPr wrap="square" lIns="54864" rIns="54864" tIns="36576" bIns="36576" anchor="t">
            <a:spAutoFit/>
          </a:bodyPr>
          <a:lstStyle/>
          <a:p>
            <a:pPr algn="l"/>
            <a:r>
              <a:rPr sz="900" b="0">
                <a:solidFill>
                  <a:srgbClr val="94A3B8"/>
                </a:solidFill>
                <a:latin typeface="Consolas"/>
              </a:rPr>
              <a:t>backend/app/generation/llm_client.py  |  frontend/index.html</a:t>
            </a:r>
          </a:p>
        </p:txBody>
      </p:sp>
      <p:sp>
        <p:nvSpPr>
          <p:cNvPr id="13" name="TextBox 12"/>
          <p:cNvSpPr txBox="1"/>
          <p:nvPr/>
        </p:nvSpPr>
        <p:spPr>
          <a:xfrm>
            <a:off x="2286000" y="2084832"/>
            <a:ext cx="8961120" cy="320040"/>
          </a:xfrm>
          <a:prstGeom prst="rect">
            <a:avLst/>
          </a:prstGeom>
          <a:noFill/>
        </p:spPr>
        <p:txBody>
          <a:bodyPr wrap="square" lIns="54864" rIns="54864" tIns="36576" bIns="36576" anchor="t">
            <a:spAutoFit/>
          </a:bodyPr>
          <a:lstStyle/>
          <a:p>
            <a:pPr algn="l"/>
            <a:r>
              <a:rPr sz="1000" b="0">
                <a:solidFill>
                  <a:srgbClr val="F8FAFC"/>
                </a:solidFill>
                <a:latin typeface="Segoe UI"/>
              </a:rPr>
              <a:t>Integrate Ollama HTTP endpoint + UI toggle switch.</a:t>
            </a:r>
          </a:p>
        </p:txBody>
      </p:sp>
      <p:sp>
        <p:nvSpPr>
          <p:cNvPr id="14" name="Rounded Rectangle 13"/>
          <p:cNvSpPr/>
          <p:nvPr/>
        </p:nvSpPr>
        <p:spPr>
          <a:xfrm>
            <a:off x="548640" y="2578608"/>
            <a:ext cx="11091672" cy="841248"/>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31520" y="2715768"/>
            <a:ext cx="13716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734056"/>
            <a:ext cx="1371600" cy="228600"/>
          </a:xfrm>
          <a:prstGeom prst="rect">
            <a:avLst/>
          </a:prstGeom>
          <a:noFill/>
        </p:spPr>
        <p:txBody>
          <a:bodyPr wrap="square" lIns="54864" rIns="54864" tIns="36576" bIns="36576" anchor="t">
            <a:spAutoFit/>
          </a:bodyPr>
          <a:lstStyle/>
          <a:p>
            <a:pPr algn="ctr"/>
            <a:r>
              <a:rPr sz="900" b="1">
                <a:solidFill>
                  <a:srgbClr val="10B981"/>
                </a:solidFill>
                <a:latin typeface="Segoe UI"/>
              </a:rPr>
              <a:t>Milestone 2</a:t>
            </a:r>
          </a:p>
        </p:txBody>
      </p:sp>
      <p:sp>
        <p:nvSpPr>
          <p:cNvPr id="17" name="TextBox 16"/>
          <p:cNvSpPr txBox="1"/>
          <p:nvPr/>
        </p:nvSpPr>
        <p:spPr>
          <a:xfrm>
            <a:off x="2286000" y="2688336"/>
            <a:ext cx="3291840" cy="274320"/>
          </a:xfrm>
          <a:prstGeom prst="rect">
            <a:avLst/>
          </a:prstGeom>
          <a:noFill/>
        </p:spPr>
        <p:txBody>
          <a:bodyPr wrap="square" lIns="54864" rIns="54864" tIns="36576" bIns="36576" anchor="t">
            <a:spAutoFit/>
          </a:bodyPr>
          <a:lstStyle/>
          <a:p>
            <a:pPr algn="l"/>
            <a:r>
              <a:rPr sz="1200" b="1">
                <a:solidFill>
                  <a:srgbClr val="F8FAFC"/>
                </a:solidFill>
                <a:latin typeface="Segoe UI"/>
              </a:rPr>
              <a:t>Package Hallucination Guard</a:t>
            </a:r>
          </a:p>
        </p:txBody>
      </p:sp>
      <p:sp>
        <p:nvSpPr>
          <p:cNvPr id="18" name="Rounded Rectangle 17"/>
          <p:cNvSpPr/>
          <p:nvPr/>
        </p:nvSpPr>
        <p:spPr>
          <a:xfrm>
            <a:off x="5669280" y="2715768"/>
            <a:ext cx="100584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0" y="2734056"/>
            <a:ext cx="1005840" cy="228600"/>
          </a:xfrm>
          <a:prstGeom prst="rect">
            <a:avLst/>
          </a:prstGeom>
          <a:noFill/>
        </p:spPr>
        <p:txBody>
          <a:bodyPr wrap="square" lIns="54864" rIns="54864" tIns="36576" bIns="36576" anchor="t">
            <a:spAutoFit/>
          </a:bodyPr>
          <a:lstStyle/>
          <a:p>
            <a:pPr algn="ctr"/>
            <a:r>
              <a:rPr sz="900" b="1">
                <a:solidFill>
                  <a:srgbClr val="F8FAFC"/>
                </a:solidFill>
                <a:latin typeface="Segoe UI"/>
              </a:rPr>
              <a:t>45 mins</a:t>
            </a:r>
          </a:p>
        </p:txBody>
      </p:sp>
      <p:sp>
        <p:nvSpPr>
          <p:cNvPr id="20" name="TextBox 19"/>
          <p:cNvSpPr txBox="1"/>
          <p:nvPr/>
        </p:nvSpPr>
        <p:spPr>
          <a:xfrm>
            <a:off x="6858000" y="2688336"/>
            <a:ext cx="4480560" cy="274320"/>
          </a:xfrm>
          <a:prstGeom prst="rect">
            <a:avLst/>
          </a:prstGeom>
          <a:noFill/>
        </p:spPr>
        <p:txBody>
          <a:bodyPr wrap="square" lIns="54864" rIns="54864" tIns="36576" bIns="36576" anchor="t">
            <a:spAutoFit/>
          </a:bodyPr>
          <a:lstStyle/>
          <a:p>
            <a:pPr algn="l"/>
            <a:r>
              <a:rPr sz="900" b="0">
                <a:solidFill>
                  <a:srgbClr val="94A3B8"/>
                </a:solidFill>
                <a:latin typeface="Consolas"/>
              </a:rPr>
              <a:t>backend/app/security/package_guard.py  |  backend/app/agent/orchestrator.py</a:t>
            </a:r>
          </a:p>
        </p:txBody>
      </p:sp>
      <p:sp>
        <p:nvSpPr>
          <p:cNvPr id="21" name="TextBox 20"/>
          <p:cNvSpPr txBox="1"/>
          <p:nvPr/>
        </p:nvSpPr>
        <p:spPr>
          <a:xfrm>
            <a:off x="2286000" y="3017520"/>
            <a:ext cx="8961120" cy="320040"/>
          </a:xfrm>
          <a:prstGeom prst="rect">
            <a:avLst/>
          </a:prstGeom>
          <a:noFill/>
        </p:spPr>
        <p:txBody>
          <a:bodyPr wrap="square" lIns="54864" rIns="54864" tIns="36576" bIns="36576" anchor="t">
            <a:spAutoFit/>
          </a:bodyPr>
          <a:lstStyle/>
          <a:p>
            <a:pPr algn="l"/>
            <a:r>
              <a:rPr sz="1000" b="0">
                <a:solidFill>
                  <a:srgbClr val="F8FAFC"/>
                </a:solidFill>
                <a:latin typeface="Segoe UI"/>
              </a:rPr>
              <a:t>AST import parser + PyPI JSON API check + LRU caching.</a:t>
            </a:r>
          </a:p>
        </p:txBody>
      </p:sp>
      <p:sp>
        <p:nvSpPr>
          <p:cNvPr id="22" name="Rounded Rectangle 21"/>
          <p:cNvSpPr/>
          <p:nvPr/>
        </p:nvSpPr>
        <p:spPr>
          <a:xfrm>
            <a:off x="548640" y="3511296"/>
            <a:ext cx="11091672" cy="841248"/>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31520" y="3648456"/>
            <a:ext cx="13716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3666744"/>
            <a:ext cx="1371600" cy="228600"/>
          </a:xfrm>
          <a:prstGeom prst="rect">
            <a:avLst/>
          </a:prstGeom>
          <a:noFill/>
        </p:spPr>
        <p:txBody>
          <a:bodyPr wrap="square" lIns="54864" rIns="54864" tIns="36576" bIns="36576" anchor="t">
            <a:spAutoFit/>
          </a:bodyPr>
          <a:lstStyle/>
          <a:p>
            <a:pPr algn="ctr"/>
            <a:r>
              <a:rPr sz="900" b="1">
                <a:solidFill>
                  <a:srgbClr val="0EA5E9"/>
                </a:solidFill>
                <a:latin typeface="Segoe UI"/>
              </a:rPr>
              <a:t>Milestone 3</a:t>
            </a:r>
          </a:p>
        </p:txBody>
      </p:sp>
      <p:sp>
        <p:nvSpPr>
          <p:cNvPr id="25" name="TextBox 24"/>
          <p:cNvSpPr txBox="1"/>
          <p:nvPr/>
        </p:nvSpPr>
        <p:spPr>
          <a:xfrm>
            <a:off x="2286000" y="3621024"/>
            <a:ext cx="3291840" cy="274320"/>
          </a:xfrm>
          <a:prstGeom prst="rect">
            <a:avLst/>
          </a:prstGeom>
          <a:noFill/>
        </p:spPr>
        <p:txBody>
          <a:bodyPr wrap="square" lIns="54864" rIns="54864" tIns="36576" bIns="36576" anchor="t">
            <a:spAutoFit/>
          </a:bodyPr>
          <a:lstStyle/>
          <a:p>
            <a:pPr algn="l"/>
            <a:r>
              <a:rPr sz="1200" b="1">
                <a:solidFill>
                  <a:srgbClr val="F8FAFC"/>
                </a:solidFill>
                <a:latin typeface="Segoe UI"/>
              </a:rPr>
              <a:t>Self-Healing Reflection Sandbox</a:t>
            </a:r>
          </a:p>
        </p:txBody>
      </p:sp>
      <p:sp>
        <p:nvSpPr>
          <p:cNvPr id="26" name="Rounded Rectangle 25"/>
          <p:cNvSpPr/>
          <p:nvPr/>
        </p:nvSpPr>
        <p:spPr>
          <a:xfrm>
            <a:off x="5669280" y="3648456"/>
            <a:ext cx="100584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3666744"/>
            <a:ext cx="1005840" cy="228600"/>
          </a:xfrm>
          <a:prstGeom prst="rect">
            <a:avLst/>
          </a:prstGeom>
          <a:noFill/>
        </p:spPr>
        <p:txBody>
          <a:bodyPr wrap="square" lIns="54864" rIns="54864" tIns="36576" bIns="36576" anchor="t">
            <a:spAutoFit/>
          </a:bodyPr>
          <a:lstStyle/>
          <a:p>
            <a:pPr algn="ctr"/>
            <a:r>
              <a:rPr sz="900" b="1">
                <a:solidFill>
                  <a:srgbClr val="F8FAFC"/>
                </a:solidFill>
                <a:latin typeface="Segoe UI"/>
              </a:rPr>
              <a:t>60 mins</a:t>
            </a:r>
          </a:p>
        </p:txBody>
      </p:sp>
      <p:sp>
        <p:nvSpPr>
          <p:cNvPr id="28" name="TextBox 27"/>
          <p:cNvSpPr txBox="1"/>
          <p:nvPr/>
        </p:nvSpPr>
        <p:spPr>
          <a:xfrm>
            <a:off x="6858000" y="3621024"/>
            <a:ext cx="4480560" cy="274320"/>
          </a:xfrm>
          <a:prstGeom prst="rect">
            <a:avLst/>
          </a:prstGeom>
          <a:noFill/>
        </p:spPr>
        <p:txBody>
          <a:bodyPr wrap="square" lIns="54864" rIns="54864" tIns="36576" bIns="36576" anchor="t">
            <a:spAutoFit/>
          </a:bodyPr>
          <a:lstStyle/>
          <a:p>
            <a:pPr algn="l"/>
            <a:r>
              <a:rPr sz="900" b="0">
                <a:solidFill>
                  <a:srgbClr val="94A3B8"/>
                </a:solidFill>
                <a:latin typeface="Consolas"/>
              </a:rPr>
              <a:t>backend/app/generation/sandbox.py  |  backend/app/agent/reflector.py</a:t>
            </a:r>
          </a:p>
        </p:txBody>
      </p:sp>
      <p:sp>
        <p:nvSpPr>
          <p:cNvPr id="29" name="TextBox 28"/>
          <p:cNvSpPr txBox="1"/>
          <p:nvPr/>
        </p:nvSpPr>
        <p:spPr>
          <a:xfrm>
            <a:off x="2286000" y="3950208"/>
            <a:ext cx="8961120" cy="320040"/>
          </a:xfrm>
          <a:prstGeom prst="rect">
            <a:avLst/>
          </a:prstGeom>
          <a:noFill/>
        </p:spPr>
        <p:txBody>
          <a:bodyPr wrap="square" lIns="54864" rIns="54864" tIns="36576" bIns="36576" anchor="t">
            <a:spAutoFit/>
          </a:bodyPr>
          <a:lstStyle/>
          <a:p>
            <a:pPr algn="l"/>
            <a:r>
              <a:rPr sz="1000" b="0">
                <a:solidFill>
                  <a:srgbClr val="F8FAFC"/>
                </a:solidFill>
                <a:latin typeface="Segoe UI"/>
              </a:rPr>
              <a:t>Ephemeral pytest runner + ReAct traceback reflection.</a:t>
            </a:r>
          </a:p>
        </p:txBody>
      </p:sp>
      <p:sp>
        <p:nvSpPr>
          <p:cNvPr id="30" name="Rounded Rectangle 29"/>
          <p:cNvSpPr/>
          <p:nvPr/>
        </p:nvSpPr>
        <p:spPr>
          <a:xfrm>
            <a:off x="548640" y="4443984"/>
            <a:ext cx="11091672" cy="841248"/>
          </a:xfrm>
          <a:prstGeom prst="roundRect">
            <a:avLst/>
          </a:prstGeom>
          <a:solidFill>
            <a:srgbClr val="1E293B"/>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4581144"/>
            <a:ext cx="13716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4599432"/>
            <a:ext cx="1371600" cy="228600"/>
          </a:xfrm>
          <a:prstGeom prst="rect">
            <a:avLst/>
          </a:prstGeom>
          <a:noFill/>
        </p:spPr>
        <p:txBody>
          <a:bodyPr wrap="square" lIns="54864" rIns="54864" tIns="36576" bIns="36576" anchor="t">
            <a:spAutoFit/>
          </a:bodyPr>
          <a:lstStyle/>
          <a:p>
            <a:pPr algn="ctr"/>
            <a:r>
              <a:rPr sz="900" b="1">
                <a:solidFill>
                  <a:srgbClr val="A855F7"/>
                </a:solidFill>
                <a:latin typeface="Segoe UI"/>
              </a:rPr>
              <a:t>Milestone 4</a:t>
            </a:r>
          </a:p>
        </p:txBody>
      </p:sp>
      <p:sp>
        <p:nvSpPr>
          <p:cNvPr id="33" name="TextBox 32"/>
          <p:cNvSpPr txBox="1"/>
          <p:nvPr/>
        </p:nvSpPr>
        <p:spPr>
          <a:xfrm>
            <a:off x="2286000" y="4553712"/>
            <a:ext cx="3291840" cy="274320"/>
          </a:xfrm>
          <a:prstGeom prst="rect">
            <a:avLst/>
          </a:prstGeom>
          <a:noFill/>
        </p:spPr>
        <p:txBody>
          <a:bodyPr wrap="square" lIns="54864" rIns="54864" tIns="36576" bIns="36576" anchor="t">
            <a:spAutoFit/>
          </a:bodyPr>
          <a:lstStyle/>
          <a:p>
            <a:pPr algn="l"/>
            <a:r>
              <a:rPr sz="1200" b="1">
                <a:solidFill>
                  <a:srgbClr val="F8FAFC"/>
                </a:solidFill>
                <a:latin typeface="Segoe UI"/>
              </a:rPr>
              <a:t>Model Context Protocol (MCP)</a:t>
            </a:r>
          </a:p>
        </p:txBody>
      </p:sp>
      <p:sp>
        <p:nvSpPr>
          <p:cNvPr id="34" name="Rounded Rectangle 33"/>
          <p:cNvSpPr/>
          <p:nvPr/>
        </p:nvSpPr>
        <p:spPr>
          <a:xfrm>
            <a:off x="5669280" y="4581144"/>
            <a:ext cx="100584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69280" y="4599432"/>
            <a:ext cx="1005840" cy="228600"/>
          </a:xfrm>
          <a:prstGeom prst="rect">
            <a:avLst/>
          </a:prstGeom>
          <a:noFill/>
        </p:spPr>
        <p:txBody>
          <a:bodyPr wrap="square" lIns="54864" rIns="54864" tIns="36576" bIns="36576" anchor="t">
            <a:spAutoFit/>
          </a:bodyPr>
          <a:lstStyle/>
          <a:p>
            <a:pPr algn="ctr"/>
            <a:r>
              <a:rPr sz="900" b="1">
                <a:solidFill>
                  <a:srgbClr val="F8FAFC"/>
                </a:solidFill>
                <a:latin typeface="Segoe UI"/>
              </a:rPr>
              <a:t>45 mins</a:t>
            </a:r>
          </a:p>
        </p:txBody>
      </p:sp>
      <p:sp>
        <p:nvSpPr>
          <p:cNvPr id="36" name="TextBox 35"/>
          <p:cNvSpPr txBox="1"/>
          <p:nvPr/>
        </p:nvSpPr>
        <p:spPr>
          <a:xfrm>
            <a:off x="6858000" y="4553712"/>
            <a:ext cx="4480560" cy="274320"/>
          </a:xfrm>
          <a:prstGeom prst="rect">
            <a:avLst/>
          </a:prstGeom>
          <a:noFill/>
        </p:spPr>
        <p:txBody>
          <a:bodyPr wrap="square" lIns="54864" rIns="54864" tIns="36576" bIns="36576" anchor="t">
            <a:spAutoFit/>
          </a:bodyPr>
          <a:lstStyle/>
          <a:p>
            <a:pPr algn="l"/>
            <a:r>
              <a:rPr sz="900" b="0">
                <a:solidFill>
                  <a:srgbClr val="94A3B8"/>
                </a:solidFill>
                <a:latin typeface="Consolas"/>
              </a:rPr>
              <a:t>backend/mcp_server.py  |  mcp_config.json</a:t>
            </a:r>
          </a:p>
        </p:txBody>
      </p:sp>
      <p:sp>
        <p:nvSpPr>
          <p:cNvPr id="37" name="TextBox 36"/>
          <p:cNvSpPr txBox="1"/>
          <p:nvPr/>
        </p:nvSpPr>
        <p:spPr>
          <a:xfrm>
            <a:off x="2286000" y="4882896"/>
            <a:ext cx="8961120" cy="320040"/>
          </a:xfrm>
          <a:prstGeom prst="rect">
            <a:avLst/>
          </a:prstGeom>
          <a:noFill/>
        </p:spPr>
        <p:txBody>
          <a:bodyPr wrap="square" lIns="54864" rIns="54864" tIns="36576" bIns="36576" anchor="t">
            <a:spAutoFit/>
          </a:bodyPr>
          <a:lstStyle/>
          <a:p>
            <a:pPr algn="l"/>
            <a:r>
              <a:rPr sz="1000" b="0">
                <a:solidFill>
                  <a:srgbClr val="F8FAFC"/>
                </a:solidFill>
                <a:latin typeface="Segoe UI"/>
              </a:rPr>
              <a:t>Expose security, blast radius, and RAG over JSON-RPC.</a:t>
            </a:r>
          </a:p>
        </p:txBody>
      </p:sp>
      <p:sp>
        <p:nvSpPr>
          <p:cNvPr id="38" name="Rounded Rectangle 37"/>
          <p:cNvSpPr/>
          <p:nvPr/>
        </p:nvSpPr>
        <p:spPr>
          <a:xfrm>
            <a:off x="548640" y="5376672"/>
            <a:ext cx="11091672" cy="841248"/>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731520" y="5513832"/>
            <a:ext cx="13716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532120"/>
            <a:ext cx="1371600" cy="228600"/>
          </a:xfrm>
          <a:prstGeom prst="rect">
            <a:avLst/>
          </a:prstGeom>
          <a:noFill/>
        </p:spPr>
        <p:txBody>
          <a:bodyPr wrap="square" lIns="54864" rIns="54864" tIns="36576" bIns="36576" anchor="t">
            <a:spAutoFit/>
          </a:bodyPr>
          <a:lstStyle/>
          <a:p>
            <a:pPr algn="ctr"/>
            <a:r>
              <a:rPr sz="900" b="1">
                <a:solidFill>
                  <a:srgbClr val="3B82F6"/>
                </a:solidFill>
                <a:latin typeface="Segoe UI"/>
              </a:rPr>
              <a:t>Milestone 5</a:t>
            </a:r>
          </a:p>
        </p:txBody>
      </p:sp>
      <p:sp>
        <p:nvSpPr>
          <p:cNvPr id="41" name="TextBox 40"/>
          <p:cNvSpPr txBox="1"/>
          <p:nvPr/>
        </p:nvSpPr>
        <p:spPr>
          <a:xfrm>
            <a:off x="2286000" y="5486400"/>
            <a:ext cx="3291840" cy="274320"/>
          </a:xfrm>
          <a:prstGeom prst="rect">
            <a:avLst/>
          </a:prstGeom>
          <a:noFill/>
        </p:spPr>
        <p:txBody>
          <a:bodyPr wrap="square" lIns="54864" rIns="54864" tIns="36576" bIns="36576" anchor="t">
            <a:spAutoFit/>
          </a:bodyPr>
          <a:lstStyle/>
          <a:p>
            <a:pPr algn="l"/>
            <a:r>
              <a:rPr sz="1200" b="1">
                <a:solidFill>
                  <a:srgbClr val="F8FAFC"/>
                </a:solidFill>
                <a:latin typeface="Segoe UI"/>
              </a:rPr>
              <a:t>CrewAI Multi-Agent Squad</a:t>
            </a:r>
          </a:p>
        </p:txBody>
      </p:sp>
      <p:sp>
        <p:nvSpPr>
          <p:cNvPr id="42" name="Rounded Rectangle 41"/>
          <p:cNvSpPr/>
          <p:nvPr/>
        </p:nvSpPr>
        <p:spPr>
          <a:xfrm>
            <a:off x="5669280" y="5513832"/>
            <a:ext cx="100584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669280" y="5532120"/>
            <a:ext cx="1005840" cy="228600"/>
          </a:xfrm>
          <a:prstGeom prst="rect">
            <a:avLst/>
          </a:prstGeom>
          <a:noFill/>
        </p:spPr>
        <p:txBody>
          <a:bodyPr wrap="square" lIns="54864" rIns="54864" tIns="36576" bIns="36576" anchor="t">
            <a:spAutoFit/>
          </a:bodyPr>
          <a:lstStyle/>
          <a:p>
            <a:pPr algn="ctr"/>
            <a:r>
              <a:rPr sz="900" b="1">
                <a:solidFill>
                  <a:srgbClr val="F8FAFC"/>
                </a:solidFill>
                <a:latin typeface="Segoe UI"/>
              </a:rPr>
              <a:t>60 mins</a:t>
            </a:r>
          </a:p>
        </p:txBody>
      </p:sp>
      <p:sp>
        <p:nvSpPr>
          <p:cNvPr id="44" name="TextBox 43"/>
          <p:cNvSpPr txBox="1"/>
          <p:nvPr/>
        </p:nvSpPr>
        <p:spPr>
          <a:xfrm>
            <a:off x="6858000" y="5486400"/>
            <a:ext cx="4480560" cy="274320"/>
          </a:xfrm>
          <a:prstGeom prst="rect">
            <a:avLst/>
          </a:prstGeom>
          <a:noFill/>
        </p:spPr>
        <p:txBody>
          <a:bodyPr wrap="square" lIns="54864" rIns="54864" tIns="36576" bIns="36576" anchor="t">
            <a:spAutoFit/>
          </a:bodyPr>
          <a:lstStyle/>
          <a:p>
            <a:pPr algn="l"/>
            <a:r>
              <a:rPr sz="900" b="0">
                <a:solidFill>
                  <a:srgbClr val="94A3B8"/>
                </a:solidFill>
                <a:latin typeface="Consolas"/>
              </a:rPr>
              <a:t>backend/app/crew/agents.py  |  backend/app/crew/tasks.py</a:t>
            </a:r>
          </a:p>
        </p:txBody>
      </p:sp>
      <p:sp>
        <p:nvSpPr>
          <p:cNvPr id="45" name="TextBox 44"/>
          <p:cNvSpPr txBox="1"/>
          <p:nvPr/>
        </p:nvSpPr>
        <p:spPr>
          <a:xfrm>
            <a:off x="2286000" y="5815583"/>
            <a:ext cx="8961120" cy="320040"/>
          </a:xfrm>
          <a:prstGeom prst="rect">
            <a:avLst/>
          </a:prstGeom>
          <a:noFill/>
        </p:spPr>
        <p:txBody>
          <a:bodyPr wrap="square" lIns="54864" rIns="54864" tIns="36576" bIns="36576" anchor="t">
            <a:spAutoFit/>
          </a:bodyPr>
          <a:lstStyle/>
          <a:p>
            <a:pPr algn="l"/>
            <a:r>
              <a:rPr sz="1000" b="0">
                <a:solidFill>
                  <a:srgbClr val="F8FAFC"/>
                </a:solidFill>
                <a:latin typeface="Segoe UI"/>
              </a:rPr>
              <a:t>Declare 5 specialized agents with structured state passing.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MARKET DIFFERENTIATION</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29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Product Positioning: Kavach vs Industry Alternates</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Kavach operates as an enterprise governance layer, not just another chatbot or static scanner.</a:t>
            </a:r>
          </a:p>
        </p:txBody>
      </p:sp>
      <p:sp>
        <p:nvSpPr>
          <p:cNvPr id="6" name="Rounded Rectangle 5"/>
          <p:cNvSpPr/>
          <p:nvPr/>
        </p:nvSpPr>
        <p:spPr>
          <a:xfrm>
            <a:off x="548640" y="1645920"/>
            <a:ext cx="11091672" cy="530352"/>
          </a:xfrm>
          <a:prstGeom prst="roundRect">
            <a:avLst/>
          </a:prstGeom>
          <a:solidFill>
            <a:srgbClr val="1E3A8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55648"/>
            <a:ext cx="2926080" cy="320040"/>
          </a:xfrm>
          <a:prstGeom prst="rect">
            <a:avLst/>
          </a:prstGeom>
          <a:noFill/>
        </p:spPr>
        <p:txBody>
          <a:bodyPr wrap="square" lIns="54864" rIns="54864" tIns="36576" bIns="36576" anchor="t">
            <a:spAutoFit/>
          </a:bodyPr>
          <a:lstStyle/>
          <a:p>
            <a:pPr algn="l"/>
            <a:r>
              <a:rPr sz="1000" b="1">
                <a:solidFill>
                  <a:srgbClr val="F8FAFC"/>
                </a:solidFill>
                <a:latin typeface="Segoe UI"/>
              </a:rPr>
              <a:t>Capability</a:t>
            </a:r>
          </a:p>
        </p:txBody>
      </p:sp>
      <p:sp>
        <p:nvSpPr>
          <p:cNvPr id="8" name="TextBox 7"/>
          <p:cNvSpPr txBox="1"/>
          <p:nvPr/>
        </p:nvSpPr>
        <p:spPr>
          <a:xfrm>
            <a:off x="3840480" y="1755648"/>
            <a:ext cx="2377440" cy="320040"/>
          </a:xfrm>
          <a:prstGeom prst="rect">
            <a:avLst/>
          </a:prstGeom>
          <a:noFill/>
        </p:spPr>
        <p:txBody>
          <a:bodyPr wrap="square" lIns="54864" rIns="54864" tIns="36576" bIns="36576" anchor="t">
            <a:spAutoFit/>
          </a:bodyPr>
          <a:lstStyle/>
          <a:p>
            <a:pPr algn="l"/>
            <a:r>
              <a:rPr sz="1000" b="1">
                <a:solidFill>
                  <a:srgbClr val="F8FAFC"/>
                </a:solidFill>
                <a:latin typeface="Segoe UI"/>
              </a:rPr>
              <a:t>Raw Devin / SWE-agent</a:t>
            </a:r>
          </a:p>
        </p:txBody>
      </p:sp>
      <p:sp>
        <p:nvSpPr>
          <p:cNvPr id="9" name="TextBox 8"/>
          <p:cNvSpPr txBox="1"/>
          <p:nvPr/>
        </p:nvSpPr>
        <p:spPr>
          <a:xfrm>
            <a:off x="6400800" y="1755648"/>
            <a:ext cx="2377440" cy="320040"/>
          </a:xfrm>
          <a:prstGeom prst="rect">
            <a:avLst/>
          </a:prstGeom>
          <a:noFill/>
        </p:spPr>
        <p:txBody>
          <a:bodyPr wrap="square" lIns="54864" rIns="54864" tIns="36576" bIns="36576" anchor="t">
            <a:spAutoFit/>
          </a:bodyPr>
          <a:lstStyle/>
          <a:p>
            <a:pPr algn="l"/>
            <a:r>
              <a:rPr sz="1000" b="1">
                <a:solidFill>
                  <a:srgbClr val="F8FAFC"/>
                </a:solidFill>
                <a:latin typeface="Segoe UI"/>
              </a:rPr>
              <a:t>SonarQube / Snyk</a:t>
            </a:r>
          </a:p>
        </p:txBody>
      </p:sp>
      <p:sp>
        <p:nvSpPr>
          <p:cNvPr id="10" name="TextBox 9"/>
          <p:cNvSpPr txBox="1"/>
          <p:nvPr/>
        </p:nvSpPr>
        <p:spPr>
          <a:xfrm>
            <a:off x="8961120" y="1755648"/>
            <a:ext cx="2468880" cy="320040"/>
          </a:xfrm>
          <a:prstGeom prst="rect">
            <a:avLst/>
          </a:prstGeom>
          <a:noFill/>
        </p:spPr>
        <p:txBody>
          <a:bodyPr wrap="square" lIns="54864" rIns="54864" tIns="36576" bIns="36576" anchor="t">
            <a:spAutoFit/>
          </a:bodyPr>
          <a:lstStyle/>
          <a:p>
            <a:pPr algn="l"/>
            <a:r>
              <a:rPr sz="1000" b="1">
                <a:solidFill>
                  <a:srgbClr val="F8FAFC"/>
                </a:solidFill>
                <a:latin typeface="Segoe UI"/>
              </a:rPr>
              <a:t>KAVACH Platform</a:t>
            </a:r>
          </a:p>
        </p:txBody>
      </p:sp>
      <p:sp>
        <p:nvSpPr>
          <p:cNvPr id="11" name="Rounded Rectangle 10"/>
          <p:cNvSpPr/>
          <p:nvPr/>
        </p:nvSpPr>
        <p:spPr>
          <a:xfrm>
            <a:off x="548640" y="2221992"/>
            <a:ext cx="11091672" cy="530352"/>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331720"/>
            <a:ext cx="2926080" cy="320040"/>
          </a:xfrm>
          <a:prstGeom prst="rect">
            <a:avLst/>
          </a:prstGeom>
          <a:noFill/>
        </p:spPr>
        <p:txBody>
          <a:bodyPr wrap="square" lIns="54864" rIns="54864" tIns="36576" bIns="36576" anchor="t">
            <a:spAutoFit/>
          </a:bodyPr>
          <a:lstStyle/>
          <a:p>
            <a:pPr algn="l"/>
            <a:r>
              <a:rPr sz="1000" b="0">
                <a:solidFill>
                  <a:srgbClr val="F8FAFC"/>
                </a:solidFill>
                <a:latin typeface="Segoe UI"/>
              </a:rPr>
              <a:t>Autonomous Code Synthesis</a:t>
            </a:r>
          </a:p>
        </p:txBody>
      </p:sp>
      <p:sp>
        <p:nvSpPr>
          <p:cNvPr id="13" name="TextBox 12"/>
          <p:cNvSpPr txBox="1"/>
          <p:nvPr/>
        </p:nvSpPr>
        <p:spPr>
          <a:xfrm>
            <a:off x="3840480" y="2331720"/>
            <a:ext cx="2377440" cy="320040"/>
          </a:xfrm>
          <a:prstGeom prst="rect">
            <a:avLst/>
          </a:prstGeom>
          <a:noFill/>
        </p:spPr>
        <p:txBody>
          <a:bodyPr wrap="square" lIns="54864" rIns="54864" tIns="36576" bIns="36576" anchor="t">
            <a:spAutoFit/>
          </a:bodyPr>
          <a:lstStyle/>
          <a:p>
            <a:pPr algn="l"/>
            <a:r>
              <a:rPr sz="1000" b="0">
                <a:solidFill>
                  <a:srgbClr val="94A3B8"/>
                </a:solidFill>
                <a:latin typeface="Segoe UI"/>
              </a:rPr>
              <a:t>YES (Unconstrained)</a:t>
            </a:r>
          </a:p>
        </p:txBody>
      </p:sp>
      <p:sp>
        <p:nvSpPr>
          <p:cNvPr id="14" name="TextBox 13"/>
          <p:cNvSpPr txBox="1"/>
          <p:nvPr/>
        </p:nvSpPr>
        <p:spPr>
          <a:xfrm>
            <a:off x="6400800" y="2331720"/>
            <a:ext cx="2377440" cy="320040"/>
          </a:xfrm>
          <a:prstGeom prst="rect">
            <a:avLst/>
          </a:prstGeom>
          <a:noFill/>
        </p:spPr>
        <p:txBody>
          <a:bodyPr wrap="square" lIns="54864" rIns="54864" tIns="36576" bIns="36576" anchor="t">
            <a:spAutoFit/>
          </a:bodyPr>
          <a:lstStyle/>
          <a:p>
            <a:pPr algn="l"/>
            <a:r>
              <a:rPr sz="1000" b="0">
                <a:solidFill>
                  <a:srgbClr val="F59E0B"/>
                </a:solidFill>
                <a:latin typeface="Segoe UI"/>
              </a:rPr>
              <a:t>NO (Scan Only)</a:t>
            </a:r>
          </a:p>
        </p:txBody>
      </p:sp>
      <p:sp>
        <p:nvSpPr>
          <p:cNvPr id="15" name="TextBox 14"/>
          <p:cNvSpPr txBox="1"/>
          <p:nvPr/>
        </p:nvSpPr>
        <p:spPr>
          <a:xfrm>
            <a:off x="8961120" y="2331720"/>
            <a:ext cx="2468880" cy="320040"/>
          </a:xfrm>
          <a:prstGeom prst="rect">
            <a:avLst/>
          </a:prstGeom>
          <a:noFill/>
        </p:spPr>
        <p:txBody>
          <a:bodyPr wrap="square" lIns="54864" rIns="54864" tIns="36576" bIns="36576" anchor="t">
            <a:spAutoFit/>
          </a:bodyPr>
          <a:lstStyle/>
          <a:p>
            <a:pPr algn="l"/>
            <a:r>
              <a:rPr sz="1000" b="1">
                <a:solidFill>
                  <a:srgbClr val="10B981"/>
                </a:solidFill>
                <a:latin typeface="Segoe UI"/>
              </a:rPr>
              <a:t>YES (Security-Governed)</a:t>
            </a:r>
          </a:p>
        </p:txBody>
      </p:sp>
      <p:sp>
        <p:nvSpPr>
          <p:cNvPr id="16" name="Rounded Rectangle 15"/>
          <p:cNvSpPr/>
          <p:nvPr/>
        </p:nvSpPr>
        <p:spPr>
          <a:xfrm>
            <a:off x="548640" y="2798064"/>
            <a:ext cx="11091672" cy="530352"/>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907792"/>
            <a:ext cx="2926080" cy="320040"/>
          </a:xfrm>
          <a:prstGeom prst="rect">
            <a:avLst/>
          </a:prstGeom>
          <a:noFill/>
        </p:spPr>
        <p:txBody>
          <a:bodyPr wrap="square" lIns="54864" rIns="54864" tIns="36576" bIns="36576" anchor="t">
            <a:spAutoFit/>
          </a:bodyPr>
          <a:lstStyle/>
          <a:p>
            <a:pPr algn="l"/>
            <a:r>
              <a:rPr sz="1000" b="0">
                <a:solidFill>
                  <a:srgbClr val="F8FAFC"/>
                </a:solidFill>
                <a:latin typeface="Segoe UI"/>
              </a:rPr>
              <a:t>Pre-Execution Credential Guard</a:t>
            </a:r>
          </a:p>
        </p:txBody>
      </p:sp>
      <p:sp>
        <p:nvSpPr>
          <p:cNvPr id="18" name="TextBox 17"/>
          <p:cNvSpPr txBox="1"/>
          <p:nvPr/>
        </p:nvSpPr>
        <p:spPr>
          <a:xfrm>
            <a:off x="3840480" y="2907792"/>
            <a:ext cx="2377440" cy="320040"/>
          </a:xfrm>
          <a:prstGeom prst="rect">
            <a:avLst/>
          </a:prstGeom>
          <a:noFill/>
        </p:spPr>
        <p:txBody>
          <a:bodyPr wrap="square" lIns="54864" rIns="54864" tIns="36576" bIns="36576" anchor="t">
            <a:spAutoFit/>
          </a:bodyPr>
          <a:lstStyle/>
          <a:p>
            <a:pPr algn="l"/>
            <a:r>
              <a:rPr sz="1000" b="0">
                <a:solidFill>
                  <a:srgbClr val="EF4444"/>
                </a:solidFill>
                <a:latin typeface="Segoe UI"/>
              </a:rPr>
              <a:t>NO (Prompt Only)</a:t>
            </a:r>
          </a:p>
        </p:txBody>
      </p:sp>
      <p:sp>
        <p:nvSpPr>
          <p:cNvPr id="19" name="TextBox 18"/>
          <p:cNvSpPr txBox="1"/>
          <p:nvPr/>
        </p:nvSpPr>
        <p:spPr>
          <a:xfrm>
            <a:off x="6400800" y="2907792"/>
            <a:ext cx="2377440" cy="320040"/>
          </a:xfrm>
          <a:prstGeom prst="rect">
            <a:avLst/>
          </a:prstGeom>
          <a:noFill/>
        </p:spPr>
        <p:txBody>
          <a:bodyPr wrap="square" lIns="54864" rIns="54864" tIns="36576" bIns="36576" anchor="t">
            <a:spAutoFit/>
          </a:bodyPr>
          <a:lstStyle/>
          <a:p>
            <a:pPr algn="l"/>
            <a:r>
              <a:rPr sz="1000" b="0">
                <a:solidFill>
                  <a:srgbClr val="F59E0B"/>
                </a:solidFill>
                <a:latin typeface="Segoe UI"/>
              </a:rPr>
              <a:t>POST-COMMIT ONLY</a:t>
            </a:r>
          </a:p>
        </p:txBody>
      </p:sp>
      <p:sp>
        <p:nvSpPr>
          <p:cNvPr id="20" name="TextBox 19"/>
          <p:cNvSpPr txBox="1"/>
          <p:nvPr/>
        </p:nvSpPr>
        <p:spPr>
          <a:xfrm>
            <a:off x="8961120" y="2907792"/>
            <a:ext cx="2468880" cy="320040"/>
          </a:xfrm>
          <a:prstGeom prst="rect">
            <a:avLst/>
          </a:prstGeom>
          <a:noFill/>
        </p:spPr>
        <p:txBody>
          <a:bodyPr wrap="square" lIns="54864" rIns="54864" tIns="36576" bIns="36576" anchor="t">
            <a:spAutoFit/>
          </a:bodyPr>
          <a:lstStyle/>
          <a:p>
            <a:pPr algn="l"/>
            <a:r>
              <a:rPr sz="1000" b="1">
                <a:solidFill>
                  <a:srgbClr val="10B981"/>
                </a:solidFill>
                <a:latin typeface="Segoe UI"/>
              </a:rPr>
              <a:t>YES (Deterministic Pre-Token)</a:t>
            </a:r>
          </a:p>
        </p:txBody>
      </p:sp>
      <p:sp>
        <p:nvSpPr>
          <p:cNvPr id="21" name="Rounded Rectangle 20"/>
          <p:cNvSpPr/>
          <p:nvPr/>
        </p:nvSpPr>
        <p:spPr>
          <a:xfrm>
            <a:off x="548640" y="3374136"/>
            <a:ext cx="11091672" cy="530352"/>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3483864"/>
            <a:ext cx="2926080" cy="320040"/>
          </a:xfrm>
          <a:prstGeom prst="rect">
            <a:avLst/>
          </a:prstGeom>
          <a:noFill/>
        </p:spPr>
        <p:txBody>
          <a:bodyPr wrap="square" lIns="54864" rIns="54864" tIns="36576" bIns="36576" anchor="t">
            <a:spAutoFit/>
          </a:bodyPr>
          <a:lstStyle/>
          <a:p>
            <a:pPr algn="l"/>
            <a:r>
              <a:rPr sz="1000" b="0">
                <a:solidFill>
                  <a:srgbClr val="F8FAFC"/>
                </a:solidFill>
                <a:latin typeface="Segoe UI"/>
              </a:rPr>
              <a:t>Package Slopsquatting Guard</a:t>
            </a:r>
          </a:p>
        </p:txBody>
      </p:sp>
      <p:sp>
        <p:nvSpPr>
          <p:cNvPr id="23" name="TextBox 22"/>
          <p:cNvSpPr txBox="1"/>
          <p:nvPr/>
        </p:nvSpPr>
        <p:spPr>
          <a:xfrm>
            <a:off x="3840480" y="3483864"/>
            <a:ext cx="2377440" cy="320040"/>
          </a:xfrm>
          <a:prstGeom prst="rect">
            <a:avLst/>
          </a:prstGeom>
          <a:noFill/>
        </p:spPr>
        <p:txBody>
          <a:bodyPr wrap="square" lIns="54864" rIns="54864" tIns="36576" bIns="36576" anchor="t">
            <a:spAutoFit/>
          </a:bodyPr>
          <a:lstStyle/>
          <a:p>
            <a:pPr algn="l"/>
            <a:r>
              <a:rPr sz="1000" b="0">
                <a:solidFill>
                  <a:srgbClr val="EF4444"/>
                </a:solidFill>
                <a:latin typeface="Segoe UI"/>
              </a:rPr>
              <a:t>NO</a:t>
            </a:r>
          </a:p>
        </p:txBody>
      </p:sp>
      <p:sp>
        <p:nvSpPr>
          <p:cNvPr id="24" name="TextBox 23"/>
          <p:cNvSpPr txBox="1"/>
          <p:nvPr/>
        </p:nvSpPr>
        <p:spPr>
          <a:xfrm>
            <a:off x="6400800" y="3483864"/>
            <a:ext cx="2377440" cy="320040"/>
          </a:xfrm>
          <a:prstGeom prst="rect">
            <a:avLst/>
          </a:prstGeom>
          <a:noFill/>
        </p:spPr>
        <p:txBody>
          <a:bodyPr wrap="square" lIns="54864" rIns="54864" tIns="36576" bIns="36576" anchor="t">
            <a:spAutoFit/>
          </a:bodyPr>
          <a:lstStyle/>
          <a:p>
            <a:pPr algn="l"/>
            <a:r>
              <a:rPr sz="1000" b="0">
                <a:solidFill>
                  <a:srgbClr val="94A3B8"/>
                </a:solidFill>
                <a:latin typeface="Segoe UI"/>
              </a:rPr>
              <a:t>LIMITED (Known CVEs)</a:t>
            </a:r>
          </a:p>
        </p:txBody>
      </p:sp>
      <p:sp>
        <p:nvSpPr>
          <p:cNvPr id="25" name="TextBox 24"/>
          <p:cNvSpPr txBox="1"/>
          <p:nvPr/>
        </p:nvSpPr>
        <p:spPr>
          <a:xfrm>
            <a:off x="8961120" y="3483864"/>
            <a:ext cx="2468880" cy="320040"/>
          </a:xfrm>
          <a:prstGeom prst="rect">
            <a:avLst/>
          </a:prstGeom>
          <a:noFill/>
        </p:spPr>
        <p:txBody>
          <a:bodyPr wrap="square" lIns="54864" rIns="54864" tIns="36576" bIns="36576" anchor="t">
            <a:spAutoFit/>
          </a:bodyPr>
          <a:lstStyle/>
          <a:p>
            <a:pPr algn="l"/>
            <a:r>
              <a:rPr sz="1000" b="1">
                <a:solidFill>
                  <a:srgbClr val="10B981"/>
                </a:solidFill>
                <a:latin typeface="Segoe UI"/>
              </a:rPr>
              <a:t>YES (Real-Time PyPI Check)</a:t>
            </a:r>
          </a:p>
        </p:txBody>
      </p:sp>
      <p:sp>
        <p:nvSpPr>
          <p:cNvPr id="26" name="Rounded Rectangle 25"/>
          <p:cNvSpPr/>
          <p:nvPr/>
        </p:nvSpPr>
        <p:spPr>
          <a:xfrm>
            <a:off x="548640" y="3950208"/>
            <a:ext cx="11091672" cy="530352"/>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059936"/>
            <a:ext cx="2926080" cy="320040"/>
          </a:xfrm>
          <a:prstGeom prst="rect">
            <a:avLst/>
          </a:prstGeom>
          <a:noFill/>
        </p:spPr>
        <p:txBody>
          <a:bodyPr wrap="square" lIns="54864" rIns="54864" tIns="36576" bIns="36576" anchor="t">
            <a:spAutoFit/>
          </a:bodyPr>
          <a:lstStyle/>
          <a:p>
            <a:pPr algn="l"/>
            <a:r>
              <a:rPr sz="1000" b="0">
                <a:solidFill>
                  <a:srgbClr val="F8FAFC"/>
                </a:solidFill>
                <a:latin typeface="Segoe UI"/>
              </a:rPr>
              <a:t>Change-Impact Blast Radius</a:t>
            </a:r>
          </a:p>
        </p:txBody>
      </p:sp>
      <p:sp>
        <p:nvSpPr>
          <p:cNvPr id="28" name="TextBox 27"/>
          <p:cNvSpPr txBox="1"/>
          <p:nvPr/>
        </p:nvSpPr>
        <p:spPr>
          <a:xfrm>
            <a:off x="3840480" y="4059936"/>
            <a:ext cx="2377440" cy="320040"/>
          </a:xfrm>
          <a:prstGeom prst="rect">
            <a:avLst/>
          </a:prstGeom>
          <a:noFill/>
        </p:spPr>
        <p:txBody>
          <a:bodyPr wrap="square" lIns="54864" rIns="54864" tIns="36576" bIns="36576" anchor="t">
            <a:spAutoFit/>
          </a:bodyPr>
          <a:lstStyle/>
          <a:p>
            <a:pPr algn="l"/>
            <a:r>
              <a:rPr sz="1000" b="0">
                <a:solidFill>
                  <a:srgbClr val="EF4444"/>
                </a:solidFill>
                <a:latin typeface="Segoe UI"/>
              </a:rPr>
              <a:t>NO (Local File Only)</a:t>
            </a:r>
          </a:p>
        </p:txBody>
      </p:sp>
      <p:sp>
        <p:nvSpPr>
          <p:cNvPr id="29" name="TextBox 28"/>
          <p:cNvSpPr txBox="1"/>
          <p:nvPr/>
        </p:nvSpPr>
        <p:spPr>
          <a:xfrm>
            <a:off x="6400800" y="4059936"/>
            <a:ext cx="2377440" cy="320040"/>
          </a:xfrm>
          <a:prstGeom prst="rect">
            <a:avLst/>
          </a:prstGeom>
          <a:noFill/>
        </p:spPr>
        <p:txBody>
          <a:bodyPr wrap="square" lIns="54864" rIns="54864" tIns="36576" bIns="36576" anchor="t">
            <a:spAutoFit/>
          </a:bodyPr>
          <a:lstStyle/>
          <a:p>
            <a:pPr algn="l"/>
            <a:r>
              <a:rPr sz="1000" b="0">
                <a:solidFill>
                  <a:srgbClr val="94A3B8"/>
                </a:solidFill>
                <a:latin typeface="Segoe UI"/>
              </a:rPr>
              <a:t>PARTIAL</a:t>
            </a:r>
          </a:p>
        </p:txBody>
      </p:sp>
      <p:sp>
        <p:nvSpPr>
          <p:cNvPr id="30" name="TextBox 29"/>
          <p:cNvSpPr txBox="1"/>
          <p:nvPr/>
        </p:nvSpPr>
        <p:spPr>
          <a:xfrm>
            <a:off x="8961120" y="4059936"/>
            <a:ext cx="2468880" cy="320040"/>
          </a:xfrm>
          <a:prstGeom prst="rect">
            <a:avLst/>
          </a:prstGeom>
          <a:noFill/>
        </p:spPr>
        <p:txBody>
          <a:bodyPr wrap="square" lIns="54864" rIns="54864" tIns="36576" bIns="36576" anchor="t">
            <a:spAutoFit/>
          </a:bodyPr>
          <a:lstStyle/>
          <a:p>
            <a:pPr algn="l"/>
            <a:r>
              <a:rPr sz="1000" b="1">
                <a:solidFill>
                  <a:srgbClr val="10B981"/>
                </a:solidFill>
                <a:latin typeface="Segoe UI"/>
              </a:rPr>
              <a:t>YES (Static AST Graph)</a:t>
            </a:r>
          </a:p>
        </p:txBody>
      </p:sp>
      <p:sp>
        <p:nvSpPr>
          <p:cNvPr id="31" name="Rounded Rectangle 30"/>
          <p:cNvSpPr/>
          <p:nvPr/>
        </p:nvSpPr>
        <p:spPr>
          <a:xfrm>
            <a:off x="548640" y="4526280"/>
            <a:ext cx="11091672" cy="530352"/>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4636008"/>
            <a:ext cx="2926080" cy="320040"/>
          </a:xfrm>
          <a:prstGeom prst="rect">
            <a:avLst/>
          </a:prstGeom>
          <a:noFill/>
        </p:spPr>
        <p:txBody>
          <a:bodyPr wrap="square" lIns="54864" rIns="54864" tIns="36576" bIns="36576" anchor="t">
            <a:spAutoFit/>
          </a:bodyPr>
          <a:lstStyle/>
          <a:p>
            <a:pPr algn="l"/>
            <a:r>
              <a:rPr sz="1000" b="0">
                <a:solidFill>
                  <a:srgbClr val="F8FAFC"/>
                </a:solidFill>
                <a:latin typeface="Segoe UI"/>
              </a:rPr>
              <a:t>Autonomous Self-Healing Loop</a:t>
            </a:r>
          </a:p>
        </p:txBody>
      </p:sp>
      <p:sp>
        <p:nvSpPr>
          <p:cNvPr id="33" name="TextBox 32"/>
          <p:cNvSpPr txBox="1"/>
          <p:nvPr/>
        </p:nvSpPr>
        <p:spPr>
          <a:xfrm>
            <a:off x="3840480" y="4636008"/>
            <a:ext cx="2377440" cy="320040"/>
          </a:xfrm>
          <a:prstGeom prst="rect">
            <a:avLst/>
          </a:prstGeom>
          <a:noFill/>
        </p:spPr>
        <p:txBody>
          <a:bodyPr wrap="square" lIns="54864" rIns="54864" tIns="36576" bIns="36576" anchor="t">
            <a:spAutoFit/>
          </a:bodyPr>
          <a:lstStyle/>
          <a:p>
            <a:pPr algn="l"/>
            <a:r>
              <a:rPr sz="1000" b="0">
                <a:solidFill>
                  <a:srgbClr val="94A3B8"/>
                </a:solidFill>
                <a:latin typeface="Segoe UI"/>
              </a:rPr>
              <a:t>NAIVE RE-TRY</a:t>
            </a:r>
          </a:p>
        </p:txBody>
      </p:sp>
      <p:sp>
        <p:nvSpPr>
          <p:cNvPr id="34" name="TextBox 33"/>
          <p:cNvSpPr txBox="1"/>
          <p:nvPr/>
        </p:nvSpPr>
        <p:spPr>
          <a:xfrm>
            <a:off x="6400800" y="4636008"/>
            <a:ext cx="2377440" cy="320040"/>
          </a:xfrm>
          <a:prstGeom prst="rect">
            <a:avLst/>
          </a:prstGeom>
          <a:noFill/>
        </p:spPr>
        <p:txBody>
          <a:bodyPr wrap="square" lIns="54864" rIns="54864" tIns="36576" bIns="36576" anchor="t">
            <a:spAutoFit/>
          </a:bodyPr>
          <a:lstStyle/>
          <a:p>
            <a:pPr algn="l"/>
            <a:r>
              <a:rPr sz="1000" b="0">
                <a:solidFill>
                  <a:srgbClr val="F59E0B"/>
                </a:solidFill>
                <a:latin typeface="Segoe UI"/>
              </a:rPr>
              <a:t>NO</a:t>
            </a:r>
          </a:p>
        </p:txBody>
      </p:sp>
      <p:sp>
        <p:nvSpPr>
          <p:cNvPr id="35" name="TextBox 34"/>
          <p:cNvSpPr txBox="1"/>
          <p:nvPr/>
        </p:nvSpPr>
        <p:spPr>
          <a:xfrm>
            <a:off x="8961120" y="4636008"/>
            <a:ext cx="2468880" cy="320040"/>
          </a:xfrm>
          <a:prstGeom prst="rect">
            <a:avLst/>
          </a:prstGeom>
          <a:noFill/>
        </p:spPr>
        <p:txBody>
          <a:bodyPr wrap="square" lIns="54864" rIns="54864" tIns="36576" bIns="36576" anchor="t">
            <a:spAutoFit/>
          </a:bodyPr>
          <a:lstStyle/>
          <a:p>
            <a:pPr algn="l"/>
            <a:r>
              <a:rPr sz="1000" b="1">
                <a:solidFill>
                  <a:srgbClr val="10B981"/>
                </a:solidFill>
                <a:latin typeface="Segoe UI"/>
              </a:rPr>
              <a:t>YES (ReAct Sandbox + Traceback)</a:t>
            </a:r>
          </a:p>
        </p:txBody>
      </p:sp>
      <p:sp>
        <p:nvSpPr>
          <p:cNvPr id="36" name="Rounded Rectangle 35"/>
          <p:cNvSpPr/>
          <p:nvPr/>
        </p:nvSpPr>
        <p:spPr>
          <a:xfrm>
            <a:off x="548640" y="5102352"/>
            <a:ext cx="11091672" cy="530352"/>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5212080"/>
            <a:ext cx="2926080" cy="320040"/>
          </a:xfrm>
          <a:prstGeom prst="rect">
            <a:avLst/>
          </a:prstGeom>
          <a:noFill/>
        </p:spPr>
        <p:txBody>
          <a:bodyPr wrap="square" lIns="54864" rIns="54864" tIns="36576" bIns="36576" anchor="t">
            <a:spAutoFit/>
          </a:bodyPr>
          <a:lstStyle/>
          <a:p>
            <a:pPr algn="l"/>
            <a:r>
              <a:rPr sz="1000" b="0">
                <a:solidFill>
                  <a:srgbClr val="F8FAFC"/>
                </a:solidFill>
                <a:latin typeface="Segoe UI"/>
              </a:rPr>
              <a:t>Air-Gapped Privacy Mode</a:t>
            </a:r>
          </a:p>
        </p:txBody>
      </p:sp>
      <p:sp>
        <p:nvSpPr>
          <p:cNvPr id="38" name="TextBox 37"/>
          <p:cNvSpPr txBox="1"/>
          <p:nvPr/>
        </p:nvSpPr>
        <p:spPr>
          <a:xfrm>
            <a:off x="3840480" y="5212080"/>
            <a:ext cx="2377440" cy="320040"/>
          </a:xfrm>
          <a:prstGeom prst="rect">
            <a:avLst/>
          </a:prstGeom>
          <a:noFill/>
        </p:spPr>
        <p:txBody>
          <a:bodyPr wrap="square" lIns="54864" rIns="54864" tIns="36576" bIns="36576" anchor="t">
            <a:spAutoFit/>
          </a:bodyPr>
          <a:lstStyle/>
          <a:p>
            <a:pPr algn="l"/>
            <a:r>
              <a:rPr sz="1000" b="0">
                <a:solidFill>
                  <a:srgbClr val="EF4444"/>
                </a:solidFill>
                <a:latin typeface="Segoe UI"/>
              </a:rPr>
              <a:t>NO (Cloud Only)</a:t>
            </a:r>
          </a:p>
        </p:txBody>
      </p:sp>
      <p:sp>
        <p:nvSpPr>
          <p:cNvPr id="39" name="TextBox 38"/>
          <p:cNvSpPr txBox="1"/>
          <p:nvPr/>
        </p:nvSpPr>
        <p:spPr>
          <a:xfrm>
            <a:off x="6400800" y="5212080"/>
            <a:ext cx="2377440" cy="320040"/>
          </a:xfrm>
          <a:prstGeom prst="rect">
            <a:avLst/>
          </a:prstGeom>
          <a:noFill/>
        </p:spPr>
        <p:txBody>
          <a:bodyPr wrap="square" lIns="54864" rIns="54864" tIns="36576" bIns="36576" anchor="t">
            <a:spAutoFit/>
          </a:bodyPr>
          <a:lstStyle/>
          <a:p>
            <a:pPr algn="l"/>
            <a:r>
              <a:rPr sz="1000" b="0">
                <a:solidFill>
                  <a:srgbClr val="94A3B8"/>
                </a:solidFill>
                <a:latin typeface="Segoe UI"/>
              </a:rPr>
              <a:t>ON-PREM SERVER</a:t>
            </a:r>
          </a:p>
        </p:txBody>
      </p:sp>
      <p:sp>
        <p:nvSpPr>
          <p:cNvPr id="40" name="TextBox 39"/>
          <p:cNvSpPr txBox="1"/>
          <p:nvPr/>
        </p:nvSpPr>
        <p:spPr>
          <a:xfrm>
            <a:off x="8961120" y="5212080"/>
            <a:ext cx="2468880" cy="320040"/>
          </a:xfrm>
          <a:prstGeom prst="rect">
            <a:avLst/>
          </a:prstGeom>
          <a:noFill/>
        </p:spPr>
        <p:txBody>
          <a:bodyPr wrap="square" lIns="54864" rIns="54864" tIns="36576" bIns="36576" anchor="t">
            <a:spAutoFit/>
          </a:bodyPr>
          <a:lstStyle/>
          <a:p>
            <a:pPr algn="l"/>
            <a:r>
              <a:rPr sz="1000" b="1">
                <a:solidFill>
                  <a:srgbClr val="10B981"/>
                </a:solidFill>
                <a:latin typeface="Segoe UI"/>
              </a:rPr>
              <a:t>YES (Seamless Ollama Switch)</a:t>
            </a:r>
          </a:p>
        </p:txBody>
      </p:sp>
      <p:sp>
        <p:nvSpPr>
          <p:cNvPr id="41" name="Rounded Rectangle 40"/>
          <p:cNvSpPr/>
          <p:nvPr/>
        </p:nvSpPr>
        <p:spPr>
          <a:xfrm>
            <a:off x="548640" y="5678424"/>
            <a:ext cx="11091672" cy="530352"/>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5788152"/>
            <a:ext cx="2926080" cy="320040"/>
          </a:xfrm>
          <a:prstGeom prst="rect">
            <a:avLst/>
          </a:prstGeom>
          <a:noFill/>
        </p:spPr>
        <p:txBody>
          <a:bodyPr wrap="square" lIns="54864" rIns="54864" tIns="36576" bIns="36576" anchor="t">
            <a:spAutoFit/>
          </a:bodyPr>
          <a:lstStyle/>
          <a:p>
            <a:pPr algn="l"/>
            <a:r>
              <a:rPr sz="1000" b="0">
                <a:solidFill>
                  <a:srgbClr val="F8FAFC"/>
                </a:solidFill>
                <a:latin typeface="Segoe UI"/>
              </a:rPr>
              <a:t>IDE Integration (MCP)</a:t>
            </a:r>
          </a:p>
        </p:txBody>
      </p:sp>
      <p:sp>
        <p:nvSpPr>
          <p:cNvPr id="43" name="TextBox 42"/>
          <p:cNvSpPr txBox="1"/>
          <p:nvPr/>
        </p:nvSpPr>
        <p:spPr>
          <a:xfrm>
            <a:off x="3840480" y="5788152"/>
            <a:ext cx="2377440" cy="320040"/>
          </a:xfrm>
          <a:prstGeom prst="rect">
            <a:avLst/>
          </a:prstGeom>
          <a:noFill/>
        </p:spPr>
        <p:txBody>
          <a:bodyPr wrap="square" lIns="54864" rIns="54864" tIns="36576" bIns="36576" anchor="t">
            <a:spAutoFit/>
          </a:bodyPr>
          <a:lstStyle/>
          <a:p>
            <a:pPr algn="l"/>
            <a:r>
              <a:rPr sz="1000" b="0">
                <a:solidFill>
                  <a:srgbClr val="94A3B8"/>
                </a:solidFill>
                <a:latin typeface="Segoe UI"/>
              </a:rPr>
              <a:t>PROPRIETARY</a:t>
            </a:r>
          </a:p>
        </p:txBody>
      </p:sp>
      <p:sp>
        <p:nvSpPr>
          <p:cNvPr id="44" name="TextBox 43"/>
          <p:cNvSpPr txBox="1"/>
          <p:nvPr/>
        </p:nvSpPr>
        <p:spPr>
          <a:xfrm>
            <a:off x="6400800" y="5788152"/>
            <a:ext cx="2377440" cy="320040"/>
          </a:xfrm>
          <a:prstGeom prst="rect">
            <a:avLst/>
          </a:prstGeom>
          <a:noFill/>
        </p:spPr>
        <p:txBody>
          <a:bodyPr wrap="square" lIns="54864" rIns="54864" tIns="36576" bIns="36576" anchor="t">
            <a:spAutoFit/>
          </a:bodyPr>
          <a:lstStyle/>
          <a:p>
            <a:pPr algn="l"/>
            <a:r>
              <a:rPr sz="1000" b="0">
                <a:solidFill>
                  <a:srgbClr val="94A3B8"/>
                </a:solidFill>
                <a:latin typeface="Segoe UI"/>
              </a:rPr>
              <a:t>IDE EXTENSION</a:t>
            </a:r>
          </a:p>
        </p:txBody>
      </p:sp>
      <p:sp>
        <p:nvSpPr>
          <p:cNvPr id="45" name="TextBox 44"/>
          <p:cNvSpPr txBox="1"/>
          <p:nvPr/>
        </p:nvSpPr>
        <p:spPr>
          <a:xfrm>
            <a:off x="8961120" y="5788152"/>
            <a:ext cx="2468880" cy="320040"/>
          </a:xfrm>
          <a:prstGeom prst="rect">
            <a:avLst/>
          </a:prstGeom>
          <a:noFill/>
        </p:spPr>
        <p:txBody>
          <a:bodyPr wrap="square" lIns="54864" rIns="54864" tIns="36576" bIns="36576" anchor="t">
            <a:spAutoFit/>
          </a:bodyPr>
          <a:lstStyle/>
          <a:p>
            <a:pPr algn="l"/>
            <a:r>
              <a:rPr sz="1000" b="1">
                <a:solidFill>
                  <a:srgbClr val="10B981"/>
                </a:solidFill>
                <a:latin typeface="Segoe UI"/>
              </a:rPr>
              <a:t>YES (Standard JSON-RPC)</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ACADEMIC HONESTY &amp; SCOPE</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30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Honest Scope: Current Working State vs Roadmap Claims</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Maintaining rigorous separation between shipped functionality and proposed future engineering.</a:t>
            </a:r>
          </a:p>
        </p:txBody>
      </p:sp>
      <p:sp>
        <p:nvSpPr>
          <p:cNvPr id="6" name="Rounded Rectangle 5"/>
          <p:cNvSpPr/>
          <p:nvPr/>
        </p:nvSpPr>
        <p:spPr>
          <a:xfrm>
            <a:off x="548640" y="1645920"/>
            <a:ext cx="5394960" cy="4663440"/>
          </a:xfrm>
          <a:prstGeom prst="roundRect">
            <a:avLst/>
          </a:prstGeom>
          <a:solidFill>
            <a:srgbClr val="18212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1874519"/>
            <a:ext cx="2743200" cy="274320"/>
          </a:xfrm>
          <a:prstGeom prst="round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92807"/>
            <a:ext cx="2743200" cy="274320"/>
          </a:xfrm>
          <a:prstGeom prst="rect">
            <a:avLst/>
          </a:prstGeom>
          <a:noFill/>
        </p:spPr>
        <p:txBody>
          <a:bodyPr wrap="square" lIns="54864" rIns="54864" tIns="36576" bIns="36576" anchor="t">
            <a:spAutoFit/>
          </a:bodyPr>
          <a:lstStyle/>
          <a:p>
            <a:pPr algn="ctr"/>
            <a:r>
              <a:rPr sz="900" b="1">
                <a:solidFill>
                  <a:srgbClr val="6EE7B7"/>
                </a:solidFill>
                <a:latin typeface="Segoe UI"/>
              </a:rPr>
              <a:t>CURRENTLY SHIPPED &amp; TESTED</a:t>
            </a:r>
          </a:p>
        </p:txBody>
      </p:sp>
      <p:sp>
        <p:nvSpPr>
          <p:cNvPr id="9" name="TextBox 8"/>
          <p:cNvSpPr txBox="1"/>
          <p:nvPr/>
        </p:nvSpPr>
        <p:spPr>
          <a:xfrm>
            <a:off x="822960" y="2240280"/>
            <a:ext cx="4754880" cy="320040"/>
          </a:xfrm>
          <a:prstGeom prst="rect">
            <a:avLst/>
          </a:prstGeom>
          <a:noFill/>
        </p:spPr>
        <p:txBody>
          <a:bodyPr wrap="square" lIns="54864" rIns="54864" tIns="36576" bIns="36576" anchor="t">
            <a:spAutoFit/>
          </a:bodyPr>
          <a:lstStyle/>
          <a:p>
            <a:pPr algn="l"/>
            <a:r>
              <a:rPr sz="1600" b="1">
                <a:solidFill>
                  <a:srgbClr val="F8FAFC"/>
                </a:solidFill>
                <a:latin typeface="Segoe UI"/>
              </a:rPr>
              <a:t>100% Operational Baseline</a:t>
            </a:r>
          </a:p>
        </p:txBody>
      </p:sp>
      <p:sp>
        <p:nvSpPr>
          <p:cNvPr id="10" name="TextBox 9"/>
          <p:cNvSpPr txBox="1"/>
          <p:nvPr/>
        </p:nvSpPr>
        <p:spPr>
          <a:xfrm>
            <a:off x="822960" y="2743200"/>
            <a:ext cx="4754880" cy="731520"/>
          </a:xfrm>
          <a:prstGeom prst="rect">
            <a:avLst/>
          </a:prstGeom>
          <a:noFill/>
        </p:spPr>
        <p:txBody>
          <a:bodyPr wrap="square" lIns="54864" rIns="54864" tIns="36576" bIns="36576" anchor="t">
            <a:spAutoFit/>
          </a:bodyPr>
          <a:lstStyle/>
          <a:p>
            <a:pPr algn="l"/>
            <a:r>
              <a:rPr sz="1100" b="0">
                <a:solidFill>
                  <a:srgbClr val="F8FAFC"/>
                </a:solidFill>
                <a:latin typeface="Segoe UI"/>
              </a:rPr>
              <a:t>✔ All 9 Baseline Phases fully executed, integrated, evaluated, and documented.</a:t>
            </a:r>
          </a:p>
        </p:txBody>
      </p:sp>
      <p:sp>
        <p:nvSpPr>
          <p:cNvPr id="11" name="TextBox 10"/>
          <p:cNvSpPr txBox="1"/>
          <p:nvPr/>
        </p:nvSpPr>
        <p:spPr>
          <a:xfrm>
            <a:off x="822960" y="3566160"/>
            <a:ext cx="4754880" cy="731520"/>
          </a:xfrm>
          <a:prstGeom prst="rect">
            <a:avLst/>
          </a:prstGeom>
          <a:noFill/>
        </p:spPr>
        <p:txBody>
          <a:bodyPr wrap="square" lIns="54864" rIns="54864" tIns="36576" bIns="36576" anchor="t">
            <a:spAutoFit/>
          </a:bodyPr>
          <a:lstStyle/>
          <a:p>
            <a:pPr algn="l"/>
            <a:r>
              <a:rPr sz="1100" b="0">
                <a:solidFill>
                  <a:srgbClr val="F8FAFC"/>
                </a:solidFill>
                <a:latin typeface="Segoe UI"/>
              </a:rPr>
              <a:t>✔ Yesterday's Additions (Live Command Center UI, GitHub Ingestion, Standalone Review, Web Speech Voice).</a:t>
            </a:r>
          </a:p>
        </p:txBody>
      </p:sp>
      <p:sp>
        <p:nvSpPr>
          <p:cNvPr id="12" name="TextBox 11"/>
          <p:cNvSpPr txBox="1"/>
          <p:nvPr/>
        </p:nvSpPr>
        <p:spPr>
          <a:xfrm>
            <a:off x="822960" y="4389120"/>
            <a:ext cx="4754880" cy="731520"/>
          </a:xfrm>
          <a:prstGeom prst="rect">
            <a:avLst/>
          </a:prstGeom>
          <a:noFill/>
        </p:spPr>
        <p:txBody>
          <a:bodyPr wrap="square" lIns="54864" rIns="54864" tIns="36576" bIns="36576" anchor="t">
            <a:spAutoFit/>
          </a:bodyPr>
          <a:lstStyle/>
          <a:p>
            <a:pPr algn="l"/>
            <a:r>
              <a:rPr sz="1100" b="0">
                <a:solidFill>
                  <a:srgbClr val="F8FAFC"/>
                </a:solidFill>
                <a:latin typeface="Segoe UI"/>
              </a:rPr>
              <a:t>✔ 164+ Full Test Suite + 29 Focused API Validation Tests passing with zero regressions.</a:t>
            </a:r>
          </a:p>
        </p:txBody>
      </p:sp>
      <p:sp>
        <p:nvSpPr>
          <p:cNvPr id="13" name="TextBox 12"/>
          <p:cNvSpPr txBox="1"/>
          <p:nvPr/>
        </p:nvSpPr>
        <p:spPr>
          <a:xfrm>
            <a:off x="822960" y="5212080"/>
            <a:ext cx="4754880" cy="731520"/>
          </a:xfrm>
          <a:prstGeom prst="rect">
            <a:avLst/>
          </a:prstGeom>
          <a:noFill/>
        </p:spPr>
        <p:txBody>
          <a:bodyPr wrap="square" lIns="54864" rIns="54864" tIns="36576" bIns="36576" anchor="t">
            <a:spAutoFit/>
          </a:bodyPr>
          <a:lstStyle/>
          <a:p>
            <a:pPr algn="l"/>
            <a:r>
              <a:rPr sz="1100" b="0">
                <a:solidFill>
                  <a:srgbClr val="F8FAFC"/>
                </a:solidFill>
                <a:latin typeface="Segoe UI"/>
              </a:rPr>
              <a:t>✔ Deterministic Regex &amp; Shannon Entropy Scanner for Indian Aadhaar and API credentials.</a:t>
            </a:r>
          </a:p>
        </p:txBody>
      </p:sp>
      <p:sp>
        <p:nvSpPr>
          <p:cNvPr id="14" name="Rounded Rectangle 13"/>
          <p:cNvSpPr/>
          <p:nvPr/>
        </p:nvSpPr>
        <p:spPr>
          <a:xfrm>
            <a:off x="6217920" y="1645920"/>
            <a:ext cx="5394960" cy="466344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92240" y="1874519"/>
            <a:ext cx="2743200" cy="274320"/>
          </a:xfrm>
          <a:prstGeom prst="roundRect">
            <a:avLst/>
          </a:prstGeom>
          <a:solidFill>
            <a:srgbClr val="451A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1892807"/>
            <a:ext cx="2743200" cy="274320"/>
          </a:xfrm>
          <a:prstGeom prst="rect">
            <a:avLst/>
          </a:prstGeom>
          <a:noFill/>
        </p:spPr>
        <p:txBody>
          <a:bodyPr wrap="square" lIns="54864" rIns="54864" tIns="36576" bIns="36576" anchor="t">
            <a:spAutoFit/>
          </a:bodyPr>
          <a:lstStyle/>
          <a:p>
            <a:pPr algn="ctr"/>
            <a:r>
              <a:rPr sz="900" b="1">
                <a:solidFill>
                  <a:srgbClr val="FDE68A"/>
                </a:solidFill>
                <a:latin typeface="Segoe UI"/>
              </a:rPr>
              <a:t>NEXT ENGINEERING ROADMAP</a:t>
            </a:r>
          </a:p>
        </p:txBody>
      </p:sp>
      <p:sp>
        <p:nvSpPr>
          <p:cNvPr id="17" name="TextBox 16"/>
          <p:cNvSpPr txBox="1"/>
          <p:nvPr/>
        </p:nvSpPr>
        <p:spPr>
          <a:xfrm>
            <a:off x="6492240" y="2240280"/>
            <a:ext cx="4754880" cy="320040"/>
          </a:xfrm>
          <a:prstGeom prst="rect">
            <a:avLst/>
          </a:prstGeom>
          <a:noFill/>
        </p:spPr>
        <p:txBody>
          <a:bodyPr wrap="square" lIns="54864" rIns="54864" tIns="36576" bIns="36576" anchor="t">
            <a:spAutoFit/>
          </a:bodyPr>
          <a:lstStyle/>
          <a:p>
            <a:pPr algn="l"/>
            <a:r>
              <a:rPr sz="1600" b="1">
                <a:solidFill>
                  <a:srgbClr val="F8FAFC"/>
                </a:solidFill>
                <a:latin typeface="Segoe UI"/>
              </a:rPr>
              <a:t>Capstone Extension Milestones</a:t>
            </a:r>
          </a:p>
        </p:txBody>
      </p:sp>
      <p:sp>
        <p:nvSpPr>
          <p:cNvPr id="18" name="TextBox 17"/>
          <p:cNvSpPr txBox="1"/>
          <p:nvPr/>
        </p:nvSpPr>
        <p:spPr>
          <a:xfrm>
            <a:off x="6492240" y="2743200"/>
            <a:ext cx="4754880" cy="548640"/>
          </a:xfrm>
          <a:prstGeom prst="rect">
            <a:avLst/>
          </a:prstGeom>
          <a:noFill/>
        </p:spPr>
        <p:txBody>
          <a:bodyPr wrap="square" lIns="54864" rIns="54864" tIns="36576" bIns="36576" anchor="t">
            <a:spAutoFit/>
          </a:bodyPr>
          <a:lstStyle/>
          <a:p>
            <a:pPr algn="l"/>
            <a:r>
              <a:rPr sz="1100" b="0">
                <a:solidFill>
                  <a:srgbClr val="94A3B8"/>
                </a:solidFill>
                <a:latin typeface="Segoe UI"/>
              </a:rPr>
              <a:t>➤ CrewAI Multi-Agent Squad replacing procedural Python state machine.</a:t>
            </a:r>
          </a:p>
        </p:txBody>
      </p:sp>
      <p:sp>
        <p:nvSpPr>
          <p:cNvPr id="19" name="TextBox 18"/>
          <p:cNvSpPr txBox="1"/>
          <p:nvPr/>
        </p:nvSpPr>
        <p:spPr>
          <a:xfrm>
            <a:off x="6492240" y="3337560"/>
            <a:ext cx="4754880" cy="548640"/>
          </a:xfrm>
          <a:prstGeom prst="rect">
            <a:avLst/>
          </a:prstGeom>
          <a:noFill/>
        </p:spPr>
        <p:txBody>
          <a:bodyPr wrap="square" lIns="54864" rIns="54864" tIns="36576" bIns="36576" anchor="t">
            <a:spAutoFit/>
          </a:bodyPr>
          <a:lstStyle/>
          <a:p>
            <a:pPr algn="l"/>
            <a:r>
              <a:rPr sz="1100" b="0">
                <a:solidFill>
                  <a:srgbClr val="94A3B8"/>
                </a:solidFill>
                <a:latin typeface="Segoe UI"/>
              </a:rPr>
              <a:t>➤ Ollama Air-Gapped Local LLM switch for zero-cloud sensitive execution.</a:t>
            </a:r>
          </a:p>
        </p:txBody>
      </p:sp>
      <p:sp>
        <p:nvSpPr>
          <p:cNvPr id="20" name="TextBox 19"/>
          <p:cNvSpPr txBox="1"/>
          <p:nvPr/>
        </p:nvSpPr>
        <p:spPr>
          <a:xfrm>
            <a:off x="6492240" y="3931920"/>
            <a:ext cx="4754880" cy="548640"/>
          </a:xfrm>
          <a:prstGeom prst="rect">
            <a:avLst/>
          </a:prstGeom>
          <a:noFill/>
        </p:spPr>
        <p:txBody>
          <a:bodyPr wrap="square" lIns="54864" rIns="54864" tIns="36576" bIns="36576" anchor="t">
            <a:spAutoFit/>
          </a:bodyPr>
          <a:lstStyle/>
          <a:p>
            <a:pPr algn="l"/>
            <a:r>
              <a:rPr sz="1100" b="0">
                <a:solidFill>
                  <a:srgbClr val="94A3B8"/>
                </a:solidFill>
                <a:latin typeface="Segoe UI"/>
              </a:rPr>
              <a:t>➤ PyPI Registry verification guard against package hallucination slopsquatting.</a:t>
            </a:r>
          </a:p>
        </p:txBody>
      </p:sp>
      <p:sp>
        <p:nvSpPr>
          <p:cNvPr id="21" name="TextBox 20"/>
          <p:cNvSpPr txBox="1"/>
          <p:nvPr/>
        </p:nvSpPr>
        <p:spPr>
          <a:xfrm>
            <a:off x="6492240" y="4526280"/>
            <a:ext cx="4754880" cy="548640"/>
          </a:xfrm>
          <a:prstGeom prst="rect">
            <a:avLst/>
          </a:prstGeom>
          <a:noFill/>
        </p:spPr>
        <p:txBody>
          <a:bodyPr wrap="square" lIns="54864" rIns="54864" tIns="36576" bIns="36576" anchor="t">
            <a:spAutoFit/>
          </a:bodyPr>
          <a:lstStyle/>
          <a:p>
            <a:pPr algn="l"/>
            <a:r>
              <a:rPr sz="1100" b="0">
                <a:solidFill>
                  <a:srgbClr val="94A3B8"/>
                </a:solidFill>
                <a:latin typeface="Segoe UI"/>
              </a:rPr>
              <a:t>➤ ReAct Sandbox reflection loop with automated pytest execution.</a:t>
            </a:r>
          </a:p>
        </p:txBody>
      </p:sp>
      <p:sp>
        <p:nvSpPr>
          <p:cNvPr id="22" name="TextBox 21"/>
          <p:cNvSpPr txBox="1"/>
          <p:nvPr/>
        </p:nvSpPr>
        <p:spPr>
          <a:xfrm>
            <a:off x="6492240" y="5120640"/>
            <a:ext cx="4754880" cy="548640"/>
          </a:xfrm>
          <a:prstGeom prst="rect">
            <a:avLst/>
          </a:prstGeom>
          <a:noFill/>
        </p:spPr>
        <p:txBody>
          <a:bodyPr wrap="square" lIns="54864" rIns="54864" tIns="36576" bIns="36576" anchor="t">
            <a:spAutoFit/>
          </a:bodyPr>
          <a:lstStyle/>
          <a:p>
            <a:pPr algn="l"/>
            <a:r>
              <a:rPr sz="1100" b="0">
                <a:solidFill>
                  <a:srgbClr val="94A3B8"/>
                </a:solidFill>
                <a:latin typeface="Segoe UI"/>
              </a:rPr>
              <a:t>➤ Model Context Protocol (MCP) server integration for Cursor IDE.</a:t>
            </a:r>
          </a:p>
        </p:txBody>
      </p:sp>
      <p:sp>
        <p:nvSpPr>
          <p:cNvPr id="23" name="TextBox 22"/>
          <p:cNvSpPr txBox="1"/>
          <p:nvPr/>
        </p:nvSpPr>
        <p:spPr>
          <a:xfrm>
            <a:off x="6492240" y="5715000"/>
            <a:ext cx="4754880" cy="548640"/>
          </a:xfrm>
          <a:prstGeom prst="rect">
            <a:avLst/>
          </a:prstGeom>
          <a:noFill/>
        </p:spPr>
        <p:txBody>
          <a:bodyPr wrap="square" lIns="54864" rIns="54864" tIns="36576" bIns="36576" anchor="t">
            <a:spAutoFit/>
          </a:bodyPr>
          <a:lstStyle/>
          <a:p>
            <a:pPr algn="l"/>
            <a:r>
              <a:rPr sz="1100" b="0">
                <a:solidFill>
                  <a:srgbClr val="94A3B8"/>
                </a:solidFill>
                <a:latin typeface="Segoe UI"/>
              </a:rPr>
              <a:t>➤ KAVACH PR Guardian GitHub App CI webhook gateway.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DEMO SCRIPT &amp; VIVA WALKTHROUGH</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31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Live Demonstration Script for Faculty Evaluation</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Step-by-step checklist to showcase during the project defense.</a:t>
            </a:r>
          </a:p>
        </p:txBody>
      </p:sp>
      <p:sp>
        <p:nvSpPr>
          <p:cNvPr id="6" name="Rounded Rectangle 5"/>
          <p:cNvSpPr/>
          <p:nvPr/>
        </p:nvSpPr>
        <p:spPr>
          <a:xfrm>
            <a:off x="548640" y="1645920"/>
            <a:ext cx="11091672" cy="704088"/>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55648"/>
            <a:ext cx="22860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773936"/>
            <a:ext cx="2286000" cy="228600"/>
          </a:xfrm>
          <a:prstGeom prst="rect">
            <a:avLst/>
          </a:prstGeom>
          <a:noFill/>
        </p:spPr>
        <p:txBody>
          <a:bodyPr wrap="square" lIns="54864" rIns="54864" tIns="36576" bIns="36576" anchor="t">
            <a:spAutoFit/>
          </a:bodyPr>
          <a:lstStyle/>
          <a:p>
            <a:pPr algn="ctr"/>
            <a:r>
              <a:rPr sz="900" b="1">
                <a:solidFill>
                  <a:srgbClr val="0EA5E9"/>
                </a:solidFill>
                <a:latin typeface="Segoe UI"/>
              </a:rPr>
              <a:t>Step 1: Start Server &amp; UI</a:t>
            </a:r>
          </a:p>
        </p:txBody>
      </p:sp>
      <p:sp>
        <p:nvSpPr>
          <p:cNvPr id="9" name="TextBox 8"/>
          <p:cNvSpPr txBox="1"/>
          <p:nvPr/>
        </p:nvSpPr>
        <p:spPr>
          <a:xfrm>
            <a:off x="3200400" y="1755648"/>
            <a:ext cx="3931920" cy="457200"/>
          </a:xfrm>
          <a:prstGeom prst="rect">
            <a:avLst/>
          </a:prstGeom>
          <a:noFill/>
        </p:spPr>
        <p:txBody>
          <a:bodyPr wrap="square" lIns="54864" rIns="54864" tIns="36576" bIns="36576" anchor="t">
            <a:spAutoFit/>
          </a:bodyPr>
          <a:lstStyle/>
          <a:p>
            <a:pPr algn="l"/>
            <a:r>
              <a:rPr sz="1100" b="1">
                <a:solidFill>
                  <a:srgbClr val="F8FAFC"/>
                </a:solidFill>
                <a:latin typeface="Segoe UI"/>
              </a:rPr>
              <a:t>Run python app/main.py and open frontend/index.html.</a:t>
            </a:r>
          </a:p>
        </p:txBody>
      </p:sp>
      <p:sp>
        <p:nvSpPr>
          <p:cNvPr id="10" name="TextBox 9"/>
          <p:cNvSpPr txBox="1"/>
          <p:nvPr/>
        </p:nvSpPr>
        <p:spPr>
          <a:xfrm>
            <a:off x="7223760" y="1755648"/>
            <a:ext cx="4206240" cy="457200"/>
          </a:xfrm>
          <a:prstGeom prst="rect">
            <a:avLst/>
          </a:prstGeom>
          <a:noFill/>
        </p:spPr>
        <p:txBody>
          <a:bodyPr wrap="square" lIns="54864" rIns="54864" tIns="36576" bIns="36576" anchor="t">
            <a:spAutoFit/>
          </a:bodyPr>
          <a:lstStyle/>
          <a:p>
            <a:pPr algn="l"/>
            <a:r>
              <a:rPr sz="1000" b="0">
                <a:solidFill>
                  <a:srgbClr val="94A3B8"/>
                </a:solidFill>
                <a:latin typeface="Segoe UI"/>
              </a:rPr>
              <a:t>Show glowing heartbeat, live telemetry counters, and safe Gemini config status.</a:t>
            </a:r>
          </a:p>
        </p:txBody>
      </p:sp>
      <p:sp>
        <p:nvSpPr>
          <p:cNvPr id="11" name="Rounded Rectangle 10"/>
          <p:cNvSpPr/>
          <p:nvPr/>
        </p:nvSpPr>
        <p:spPr>
          <a:xfrm>
            <a:off x="548640" y="2423160"/>
            <a:ext cx="11091672" cy="704088"/>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2532888"/>
            <a:ext cx="22860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51176"/>
            <a:ext cx="2286000" cy="228600"/>
          </a:xfrm>
          <a:prstGeom prst="rect">
            <a:avLst/>
          </a:prstGeom>
          <a:noFill/>
        </p:spPr>
        <p:txBody>
          <a:bodyPr wrap="square" lIns="54864" rIns="54864" tIns="36576" bIns="36576" anchor="t">
            <a:spAutoFit/>
          </a:bodyPr>
          <a:lstStyle/>
          <a:p>
            <a:pPr algn="ctr"/>
            <a:r>
              <a:rPr sz="900" b="1">
                <a:solidFill>
                  <a:srgbClr val="3B82F6"/>
                </a:solidFill>
                <a:latin typeface="Segoe UI"/>
              </a:rPr>
              <a:t>Step 2: Voice Input Capture</a:t>
            </a:r>
          </a:p>
        </p:txBody>
      </p:sp>
      <p:sp>
        <p:nvSpPr>
          <p:cNvPr id="14" name="TextBox 13"/>
          <p:cNvSpPr txBox="1"/>
          <p:nvPr/>
        </p:nvSpPr>
        <p:spPr>
          <a:xfrm>
            <a:off x="3200400" y="2532888"/>
            <a:ext cx="3931920" cy="457200"/>
          </a:xfrm>
          <a:prstGeom prst="rect">
            <a:avLst/>
          </a:prstGeom>
          <a:noFill/>
        </p:spPr>
        <p:txBody>
          <a:bodyPr wrap="square" lIns="54864" rIns="54864" tIns="36576" bIns="36576" anchor="t">
            <a:spAutoFit/>
          </a:bodyPr>
          <a:lstStyle/>
          <a:p>
            <a:pPr algn="l"/>
            <a:r>
              <a:rPr sz="1100" b="1">
                <a:solidFill>
                  <a:srgbClr val="F8FAFC"/>
                </a:solidFill>
                <a:latin typeface="Segoe UI"/>
              </a:rPr>
              <a:t>Click microphone icon and speak DevOps request.</a:t>
            </a:r>
          </a:p>
        </p:txBody>
      </p:sp>
      <p:sp>
        <p:nvSpPr>
          <p:cNvPr id="15" name="TextBox 14"/>
          <p:cNvSpPr txBox="1"/>
          <p:nvPr/>
        </p:nvSpPr>
        <p:spPr>
          <a:xfrm>
            <a:off x="7223760" y="2532888"/>
            <a:ext cx="4206240" cy="457200"/>
          </a:xfrm>
          <a:prstGeom prst="rect">
            <a:avLst/>
          </a:prstGeom>
          <a:noFill/>
        </p:spPr>
        <p:txBody>
          <a:bodyPr wrap="square" lIns="54864" rIns="54864" tIns="36576" bIns="36576" anchor="t">
            <a:spAutoFit/>
          </a:bodyPr>
          <a:lstStyle/>
          <a:p>
            <a:pPr algn="l"/>
            <a:r>
              <a:rPr sz="1000" b="0">
                <a:solidFill>
                  <a:srgbClr val="94A3B8"/>
                </a:solidFill>
                <a:latin typeface="Segoe UI"/>
              </a:rPr>
              <a:t>Demonstrate Groq Whisper / Web Speech streaming audio transcription into textarea.</a:t>
            </a:r>
          </a:p>
        </p:txBody>
      </p:sp>
      <p:sp>
        <p:nvSpPr>
          <p:cNvPr id="16" name="Rounded Rectangle 15"/>
          <p:cNvSpPr/>
          <p:nvPr/>
        </p:nvSpPr>
        <p:spPr>
          <a:xfrm>
            <a:off x="548640" y="3200400"/>
            <a:ext cx="11091672" cy="704088"/>
          </a:xfrm>
          <a:prstGeom prst="roundRect">
            <a:avLst/>
          </a:prstGeom>
          <a:solidFill>
            <a:srgbClr val="1E293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3310128"/>
            <a:ext cx="22860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328416"/>
            <a:ext cx="2286000" cy="228600"/>
          </a:xfrm>
          <a:prstGeom prst="rect">
            <a:avLst/>
          </a:prstGeom>
          <a:noFill/>
        </p:spPr>
        <p:txBody>
          <a:bodyPr wrap="square" lIns="54864" rIns="54864" tIns="36576" bIns="36576" anchor="t">
            <a:spAutoFit/>
          </a:bodyPr>
          <a:lstStyle/>
          <a:p>
            <a:pPr algn="ctr"/>
            <a:r>
              <a:rPr sz="900" b="1">
                <a:solidFill>
                  <a:srgbClr val="EF4444"/>
                </a:solidFill>
                <a:latin typeface="Segoe UI"/>
              </a:rPr>
              <a:t>Step 3: Security Interception</a:t>
            </a:r>
          </a:p>
        </p:txBody>
      </p:sp>
      <p:sp>
        <p:nvSpPr>
          <p:cNvPr id="19" name="TextBox 18"/>
          <p:cNvSpPr txBox="1"/>
          <p:nvPr/>
        </p:nvSpPr>
        <p:spPr>
          <a:xfrm>
            <a:off x="3200400" y="3310128"/>
            <a:ext cx="3931920" cy="457200"/>
          </a:xfrm>
          <a:prstGeom prst="rect">
            <a:avLst/>
          </a:prstGeom>
          <a:noFill/>
        </p:spPr>
        <p:txBody>
          <a:bodyPr wrap="square" lIns="54864" rIns="54864" tIns="36576" bIns="36576" anchor="t">
            <a:spAutoFit/>
          </a:bodyPr>
          <a:lstStyle/>
          <a:p>
            <a:pPr algn="l"/>
            <a:r>
              <a:rPr sz="1100" b="1">
                <a:solidFill>
                  <a:srgbClr val="F8FAFC"/>
                </a:solidFill>
                <a:latin typeface="Segoe UI"/>
              </a:rPr>
              <a:t>Enter prompt with dummy Aadhaar or AWS secret.</a:t>
            </a:r>
          </a:p>
        </p:txBody>
      </p:sp>
      <p:sp>
        <p:nvSpPr>
          <p:cNvPr id="20" name="TextBox 19"/>
          <p:cNvSpPr txBox="1"/>
          <p:nvPr/>
        </p:nvSpPr>
        <p:spPr>
          <a:xfrm>
            <a:off x="7223760" y="3310128"/>
            <a:ext cx="4206240" cy="457200"/>
          </a:xfrm>
          <a:prstGeom prst="rect">
            <a:avLst/>
          </a:prstGeom>
          <a:noFill/>
        </p:spPr>
        <p:txBody>
          <a:bodyPr wrap="square" lIns="54864" rIns="54864" tIns="36576" bIns="36576" anchor="t">
            <a:spAutoFit/>
          </a:bodyPr>
          <a:lstStyle/>
          <a:p>
            <a:pPr algn="l"/>
            <a:r>
              <a:rPr sz="1000" b="0">
                <a:solidFill>
                  <a:srgbClr val="94A3B8"/>
                </a:solidFill>
                <a:latin typeface="Segoe UI"/>
              </a:rPr>
              <a:t>Show immediate halt with BLOCKED badge and zero LLM tokens consumed.</a:t>
            </a:r>
          </a:p>
        </p:txBody>
      </p:sp>
      <p:sp>
        <p:nvSpPr>
          <p:cNvPr id="21" name="Rounded Rectangle 20"/>
          <p:cNvSpPr/>
          <p:nvPr/>
        </p:nvSpPr>
        <p:spPr>
          <a:xfrm>
            <a:off x="548640" y="3977639"/>
            <a:ext cx="11091672" cy="704088"/>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31520" y="4087368"/>
            <a:ext cx="22860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105655"/>
            <a:ext cx="2286000" cy="228600"/>
          </a:xfrm>
          <a:prstGeom prst="rect">
            <a:avLst/>
          </a:prstGeom>
          <a:noFill/>
        </p:spPr>
        <p:txBody>
          <a:bodyPr wrap="square" lIns="54864" rIns="54864" tIns="36576" bIns="36576" anchor="t">
            <a:spAutoFit/>
          </a:bodyPr>
          <a:lstStyle/>
          <a:p>
            <a:pPr algn="ctr"/>
            <a:r>
              <a:rPr sz="900" b="1">
                <a:solidFill>
                  <a:srgbClr val="F59E0B"/>
                </a:solidFill>
                <a:latin typeface="Segoe UI"/>
              </a:rPr>
              <a:t>Step 4: GitHub Ingestion</a:t>
            </a:r>
          </a:p>
        </p:txBody>
      </p:sp>
      <p:sp>
        <p:nvSpPr>
          <p:cNvPr id="24" name="TextBox 23"/>
          <p:cNvSpPr txBox="1"/>
          <p:nvPr/>
        </p:nvSpPr>
        <p:spPr>
          <a:xfrm>
            <a:off x="3200400" y="4087368"/>
            <a:ext cx="3931920" cy="457200"/>
          </a:xfrm>
          <a:prstGeom prst="rect">
            <a:avLst/>
          </a:prstGeom>
          <a:noFill/>
        </p:spPr>
        <p:txBody>
          <a:bodyPr wrap="square" lIns="54864" rIns="54864" tIns="36576" bIns="36576" anchor="t">
            <a:spAutoFit/>
          </a:bodyPr>
          <a:lstStyle/>
          <a:p>
            <a:pPr algn="l"/>
            <a:r>
              <a:rPr sz="1100" b="1">
                <a:solidFill>
                  <a:srgbClr val="F8FAFC"/>
                </a:solidFill>
                <a:latin typeface="Segoe UI"/>
              </a:rPr>
              <a:t>Enter public GitHub repo URL (POST /github/ingest).</a:t>
            </a:r>
          </a:p>
        </p:txBody>
      </p:sp>
      <p:sp>
        <p:nvSpPr>
          <p:cNvPr id="25" name="TextBox 24"/>
          <p:cNvSpPr txBox="1"/>
          <p:nvPr/>
        </p:nvSpPr>
        <p:spPr>
          <a:xfrm>
            <a:off x="7223760" y="4087368"/>
            <a:ext cx="4206240" cy="457200"/>
          </a:xfrm>
          <a:prstGeom prst="rect">
            <a:avLst/>
          </a:prstGeom>
          <a:noFill/>
        </p:spPr>
        <p:txBody>
          <a:bodyPr wrap="square" lIns="54864" rIns="54864" tIns="36576" bIns="36576" anchor="t">
            <a:spAutoFit/>
          </a:bodyPr>
          <a:lstStyle/>
          <a:p>
            <a:pPr algn="l"/>
            <a:r>
              <a:rPr sz="1000" b="0">
                <a:solidFill>
                  <a:srgbClr val="94A3B8"/>
                </a:solidFill>
                <a:latin typeface="Segoe UI"/>
              </a:rPr>
              <a:t>Show repo tree scanning, file PII checks, and automated Qdrant vector indexing.</a:t>
            </a:r>
          </a:p>
        </p:txBody>
      </p:sp>
      <p:sp>
        <p:nvSpPr>
          <p:cNvPr id="26" name="Rounded Rectangle 25"/>
          <p:cNvSpPr/>
          <p:nvPr/>
        </p:nvSpPr>
        <p:spPr>
          <a:xfrm>
            <a:off x="548640" y="4754880"/>
            <a:ext cx="11091672" cy="704088"/>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31520" y="4864608"/>
            <a:ext cx="22860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4882896"/>
            <a:ext cx="2286000" cy="228600"/>
          </a:xfrm>
          <a:prstGeom prst="rect">
            <a:avLst/>
          </a:prstGeom>
          <a:noFill/>
        </p:spPr>
        <p:txBody>
          <a:bodyPr wrap="square" lIns="54864" rIns="54864" tIns="36576" bIns="36576" anchor="t">
            <a:spAutoFit/>
          </a:bodyPr>
          <a:lstStyle/>
          <a:p>
            <a:pPr algn="ctr"/>
            <a:r>
              <a:rPr sz="900" b="1">
                <a:solidFill>
                  <a:srgbClr val="10B981"/>
                </a:solidFill>
                <a:latin typeface="Segoe UI"/>
              </a:rPr>
              <a:t>Step 5: Standalone Code Review</a:t>
            </a:r>
          </a:p>
        </p:txBody>
      </p:sp>
      <p:sp>
        <p:nvSpPr>
          <p:cNvPr id="29" name="TextBox 28"/>
          <p:cNvSpPr txBox="1"/>
          <p:nvPr/>
        </p:nvSpPr>
        <p:spPr>
          <a:xfrm>
            <a:off x="3200400" y="4864608"/>
            <a:ext cx="3931920" cy="457200"/>
          </a:xfrm>
          <a:prstGeom prst="rect">
            <a:avLst/>
          </a:prstGeom>
          <a:noFill/>
        </p:spPr>
        <p:txBody>
          <a:bodyPr wrap="square" lIns="54864" rIns="54864" tIns="36576" bIns="36576" anchor="t">
            <a:spAutoFit/>
          </a:bodyPr>
          <a:lstStyle/>
          <a:p>
            <a:pPr algn="l"/>
            <a:r>
              <a:rPr sz="1100" b="1">
                <a:solidFill>
                  <a:srgbClr val="F8FAFC"/>
                </a:solidFill>
                <a:latin typeface="Segoe UI"/>
              </a:rPr>
              <a:t>Paste Python code into Live Code Review tab.</a:t>
            </a:r>
          </a:p>
        </p:txBody>
      </p:sp>
      <p:sp>
        <p:nvSpPr>
          <p:cNvPr id="30" name="TextBox 29"/>
          <p:cNvSpPr txBox="1"/>
          <p:nvPr/>
        </p:nvSpPr>
        <p:spPr>
          <a:xfrm>
            <a:off x="7223760" y="4864608"/>
            <a:ext cx="4206240" cy="457200"/>
          </a:xfrm>
          <a:prstGeom prst="rect">
            <a:avLst/>
          </a:prstGeom>
          <a:noFill/>
        </p:spPr>
        <p:txBody>
          <a:bodyPr wrap="square" lIns="54864" rIns="54864" tIns="36576" bIns="36576" anchor="t">
            <a:spAutoFit/>
          </a:bodyPr>
          <a:lstStyle/>
          <a:p>
            <a:pPr algn="l"/>
            <a:r>
              <a:rPr sz="1000" b="0">
                <a:solidFill>
                  <a:srgbClr val="94A3B8"/>
                </a:solidFill>
                <a:latin typeface="Segoe UI"/>
              </a:rPr>
              <a:t>Display instant security risk scoring, findings, and remediation guidance.</a:t>
            </a:r>
          </a:p>
        </p:txBody>
      </p:sp>
      <p:sp>
        <p:nvSpPr>
          <p:cNvPr id="31" name="Rounded Rectangle 30"/>
          <p:cNvSpPr/>
          <p:nvPr/>
        </p:nvSpPr>
        <p:spPr>
          <a:xfrm>
            <a:off x="548640" y="5532120"/>
            <a:ext cx="11091672" cy="704088"/>
          </a:xfrm>
          <a:prstGeom prst="roundRect">
            <a:avLst/>
          </a:prstGeom>
          <a:solidFill>
            <a:srgbClr val="1E293B"/>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31520" y="5641848"/>
            <a:ext cx="22860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5660136"/>
            <a:ext cx="2286000" cy="228600"/>
          </a:xfrm>
          <a:prstGeom prst="rect">
            <a:avLst/>
          </a:prstGeom>
          <a:noFill/>
        </p:spPr>
        <p:txBody>
          <a:bodyPr wrap="square" lIns="54864" rIns="54864" tIns="36576" bIns="36576" anchor="t">
            <a:spAutoFit/>
          </a:bodyPr>
          <a:lstStyle/>
          <a:p>
            <a:pPr algn="ctr"/>
            <a:r>
              <a:rPr sz="900" b="1">
                <a:solidFill>
                  <a:srgbClr val="A855F7"/>
                </a:solidFill>
                <a:latin typeface="Segoe UI"/>
              </a:rPr>
              <a:t>Step 6: Automated Test Proof</a:t>
            </a:r>
          </a:p>
        </p:txBody>
      </p:sp>
      <p:sp>
        <p:nvSpPr>
          <p:cNvPr id="34" name="TextBox 33"/>
          <p:cNvSpPr txBox="1"/>
          <p:nvPr/>
        </p:nvSpPr>
        <p:spPr>
          <a:xfrm>
            <a:off x="3200400" y="5641848"/>
            <a:ext cx="3931920" cy="457200"/>
          </a:xfrm>
          <a:prstGeom prst="rect">
            <a:avLst/>
          </a:prstGeom>
          <a:noFill/>
        </p:spPr>
        <p:txBody>
          <a:bodyPr wrap="square" lIns="54864" rIns="54864" tIns="36576" bIns="36576" anchor="t">
            <a:spAutoFit/>
          </a:bodyPr>
          <a:lstStyle/>
          <a:p>
            <a:pPr algn="l"/>
            <a:r>
              <a:rPr sz="1100" b="1">
                <a:solidFill>
                  <a:srgbClr val="F8FAFC"/>
                </a:solidFill>
                <a:latin typeface="Segoe UI"/>
              </a:rPr>
              <a:t>Execute python run_tests.py in terminal.</a:t>
            </a:r>
          </a:p>
        </p:txBody>
      </p:sp>
      <p:sp>
        <p:nvSpPr>
          <p:cNvPr id="35" name="TextBox 34"/>
          <p:cNvSpPr txBox="1"/>
          <p:nvPr/>
        </p:nvSpPr>
        <p:spPr>
          <a:xfrm>
            <a:off x="7223760" y="5641848"/>
            <a:ext cx="4206240" cy="457200"/>
          </a:xfrm>
          <a:prstGeom prst="rect">
            <a:avLst/>
          </a:prstGeom>
          <a:noFill/>
        </p:spPr>
        <p:txBody>
          <a:bodyPr wrap="square" lIns="54864" rIns="54864" tIns="36576" bIns="36576" anchor="t">
            <a:spAutoFit/>
          </a:bodyPr>
          <a:lstStyle/>
          <a:p>
            <a:pPr algn="l"/>
            <a:r>
              <a:rPr sz="1000" b="0">
                <a:solidFill>
                  <a:srgbClr val="94A3B8"/>
                </a:solidFill>
                <a:latin typeface="Segoe UI"/>
              </a:rPr>
              <a:t>Present all passing tests across security, AST, RAG, and API endpoints.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CONCLUSION &amp; VALUE DELIVERED</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32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Conclusion: AI Coding You Can Actually Trust</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Bridging the gap between raw autonomous AI potential and rigorous enterprise security.</a:t>
            </a:r>
          </a:p>
        </p:txBody>
      </p:sp>
      <p:sp>
        <p:nvSpPr>
          <p:cNvPr id="6" name="Rounded Rectangle 5"/>
          <p:cNvSpPr/>
          <p:nvPr/>
        </p:nvSpPr>
        <p:spPr>
          <a:xfrm>
            <a:off x="548640" y="1645920"/>
            <a:ext cx="11091672" cy="466344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2423160" cy="3840480"/>
          </a:xfrm>
          <a:prstGeom prst="roundRect">
            <a:avLst/>
          </a:prstGeom>
          <a:solidFill>
            <a:srgbClr val="18212F"/>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05840" y="2240280"/>
            <a:ext cx="1188720" cy="2286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258568"/>
            <a:ext cx="1188720" cy="228600"/>
          </a:xfrm>
          <a:prstGeom prst="rect">
            <a:avLst/>
          </a:prstGeom>
          <a:noFill/>
        </p:spPr>
        <p:txBody>
          <a:bodyPr wrap="square" lIns="54864" rIns="54864" tIns="36576" bIns="36576" anchor="t">
            <a:spAutoFit/>
          </a:bodyPr>
          <a:lstStyle/>
          <a:p>
            <a:pPr algn="ctr"/>
            <a:r>
              <a:rPr sz="900" b="1">
                <a:solidFill>
                  <a:srgbClr val="0EA5E9"/>
                </a:solidFill>
                <a:latin typeface="Segoe UI"/>
              </a:rPr>
              <a:t>PILLAR 01</a:t>
            </a:r>
          </a:p>
        </p:txBody>
      </p:sp>
      <p:sp>
        <p:nvSpPr>
          <p:cNvPr id="10" name="TextBox 9"/>
          <p:cNvSpPr txBox="1"/>
          <p:nvPr/>
        </p:nvSpPr>
        <p:spPr>
          <a:xfrm>
            <a:off x="1005840" y="2606040"/>
            <a:ext cx="2057400" cy="502920"/>
          </a:xfrm>
          <a:prstGeom prst="rect">
            <a:avLst/>
          </a:prstGeom>
          <a:noFill/>
        </p:spPr>
        <p:txBody>
          <a:bodyPr wrap="square" lIns="54864" rIns="54864" tIns="36576" bIns="36576" anchor="t">
            <a:spAutoFit/>
          </a:bodyPr>
          <a:lstStyle/>
          <a:p>
            <a:pPr algn="l"/>
            <a:r>
              <a:rPr sz="1300" b="1">
                <a:solidFill>
                  <a:srgbClr val="F8FAFC"/>
                </a:solidFill>
                <a:latin typeface="Segoe UI"/>
              </a:rPr>
              <a:t>For Regulated Enterprises</a:t>
            </a:r>
          </a:p>
        </p:txBody>
      </p:sp>
      <p:sp>
        <p:nvSpPr>
          <p:cNvPr id="11" name="TextBox 10"/>
          <p:cNvSpPr txBox="1"/>
          <p:nvPr/>
        </p:nvSpPr>
        <p:spPr>
          <a:xfrm>
            <a:off x="1005840" y="3246120"/>
            <a:ext cx="2057400" cy="2377440"/>
          </a:xfrm>
          <a:prstGeom prst="rect">
            <a:avLst/>
          </a:prstGeom>
          <a:noFill/>
        </p:spPr>
        <p:txBody>
          <a:bodyPr wrap="square" lIns="54864" rIns="54864" tIns="36576" bIns="36576" anchor="t">
            <a:spAutoFit/>
          </a:bodyPr>
          <a:lstStyle/>
          <a:p>
            <a:pPr algn="l"/>
            <a:r>
              <a:rPr sz="1100" b="0">
                <a:solidFill>
                  <a:srgbClr val="94A3B8"/>
                </a:solidFill>
                <a:latin typeface="Segoe UI"/>
              </a:rPr>
              <a:t>Guarantees that sensitive customer data, Indian identifiers, and private credentials never leak into public repos or LLM logs.</a:t>
            </a:r>
          </a:p>
        </p:txBody>
      </p:sp>
      <p:sp>
        <p:nvSpPr>
          <p:cNvPr id="12" name="Rounded Rectangle 11"/>
          <p:cNvSpPr/>
          <p:nvPr/>
        </p:nvSpPr>
        <p:spPr>
          <a:xfrm>
            <a:off x="3429000" y="2011680"/>
            <a:ext cx="2423160" cy="3840480"/>
          </a:xfrm>
          <a:prstGeom prst="roundRect">
            <a:avLst/>
          </a:prstGeom>
          <a:solidFill>
            <a:srgbClr val="18212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611880" y="2240280"/>
            <a:ext cx="1188720" cy="2286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11880" y="2258568"/>
            <a:ext cx="1188720" cy="228600"/>
          </a:xfrm>
          <a:prstGeom prst="rect">
            <a:avLst/>
          </a:prstGeom>
          <a:noFill/>
        </p:spPr>
        <p:txBody>
          <a:bodyPr wrap="square" lIns="54864" rIns="54864" tIns="36576" bIns="36576" anchor="t">
            <a:spAutoFit/>
          </a:bodyPr>
          <a:lstStyle/>
          <a:p>
            <a:pPr algn="ctr"/>
            <a:r>
              <a:rPr sz="900" b="1">
                <a:solidFill>
                  <a:srgbClr val="3B82F6"/>
                </a:solidFill>
                <a:latin typeface="Segoe UI"/>
              </a:rPr>
              <a:t>PILLAR 02</a:t>
            </a:r>
          </a:p>
        </p:txBody>
      </p:sp>
      <p:sp>
        <p:nvSpPr>
          <p:cNvPr id="15" name="TextBox 14"/>
          <p:cNvSpPr txBox="1"/>
          <p:nvPr/>
        </p:nvSpPr>
        <p:spPr>
          <a:xfrm>
            <a:off x="3611880" y="2606040"/>
            <a:ext cx="2057400" cy="502920"/>
          </a:xfrm>
          <a:prstGeom prst="rect">
            <a:avLst/>
          </a:prstGeom>
          <a:noFill/>
        </p:spPr>
        <p:txBody>
          <a:bodyPr wrap="square" lIns="54864" rIns="54864" tIns="36576" bIns="36576" anchor="t">
            <a:spAutoFit/>
          </a:bodyPr>
          <a:lstStyle/>
          <a:p>
            <a:pPr algn="l"/>
            <a:r>
              <a:rPr sz="1300" b="1">
                <a:solidFill>
                  <a:srgbClr val="F8FAFC"/>
                </a:solidFill>
                <a:latin typeface="Segoe UI"/>
              </a:rPr>
              <a:t>For Software Developers</a:t>
            </a:r>
          </a:p>
        </p:txBody>
      </p:sp>
      <p:sp>
        <p:nvSpPr>
          <p:cNvPr id="16" name="TextBox 15"/>
          <p:cNvSpPr txBox="1"/>
          <p:nvPr/>
        </p:nvSpPr>
        <p:spPr>
          <a:xfrm>
            <a:off x="3611880" y="3246120"/>
            <a:ext cx="2057400" cy="2377440"/>
          </a:xfrm>
          <a:prstGeom prst="rect">
            <a:avLst/>
          </a:prstGeom>
          <a:noFill/>
        </p:spPr>
        <p:txBody>
          <a:bodyPr wrap="square" lIns="54864" rIns="54864" tIns="36576" bIns="36576" anchor="t">
            <a:spAutoFit/>
          </a:bodyPr>
          <a:lstStyle/>
          <a:p>
            <a:pPr algn="l"/>
            <a:r>
              <a:rPr sz="1100" b="0">
                <a:solidFill>
                  <a:srgbClr val="94A3B8"/>
                </a:solidFill>
                <a:latin typeface="Segoe UI"/>
              </a:rPr>
              <a:t>Provides the speed of autonomous AI generation with automated sandbox testing and AST dependency blast radius awareness.</a:t>
            </a:r>
          </a:p>
        </p:txBody>
      </p:sp>
      <p:sp>
        <p:nvSpPr>
          <p:cNvPr id="17" name="Rounded Rectangle 16"/>
          <p:cNvSpPr/>
          <p:nvPr/>
        </p:nvSpPr>
        <p:spPr>
          <a:xfrm>
            <a:off x="6035040" y="2011680"/>
            <a:ext cx="2423160" cy="3840480"/>
          </a:xfrm>
          <a:prstGeom prst="roundRect">
            <a:avLst/>
          </a:prstGeom>
          <a:solidFill>
            <a:srgbClr val="18212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17920" y="2240280"/>
            <a:ext cx="1188720" cy="2286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2258568"/>
            <a:ext cx="1188720" cy="228600"/>
          </a:xfrm>
          <a:prstGeom prst="rect">
            <a:avLst/>
          </a:prstGeom>
          <a:noFill/>
        </p:spPr>
        <p:txBody>
          <a:bodyPr wrap="square" lIns="54864" rIns="54864" tIns="36576" bIns="36576" anchor="t">
            <a:spAutoFit/>
          </a:bodyPr>
          <a:lstStyle/>
          <a:p>
            <a:pPr algn="ctr"/>
            <a:r>
              <a:rPr sz="900" b="1">
                <a:solidFill>
                  <a:srgbClr val="F59E0B"/>
                </a:solidFill>
                <a:latin typeface="Segoe UI"/>
              </a:rPr>
              <a:t>PILLAR 03</a:t>
            </a:r>
          </a:p>
        </p:txBody>
      </p:sp>
      <p:sp>
        <p:nvSpPr>
          <p:cNvPr id="20" name="TextBox 19"/>
          <p:cNvSpPr txBox="1"/>
          <p:nvPr/>
        </p:nvSpPr>
        <p:spPr>
          <a:xfrm>
            <a:off x="6217920" y="2606040"/>
            <a:ext cx="2057400" cy="502920"/>
          </a:xfrm>
          <a:prstGeom prst="rect">
            <a:avLst/>
          </a:prstGeom>
          <a:noFill/>
        </p:spPr>
        <p:txBody>
          <a:bodyPr wrap="square" lIns="54864" rIns="54864" tIns="36576" bIns="36576" anchor="t">
            <a:spAutoFit/>
          </a:bodyPr>
          <a:lstStyle/>
          <a:p>
            <a:pPr algn="l"/>
            <a:r>
              <a:rPr sz="1300" b="1">
                <a:solidFill>
                  <a:srgbClr val="F8FAFC"/>
                </a:solidFill>
                <a:latin typeface="Segoe UI"/>
              </a:rPr>
              <a:t>For Security Reviewers</a:t>
            </a:r>
          </a:p>
        </p:txBody>
      </p:sp>
      <p:sp>
        <p:nvSpPr>
          <p:cNvPr id="21" name="TextBox 20"/>
          <p:cNvSpPr txBox="1"/>
          <p:nvPr/>
        </p:nvSpPr>
        <p:spPr>
          <a:xfrm>
            <a:off x="6217920" y="3246120"/>
            <a:ext cx="2057400" cy="2377440"/>
          </a:xfrm>
          <a:prstGeom prst="rect">
            <a:avLst/>
          </a:prstGeom>
          <a:noFill/>
        </p:spPr>
        <p:txBody>
          <a:bodyPr wrap="square" lIns="54864" rIns="54864" tIns="36576" bIns="36576" anchor="t">
            <a:spAutoFit/>
          </a:bodyPr>
          <a:lstStyle/>
          <a:p>
            <a:pPr algn="l"/>
            <a:r>
              <a:rPr sz="1100" b="0">
                <a:solidFill>
                  <a:srgbClr val="94A3B8"/>
                </a:solidFill>
                <a:latin typeface="Segoe UI"/>
              </a:rPr>
              <a:t>Replaces stochastic LLM excuses with explainable, deterministic mathematical risk scores and complete SQLite audit trails.</a:t>
            </a:r>
          </a:p>
        </p:txBody>
      </p:sp>
      <p:sp>
        <p:nvSpPr>
          <p:cNvPr id="22" name="Rounded Rectangle 21"/>
          <p:cNvSpPr/>
          <p:nvPr/>
        </p:nvSpPr>
        <p:spPr>
          <a:xfrm>
            <a:off x="8641080" y="2011680"/>
            <a:ext cx="2423160" cy="3840480"/>
          </a:xfrm>
          <a:prstGeom prst="roundRect">
            <a:avLst/>
          </a:prstGeom>
          <a:solidFill>
            <a:srgbClr val="18212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823960" y="2240280"/>
            <a:ext cx="1188720" cy="2286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23960" y="2258568"/>
            <a:ext cx="1188720" cy="228600"/>
          </a:xfrm>
          <a:prstGeom prst="rect">
            <a:avLst/>
          </a:prstGeom>
          <a:noFill/>
        </p:spPr>
        <p:txBody>
          <a:bodyPr wrap="square" lIns="54864" rIns="54864" tIns="36576" bIns="36576" anchor="t">
            <a:spAutoFit/>
          </a:bodyPr>
          <a:lstStyle/>
          <a:p>
            <a:pPr algn="ctr"/>
            <a:r>
              <a:rPr sz="900" b="1">
                <a:solidFill>
                  <a:srgbClr val="10B981"/>
                </a:solidFill>
                <a:latin typeface="Segoe UI"/>
              </a:rPr>
              <a:t>PILLAR 04</a:t>
            </a:r>
          </a:p>
        </p:txBody>
      </p:sp>
      <p:sp>
        <p:nvSpPr>
          <p:cNvPr id="25" name="TextBox 24"/>
          <p:cNvSpPr txBox="1"/>
          <p:nvPr/>
        </p:nvSpPr>
        <p:spPr>
          <a:xfrm>
            <a:off x="8823960" y="2606040"/>
            <a:ext cx="2057400" cy="502920"/>
          </a:xfrm>
          <a:prstGeom prst="rect">
            <a:avLst/>
          </a:prstGeom>
          <a:noFill/>
        </p:spPr>
        <p:txBody>
          <a:bodyPr wrap="square" lIns="54864" rIns="54864" tIns="36576" bIns="36576" anchor="t">
            <a:spAutoFit/>
          </a:bodyPr>
          <a:lstStyle/>
          <a:p>
            <a:pPr algn="l"/>
            <a:r>
              <a:rPr sz="1300" b="1">
                <a:solidFill>
                  <a:srgbClr val="F8FAFC"/>
                </a:solidFill>
                <a:latin typeface="Segoe UI"/>
              </a:rPr>
              <a:t>For Academic AI Research</a:t>
            </a:r>
          </a:p>
        </p:txBody>
      </p:sp>
      <p:sp>
        <p:nvSpPr>
          <p:cNvPr id="26" name="TextBox 25"/>
          <p:cNvSpPr txBox="1"/>
          <p:nvPr/>
        </p:nvSpPr>
        <p:spPr>
          <a:xfrm>
            <a:off x="8823960" y="3246120"/>
            <a:ext cx="2057400" cy="2377440"/>
          </a:xfrm>
          <a:prstGeom prst="rect">
            <a:avLst/>
          </a:prstGeom>
          <a:noFill/>
        </p:spPr>
        <p:txBody>
          <a:bodyPr wrap="square" lIns="54864" rIns="54864" tIns="36576" bIns="36576" anchor="t">
            <a:spAutoFit/>
          </a:bodyPr>
          <a:lstStyle/>
          <a:p>
            <a:pPr algn="l"/>
            <a:r>
              <a:rPr sz="1100" b="0">
                <a:solidFill>
                  <a:srgbClr val="94A3B8"/>
                </a:solidFill>
                <a:latin typeface="Segoe UI"/>
              </a:rPr>
              <a:t>Combines CrewAI multi-agent delegation, Agentic RAG, ReAct reflection, and MCP protocols into a unified capstone.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KAVACH  |  PROJECT DEFENSE</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33 / 33</a:t>
            </a:r>
          </a:p>
        </p:txBody>
      </p:sp>
      <p:sp>
        <p:nvSpPr>
          <p:cNvPr id="4" name="Rounded Rectangle 3"/>
          <p:cNvSpPr/>
          <p:nvPr/>
        </p:nvSpPr>
        <p:spPr>
          <a:xfrm>
            <a:off x="548640" y="1051560"/>
            <a:ext cx="11091672" cy="525780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20240"/>
            <a:ext cx="7315200" cy="731520"/>
          </a:xfrm>
          <a:prstGeom prst="rect">
            <a:avLst/>
          </a:prstGeom>
          <a:noFill/>
        </p:spPr>
        <p:txBody>
          <a:bodyPr wrap="square" lIns="54864" rIns="54864" tIns="36576" bIns="36576" anchor="t">
            <a:spAutoFit/>
          </a:bodyPr>
          <a:lstStyle/>
          <a:p>
            <a:pPr algn="l"/>
            <a:r>
              <a:rPr sz="4800" b="1">
                <a:solidFill>
                  <a:srgbClr val="F8FAFC"/>
                </a:solidFill>
                <a:latin typeface="Segoe UI"/>
              </a:rPr>
              <a:t>THANK YOU</a:t>
            </a:r>
          </a:p>
        </p:txBody>
      </p:sp>
      <p:sp>
        <p:nvSpPr>
          <p:cNvPr id="6" name="TextBox 5"/>
          <p:cNvSpPr txBox="1"/>
          <p:nvPr/>
        </p:nvSpPr>
        <p:spPr>
          <a:xfrm>
            <a:off x="914400" y="2743200"/>
            <a:ext cx="9601200" cy="411480"/>
          </a:xfrm>
          <a:prstGeom prst="rect">
            <a:avLst/>
          </a:prstGeom>
          <a:noFill/>
        </p:spPr>
        <p:txBody>
          <a:bodyPr wrap="square" lIns="54864" rIns="54864" tIns="36576" bIns="36576" anchor="t">
            <a:spAutoFit/>
          </a:bodyPr>
          <a:lstStyle/>
          <a:p>
            <a:pPr algn="l"/>
            <a:r>
              <a:rPr sz="1800" b="1">
                <a:solidFill>
                  <a:srgbClr val="0EA5E9"/>
                </a:solidFill>
                <a:latin typeface="Segoe UI"/>
              </a:rPr>
              <a:t>KAVACH: Security-Governed Agentic AI DevOps &amp; Observability Platform</a:t>
            </a:r>
          </a:p>
        </p:txBody>
      </p:sp>
      <p:sp>
        <p:nvSpPr>
          <p:cNvPr id="7" name="TextBox 6"/>
          <p:cNvSpPr txBox="1"/>
          <p:nvPr/>
        </p:nvSpPr>
        <p:spPr>
          <a:xfrm>
            <a:off x="914400" y="3246120"/>
            <a:ext cx="9601200" cy="365760"/>
          </a:xfrm>
          <a:prstGeom prst="rect">
            <a:avLst/>
          </a:prstGeom>
          <a:noFill/>
        </p:spPr>
        <p:txBody>
          <a:bodyPr wrap="square" lIns="54864" rIns="54864" tIns="36576" bIns="36576" anchor="t">
            <a:spAutoFit/>
          </a:bodyPr>
          <a:lstStyle/>
          <a:p>
            <a:pPr algn="l"/>
            <a:r>
              <a:rPr sz="1400" b="0">
                <a:solidFill>
                  <a:srgbClr val="94A3B8"/>
                </a:solidFill>
                <a:latin typeface="Segoe UI"/>
              </a:rPr>
              <a:t>Ready for Demonstration, Faculty Evaluation, and Technical Defense.</a:t>
            </a:r>
          </a:p>
        </p:txBody>
      </p:sp>
      <p:sp>
        <p:nvSpPr>
          <p:cNvPr id="8" name="Rounded Rectangle 7"/>
          <p:cNvSpPr/>
          <p:nvPr/>
        </p:nvSpPr>
        <p:spPr>
          <a:xfrm>
            <a:off x="914400" y="3931920"/>
            <a:ext cx="10332720" cy="1737360"/>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4160520"/>
            <a:ext cx="9784080" cy="1325880"/>
          </a:xfrm>
          <a:prstGeom prst="rect">
            <a:avLst/>
          </a:prstGeom>
          <a:noFill/>
        </p:spPr>
        <p:txBody>
          <a:bodyPr wrap="square" lIns="54864" rIns="54864" tIns="36576" bIns="36576" anchor="t">
            <a:spAutoFit/>
          </a:bodyPr>
          <a:lstStyle/>
          <a:p>
            <a:pPr algn="l"/>
            <a:r>
              <a:rPr sz="1100" b="0">
                <a:solidFill>
                  <a:srgbClr val="F8FAFC"/>
                </a:solidFill>
                <a:latin typeface="Segoe UI"/>
              </a:rPr>
              <a:t>Project Deliverables &amp; Repository Locations:
• Master Agentic Blueprint: KAVACH_AGENTIC_AI_MASTER_BLUEPRINT.md
• Presentation Deck: docs/presentations/KAVACH_Agentic_AI_Master_Presentation.pptx
• Shipped Codebase &amp; Tests: 164+ baseline tests passed | 29 API tests passed | CI Gate PASS
• Evaluators &amp; Metrics: eval_rag.py | evaluator_v2.py | ci_security_gate.py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