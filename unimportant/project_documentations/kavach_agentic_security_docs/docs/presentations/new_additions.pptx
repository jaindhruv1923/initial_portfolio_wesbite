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78" r:id="rId25"/>
    <p:sldId id="280" r:id="rId31"/>
    <p:sldId id="281" r:id="rId32"/>
    <p:sldId id="282" r:id="rId33"/>
    <p:sldId id="283" r:id="rId34"/>
    <p:sldId id="284" r:id="rId35"/>
    <p:sldId id="285"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775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'Good morning ma'am. Aaj hum KAVACH present karenge — ek security-governed agentic AI DevOps platform. Matlab AI coding help, lekin secure aur controlled.' Pehle problem, phir solution, phir phases aur progress, end mein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batao: pehle problem samjhayenge, phir hamara solution, phir 9 phases ka flowchart aur har phase kya karta hai, aur end mein working prototype dikhayenge.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clearly bolo. Teen problems: (1) data leak — prompt mein sensitive cheez chali jaati hai, (2) retrieved context pe blind trust, (3) change ka side-effect kisi ko dikhta nahi. Ye real problem hai, especially banks jaisi jagah jahan customer data sensitive hota hai.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slide 'agar KAVACH na ho to kya hoga, kyun hoga, aur kaise hoga' wala part cover karti hai. Ek concrete example lo: developer Aadhaar-like number ke saath prompt bhejta hai. Left side dikhao kya hota hai, right side dikhao KAVACH mein kaise rukta hai.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wala tone: ye sirf academic exercise nahi hai — real problem hai jo banks aur developers dono ko help karta hai. Niche isliye hai kyunki Indian identifiers aur Hindi/Marathi text ko dhyaan mein rakh ke banaya hai.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Yahan bolo: 'Humne heavy research ki taaki project niche ho aur actually problem solve kare.' Teen gaps dikhao. (Tip: apni actual research sources / papers / tools jo dekhe the, yahan verbally mention kar dena — professor ko credible lagega.)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KAVACH ek line mein: security-governed agentic AI DevOps platform. 8 capabilities ek hi workflow mein jude hain — detection, policy, RAG, impact analysis, generation, validation, CI gate, audit trail.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main 'kaise hoga' slide hai. Left to right samjhao: request aata hai, Gate 1 request check karta hai, RAG evidence lata hai, Gate 2 evidence check karta hai, impact analysis, generation, validation. Kahin bhi unsafe mila to BLOCKED — aage ke stages skip. Demo mein ye live dikhayenge.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hamara main differentiator hai. Normal RAG tools sirf user input dekhte hain. Hum retrieved context ko bhi check karte hain kyunki repo ke andar bhi secrets ho sakte hain. Ye baat pitch mein zor dekar bolna.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Python + FastAPI backend, Qdrant vector DB, Sentence Transformers embeddings, Gemini for generation, plain HTML/CSS/JS dashboard, GitHub Actions CI gate, pytest. 7 API endpoints Swagger pe dikhte hain.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samjhao: pura repo AI ko nahi bhej sakte aur search ke liye chhote tukde chahiye. Har file 1200 characters ke tukdon mein katti hai aur 200 characters overlap hota hai taaki beech ka context na tute. Limitation honestly bolo: character se kaat rahe hain, function se nahi — future mein AST-based chunking.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 = text ko 384 numbers mein badalna, map pe coordinates ki tarah. Ingest ek baar hota hai: chunk -&gt; embedding -&gt; Qdrant. Har request pe: request bhi embedding banti hai, Qdrant nearest chunks nikalta hai (cosine similarity), top 5 score ke saath. Isliye ingest ke bina search khali hota hai.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 Retrieve + Augment + Generate, aur hum ek Validate step bhi jodte hain. Prompt ke 3 hisse: rules (sirf evidence use kar), evidence (5 chunks), request. Isi wajah se Gemini ne /version wale example mein app.title aur app.version use kiya — wo hamare main.py ke chunk mein tha.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poora flow ek nazar mein: 10 steps, har step ke peeche ka module. Dark boxes security gates hain. Kisi bhi gate pe unsafe mila to Gemini tak request pahunchti hi nahi. Har stage ka move history mein likha jaata hai — wahi audit trail hai.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9 phases ka flowchart hai. Phase 1-3 aaj detail mein dikhayenge (dark boxes). Baaki phases 4-9 ka overview next slides mein hai aur next review mein detail mein jayenge. Har phase pichle phase pe build hota hai.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foundation. Repo ingest hota hai, chunks bante hain, embeddings Qdrant mein store hoti hain, search pe similarity score ke saath evidence milta hai. Bolo: 'Baaki saare phases isi evidence layer pe khade hain.' Demo mein /ingest aur /search dikhana.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orchestrator. Yahan agent free nahi chhoda — state machine se controlled hai. Security verdict BLOCKED aaye to aage ke stages skip ho jaate hain. Ye demo mein Aadhaar-like number wale example se dikhayenge.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generation. Evidence + request se grounded prompt banta hai, Gemini generate karta hai, syntax validation hoti hai. Gemini down ho to stub fallback hai, isliye demo kabhi nahi marta. Ab yahan se hum demo pe aa sakte hain.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Baaki 6 phases ka short overview: 4 security hardening, 5 change-impact, 6 integration verification, 7 CI gate, 8 frontend dashboard, 9 finalization. Bolo ki inka detailed walkthrough next review mein hoga.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Phase 4-5 ka preview hai, detail next review mein. Key idea: sirf 'sensitive mila' se decision nahi hota — data kitna sensitive hai aur request kya karwana chahti hai, dono milte hain. Isi wajah se Aadhaar + delete = BLOCK aur Aadhaar + fix = REVIEW.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server start, /ingest, /search, safe request, phir unsafe request. Har step pe bolo KYA kar rahe ho, KAISE kiya, KYUN kiya. Backup: agar live demo fail ho to screenshots ready rakhna. Gemini down ho to stub fallback kaam karega.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Yahan wo point bolo: 'Quality aur heavy research ki wajah se humein time laga, isliye baaki phases ka detailed presentation abhi ready nahi kar paaye — wo next review mein.' Bas apni actual repo status se match karke bolna.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pitch: KAVACH = Governed, Grounded, Auditable. Ek line mein dohrao: 'AI coding help jo developers aur banks dono safely use kar sakein.' Phir questions.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A21"/>
        </a:solidFill>
        <a:effectLst/>
      </p:bgPr>
    </p:bg>
    <p:spTree>
      <p:nvGrpSpPr>
        <p:cNvPr id="1" name=""/>
        <p:cNvGrpSpPr/>
        <p:nvPr/>
      </p:nvGrpSpPr>
      <p:grpSpPr>
        <a:xfrm>
          <a:off x="0" y="0"/>
          <a:ext cx="0" cy="0"/>
          <a:chOff x="0" y="0"/>
          <a:chExt cx="0" cy="0"/>
        </a:xfrm>
      </p:grpSpPr>
      <p:sp>
        <p:nvSpPr>
          <p:cNvPr id="2" name="Text 0"/>
          <p:cNvSpPr txBox="1"/>
          <p:nvPr/>
        </p:nvSpPr>
        <p:spPr>
          <a:xfrm>
            <a:off x="731520" y="1371600"/>
            <a:ext cx="7315200" cy="1280160"/>
          </a:xfrm>
          <a:prstGeom prst="rect">
            <a:avLst/>
          </a:prstGeom>
          <a:noFill/>
          <a:ln/>
        </p:spPr>
        <p:txBody>
          <a:bodyPr wrap="square" lIns="0" tIns="0" rIns="0" bIns="0" rtlCol="0" anchor="ctr"/>
          <a:lstStyle/>
          <a:p>
            <a:pPr marL="0" indent="0">
              <a:buNone/>
            </a:pPr>
            <a:r>
              <a:rPr lang="en-US" sz="8000" b="1" dirty="0">
                <a:solidFill>
                  <a:srgbClr val="F5A524"/>
                </a:solidFill>
                <a:latin typeface="Cambria" pitchFamily="34" charset="0"/>
                <a:ea typeface="Cambria" pitchFamily="34" charset="-122"/>
                <a:cs typeface="Cambria" pitchFamily="34" charset="-120"/>
              </a:rPr>
              <a:t>KAVACH</a:t>
            </a:r>
            <a:endParaRPr lang="en-US" sz="8000" dirty="0"/>
          </a:p>
        </p:txBody>
      </p:sp>
      <p:sp>
        <p:nvSpPr>
          <p:cNvPr id="3" name="Text 1"/>
          <p:cNvSpPr txBox="1"/>
          <p:nvPr/>
        </p:nvSpPr>
        <p:spPr>
          <a:xfrm>
            <a:off x="731520" y="2697480"/>
            <a:ext cx="7498080" cy="822960"/>
          </a:xfrm>
          <a:prstGeom prst="rect">
            <a:avLst/>
          </a:prstGeom>
          <a:noFill/>
          <a:ln/>
        </p:spPr>
        <p:txBody>
          <a:bodyPr wrap="square" lIns="0" tIns="0" rIns="0" bIns="0" rtlCol="0" anchor="ctr"/>
          <a:lstStyle/>
          <a:p>
            <a:r>
              <a:t>Security-Governed Agentic AI DevOps Workspace</a:t>
            </a:r>
          </a:p>
        </p:txBody>
      </p:sp>
      <p:sp>
        <p:nvSpPr>
          <p:cNvPr id="4" name="Text 2"/>
          <p:cNvSpPr txBox="1"/>
          <p:nvPr/>
        </p:nvSpPr>
        <p:spPr>
          <a:xfrm>
            <a:off x="731520" y="3657600"/>
            <a:ext cx="7680960" cy="640080"/>
          </a:xfrm>
          <a:prstGeom prst="rect">
            <a:avLst/>
          </a:prstGeom>
          <a:noFill/>
          <a:ln/>
        </p:spPr>
        <p:txBody>
          <a:bodyPr wrap="square" lIns="0" tIns="0" rIns="0" bIns="0" rtlCol="0" anchor="ctr"/>
          <a:lstStyle/>
          <a:p>
            <a:pPr marL="0" indent="0">
              <a:buNone/>
            </a:pPr>
            <a:r>
              <a:rPr lang="en-US" sz="1600" dirty="0">
                <a:solidFill>
                  <a:srgbClr val="AEB4C0"/>
                </a:solidFill>
                <a:latin typeface="Calibri" pitchFamily="34" charset="0"/>
                <a:ea typeface="Calibri" pitchFamily="34" charset="-122"/>
                <a:cs typeface="Calibri" pitchFamily="34" charset="-120"/>
              </a:rPr>
              <a:t>Repository-aware RAG  |  Sensitive-data detection  |  Change-impact analysis  |  CI security gating</a:t>
            </a:r>
            <a:endParaRPr lang="en-US" sz="1600" dirty="0"/>
          </a:p>
        </p:txBody>
      </p:sp>
      <p:sp>
        <p:nvSpPr>
          <p:cNvPr id="5" name="Text 3"/>
          <p:cNvSpPr txBox="1"/>
          <p:nvPr/>
        </p:nvSpPr>
        <p:spPr>
          <a:xfrm>
            <a:off x="731520" y="4937760"/>
            <a:ext cx="7315200" cy="109728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Dhruv Jain, Dev Garg, </a:t>
            </a:r>
            <a:r>
              <a:rPr lang="en-US" sz="1600" dirty="0" err="1">
                <a:solidFill>
                  <a:srgbClr val="FFFFFF"/>
                </a:solidFill>
                <a:latin typeface="Calibri" pitchFamily="34" charset="0"/>
                <a:ea typeface="Calibri" pitchFamily="34" charset="-122"/>
                <a:cs typeface="Calibri" pitchFamily="34" charset="-120"/>
              </a:rPr>
              <a:t>Ansh</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Rohilla</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Ansh</a:t>
            </a:r>
            <a:r>
              <a:rPr lang="en-US" sz="1600">
                <a:solidFill>
                  <a:srgbClr val="FFFFFF"/>
                </a:solidFill>
                <a:latin typeface="Calibri" pitchFamily="34" charset="0"/>
                <a:ea typeface="Calibri" pitchFamily="34" charset="-122"/>
                <a:cs typeface="Calibri" pitchFamily="34" charset="-120"/>
              </a:rPr>
              <a:t> Adhikari</a:t>
            </a:r>
            <a:endParaRPr lang="en-US" sz="1600" dirty="0"/>
          </a:p>
          <a:p>
            <a:pPr marL="0" indent="0">
              <a:buNone/>
            </a:pPr>
            <a:r>
              <a:rPr lang="en-US" sz="1600" dirty="0">
                <a:solidFill>
                  <a:srgbClr val="FFFFFF"/>
                </a:solidFill>
                <a:latin typeface="Calibri" pitchFamily="34" charset="0"/>
                <a:ea typeface="Calibri" pitchFamily="34" charset="-122"/>
                <a:cs typeface="Calibri" pitchFamily="34" charset="-120"/>
              </a:rPr>
              <a:t>B.Tech CSE (AI &amp; Data Science), BML Munjal University</a:t>
            </a:r>
            <a:endParaRPr lang="en-US" sz="1600" dirty="0"/>
          </a:p>
          <a:p>
            <a:pPr marL="0" indent="0">
              <a:buNone/>
            </a:pPr>
            <a:r>
              <a:rPr lang="en-US" sz="1600" dirty="0">
                <a:solidFill>
                  <a:srgbClr val="FFFFFF"/>
                </a:solidFill>
                <a:latin typeface="Calibri" pitchFamily="34" charset="0"/>
                <a:ea typeface="Calibri" pitchFamily="34" charset="-122"/>
                <a:cs typeface="Calibri" pitchFamily="34" charset="-120"/>
              </a:rPr>
              <a:t>Project Review</a:t>
            </a:r>
            <a:endParaRPr lang="en-US" sz="1600" dirty="0"/>
          </a:p>
        </p:txBody>
      </p:sp>
      <p:sp>
        <p:nvSpPr>
          <p:cNvPr id="6" name="Shape 4"/>
          <p:cNvSpPr/>
          <p:nvPr/>
        </p:nvSpPr>
        <p:spPr>
          <a:xfrm>
            <a:off x="8778240" y="1463040"/>
            <a:ext cx="2926080" cy="2926080"/>
          </a:xfrm>
          <a:prstGeom prst="ellipse">
            <a:avLst/>
          </a:prstGeom>
          <a:solidFill>
            <a:srgbClr val="262B36"/>
          </a:solidFill>
          <a:ln w="38100">
            <a:solidFill>
              <a:srgbClr val="F5A524"/>
            </a:solidFill>
            <a:prstDash val="solid"/>
          </a:ln>
        </p:spPr>
        <p:txBody>
          <a:bodyPr/>
          <a:lstStyle/>
          <a:p>
            <a:endParaRPr/>
          </a:p>
        </p:txBody>
      </p:sp>
      <p:pic>
        <p:nvPicPr>
          <p:cNvPr id="7" name="Image 0" descr="preencoded.png"/>
          <p:cNvPicPr>
            <a:picLocks noChangeAspect="1"/>
          </p:cNvPicPr>
          <p:nvPr/>
        </p:nvPicPr>
        <p:blipFill>
          <a:blip r:embed="rId3"/>
          <a:stretch>
            <a:fillRect/>
          </a:stretch>
        </p:blipFill>
        <p:spPr>
          <a:xfrm>
            <a:off x="9418320" y="210312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What we'll walk you through</a:t>
            </a:r>
            <a:endParaRPr lang="en-US" sz="3200" dirty="0"/>
          </a:p>
        </p:txBody>
      </p:sp>
      <p:sp>
        <p:nvSpPr>
          <p:cNvPr id="3" name="Shape 1"/>
          <p:cNvSpPr/>
          <p:nvPr/>
        </p:nvSpPr>
        <p:spPr>
          <a:xfrm>
            <a:off x="548640" y="1737360"/>
            <a:ext cx="2651760" cy="356616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4" name="Text 2"/>
          <p:cNvSpPr txBox="1"/>
          <p:nvPr/>
        </p:nvSpPr>
        <p:spPr>
          <a:xfrm>
            <a:off x="822960" y="1965960"/>
            <a:ext cx="2103120" cy="914400"/>
          </a:xfrm>
          <a:prstGeom prst="rect">
            <a:avLst/>
          </a:prstGeom>
          <a:noFill/>
          <a:ln/>
        </p:spPr>
        <p:txBody>
          <a:bodyPr wrap="square" lIns="0" tIns="0" rIns="0" bIns="0" rtlCol="0" anchor="ctr"/>
          <a:lstStyle/>
          <a:p>
            <a:pPr marL="0" indent="0">
              <a:buNone/>
            </a:pPr>
            <a:r>
              <a:rPr lang="en-US" sz="5400" b="1" dirty="0">
                <a:solidFill>
                  <a:srgbClr val="F5A524"/>
                </a:solidFill>
                <a:latin typeface="Cambria" pitchFamily="34" charset="0"/>
                <a:ea typeface="Cambria" pitchFamily="34" charset="-122"/>
                <a:cs typeface="Cambria" pitchFamily="34" charset="-120"/>
              </a:rPr>
              <a:t>01</a:t>
            </a:r>
            <a:endParaRPr lang="en-US" sz="5400" dirty="0"/>
          </a:p>
        </p:txBody>
      </p:sp>
      <p:sp>
        <p:nvSpPr>
          <p:cNvPr id="5" name="Text 3"/>
          <p:cNvSpPr txBox="1"/>
          <p:nvPr/>
        </p:nvSpPr>
        <p:spPr>
          <a:xfrm>
            <a:off x="822960" y="3017520"/>
            <a:ext cx="2194560" cy="822960"/>
          </a:xfrm>
          <a:prstGeom prst="rect">
            <a:avLst/>
          </a:prstGeom>
          <a:noFill/>
          <a:ln/>
        </p:spPr>
        <p:txBody>
          <a:bodyPr wrap="square" lIns="0" tIns="0" rIns="0" bIns="0" rtlCol="0" anchor="t"/>
          <a:lstStyle/>
          <a:p>
            <a:pPr marL="0" indent="0">
              <a:buNone/>
            </a:pPr>
            <a:r>
              <a:rPr lang="en-US" sz="2200" b="1" dirty="0">
                <a:solidFill>
                  <a:srgbClr val="171A21"/>
                </a:solidFill>
                <a:latin typeface="Cambria" pitchFamily="34" charset="0"/>
                <a:ea typeface="Cambria" pitchFamily="34" charset="-122"/>
                <a:cs typeface="Cambria" pitchFamily="34" charset="-120"/>
              </a:rPr>
              <a:t>The Problem</a:t>
            </a:r>
            <a:endParaRPr lang="en-US" sz="2200" dirty="0"/>
          </a:p>
        </p:txBody>
      </p:sp>
      <p:sp>
        <p:nvSpPr>
          <p:cNvPr id="6" name="Text 4"/>
          <p:cNvSpPr txBox="1"/>
          <p:nvPr/>
        </p:nvSpPr>
        <p:spPr>
          <a:xfrm>
            <a:off x="822960" y="3931920"/>
            <a:ext cx="2148840" cy="11887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What goes wrong today, and why it matters</a:t>
            </a:r>
            <a:endParaRPr lang="en-US" sz="1400" dirty="0"/>
          </a:p>
        </p:txBody>
      </p:sp>
      <p:sp>
        <p:nvSpPr>
          <p:cNvPr id="7" name="Shape 5"/>
          <p:cNvSpPr/>
          <p:nvPr/>
        </p:nvSpPr>
        <p:spPr>
          <a:xfrm>
            <a:off x="3383280" y="1737360"/>
            <a:ext cx="2651760" cy="356616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8" name="Text 6"/>
          <p:cNvSpPr txBox="1"/>
          <p:nvPr/>
        </p:nvSpPr>
        <p:spPr>
          <a:xfrm>
            <a:off x="3657600" y="1965960"/>
            <a:ext cx="2103120" cy="914400"/>
          </a:xfrm>
          <a:prstGeom prst="rect">
            <a:avLst/>
          </a:prstGeom>
          <a:noFill/>
          <a:ln/>
        </p:spPr>
        <p:txBody>
          <a:bodyPr wrap="square" lIns="0" tIns="0" rIns="0" bIns="0" rtlCol="0" anchor="ctr"/>
          <a:lstStyle/>
          <a:p>
            <a:pPr marL="0" indent="0">
              <a:buNone/>
            </a:pPr>
            <a:r>
              <a:rPr lang="en-US" sz="5400" b="1" dirty="0">
                <a:solidFill>
                  <a:srgbClr val="F5A524"/>
                </a:solidFill>
                <a:latin typeface="Cambria" pitchFamily="34" charset="0"/>
                <a:ea typeface="Cambria" pitchFamily="34" charset="-122"/>
                <a:cs typeface="Cambria" pitchFamily="34" charset="-120"/>
              </a:rPr>
              <a:t>02</a:t>
            </a:r>
            <a:endParaRPr lang="en-US" sz="5400" dirty="0"/>
          </a:p>
        </p:txBody>
      </p:sp>
      <p:sp>
        <p:nvSpPr>
          <p:cNvPr id="9" name="Text 7"/>
          <p:cNvSpPr txBox="1"/>
          <p:nvPr/>
        </p:nvSpPr>
        <p:spPr>
          <a:xfrm>
            <a:off x="3657600" y="3017520"/>
            <a:ext cx="2194560" cy="822960"/>
          </a:xfrm>
          <a:prstGeom prst="rect">
            <a:avLst/>
          </a:prstGeom>
          <a:noFill/>
          <a:ln/>
        </p:spPr>
        <p:txBody>
          <a:bodyPr wrap="square" lIns="0" tIns="0" rIns="0" bIns="0" rtlCol="0" anchor="t"/>
          <a:lstStyle/>
          <a:p>
            <a:pPr marL="0" indent="0">
              <a:buNone/>
            </a:pPr>
            <a:r>
              <a:rPr lang="en-US" sz="2200" b="1" dirty="0">
                <a:solidFill>
                  <a:srgbClr val="171A21"/>
                </a:solidFill>
                <a:latin typeface="Cambria" pitchFamily="34" charset="0"/>
                <a:ea typeface="Cambria" pitchFamily="34" charset="-122"/>
                <a:cs typeface="Cambria" pitchFamily="34" charset="-120"/>
              </a:rPr>
              <a:t>Our Solution</a:t>
            </a:r>
            <a:endParaRPr lang="en-US" sz="2200" dirty="0"/>
          </a:p>
        </p:txBody>
      </p:sp>
      <p:sp>
        <p:nvSpPr>
          <p:cNvPr id="10" name="Text 8"/>
          <p:cNvSpPr txBox="1"/>
          <p:nvPr/>
        </p:nvSpPr>
        <p:spPr>
          <a:xfrm>
            <a:off x="3657600" y="3931920"/>
            <a:ext cx="2148840" cy="11887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What KAVACH is, how a request flows, and the concepts under the hood</a:t>
            </a:r>
            <a:endParaRPr lang="en-US" sz="1400" dirty="0"/>
          </a:p>
        </p:txBody>
      </p:sp>
      <p:sp>
        <p:nvSpPr>
          <p:cNvPr id="11" name="Shape 9"/>
          <p:cNvSpPr/>
          <p:nvPr/>
        </p:nvSpPr>
        <p:spPr>
          <a:xfrm>
            <a:off x="6217920" y="1737360"/>
            <a:ext cx="2651760" cy="356616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2" name="Text 10"/>
          <p:cNvSpPr txBox="1"/>
          <p:nvPr/>
        </p:nvSpPr>
        <p:spPr>
          <a:xfrm>
            <a:off x="6492240" y="1965960"/>
            <a:ext cx="2103120" cy="914400"/>
          </a:xfrm>
          <a:prstGeom prst="rect">
            <a:avLst/>
          </a:prstGeom>
          <a:noFill/>
          <a:ln/>
        </p:spPr>
        <p:txBody>
          <a:bodyPr wrap="square" lIns="0" tIns="0" rIns="0" bIns="0" rtlCol="0" anchor="ctr"/>
          <a:lstStyle/>
          <a:p>
            <a:pPr marL="0" indent="0">
              <a:buNone/>
            </a:pPr>
            <a:r>
              <a:rPr lang="en-US" sz="5400" b="1" dirty="0">
                <a:solidFill>
                  <a:srgbClr val="F5A524"/>
                </a:solidFill>
                <a:latin typeface="Cambria" pitchFamily="34" charset="0"/>
                <a:ea typeface="Cambria" pitchFamily="34" charset="-122"/>
                <a:cs typeface="Cambria" pitchFamily="34" charset="-120"/>
              </a:rPr>
              <a:t>03</a:t>
            </a:r>
            <a:endParaRPr lang="en-US" sz="5400" dirty="0"/>
          </a:p>
        </p:txBody>
      </p:sp>
      <p:sp>
        <p:nvSpPr>
          <p:cNvPr id="13" name="Text 11"/>
          <p:cNvSpPr txBox="1"/>
          <p:nvPr/>
        </p:nvSpPr>
        <p:spPr>
          <a:xfrm>
            <a:off x="6492240" y="3017520"/>
            <a:ext cx="2194560" cy="822960"/>
          </a:xfrm>
          <a:prstGeom prst="rect">
            <a:avLst/>
          </a:prstGeom>
          <a:noFill/>
          <a:ln/>
        </p:spPr>
        <p:txBody>
          <a:bodyPr wrap="square" lIns="0" tIns="0" rIns="0" bIns="0" rtlCol="0" anchor="t"/>
          <a:lstStyle/>
          <a:p>
            <a:pPr marL="0" indent="0">
              <a:buNone/>
            </a:pPr>
            <a:r>
              <a:rPr lang="en-US" sz="2200" b="1" dirty="0">
                <a:solidFill>
                  <a:srgbClr val="171A21"/>
                </a:solidFill>
                <a:latin typeface="Cambria" pitchFamily="34" charset="0"/>
                <a:ea typeface="Cambria" pitchFamily="34" charset="-122"/>
                <a:cs typeface="Cambria" pitchFamily="34" charset="-120"/>
              </a:rPr>
              <a:t>The 9-Phase Roadmap</a:t>
            </a:r>
            <a:endParaRPr lang="en-US" sz="2200" dirty="0"/>
          </a:p>
        </p:txBody>
      </p:sp>
      <p:sp>
        <p:nvSpPr>
          <p:cNvPr id="14" name="Text 12"/>
          <p:cNvSpPr txBox="1"/>
          <p:nvPr/>
        </p:nvSpPr>
        <p:spPr>
          <a:xfrm>
            <a:off x="6492240" y="3931920"/>
            <a:ext cx="2148840" cy="11887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Every phase explained, with Phases 1-3 in depth</a:t>
            </a:r>
            <a:endParaRPr lang="en-US" sz="1400" dirty="0"/>
          </a:p>
        </p:txBody>
      </p:sp>
      <p:sp>
        <p:nvSpPr>
          <p:cNvPr id="15" name="Shape 13"/>
          <p:cNvSpPr/>
          <p:nvPr/>
        </p:nvSpPr>
        <p:spPr>
          <a:xfrm>
            <a:off x="9052560" y="1737360"/>
            <a:ext cx="2651760" cy="356616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6" name="Text 14"/>
          <p:cNvSpPr txBox="1"/>
          <p:nvPr/>
        </p:nvSpPr>
        <p:spPr>
          <a:xfrm>
            <a:off x="9326880" y="1965960"/>
            <a:ext cx="2103120" cy="914400"/>
          </a:xfrm>
          <a:prstGeom prst="rect">
            <a:avLst/>
          </a:prstGeom>
          <a:noFill/>
          <a:ln/>
        </p:spPr>
        <p:txBody>
          <a:bodyPr wrap="square" lIns="0" tIns="0" rIns="0" bIns="0" rtlCol="0" anchor="ctr"/>
          <a:lstStyle/>
          <a:p>
            <a:pPr marL="0" indent="0">
              <a:buNone/>
            </a:pPr>
            <a:r>
              <a:rPr lang="en-US" sz="5400" b="1" dirty="0">
                <a:solidFill>
                  <a:srgbClr val="F5A524"/>
                </a:solidFill>
                <a:latin typeface="Cambria" pitchFamily="34" charset="0"/>
                <a:ea typeface="Cambria" pitchFamily="34" charset="-122"/>
                <a:cs typeface="Cambria" pitchFamily="34" charset="-120"/>
              </a:rPr>
              <a:t>04</a:t>
            </a:r>
            <a:endParaRPr lang="en-US" sz="5400" dirty="0"/>
          </a:p>
        </p:txBody>
      </p:sp>
      <p:sp>
        <p:nvSpPr>
          <p:cNvPr id="17" name="Text 15"/>
          <p:cNvSpPr txBox="1"/>
          <p:nvPr/>
        </p:nvSpPr>
        <p:spPr>
          <a:xfrm>
            <a:off x="9326880" y="3017520"/>
            <a:ext cx="2194560" cy="822960"/>
          </a:xfrm>
          <a:prstGeom prst="rect">
            <a:avLst/>
          </a:prstGeom>
          <a:noFill/>
          <a:ln/>
        </p:spPr>
        <p:txBody>
          <a:bodyPr wrap="square" lIns="0" tIns="0" rIns="0" bIns="0" rtlCol="0" anchor="t"/>
          <a:lstStyle/>
          <a:p>
            <a:pPr marL="0" indent="0">
              <a:buNone/>
            </a:pPr>
            <a:r>
              <a:rPr lang="en-US" sz="2200" b="1" dirty="0">
                <a:solidFill>
                  <a:srgbClr val="171A21"/>
                </a:solidFill>
                <a:latin typeface="Cambria" pitchFamily="34" charset="0"/>
                <a:ea typeface="Cambria" pitchFamily="34" charset="-122"/>
                <a:cs typeface="Cambria" pitchFamily="34" charset="-120"/>
              </a:rPr>
              <a:t>Live Demo</a:t>
            </a:r>
            <a:endParaRPr lang="en-US" sz="2200" dirty="0"/>
          </a:p>
        </p:txBody>
      </p:sp>
      <p:sp>
        <p:nvSpPr>
          <p:cNvPr id="18" name="Text 16"/>
          <p:cNvSpPr txBox="1"/>
          <p:nvPr/>
        </p:nvSpPr>
        <p:spPr>
          <a:xfrm>
            <a:off x="9326880" y="3931920"/>
            <a:ext cx="2148840" cy="11887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The working prototype: what we built, how and why</a:t>
            </a:r>
            <a:endParaRPr lang="en-US" sz="1400" dirty="0"/>
          </a:p>
        </p:txBody>
      </p:sp>
      <p:sp>
        <p:nvSpPr>
          <p:cNvPr id="19" name="Text 17"/>
          <p:cNvSpPr txBox="1"/>
          <p:nvPr/>
        </p:nvSpPr>
        <p:spPr>
          <a:xfrm>
            <a:off x="548640" y="5577840"/>
            <a:ext cx="1097280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Flow of this presentation: problem to pitch to proof.</a:t>
            </a:r>
            <a:endParaRPr lang="en-US" sz="1500" dirty="0"/>
          </a:p>
        </p:txBody>
      </p:sp>
      <p:sp>
        <p:nvSpPr>
          <p:cNvPr id="20" name="Text 18"/>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The Problem: AI coding help is unsafe by default</a:t>
            </a:r>
            <a:endParaRPr lang="en-US" sz="3200" dirty="0"/>
          </a:p>
        </p:txBody>
      </p:sp>
      <p:sp>
        <p:nvSpPr>
          <p:cNvPr id="3" name="Shape 1"/>
          <p:cNvSpPr/>
          <p:nvPr/>
        </p:nvSpPr>
        <p:spPr>
          <a:xfrm>
            <a:off x="548640" y="1600200"/>
            <a:ext cx="4206240" cy="4526280"/>
          </a:xfrm>
          <a:prstGeom prst="roundRect">
            <a:avLst>
              <a:gd name="adj" fmla="val 2609"/>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4" name="Text 2"/>
          <p:cNvSpPr txBox="1"/>
          <p:nvPr/>
        </p:nvSpPr>
        <p:spPr>
          <a:xfrm>
            <a:off x="822960" y="1828800"/>
            <a:ext cx="3657600" cy="4023360"/>
          </a:xfrm>
          <a:prstGeom prst="rect">
            <a:avLst/>
          </a:prstGeom>
          <a:noFill/>
          <a:ln/>
        </p:spPr>
        <p:txBody>
          <a:bodyPr wrap="square" lIns="0" tIns="0" rIns="0" bIns="0" rtlCol="0" anchor="t"/>
          <a:lstStyle/>
          <a:p>
            <a:pPr marL="0" indent="0">
              <a:spcAft>
                <a:spcPts val="1000"/>
              </a:spcAft>
              <a:buNone/>
            </a:pPr>
            <a:r>
              <a:rPr lang="en-US" sz="1400" b="1" dirty="0">
                <a:solidFill>
                  <a:srgbClr val="F5A524"/>
                </a:solidFill>
                <a:latin typeface="Calibri" pitchFamily="34" charset="0"/>
                <a:ea typeface="Calibri" pitchFamily="34" charset="-122"/>
                <a:cs typeface="Calibri" pitchFamily="34" charset="-120"/>
              </a:rPr>
              <a:t>Problem statement</a:t>
            </a:r>
            <a:endParaRPr lang="en-US" sz="1400" dirty="0"/>
          </a:p>
          <a:p>
            <a:pPr marL="0" indent="0">
              <a:spcAft>
                <a:spcPts val="1200"/>
              </a:spcAft>
              <a:buNone/>
            </a:pPr>
            <a:r>
              <a:rPr lang="en-US" sz="1900" dirty="0">
                <a:solidFill>
                  <a:srgbClr val="FFFFFF"/>
                </a:solidFill>
                <a:latin typeface="Calibri" pitchFamily="34" charset="0"/>
                <a:ea typeface="Calibri" pitchFamily="34" charset="-122"/>
                <a:cs typeface="Calibri" pitchFamily="34" charset="-120"/>
              </a:rPr>
              <a:t>Developers now ask AI assistants to read and change real repositories. Those repositories hold secrets, customer identifiers and critical business logic.</a:t>
            </a:r>
            <a:endParaRPr lang="en-US" sz="1400" dirty="0"/>
          </a:p>
          <a:p>
            <a:pPr marL="0" indent="0">
              <a:buNone/>
            </a:pPr>
            <a:r>
              <a:rPr lang="en-US" sz="1900" b="1" dirty="0">
                <a:solidFill>
                  <a:srgbClr val="FFFFFF"/>
                </a:solidFill>
                <a:latin typeface="Calibri" pitchFamily="34" charset="0"/>
                <a:ea typeface="Calibri" pitchFamily="34" charset="-122"/>
                <a:cs typeface="Calibri" pitchFamily="34" charset="-120"/>
              </a:rPr>
              <a:t>Yet nothing checks what goes in, what gets retrieved, or what comes out.</a:t>
            </a:r>
            <a:endParaRPr lang="en-US" sz="1400" dirty="0"/>
          </a:p>
        </p:txBody>
      </p:sp>
      <p:sp>
        <p:nvSpPr>
          <p:cNvPr id="5" name="Shape 3"/>
          <p:cNvSpPr/>
          <p:nvPr/>
        </p:nvSpPr>
        <p:spPr>
          <a:xfrm>
            <a:off x="5029200" y="1600200"/>
            <a:ext cx="6583680" cy="1417320"/>
          </a:xfrm>
          <a:prstGeom prst="roundRect">
            <a:avLst>
              <a:gd name="adj" fmla="val 774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6" name="Shape 4"/>
          <p:cNvSpPr/>
          <p:nvPr/>
        </p:nvSpPr>
        <p:spPr>
          <a:xfrm>
            <a:off x="5303520" y="1938528"/>
            <a:ext cx="731520" cy="731520"/>
          </a:xfrm>
          <a:prstGeom prst="ellipse">
            <a:avLst/>
          </a:prstGeom>
          <a:solidFill>
            <a:srgbClr val="C8372D"/>
          </a:solidFill>
          <a:ln w="12700">
            <a:solidFill>
              <a:srgbClr val="C8372D"/>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5493715" y="2128723"/>
            <a:ext cx="351130" cy="351130"/>
          </a:xfrm>
          <a:prstGeom prst="rect">
            <a:avLst/>
          </a:prstGeom>
        </p:spPr>
      </p:pic>
      <p:sp>
        <p:nvSpPr>
          <p:cNvPr id="8" name="Text 5"/>
          <p:cNvSpPr txBox="1"/>
          <p:nvPr/>
        </p:nvSpPr>
        <p:spPr>
          <a:xfrm>
            <a:off x="6263640" y="1709928"/>
            <a:ext cx="5166360" cy="1188720"/>
          </a:xfrm>
          <a:prstGeom prst="rect">
            <a:avLst/>
          </a:prstGeom>
          <a:noFill/>
          <a:ln/>
        </p:spPr>
        <p:txBody>
          <a:bodyPr wrap="square" lIns="0" tIns="0" rIns="0" bIns="0" rtlCol="0" anchor="ctr"/>
          <a:lstStyle/>
          <a:p>
            <a:pPr marL="0" indent="0">
              <a:spcAft>
                <a:spcPts val="400"/>
              </a:spcAft>
              <a:buNone/>
            </a:pPr>
            <a:r>
              <a:rPr lang="en-US" sz="1800" b="1" dirty="0">
                <a:solidFill>
                  <a:srgbClr val="171A21"/>
                </a:solidFill>
                <a:latin typeface="Calibri" pitchFamily="34" charset="0"/>
                <a:ea typeface="Calibri" pitchFamily="34" charset="-122"/>
                <a:cs typeface="Calibri" pitchFamily="34" charset="-120"/>
              </a:rPr>
              <a:t>Data leakage</a:t>
            </a:r>
            <a:endParaRPr lang="en-US" sz="1800" dirty="0"/>
          </a:p>
          <a:p>
            <a:pPr marL="0" indent="0">
              <a:buNone/>
            </a:pPr>
            <a:r>
              <a:rPr lang="en-US" sz="1400" dirty="0">
                <a:solidFill>
                  <a:srgbClr val="6B7280"/>
                </a:solidFill>
                <a:latin typeface="Calibri" pitchFamily="34" charset="0"/>
                <a:ea typeface="Calibri" pitchFamily="34" charset="-122"/>
                <a:cs typeface="Calibri" pitchFamily="34" charset="-120"/>
              </a:rPr>
              <a:t>Personal identifiers (like Aadhaar-like numbers), keys and credentials can be pasted into prompts and sent to an external LLM.</a:t>
            </a:r>
            <a:endParaRPr lang="en-US" sz="1800" dirty="0"/>
          </a:p>
        </p:txBody>
      </p:sp>
      <p:sp>
        <p:nvSpPr>
          <p:cNvPr id="9" name="Shape 6"/>
          <p:cNvSpPr/>
          <p:nvPr/>
        </p:nvSpPr>
        <p:spPr>
          <a:xfrm>
            <a:off x="5029200" y="3154680"/>
            <a:ext cx="6583680" cy="1417320"/>
          </a:xfrm>
          <a:prstGeom prst="roundRect">
            <a:avLst>
              <a:gd name="adj" fmla="val 774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0" name="Shape 7"/>
          <p:cNvSpPr/>
          <p:nvPr/>
        </p:nvSpPr>
        <p:spPr>
          <a:xfrm>
            <a:off x="5303520" y="3493008"/>
            <a:ext cx="731520" cy="731520"/>
          </a:xfrm>
          <a:prstGeom prst="ellipse">
            <a:avLst/>
          </a:prstGeom>
          <a:solidFill>
            <a:srgbClr val="262B36"/>
          </a:solidFill>
          <a:ln w="12700">
            <a:solidFill>
              <a:srgbClr val="262B36"/>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5493715" y="3683203"/>
            <a:ext cx="351130" cy="351130"/>
          </a:xfrm>
          <a:prstGeom prst="rect">
            <a:avLst/>
          </a:prstGeom>
        </p:spPr>
      </p:pic>
      <p:sp>
        <p:nvSpPr>
          <p:cNvPr id="12" name="Text 8"/>
          <p:cNvSpPr txBox="1"/>
          <p:nvPr/>
        </p:nvSpPr>
        <p:spPr>
          <a:xfrm>
            <a:off x="6263640" y="3264408"/>
            <a:ext cx="5166360" cy="1188720"/>
          </a:xfrm>
          <a:prstGeom prst="rect">
            <a:avLst/>
          </a:prstGeom>
          <a:noFill/>
          <a:ln/>
        </p:spPr>
        <p:txBody>
          <a:bodyPr wrap="square" lIns="0" tIns="0" rIns="0" bIns="0" rtlCol="0" anchor="ctr"/>
          <a:lstStyle/>
          <a:p>
            <a:pPr marL="0" indent="0">
              <a:spcAft>
                <a:spcPts val="400"/>
              </a:spcAft>
              <a:buNone/>
            </a:pPr>
            <a:r>
              <a:rPr lang="en-US" sz="1800" b="1" dirty="0">
                <a:solidFill>
                  <a:srgbClr val="171A21"/>
                </a:solidFill>
                <a:latin typeface="Calibri" pitchFamily="34" charset="0"/>
                <a:ea typeface="Calibri" pitchFamily="34" charset="-122"/>
                <a:cs typeface="Calibri" pitchFamily="34" charset="-120"/>
              </a:rPr>
              <a:t>Blind trust in retrieved context</a:t>
            </a:r>
            <a:endParaRPr lang="en-US" sz="1800" dirty="0"/>
          </a:p>
          <a:p>
            <a:pPr marL="0" indent="0">
              <a:buNone/>
            </a:pPr>
            <a:r>
              <a:rPr lang="en-US" sz="1400" dirty="0">
                <a:solidFill>
                  <a:srgbClr val="6B7280"/>
                </a:solidFill>
                <a:latin typeface="Calibri" pitchFamily="34" charset="0"/>
                <a:ea typeface="Calibri" pitchFamily="34" charset="-122"/>
                <a:cs typeface="Calibri" pitchFamily="34" charset="-120"/>
              </a:rPr>
              <a:t>RAG assistants feed retrieved repository code straight to the model without checking what that context contains.</a:t>
            </a:r>
            <a:endParaRPr lang="en-US" sz="1800" dirty="0"/>
          </a:p>
        </p:txBody>
      </p:sp>
      <p:sp>
        <p:nvSpPr>
          <p:cNvPr id="13" name="Shape 9"/>
          <p:cNvSpPr/>
          <p:nvPr/>
        </p:nvSpPr>
        <p:spPr>
          <a:xfrm>
            <a:off x="5029200" y="4709160"/>
            <a:ext cx="6583680" cy="1417320"/>
          </a:xfrm>
          <a:prstGeom prst="roundRect">
            <a:avLst>
              <a:gd name="adj" fmla="val 774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4" name="Shape 10"/>
          <p:cNvSpPr/>
          <p:nvPr/>
        </p:nvSpPr>
        <p:spPr>
          <a:xfrm>
            <a:off x="5303520" y="5047488"/>
            <a:ext cx="731520" cy="731520"/>
          </a:xfrm>
          <a:prstGeom prst="ellipse">
            <a:avLst/>
          </a:prstGeom>
          <a:solidFill>
            <a:srgbClr val="0F766E"/>
          </a:solidFill>
          <a:ln w="12700">
            <a:solidFill>
              <a:srgbClr val="0F766E"/>
            </a:solidFill>
            <a:prstDash val="solid"/>
          </a:ln>
        </p:spPr>
        <p:txBody>
          <a:bodyPr/>
          <a:lstStyle/>
          <a:p>
            <a:endParaRPr lang="en-IN"/>
          </a:p>
        </p:txBody>
      </p:sp>
      <p:pic>
        <p:nvPicPr>
          <p:cNvPr id="15" name="Image 2" descr="preencoded.png"/>
          <p:cNvPicPr>
            <a:picLocks noChangeAspect="1"/>
          </p:cNvPicPr>
          <p:nvPr/>
        </p:nvPicPr>
        <p:blipFill>
          <a:blip r:embed="rId5"/>
          <a:stretch>
            <a:fillRect/>
          </a:stretch>
        </p:blipFill>
        <p:spPr>
          <a:xfrm>
            <a:off x="5493715" y="5237683"/>
            <a:ext cx="351130" cy="351130"/>
          </a:xfrm>
          <a:prstGeom prst="rect">
            <a:avLst/>
          </a:prstGeom>
        </p:spPr>
      </p:pic>
      <p:sp>
        <p:nvSpPr>
          <p:cNvPr id="16" name="Text 11"/>
          <p:cNvSpPr txBox="1"/>
          <p:nvPr/>
        </p:nvSpPr>
        <p:spPr>
          <a:xfrm>
            <a:off x="6263640" y="4818888"/>
            <a:ext cx="5166360" cy="1188720"/>
          </a:xfrm>
          <a:prstGeom prst="rect">
            <a:avLst/>
          </a:prstGeom>
          <a:noFill/>
          <a:ln/>
        </p:spPr>
        <p:txBody>
          <a:bodyPr wrap="square" lIns="0" tIns="0" rIns="0" bIns="0" rtlCol="0" anchor="ctr"/>
          <a:lstStyle/>
          <a:p>
            <a:pPr marL="0" indent="0">
              <a:spcAft>
                <a:spcPts val="400"/>
              </a:spcAft>
              <a:buNone/>
            </a:pPr>
            <a:r>
              <a:rPr lang="en-US" sz="1800" b="1" dirty="0">
                <a:solidFill>
                  <a:srgbClr val="171A21"/>
                </a:solidFill>
                <a:latin typeface="Calibri" pitchFamily="34" charset="0"/>
                <a:ea typeface="Calibri" pitchFamily="34" charset="-122"/>
                <a:cs typeface="Calibri" pitchFamily="34" charset="-120"/>
              </a:rPr>
              <a:t>Unseen breakage</a:t>
            </a:r>
            <a:endParaRPr lang="en-US" sz="1800" dirty="0"/>
          </a:p>
          <a:p>
            <a:pPr marL="0" indent="0">
              <a:buNone/>
            </a:pPr>
            <a:r>
              <a:rPr lang="en-US" sz="1400" dirty="0">
                <a:solidFill>
                  <a:srgbClr val="6B7280"/>
                </a:solidFill>
                <a:latin typeface="Calibri" pitchFamily="34" charset="0"/>
                <a:ea typeface="Calibri" pitchFamily="34" charset="-122"/>
                <a:cs typeface="Calibri" pitchFamily="34" charset="-120"/>
              </a:rPr>
              <a:t>A generated change can quietly break other modules, and unvalidated code has no audit trail behind it.</a:t>
            </a:r>
            <a:endParaRPr lang="en-US" sz="1800" dirty="0"/>
          </a:p>
        </p:txBody>
      </p:sp>
      <p:sp>
        <p:nvSpPr>
          <p:cNvPr id="17" name="Text 12"/>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What happens without KAVACH, and what changes with it</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Scenario: a developer asks the AI to "fix the KYC bug" and pastes a customer's Aadhaar-like number into the prompt.</a:t>
            </a:r>
            <a:endParaRPr lang="en-US" sz="1500" dirty="0"/>
          </a:p>
        </p:txBody>
      </p:sp>
      <p:sp>
        <p:nvSpPr>
          <p:cNvPr id="4" name="Shape 2"/>
          <p:cNvSpPr/>
          <p:nvPr/>
        </p:nvSpPr>
        <p:spPr>
          <a:xfrm>
            <a:off x="548640" y="1691640"/>
            <a:ext cx="5394960" cy="502920"/>
          </a:xfrm>
          <a:prstGeom prst="roundRect">
            <a:avLst>
              <a:gd name="adj" fmla="val 18182"/>
            </a:avLst>
          </a:prstGeom>
          <a:solidFill>
            <a:srgbClr val="C8372D"/>
          </a:solidFill>
          <a:ln w="12700">
            <a:solidFill>
              <a:srgbClr val="C8372D"/>
            </a:solidFill>
            <a:prstDash val="solid"/>
          </a:ln>
        </p:spPr>
        <p:txBody>
          <a:bodyPr/>
          <a:lstStyle/>
          <a:p>
            <a:endParaRPr lang="en-IN"/>
          </a:p>
        </p:txBody>
      </p:sp>
      <p:sp>
        <p:nvSpPr>
          <p:cNvPr id="5" name="Text 3"/>
          <p:cNvSpPr txBox="1"/>
          <p:nvPr/>
        </p:nvSpPr>
        <p:spPr>
          <a:xfrm>
            <a:off x="548640" y="1691640"/>
            <a:ext cx="53949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WITHOUT KAVACH</a:t>
            </a:r>
            <a:endParaRPr lang="en-US" sz="1600" dirty="0"/>
          </a:p>
        </p:txBody>
      </p:sp>
      <p:sp>
        <p:nvSpPr>
          <p:cNvPr id="6" name="Shape 4"/>
          <p:cNvSpPr/>
          <p:nvPr/>
        </p:nvSpPr>
        <p:spPr>
          <a:xfrm>
            <a:off x="548640" y="2331720"/>
            <a:ext cx="5394960" cy="804672"/>
          </a:xfrm>
          <a:prstGeom prst="roundRect">
            <a:avLst>
              <a:gd name="adj" fmla="val 11364"/>
            </a:avLst>
          </a:prstGeom>
          <a:solidFill>
            <a:srgbClr val="FBE4E1"/>
          </a:solidFill>
          <a:ln w="12700">
            <a:solidFill>
              <a:srgbClr val="FBE4E1"/>
            </a:solidFill>
            <a:prstDash val="solid"/>
          </a:ln>
        </p:spPr>
        <p:txBody>
          <a:bodyPr/>
          <a:lstStyle/>
          <a:p>
            <a:endParaRPr lang="en-IN"/>
          </a:p>
        </p:txBody>
      </p:sp>
      <p:sp>
        <p:nvSpPr>
          <p:cNvPr id="7" name="Text 5"/>
          <p:cNvSpPr txBox="1"/>
          <p:nvPr/>
        </p:nvSpPr>
        <p:spPr>
          <a:xfrm>
            <a:off x="685800" y="2514600"/>
            <a:ext cx="438912" cy="438912"/>
          </a:xfrm>
          <a:prstGeom prst="ellipse">
            <a:avLst/>
          </a:prstGeom>
          <a:solidFill>
            <a:srgbClr val="C8372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280160" y="23317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The prompt goes straight to an external LLM. The customer identifier has now left the organisation.</a:t>
            </a:r>
            <a:endParaRPr lang="en-US" sz="1300" dirty="0"/>
          </a:p>
        </p:txBody>
      </p:sp>
      <p:sp>
        <p:nvSpPr>
          <p:cNvPr id="9" name="Shape 7"/>
          <p:cNvSpPr/>
          <p:nvPr/>
        </p:nvSpPr>
        <p:spPr>
          <a:xfrm>
            <a:off x="548640" y="3246120"/>
            <a:ext cx="5394960" cy="804672"/>
          </a:xfrm>
          <a:prstGeom prst="roundRect">
            <a:avLst>
              <a:gd name="adj" fmla="val 11364"/>
            </a:avLst>
          </a:prstGeom>
          <a:solidFill>
            <a:srgbClr val="FBE4E1"/>
          </a:solidFill>
          <a:ln w="12700">
            <a:solidFill>
              <a:srgbClr val="FBE4E1"/>
            </a:solidFill>
            <a:prstDash val="solid"/>
          </a:ln>
        </p:spPr>
        <p:txBody>
          <a:bodyPr/>
          <a:lstStyle/>
          <a:p>
            <a:endParaRPr lang="en-IN"/>
          </a:p>
        </p:txBody>
      </p:sp>
      <p:sp>
        <p:nvSpPr>
          <p:cNvPr id="10" name="Text 8"/>
          <p:cNvSpPr txBox="1"/>
          <p:nvPr/>
        </p:nvSpPr>
        <p:spPr>
          <a:xfrm>
            <a:off x="685800" y="3429000"/>
            <a:ext cx="438912" cy="438912"/>
          </a:xfrm>
          <a:prstGeom prst="ellipse">
            <a:avLst/>
          </a:prstGeom>
          <a:solidFill>
            <a:srgbClr val="C8372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280160" y="32461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Retrieved code chunks carry a hard-coded key. It is trusted blindly and sent along too.</a:t>
            </a:r>
            <a:endParaRPr lang="en-US" sz="1300" dirty="0"/>
          </a:p>
        </p:txBody>
      </p:sp>
      <p:sp>
        <p:nvSpPr>
          <p:cNvPr id="12" name="Shape 10"/>
          <p:cNvSpPr/>
          <p:nvPr/>
        </p:nvSpPr>
        <p:spPr>
          <a:xfrm>
            <a:off x="548640" y="4160520"/>
            <a:ext cx="5394960" cy="804672"/>
          </a:xfrm>
          <a:prstGeom prst="roundRect">
            <a:avLst>
              <a:gd name="adj" fmla="val 11364"/>
            </a:avLst>
          </a:prstGeom>
          <a:solidFill>
            <a:srgbClr val="FBE4E1"/>
          </a:solidFill>
          <a:ln w="12700">
            <a:solidFill>
              <a:srgbClr val="FBE4E1"/>
            </a:solidFill>
            <a:prstDash val="solid"/>
          </a:ln>
        </p:spPr>
        <p:txBody>
          <a:bodyPr/>
          <a:lstStyle/>
          <a:p>
            <a:endParaRPr lang="en-IN"/>
          </a:p>
        </p:txBody>
      </p:sp>
      <p:sp>
        <p:nvSpPr>
          <p:cNvPr id="13" name="Text 11"/>
          <p:cNvSpPr txBox="1"/>
          <p:nvPr/>
        </p:nvSpPr>
        <p:spPr>
          <a:xfrm>
            <a:off x="685800" y="4343400"/>
            <a:ext cx="438912" cy="438912"/>
          </a:xfrm>
          <a:prstGeom prst="ellipse">
            <a:avLst/>
          </a:prstGeom>
          <a:solidFill>
            <a:srgbClr val="C8372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280160" y="41605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The patch edits a shared function. Nobody sees which other modules it breaks.</a:t>
            </a:r>
            <a:endParaRPr lang="en-US" sz="1300" dirty="0"/>
          </a:p>
        </p:txBody>
      </p:sp>
      <p:sp>
        <p:nvSpPr>
          <p:cNvPr id="15" name="Shape 13"/>
          <p:cNvSpPr/>
          <p:nvPr/>
        </p:nvSpPr>
        <p:spPr>
          <a:xfrm>
            <a:off x="548640" y="5074920"/>
            <a:ext cx="5394960" cy="804672"/>
          </a:xfrm>
          <a:prstGeom prst="roundRect">
            <a:avLst>
              <a:gd name="adj" fmla="val 11364"/>
            </a:avLst>
          </a:prstGeom>
          <a:solidFill>
            <a:srgbClr val="FBE4E1"/>
          </a:solidFill>
          <a:ln w="12700">
            <a:solidFill>
              <a:srgbClr val="FBE4E1"/>
            </a:solidFill>
            <a:prstDash val="solid"/>
          </a:ln>
        </p:spPr>
        <p:txBody>
          <a:bodyPr/>
          <a:lstStyle/>
          <a:p>
            <a:endParaRPr lang="en-IN"/>
          </a:p>
        </p:txBody>
      </p:sp>
      <p:sp>
        <p:nvSpPr>
          <p:cNvPr id="16" name="Text 14"/>
          <p:cNvSpPr txBox="1"/>
          <p:nvPr/>
        </p:nvSpPr>
        <p:spPr>
          <a:xfrm>
            <a:off x="685800" y="5257800"/>
            <a:ext cx="438912" cy="438912"/>
          </a:xfrm>
          <a:prstGeom prst="ellipse">
            <a:avLst/>
          </a:prstGeom>
          <a:solidFill>
            <a:srgbClr val="C8372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280160" y="50749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Code is merged unchecked. No validation, and no audit trail of what happened.</a:t>
            </a:r>
            <a:endParaRPr lang="en-US" sz="1300" dirty="0"/>
          </a:p>
        </p:txBody>
      </p:sp>
      <p:sp>
        <p:nvSpPr>
          <p:cNvPr id="18" name="Shape 16"/>
          <p:cNvSpPr/>
          <p:nvPr/>
        </p:nvSpPr>
        <p:spPr>
          <a:xfrm>
            <a:off x="6245352" y="1691640"/>
            <a:ext cx="5394960" cy="502920"/>
          </a:xfrm>
          <a:prstGeom prst="roundRect">
            <a:avLst>
              <a:gd name="adj" fmla="val 18182"/>
            </a:avLst>
          </a:prstGeom>
          <a:solidFill>
            <a:srgbClr val="0F766E"/>
          </a:solidFill>
          <a:ln w="12700">
            <a:solidFill>
              <a:srgbClr val="0F766E"/>
            </a:solidFill>
            <a:prstDash val="solid"/>
          </a:ln>
        </p:spPr>
        <p:txBody>
          <a:bodyPr/>
          <a:lstStyle/>
          <a:p>
            <a:endParaRPr lang="en-IN"/>
          </a:p>
        </p:txBody>
      </p:sp>
      <p:sp>
        <p:nvSpPr>
          <p:cNvPr id="19" name="Text 17"/>
          <p:cNvSpPr txBox="1"/>
          <p:nvPr/>
        </p:nvSpPr>
        <p:spPr>
          <a:xfrm>
            <a:off x="6245352" y="1691640"/>
            <a:ext cx="53949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WITH KAVACH</a:t>
            </a:r>
            <a:endParaRPr lang="en-US" sz="1600" dirty="0"/>
          </a:p>
        </p:txBody>
      </p:sp>
      <p:sp>
        <p:nvSpPr>
          <p:cNvPr id="20" name="Shape 18"/>
          <p:cNvSpPr/>
          <p:nvPr/>
        </p:nvSpPr>
        <p:spPr>
          <a:xfrm>
            <a:off x="6245352" y="2331720"/>
            <a:ext cx="5394960" cy="804672"/>
          </a:xfrm>
          <a:prstGeom prst="roundRect">
            <a:avLst>
              <a:gd name="adj" fmla="val 11364"/>
            </a:avLst>
          </a:prstGeom>
          <a:solidFill>
            <a:srgbClr val="D9F2EE"/>
          </a:solidFill>
          <a:ln w="12700">
            <a:solidFill>
              <a:srgbClr val="D9F2EE"/>
            </a:solidFill>
            <a:prstDash val="solid"/>
          </a:ln>
        </p:spPr>
        <p:txBody>
          <a:bodyPr/>
          <a:lstStyle/>
          <a:p>
            <a:endParaRPr lang="en-IN"/>
          </a:p>
        </p:txBody>
      </p:sp>
      <p:sp>
        <p:nvSpPr>
          <p:cNvPr id="21" name="Text 19"/>
          <p:cNvSpPr txBox="1"/>
          <p:nvPr/>
        </p:nvSpPr>
        <p:spPr>
          <a:xfrm>
            <a:off x="6382512" y="2514600"/>
            <a:ext cx="438912" cy="438912"/>
          </a:xfrm>
          <a:prstGeom prst="ellipse">
            <a:avLst/>
          </a:prstGeom>
          <a:solidFill>
            <a:srgbClr val="0F766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20"/>
          <p:cNvSpPr txBox="1"/>
          <p:nvPr/>
        </p:nvSpPr>
        <p:spPr>
          <a:xfrm>
            <a:off x="6976872" y="23317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The request is scanned first. Aadhaar-like number detected, so the workflow stops (BLOCK or REVIEW) before anything leaves.</a:t>
            </a:r>
            <a:endParaRPr lang="en-US" sz="1300" dirty="0"/>
          </a:p>
        </p:txBody>
      </p:sp>
      <p:sp>
        <p:nvSpPr>
          <p:cNvPr id="23" name="Shape 21"/>
          <p:cNvSpPr/>
          <p:nvPr/>
        </p:nvSpPr>
        <p:spPr>
          <a:xfrm>
            <a:off x="6245352" y="3246120"/>
            <a:ext cx="5394960" cy="804672"/>
          </a:xfrm>
          <a:prstGeom prst="roundRect">
            <a:avLst>
              <a:gd name="adj" fmla="val 11364"/>
            </a:avLst>
          </a:prstGeom>
          <a:solidFill>
            <a:srgbClr val="D9F2EE"/>
          </a:solidFill>
          <a:ln w="12700">
            <a:solidFill>
              <a:srgbClr val="D9F2EE"/>
            </a:solidFill>
            <a:prstDash val="solid"/>
          </a:ln>
        </p:spPr>
        <p:txBody>
          <a:bodyPr/>
          <a:lstStyle/>
          <a:p>
            <a:endParaRPr lang="en-IN"/>
          </a:p>
        </p:txBody>
      </p:sp>
      <p:sp>
        <p:nvSpPr>
          <p:cNvPr id="24" name="Text 22"/>
          <p:cNvSpPr txBox="1"/>
          <p:nvPr/>
        </p:nvSpPr>
        <p:spPr>
          <a:xfrm>
            <a:off x="6382512" y="3429000"/>
            <a:ext cx="438912" cy="438912"/>
          </a:xfrm>
          <a:prstGeom prst="ellipse">
            <a:avLst/>
          </a:prstGeom>
          <a:solidFill>
            <a:srgbClr val="0F766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3"/>
          <p:cNvSpPr txBox="1"/>
          <p:nvPr/>
        </p:nvSpPr>
        <p:spPr>
          <a:xfrm>
            <a:off x="6976872" y="32461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Retrieved evidence is scanned too, so risky chunks are caught before generation.</a:t>
            </a:r>
            <a:endParaRPr lang="en-US" sz="1300" dirty="0"/>
          </a:p>
        </p:txBody>
      </p:sp>
      <p:sp>
        <p:nvSpPr>
          <p:cNvPr id="26" name="Shape 24"/>
          <p:cNvSpPr/>
          <p:nvPr/>
        </p:nvSpPr>
        <p:spPr>
          <a:xfrm>
            <a:off x="6245352" y="4160520"/>
            <a:ext cx="5394960" cy="804672"/>
          </a:xfrm>
          <a:prstGeom prst="roundRect">
            <a:avLst>
              <a:gd name="adj" fmla="val 11364"/>
            </a:avLst>
          </a:prstGeom>
          <a:solidFill>
            <a:srgbClr val="D9F2EE"/>
          </a:solidFill>
          <a:ln w="12700">
            <a:solidFill>
              <a:srgbClr val="D9F2EE"/>
            </a:solidFill>
            <a:prstDash val="solid"/>
          </a:ln>
        </p:spPr>
        <p:txBody>
          <a:bodyPr/>
          <a:lstStyle/>
          <a:p>
            <a:endParaRPr lang="en-IN"/>
          </a:p>
        </p:txBody>
      </p:sp>
      <p:sp>
        <p:nvSpPr>
          <p:cNvPr id="27" name="Text 25"/>
          <p:cNvSpPr txBox="1"/>
          <p:nvPr/>
        </p:nvSpPr>
        <p:spPr>
          <a:xfrm>
            <a:off x="6382512" y="4343400"/>
            <a:ext cx="438912" cy="438912"/>
          </a:xfrm>
          <a:prstGeom prst="ellipse">
            <a:avLst/>
          </a:prstGeom>
          <a:solidFill>
            <a:srgbClr val="0F766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6"/>
          <p:cNvSpPr txBox="1"/>
          <p:nvPr/>
        </p:nvSpPr>
        <p:spPr>
          <a:xfrm>
            <a:off x="6976872" y="41605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Impact analysis ranks the affected files before any code is written.</a:t>
            </a:r>
            <a:endParaRPr lang="en-US" sz="1300" dirty="0"/>
          </a:p>
        </p:txBody>
      </p:sp>
      <p:sp>
        <p:nvSpPr>
          <p:cNvPr id="29" name="Shape 27"/>
          <p:cNvSpPr/>
          <p:nvPr/>
        </p:nvSpPr>
        <p:spPr>
          <a:xfrm>
            <a:off x="6245352" y="5074920"/>
            <a:ext cx="5394960" cy="804672"/>
          </a:xfrm>
          <a:prstGeom prst="roundRect">
            <a:avLst>
              <a:gd name="adj" fmla="val 11364"/>
            </a:avLst>
          </a:prstGeom>
          <a:solidFill>
            <a:srgbClr val="D9F2EE"/>
          </a:solidFill>
          <a:ln w="12700">
            <a:solidFill>
              <a:srgbClr val="D9F2EE"/>
            </a:solidFill>
            <a:prstDash val="solid"/>
          </a:ln>
        </p:spPr>
        <p:txBody>
          <a:bodyPr/>
          <a:lstStyle/>
          <a:p>
            <a:endParaRPr lang="en-IN"/>
          </a:p>
        </p:txBody>
      </p:sp>
      <p:sp>
        <p:nvSpPr>
          <p:cNvPr id="30" name="Text 28"/>
          <p:cNvSpPr txBox="1"/>
          <p:nvPr/>
        </p:nvSpPr>
        <p:spPr>
          <a:xfrm>
            <a:off x="6382512" y="5257800"/>
            <a:ext cx="438912" cy="438912"/>
          </a:xfrm>
          <a:prstGeom prst="ellipse">
            <a:avLst/>
          </a:prstGeom>
          <a:solidFill>
            <a:srgbClr val="0F766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1" name="Text 29"/>
          <p:cNvSpPr txBox="1"/>
          <p:nvPr/>
        </p:nvSpPr>
        <p:spPr>
          <a:xfrm>
            <a:off x="6976872" y="50749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Output is validated, a CI gate re-checks it, and a full workflow trace is kept.</a:t>
            </a:r>
            <a:endParaRPr lang="en-US" sz="1300" dirty="0"/>
          </a:p>
        </p:txBody>
      </p:sp>
      <p:sp>
        <p:nvSpPr>
          <p:cNvPr id="32" name="Text 30"/>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3"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Why this matters, and who it helps</a:t>
            </a:r>
            <a:endParaRPr lang="en-US" sz="3200" dirty="0"/>
          </a:p>
        </p:txBody>
      </p:sp>
      <p:sp>
        <p:nvSpPr>
          <p:cNvPr id="3" name="Shape 1"/>
          <p:cNvSpPr/>
          <p:nvPr/>
        </p:nvSpPr>
        <p:spPr>
          <a:xfrm>
            <a:off x="548640" y="1600200"/>
            <a:ext cx="3566160" cy="3520440"/>
          </a:xfrm>
          <a:prstGeom prst="roundRect">
            <a:avLst>
              <a:gd name="adj" fmla="val 31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4" name="Shape 2"/>
          <p:cNvSpPr/>
          <p:nvPr/>
        </p:nvSpPr>
        <p:spPr>
          <a:xfrm>
            <a:off x="868680" y="1920240"/>
            <a:ext cx="868680" cy="868680"/>
          </a:xfrm>
          <a:prstGeom prst="ellipse">
            <a:avLst/>
          </a:prstGeom>
          <a:solidFill>
            <a:srgbClr val="171A21"/>
          </a:solidFill>
          <a:ln w="12700">
            <a:solidFill>
              <a:srgbClr val="171A21"/>
            </a:solidFill>
            <a:prstDash val="solid"/>
          </a:ln>
        </p:spPr>
        <p:txBody>
          <a:bodyPr/>
          <a:lstStyle/>
          <a:p>
            <a:endParaRPr/>
          </a:p>
        </p:txBody>
      </p:sp>
      <p:pic>
        <p:nvPicPr>
          <p:cNvPr id="5" name="Image 0" descr="preencoded.png"/>
          <p:cNvPicPr>
            <a:picLocks noChangeAspect="1"/>
          </p:cNvPicPr>
          <p:nvPr/>
        </p:nvPicPr>
        <p:blipFill>
          <a:blip r:embed="rId3"/>
          <a:stretch>
            <a:fillRect/>
          </a:stretch>
        </p:blipFill>
        <p:spPr>
          <a:xfrm>
            <a:off x="1094537" y="2146097"/>
            <a:ext cx="416966" cy="416966"/>
          </a:xfrm>
          <a:prstGeom prst="rect">
            <a:avLst/>
          </a:prstGeom>
        </p:spPr>
      </p:pic>
      <p:sp>
        <p:nvSpPr>
          <p:cNvPr id="6" name="Text 3"/>
          <p:cNvSpPr txBox="1"/>
          <p:nvPr/>
        </p:nvSpPr>
        <p:spPr>
          <a:xfrm>
            <a:off x="868680" y="3017520"/>
            <a:ext cx="3017520" cy="822960"/>
          </a:xfrm>
          <a:prstGeom prst="rect">
            <a:avLst/>
          </a:prstGeom>
          <a:noFill/>
          <a:ln/>
        </p:spPr>
        <p:txBody>
          <a:bodyPr wrap="square" lIns="0" tIns="0" rIns="0" bIns="0" rtlCol="0" anchor="t"/>
          <a:lstStyle/>
          <a:p>
            <a:pPr marL="0" indent="0">
              <a:buNone/>
            </a:pPr>
            <a:r>
              <a:rPr lang="en-US" sz="2000" b="1" dirty="0">
                <a:solidFill>
                  <a:srgbClr val="171A21"/>
                </a:solidFill>
                <a:latin typeface="Cambria" pitchFamily="34" charset="0"/>
                <a:ea typeface="Cambria" pitchFamily="34" charset="-122"/>
                <a:cs typeface="Cambria" pitchFamily="34" charset="-120"/>
              </a:rPr>
              <a:t>Banks &amp; regulated organisations</a:t>
            </a:r>
            <a:endParaRPr lang="en-US" sz="2000" dirty="0"/>
          </a:p>
        </p:txBody>
      </p:sp>
      <p:sp>
        <p:nvSpPr>
          <p:cNvPr id="7" name="Text 4"/>
          <p:cNvSpPr txBox="1"/>
          <p:nvPr/>
        </p:nvSpPr>
        <p:spPr>
          <a:xfrm>
            <a:off x="868680" y="3886200"/>
            <a:ext cx="3017520" cy="109728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Customer identifiers and credentials stay protected, and every AI-assisted change leaves an auditable trail.</a:t>
            </a:r>
            <a:endParaRPr lang="en-US" sz="1400" dirty="0"/>
          </a:p>
        </p:txBody>
      </p:sp>
      <p:sp>
        <p:nvSpPr>
          <p:cNvPr id="8" name="Shape 5"/>
          <p:cNvSpPr/>
          <p:nvPr/>
        </p:nvSpPr>
        <p:spPr>
          <a:xfrm>
            <a:off x="4343400" y="1600200"/>
            <a:ext cx="3566160" cy="3520440"/>
          </a:xfrm>
          <a:prstGeom prst="roundRect">
            <a:avLst>
              <a:gd name="adj" fmla="val 31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9" name="Shape 6"/>
          <p:cNvSpPr/>
          <p:nvPr/>
        </p:nvSpPr>
        <p:spPr>
          <a:xfrm>
            <a:off x="4663440" y="1920240"/>
            <a:ext cx="868680" cy="868680"/>
          </a:xfrm>
          <a:prstGeom prst="ellipse">
            <a:avLst/>
          </a:prstGeom>
          <a:solidFill>
            <a:srgbClr val="0F766E"/>
          </a:solidFill>
          <a:ln w="12700">
            <a:solidFill>
              <a:srgbClr val="0F766E"/>
            </a:solidFill>
            <a:prstDash val="solid"/>
          </a:ln>
        </p:spPr>
        <p:txBody>
          <a:bodyPr/>
          <a:lstStyle/>
          <a:p>
            <a:endParaRPr/>
          </a:p>
        </p:txBody>
      </p:sp>
      <p:pic>
        <p:nvPicPr>
          <p:cNvPr id="10" name="Image 1" descr="preencoded.png"/>
          <p:cNvPicPr>
            <a:picLocks noChangeAspect="1"/>
          </p:cNvPicPr>
          <p:nvPr/>
        </p:nvPicPr>
        <p:blipFill>
          <a:blip r:embed="rId4"/>
          <a:stretch>
            <a:fillRect/>
          </a:stretch>
        </p:blipFill>
        <p:spPr>
          <a:xfrm>
            <a:off x="4889297" y="2146097"/>
            <a:ext cx="416966" cy="416966"/>
          </a:xfrm>
          <a:prstGeom prst="rect">
            <a:avLst/>
          </a:prstGeom>
        </p:spPr>
      </p:pic>
      <p:sp>
        <p:nvSpPr>
          <p:cNvPr id="11" name="Text 7"/>
          <p:cNvSpPr txBox="1"/>
          <p:nvPr/>
        </p:nvSpPr>
        <p:spPr>
          <a:xfrm>
            <a:off x="4663440" y="3017520"/>
            <a:ext cx="3017520" cy="822960"/>
          </a:xfrm>
          <a:prstGeom prst="rect">
            <a:avLst/>
          </a:prstGeom>
          <a:noFill/>
          <a:ln/>
        </p:spPr>
        <p:txBody>
          <a:bodyPr wrap="square" lIns="0" tIns="0" rIns="0" bIns="0" rtlCol="0" anchor="t"/>
          <a:lstStyle/>
          <a:p>
            <a:pPr marL="0" indent="0">
              <a:buNone/>
            </a:pPr>
            <a:r>
              <a:rPr lang="en-US" sz="2000" b="1" dirty="0">
                <a:solidFill>
                  <a:srgbClr val="171A21"/>
                </a:solidFill>
                <a:latin typeface="Cambria" pitchFamily="34" charset="0"/>
                <a:ea typeface="Cambria" pitchFamily="34" charset="-122"/>
                <a:cs typeface="Cambria" pitchFamily="34" charset="-120"/>
              </a:rPr>
              <a:t>Developers &amp; students</a:t>
            </a:r>
            <a:endParaRPr lang="en-US" sz="2000" dirty="0"/>
          </a:p>
        </p:txBody>
      </p:sp>
      <p:sp>
        <p:nvSpPr>
          <p:cNvPr id="12" name="Text 8"/>
          <p:cNvSpPr txBox="1"/>
          <p:nvPr/>
        </p:nvSpPr>
        <p:spPr>
          <a:xfrm>
            <a:off x="4663440" y="3886200"/>
            <a:ext cx="3017520" cy="109728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Get AI help on real repositories without worrying that a careless prompt leaks something sensitive.</a:t>
            </a:r>
            <a:endParaRPr lang="en-US" sz="1400" dirty="0"/>
          </a:p>
        </p:txBody>
      </p:sp>
      <p:sp>
        <p:nvSpPr>
          <p:cNvPr id="13" name="Shape 9"/>
          <p:cNvSpPr/>
          <p:nvPr/>
        </p:nvSpPr>
        <p:spPr>
          <a:xfrm>
            <a:off x="8138160" y="1600200"/>
            <a:ext cx="3566160" cy="3520440"/>
          </a:xfrm>
          <a:prstGeom prst="roundRect">
            <a:avLst>
              <a:gd name="adj" fmla="val 31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4" name="Shape 10"/>
          <p:cNvSpPr/>
          <p:nvPr/>
        </p:nvSpPr>
        <p:spPr>
          <a:xfrm>
            <a:off x="8458200" y="1920240"/>
            <a:ext cx="868680" cy="868680"/>
          </a:xfrm>
          <a:prstGeom prst="ellipse">
            <a:avLst/>
          </a:prstGeom>
          <a:solidFill>
            <a:srgbClr val="262B36"/>
          </a:solidFill>
          <a:ln w="12700">
            <a:solidFill>
              <a:srgbClr val="262B36"/>
            </a:solidFill>
            <a:prstDash val="solid"/>
          </a:ln>
        </p:spPr>
        <p:txBody>
          <a:bodyPr/>
          <a:lstStyle/>
          <a:p>
            <a:endParaRPr/>
          </a:p>
        </p:txBody>
      </p:sp>
      <p:pic>
        <p:nvPicPr>
          <p:cNvPr id="15" name="Image 2" descr="preencoded.png"/>
          <p:cNvPicPr>
            <a:picLocks noChangeAspect="1"/>
          </p:cNvPicPr>
          <p:nvPr/>
        </p:nvPicPr>
        <p:blipFill>
          <a:blip r:embed="rId5"/>
          <a:stretch>
            <a:fillRect/>
          </a:stretch>
        </p:blipFill>
        <p:spPr>
          <a:xfrm>
            <a:off x="8684057" y="2146097"/>
            <a:ext cx="416966" cy="416966"/>
          </a:xfrm>
          <a:prstGeom prst="rect">
            <a:avLst/>
          </a:prstGeom>
        </p:spPr>
      </p:pic>
      <p:sp>
        <p:nvSpPr>
          <p:cNvPr id="16" name="Text 11"/>
          <p:cNvSpPr txBox="1"/>
          <p:nvPr/>
        </p:nvSpPr>
        <p:spPr>
          <a:xfrm>
            <a:off x="8458200" y="3017520"/>
            <a:ext cx="3017520" cy="822960"/>
          </a:xfrm>
          <a:prstGeom prst="rect">
            <a:avLst/>
          </a:prstGeom>
          <a:noFill/>
          <a:ln/>
        </p:spPr>
        <p:txBody>
          <a:bodyPr wrap="square" lIns="0" tIns="0" rIns="0" bIns="0" rtlCol="0" anchor="t"/>
          <a:lstStyle/>
          <a:p>
            <a:pPr marL="0" indent="0">
              <a:buNone/>
            </a:pPr>
            <a:r>
              <a:rPr lang="en-US" sz="2000" b="1" dirty="0">
                <a:solidFill>
                  <a:srgbClr val="171A21"/>
                </a:solidFill>
                <a:latin typeface="Cambria" pitchFamily="34" charset="0"/>
                <a:ea typeface="Cambria" pitchFamily="34" charset="-122"/>
                <a:cs typeface="Cambria" pitchFamily="34" charset="-120"/>
              </a:rPr>
              <a:t>Engineering &amp; DevOps teams</a:t>
            </a:r>
            <a:endParaRPr lang="en-US" sz="2000" dirty="0"/>
          </a:p>
        </p:txBody>
      </p:sp>
      <p:sp>
        <p:nvSpPr>
          <p:cNvPr id="17" name="Text 12"/>
          <p:cNvSpPr txBox="1"/>
          <p:nvPr/>
        </p:nvSpPr>
        <p:spPr>
          <a:xfrm>
            <a:off x="8458200" y="3886200"/>
            <a:ext cx="3017520" cy="109728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Know the blast radius of a change before it ships, and let a CI gate stop unsafe changes automatically.</a:t>
            </a:r>
            <a:endParaRPr lang="en-US" sz="1400" dirty="0"/>
          </a:p>
        </p:txBody>
      </p:sp>
      <p:sp>
        <p:nvSpPr>
          <p:cNvPr id="18" name="Shape 13"/>
          <p:cNvSpPr/>
          <p:nvPr/>
        </p:nvSpPr>
        <p:spPr>
          <a:xfrm>
            <a:off x="548640" y="5394960"/>
            <a:ext cx="11064240" cy="822960"/>
          </a:xfrm>
          <a:prstGeom prst="roundRect">
            <a:avLst>
              <a:gd name="adj" fmla="val 13333"/>
            </a:avLst>
          </a:prstGeom>
          <a:solidFill>
            <a:srgbClr val="171A21"/>
          </a:solidFill>
          <a:ln w="12700">
            <a:solidFill>
              <a:srgbClr val="171A21"/>
            </a:solidFill>
            <a:prstDash val="solid"/>
          </a:ln>
        </p:spPr>
        <p:txBody>
          <a:bodyPr/>
          <a:lstStyle/>
          <a:p>
            <a:endParaRPr/>
          </a:p>
        </p:txBody>
      </p:sp>
      <p:sp>
        <p:nvSpPr>
          <p:cNvPr id="19" name="Text 14"/>
          <p:cNvSpPr txBox="1"/>
          <p:nvPr/>
        </p:nvSpPr>
        <p:spPr>
          <a:xfrm>
            <a:off x="822960" y="5394960"/>
            <a:ext cx="10515600" cy="8229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 niche, real problem: governed AI for software engineering, built with Indian identifiers and languages in mind.</a:t>
            </a:r>
            <a:endParaRPr lang="en-US" sz="1700" dirty="0"/>
          </a:p>
        </p:txBody>
      </p:sp>
      <p:sp>
        <p:nvSpPr>
          <p:cNvPr id="20" name="Text 15"/>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Heavy research went in before a single line of code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What our research pointed to, and why the problem is niche</a:t>
            </a:r>
            <a:endParaRPr lang="en-US" sz="1600" dirty="0"/>
          </a:p>
        </p:txBody>
      </p:sp>
      <p:sp>
        <p:nvSpPr>
          <p:cNvPr id="4" name="Shape 2"/>
          <p:cNvSpPr/>
          <p:nvPr/>
        </p:nvSpPr>
        <p:spPr>
          <a:xfrm>
            <a:off x="548640" y="1691640"/>
            <a:ext cx="356616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5" name="Text 3"/>
          <p:cNvSpPr txBox="1"/>
          <p:nvPr/>
        </p:nvSpPr>
        <p:spPr>
          <a:xfrm>
            <a:off x="822960" y="1874520"/>
            <a:ext cx="3017520" cy="320040"/>
          </a:xfrm>
          <a:prstGeom prst="rect">
            <a:avLst/>
          </a:prstGeom>
          <a:noFill/>
          <a:ln/>
        </p:spPr>
        <p:txBody>
          <a:bodyPr wrap="square" lIns="0" tIns="0" rIns="0" bIns="0" rtlCol="0" anchor="ctr"/>
          <a:lstStyle/>
          <a:p>
            <a:pPr marL="0" indent="0">
              <a:buNone/>
            </a:pPr>
            <a:r>
              <a:rPr lang="en-US" sz="1200" b="1" dirty="0">
                <a:solidFill>
                  <a:srgbClr val="F5A524"/>
                </a:solidFill>
                <a:latin typeface="Calibri" pitchFamily="34" charset="0"/>
                <a:ea typeface="Calibri" pitchFamily="34" charset="-122"/>
                <a:cs typeface="Calibri" pitchFamily="34" charset="-120"/>
              </a:rPr>
              <a:t>GAP 1</a:t>
            </a:r>
            <a:endParaRPr lang="en-US" sz="1200" dirty="0"/>
          </a:p>
        </p:txBody>
      </p:sp>
      <p:sp>
        <p:nvSpPr>
          <p:cNvPr id="6" name="Text 4"/>
          <p:cNvSpPr txBox="1"/>
          <p:nvPr/>
        </p:nvSpPr>
        <p:spPr>
          <a:xfrm>
            <a:off x="822960" y="2194560"/>
            <a:ext cx="3017520" cy="777240"/>
          </a:xfrm>
          <a:prstGeom prst="rect">
            <a:avLst/>
          </a:prstGeom>
          <a:noFill/>
          <a:ln/>
        </p:spPr>
        <p:txBody>
          <a:bodyPr wrap="square" lIns="0" tIns="0" rIns="0" bIns="0" rtlCol="0" anchor="t"/>
          <a:lstStyle/>
          <a:p>
            <a:pPr marL="0" indent="0">
              <a:buNone/>
            </a:pPr>
            <a:r>
              <a:rPr lang="en-US" sz="1900" b="1" dirty="0">
                <a:solidFill>
                  <a:srgbClr val="171A21"/>
                </a:solidFill>
                <a:latin typeface="Cambria" pitchFamily="34" charset="0"/>
                <a:ea typeface="Cambria" pitchFamily="34" charset="-122"/>
                <a:cs typeface="Cambria" pitchFamily="34" charset="-120"/>
              </a:rPr>
              <a:t>Blind trust in retrieved context</a:t>
            </a:r>
            <a:endParaRPr lang="en-US" sz="1900" dirty="0"/>
          </a:p>
        </p:txBody>
      </p:sp>
      <p:sp>
        <p:nvSpPr>
          <p:cNvPr id="7" name="Text 5"/>
          <p:cNvSpPr txBox="1"/>
          <p:nvPr/>
        </p:nvSpPr>
        <p:spPr>
          <a:xfrm>
            <a:off x="822960" y="3017520"/>
            <a:ext cx="3017520" cy="146304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RAG assistants pass retrieved code straight to the LLM. Secrets or personal data sitting in the repository can leak into prompts and outputs.</a:t>
            </a:r>
            <a:endParaRPr lang="en-US" sz="1400" dirty="0"/>
          </a:p>
        </p:txBody>
      </p:sp>
      <p:sp>
        <p:nvSpPr>
          <p:cNvPr id="8" name="Shape 6"/>
          <p:cNvSpPr/>
          <p:nvPr/>
        </p:nvSpPr>
        <p:spPr>
          <a:xfrm>
            <a:off x="4343400" y="1691640"/>
            <a:ext cx="356616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9" name="Text 7"/>
          <p:cNvSpPr txBox="1"/>
          <p:nvPr/>
        </p:nvSpPr>
        <p:spPr>
          <a:xfrm>
            <a:off x="4617720" y="1874520"/>
            <a:ext cx="3017520" cy="320040"/>
          </a:xfrm>
          <a:prstGeom prst="rect">
            <a:avLst/>
          </a:prstGeom>
          <a:noFill/>
          <a:ln/>
        </p:spPr>
        <p:txBody>
          <a:bodyPr wrap="square" lIns="0" tIns="0" rIns="0" bIns="0" rtlCol="0" anchor="ctr"/>
          <a:lstStyle/>
          <a:p>
            <a:pPr marL="0" indent="0">
              <a:buNone/>
            </a:pPr>
            <a:r>
              <a:rPr lang="en-US" sz="1200" b="1" dirty="0">
                <a:solidFill>
                  <a:srgbClr val="F5A524"/>
                </a:solidFill>
                <a:latin typeface="Calibri" pitchFamily="34" charset="0"/>
                <a:ea typeface="Calibri" pitchFamily="34" charset="-122"/>
                <a:cs typeface="Calibri" pitchFamily="34" charset="-120"/>
              </a:rPr>
              <a:t>GAP 2</a:t>
            </a:r>
            <a:endParaRPr lang="en-US" sz="1200" dirty="0"/>
          </a:p>
        </p:txBody>
      </p:sp>
      <p:sp>
        <p:nvSpPr>
          <p:cNvPr id="10" name="Text 8"/>
          <p:cNvSpPr txBox="1"/>
          <p:nvPr/>
        </p:nvSpPr>
        <p:spPr>
          <a:xfrm>
            <a:off x="4617720" y="2194560"/>
            <a:ext cx="3017520" cy="777240"/>
          </a:xfrm>
          <a:prstGeom prst="rect">
            <a:avLst/>
          </a:prstGeom>
          <a:noFill/>
          <a:ln/>
        </p:spPr>
        <p:txBody>
          <a:bodyPr wrap="square" lIns="0" tIns="0" rIns="0" bIns="0" rtlCol="0" anchor="t"/>
          <a:lstStyle/>
          <a:p>
            <a:pPr marL="0" indent="0">
              <a:buNone/>
            </a:pPr>
            <a:r>
              <a:rPr lang="en-US" sz="1900" b="1" dirty="0">
                <a:solidFill>
                  <a:srgbClr val="171A21"/>
                </a:solidFill>
                <a:latin typeface="Cambria" pitchFamily="34" charset="0"/>
                <a:ea typeface="Cambria" pitchFamily="34" charset="-122"/>
                <a:cs typeface="Cambria" pitchFamily="34" charset="-120"/>
              </a:rPr>
              <a:t>Detection built for other regions</a:t>
            </a:r>
            <a:endParaRPr lang="en-US" sz="1900" dirty="0"/>
          </a:p>
        </p:txBody>
      </p:sp>
      <p:sp>
        <p:nvSpPr>
          <p:cNvPr id="11" name="Text 9"/>
          <p:cNvSpPr txBox="1"/>
          <p:nvPr/>
        </p:nvSpPr>
        <p:spPr>
          <a:xfrm>
            <a:off x="4617720" y="3017520"/>
            <a:ext cx="3017520" cy="1463040"/>
          </a:xfrm>
          <a:prstGeom prst="rect">
            <a:avLst/>
          </a:prstGeom>
          <a:noFill/>
          <a:ln/>
        </p:spPr>
        <p:txBody>
          <a:bodyPr wrap="square" lIns="0" tIns="0" rIns="0" bIns="0" rtlCol="0" anchor="t"/>
          <a:lstStyle/>
          <a:p>
            <a:r>
              <a:t>Many sensitive-data checks target Western formats and English text. Indian identifiers and English security context and Indian identifiers need dedicated handling.</a:t>
            </a:r>
          </a:p>
        </p:txBody>
      </p:sp>
      <p:sp>
        <p:nvSpPr>
          <p:cNvPr id="12" name="Shape 10"/>
          <p:cNvSpPr/>
          <p:nvPr/>
        </p:nvSpPr>
        <p:spPr>
          <a:xfrm>
            <a:off x="8138160" y="1691640"/>
            <a:ext cx="356616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3" name="Text 11"/>
          <p:cNvSpPr txBox="1"/>
          <p:nvPr/>
        </p:nvSpPr>
        <p:spPr>
          <a:xfrm>
            <a:off x="8412480" y="1874520"/>
            <a:ext cx="3017520" cy="320040"/>
          </a:xfrm>
          <a:prstGeom prst="rect">
            <a:avLst/>
          </a:prstGeom>
          <a:noFill/>
          <a:ln/>
        </p:spPr>
        <p:txBody>
          <a:bodyPr wrap="square" lIns="0" tIns="0" rIns="0" bIns="0" rtlCol="0" anchor="ctr"/>
          <a:lstStyle/>
          <a:p>
            <a:pPr marL="0" indent="0">
              <a:buNone/>
            </a:pPr>
            <a:r>
              <a:rPr lang="en-US" sz="1200" b="1" dirty="0">
                <a:solidFill>
                  <a:srgbClr val="F5A524"/>
                </a:solidFill>
                <a:latin typeface="Calibri" pitchFamily="34" charset="0"/>
                <a:ea typeface="Calibri" pitchFamily="34" charset="-122"/>
                <a:cs typeface="Calibri" pitchFamily="34" charset="-120"/>
              </a:rPr>
              <a:t>GAP 3</a:t>
            </a:r>
            <a:endParaRPr lang="en-US" sz="1200" dirty="0"/>
          </a:p>
        </p:txBody>
      </p:sp>
      <p:sp>
        <p:nvSpPr>
          <p:cNvPr id="14" name="Text 12"/>
          <p:cNvSpPr txBox="1"/>
          <p:nvPr/>
        </p:nvSpPr>
        <p:spPr>
          <a:xfrm>
            <a:off x="8412480" y="2194560"/>
            <a:ext cx="3017520" cy="777240"/>
          </a:xfrm>
          <a:prstGeom prst="rect">
            <a:avLst/>
          </a:prstGeom>
          <a:noFill/>
          <a:ln/>
        </p:spPr>
        <p:txBody>
          <a:bodyPr wrap="square" lIns="0" tIns="0" rIns="0" bIns="0" rtlCol="0" anchor="t"/>
          <a:lstStyle/>
          <a:p>
            <a:pPr marL="0" indent="0">
              <a:buNone/>
            </a:pPr>
            <a:r>
              <a:rPr lang="en-US" sz="1900" b="1" dirty="0">
                <a:solidFill>
                  <a:srgbClr val="171A21"/>
                </a:solidFill>
                <a:latin typeface="Cambria" pitchFamily="34" charset="0"/>
                <a:ea typeface="Cambria" pitchFamily="34" charset="-122"/>
                <a:cs typeface="Cambria" pitchFamily="34" charset="-120"/>
              </a:rPr>
              <a:t>Tools that don't talk to each other</a:t>
            </a:r>
            <a:endParaRPr lang="en-US" sz="1900" dirty="0"/>
          </a:p>
        </p:txBody>
      </p:sp>
      <p:sp>
        <p:nvSpPr>
          <p:cNvPr id="15" name="Text 13"/>
          <p:cNvSpPr txBox="1"/>
          <p:nvPr/>
        </p:nvSpPr>
        <p:spPr>
          <a:xfrm>
            <a:off x="8412480" y="3017520"/>
            <a:ext cx="3017520" cy="146304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Security scanning, impact analysis, validation and CI usually live in separate tools, with no single governed workflow around an AI request.</a:t>
            </a:r>
            <a:endParaRPr lang="en-US" sz="1400" dirty="0"/>
          </a:p>
        </p:txBody>
      </p:sp>
      <p:sp>
        <p:nvSpPr>
          <p:cNvPr id="16" name="Text 14"/>
          <p:cNvSpPr txBox="1"/>
          <p:nvPr/>
        </p:nvSpPr>
        <p:spPr>
          <a:xfrm>
            <a:off x="548640" y="4892040"/>
            <a:ext cx="5486400" cy="365760"/>
          </a:xfrm>
          <a:prstGeom prst="rect">
            <a:avLst/>
          </a:prstGeom>
          <a:noFill/>
          <a:ln/>
        </p:spPr>
        <p:txBody>
          <a:bodyPr wrap="square" lIns="0" tIns="0" rIns="0" bIns="0" rtlCol="0" anchor="ctr"/>
          <a:lstStyle/>
          <a:p>
            <a:pPr marL="0" indent="0">
              <a:buNone/>
            </a:pPr>
            <a:r>
              <a:rPr lang="en-US" sz="1500" b="1" dirty="0">
                <a:solidFill>
                  <a:srgbClr val="171A21"/>
                </a:solidFill>
                <a:latin typeface="Calibri" pitchFamily="34" charset="0"/>
                <a:ea typeface="Calibri" pitchFamily="34" charset="-122"/>
                <a:cs typeface="Calibri" pitchFamily="34" charset="-120"/>
              </a:rPr>
              <a:t>Research areas we studied</a:t>
            </a:r>
            <a:endParaRPr lang="en-US" sz="1500" dirty="0"/>
          </a:p>
        </p:txBody>
      </p:sp>
      <p:sp>
        <p:nvSpPr>
          <p:cNvPr id="17" name="Text 15"/>
          <p:cNvSpPr txBox="1"/>
          <p:nvPr/>
        </p:nvSpPr>
        <p:spPr>
          <a:xfrm>
            <a:off x="54864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RAG &amp; vector search</a:t>
            </a:r>
            <a:endParaRPr lang="en-US" sz="1200" dirty="0"/>
          </a:p>
        </p:txBody>
      </p:sp>
      <p:sp>
        <p:nvSpPr>
          <p:cNvPr id="18" name="Text 16"/>
          <p:cNvSpPr txBox="1"/>
          <p:nvPr/>
        </p:nvSpPr>
        <p:spPr>
          <a:xfrm>
            <a:off x="2788920" y="5349240"/>
            <a:ext cx="2103120" cy="685800"/>
          </a:xfrm>
          <a:prstGeom prst="roundRect">
            <a:avLst>
              <a:gd name="adj" fmla="val 13333"/>
            </a:avLst>
          </a:prstGeom>
          <a:solidFill>
            <a:srgbClr val="171A21"/>
          </a:solidFill>
          <a:ln/>
        </p:spPr>
        <p:txBody>
          <a:bodyPr wrap="square" lIns="76200" tIns="76200" rIns="76200" bIns="76200" rtlCol="0" anchor="ctr"/>
          <a:lstStyle/>
          <a:p>
            <a:r>
              <a:t>Context-aware PII detection</a:t>
            </a:r>
          </a:p>
        </p:txBody>
      </p:sp>
      <p:sp>
        <p:nvSpPr>
          <p:cNvPr id="19" name="Text 17"/>
          <p:cNvSpPr txBox="1"/>
          <p:nvPr/>
        </p:nvSpPr>
        <p:spPr>
          <a:xfrm>
            <a:off x="502920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Dependency-graph impact analysis</a:t>
            </a:r>
            <a:endParaRPr lang="en-US" sz="1200" dirty="0"/>
          </a:p>
        </p:txBody>
      </p:sp>
      <p:sp>
        <p:nvSpPr>
          <p:cNvPr id="20" name="Text 18"/>
          <p:cNvSpPr txBox="1"/>
          <p:nvPr/>
        </p:nvSpPr>
        <p:spPr>
          <a:xfrm>
            <a:off x="726948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LLM grounding &amp; prompt safety</a:t>
            </a:r>
            <a:endParaRPr lang="en-US" sz="1200" dirty="0"/>
          </a:p>
        </p:txBody>
      </p:sp>
      <p:sp>
        <p:nvSpPr>
          <p:cNvPr id="21" name="Text 19"/>
          <p:cNvSpPr txBox="1"/>
          <p:nvPr/>
        </p:nvSpPr>
        <p:spPr>
          <a:xfrm>
            <a:off x="950976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CI security gating</a:t>
            </a:r>
            <a:endParaRPr lang="en-US" sz="1200" dirty="0"/>
          </a:p>
        </p:txBody>
      </p:sp>
      <p:sp>
        <p:nvSpPr>
          <p:cNvPr id="22" name="Text 20"/>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Our solution: KAVACH</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One governed workflow around every AI-assisted code change</a:t>
            </a:r>
            <a:endParaRPr lang="en-US" sz="1600" dirty="0"/>
          </a:p>
        </p:txBody>
      </p:sp>
      <p:sp>
        <p:nvSpPr>
          <p:cNvPr id="4" name="Shape 2"/>
          <p:cNvSpPr/>
          <p:nvPr/>
        </p:nvSpPr>
        <p:spPr>
          <a:xfrm>
            <a:off x="548640" y="1645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5" name="Shape 3"/>
          <p:cNvSpPr/>
          <p:nvPr/>
        </p:nvSpPr>
        <p:spPr>
          <a:xfrm>
            <a:off x="777240" y="1874520"/>
            <a:ext cx="640080" cy="640080"/>
          </a:xfrm>
          <a:prstGeom prst="ellipse">
            <a:avLst/>
          </a:prstGeom>
          <a:solidFill>
            <a:srgbClr val="171A21"/>
          </a:solidFill>
          <a:ln w="12700">
            <a:solidFill>
              <a:srgbClr val="171A21"/>
            </a:solidFill>
            <a:prstDash val="solid"/>
          </a:ln>
        </p:spPr>
        <p:txBody>
          <a:bodyPr/>
          <a:lstStyle/>
          <a:p>
            <a:endParaRPr/>
          </a:p>
        </p:txBody>
      </p:sp>
      <p:pic>
        <p:nvPicPr>
          <p:cNvPr id="6" name="Image 0" descr="preencoded.png"/>
          <p:cNvPicPr>
            <a:picLocks noChangeAspect="1"/>
          </p:cNvPicPr>
          <p:nvPr/>
        </p:nvPicPr>
        <p:blipFill>
          <a:blip r:embed="rId3"/>
          <a:stretch>
            <a:fillRect/>
          </a:stretch>
        </p:blipFill>
        <p:spPr>
          <a:xfrm>
            <a:off x="943661" y="2040941"/>
            <a:ext cx="307238" cy="307238"/>
          </a:xfrm>
          <a:prstGeom prst="rect">
            <a:avLst/>
          </a:prstGeom>
        </p:spPr>
      </p:pic>
      <p:sp>
        <p:nvSpPr>
          <p:cNvPr id="7" name="Text 4"/>
          <p:cNvSpPr txBox="1"/>
          <p:nvPr/>
        </p:nvSpPr>
        <p:spPr>
          <a:xfrm>
            <a:off x="777240" y="2578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Sensitive-data detection</a:t>
            </a:r>
            <a:endParaRPr lang="en-US" sz="1500" dirty="0"/>
          </a:p>
        </p:txBody>
      </p:sp>
      <p:sp>
        <p:nvSpPr>
          <p:cNvPr id="8" name="Text 5"/>
          <p:cNvSpPr txBox="1"/>
          <p:nvPr/>
        </p:nvSpPr>
        <p:spPr>
          <a:xfrm>
            <a:off x="777240" y="2971800"/>
            <a:ext cx="2240280" cy="731520"/>
          </a:xfrm>
          <a:prstGeom prst="rect">
            <a:avLst/>
          </a:prstGeom>
          <a:noFill/>
          <a:ln/>
        </p:spPr>
        <p:txBody>
          <a:bodyPr wrap="square" lIns="0" tIns="0" rIns="0" bIns="0" rtlCol="0" anchor="t"/>
          <a:lstStyle/>
          <a:p>
            <a:r>
              <a:t>Context-aware PII and secrets detection with severity and explanations</a:t>
            </a:r>
          </a:p>
        </p:txBody>
      </p:sp>
      <p:sp>
        <p:nvSpPr>
          <p:cNvPr id="9" name="Shape 6"/>
          <p:cNvSpPr/>
          <p:nvPr/>
        </p:nvSpPr>
        <p:spPr>
          <a:xfrm>
            <a:off x="3383280" y="1645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0" name="Shape 7"/>
          <p:cNvSpPr/>
          <p:nvPr/>
        </p:nvSpPr>
        <p:spPr>
          <a:xfrm>
            <a:off x="3611880" y="1874520"/>
            <a:ext cx="640080" cy="640080"/>
          </a:xfrm>
          <a:prstGeom prst="ellipse">
            <a:avLst/>
          </a:prstGeom>
          <a:solidFill>
            <a:srgbClr val="C8372D"/>
          </a:solidFill>
          <a:ln w="12700">
            <a:solidFill>
              <a:srgbClr val="C8372D"/>
            </a:solidFill>
            <a:prstDash val="solid"/>
          </a:ln>
        </p:spPr>
        <p:txBody>
          <a:bodyPr/>
          <a:lstStyle/>
          <a:p>
            <a:endParaRPr/>
          </a:p>
        </p:txBody>
      </p:sp>
      <p:pic>
        <p:nvPicPr>
          <p:cNvPr id="11" name="Image 1" descr="preencoded.png"/>
          <p:cNvPicPr>
            <a:picLocks noChangeAspect="1"/>
          </p:cNvPicPr>
          <p:nvPr/>
        </p:nvPicPr>
        <p:blipFill>
          <a:blip r:embed="rId4"/>
          <a:stretch>
            <a:fillRect/>
          </a:stretch>
        </p:blipFill>
        <p:spPr>
          <a:xfrm>
            <a:off x="3778301" y="2040941"/>
            <a:ext cx="307238" cy="307238"/>
          </a:xfrm>
          <a:prstGeom prst="rect">
            <a:avLst/>
          </a:prstGeom>
        </p:spPr>
      </p:pic>
      <p:sp>
        <p:nvSpPr>
          <p:cNvPr id="12" name="Text 8"/>
          <p:cNvSpPr txBox="1"/>
          <p:nvPr/>
        </p:nvSpPr>
        <p:spPr>
          <a:xfrm>
            <a:off x="3611880" y="2578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Policy enforcement</a:t>
            </a:r>
            <a:endParaRPr lang="en-US" sz="1500" dirty="0"/>
          </a:p>
        </p:txBody>
      </p:sp>
      <p:sp>
        <p:nvSpPr>
          <p:cNvPr id="13" name="Text 9"/>
          <p:cNvSpPr txBox="1"/>
          <p:nvPr/>
        </p:nvSpPr>
        <p:spPr>
          <a:xfrm>
            <a:off x="3611880" y="2971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SAFE or BLOCKED verdicts decide whether the workflow continues</a:t>
            </a:r>
            <a:endParaRPr lang="en-US" sz="1200" dirty="0"/>
          </a:p>
        </p:txBody>
      </p:sp>
      <p:sp>
        <p:nvSpPr>
          <p:cNvPr id="14" name="Shape 10"/>
          <p:cNvSpPr/>
          <p:nvPr/>
        </p:nvSpPr>
        <p:spPr>
          <a:xfrm>
            <a:off x="6217920" y="1645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5" name="Shape 11"/>
          <p:cNvSpPr/>
          <p:nvPr/>
        </p:nvSpPr>
        <p:spPr>
          <a:xfrm>
            <a:off x="6446520" y="1874520"/>
            <a:ext cx="640080" cy="640080"/>
          </a:xfrm>
          <a:prstGeom prst="ellipse">
            <a:avLst/>
          </a:prstGeom>
          <a:solidFill>
            <a:srgbClr val="0F766E"/>
          </a:solidFill>
          <a:ln w="12700">
            <a:solidFill>
              <a:srgbClr val="0F766E"/>
            </a:solidFill>
            <a:prstDash val="solid"/>
          </a:ln>
        </p:spPr>
        <p:txBody>
          <a:bodyPr/>
          <a:lstStyle/>
          <a:p>
            <a:endParaRPr/>
          </a:p>
        </p:txBody>
      </p:sp>
      <p:pic>
        <p:nvPicPr>
          <p:cNvPr id="16" name="Image 2" descr="preencoded.png"/>
          <p:cNvPicPr>
            <a:picLocks noChangeAspect="1"/>
          </p:cNvPicPr>
          <p:nvPr/>
        </p:nvPicPr>
        <p:blipFill>
          <a:blip r:embed="rId5"/>
          <a:stretch>
            <a:fillRect/>
          </a:stretch>
        </p:blipFill>
        <p:spPr>
          <a:xfrm>
            <a:off x="6612941" y="2040941"/>
            <a:ext cx="307238" cy="307238"/>
          </a:xfrm>
          <a:prstGeom prst="rect">
            <a:avLst/>
          </a:prstGeom>
        </p:spPr>
      </p:pic>
      <p:sp>
        <p:nvSpPr>
          <p:cNvPr id="17" name="Text 12"/>
          <p:cNvSpPr txBox="1"/>
          <p:nvPr/>
        </p:nvSpPr>
        <p:spPr>
          <a:xfrm>
            <a:off x="6446520" y="2578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Repository-aware RAG</a:t>
            </a:r>
            <a:endParaRPr lang="en-US" sz="1500" dirty="0"/>
          </a:p>
        </p:txBody>
      </p:sp>
      <p:sp>
        <p:nvSpPr>
          <p:cNvPr id="18" name="Text 13"/>
          <p:cNvSpPr txBox="1"/>
          <p:nvPr/>
        </p:nvSpPr>
        <p:spPr>
          <a:xfrm>
            <a:off x="6446520" y="2971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Retrieves real code evidence, scored by similarity</a:t>
            </a:r>
            <a:endParaRPr lang="en-US" sz="1200" dirty="0"/>
          </a:p>
        </p:txBody>
      </p:sp>
      <p:sp>
        <p:nvSpPr>
          <p:cNvPr id="19" name="Shape 14"/>
          <p:cNvSpPr/>
          <p:nvPr/>
        </p:nvSpPr>
        <p:spPr>
          <a:xfrm>
            <a:off x="9052560" y="1645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0" name="Shape 15"/>
          <p:cNvSpPr/>
          <p:nvPr/>
        </p:nvSpPr>
        <p:spPr>
          <a:xfrm>
            <a:off x="9281160" y="1874520"/>
            <a:ext cx="640080" cy="640080"/>
          </a:xfrm>
          <a:prstGeom prst="ellipse">
            <a:avLst/>
          </a:prstGeom>
          <a:solidFill>
            <a:srgbClr val="262B36"/>
          </a:solidFill>
          <a:ln w="12700">
            <a:solidFill>
              <a:srgbClr val="262B36"/>
            </a:solidFill>
            <a:prstDash val="solid"/>
          </a:ln>
        </p:spPr>
        <p:txBody>
          <a:bodyPr/>
          <a:lstStyle/>
          <a:p>
            <a:endParaRPr/>
          </a:p>
        </p:txBody>
      </p:sp>
      <p:pic>
        <p:nvPicPr>
          <p:cNvPr id="21" name="Image 3" descr="preencoded.png"/>
          <p:cNvPicPr>
            <a:picLocks noChangeAspect="1"/>
          </p:cNvPicPr>
          <p:nvPr/>
        </p:nvPicPr>
        <p:blipFill>
          <a:blip r:embed="rId6"/>
          <a:stretch>
            <a:fillRect/>
          </a:stretch>
        </p:blipFill>
        <p:spPr>
          <a:xfrm>
            <a:off x="9447581" y="2040941"/>
            <a:ext cx="307238" cy="307238"/>
          </a:xfrm>
          <a:prstGeom prst="rect">
            <a:avLst/>
          </a:prstGeom>
        </p:spPr>
      </p:pic>
      <p:sp>
        <p:nvSpPr>
          <p:cNvPr id="22" name="Text 16"/>
          <p:cNvSpPr txBox="1"/>
          <p:nvPr/>
        </p:nvSpPr>
        <p:spPr>
          <a:xfrm>
            <a:off x="9281160" y="2578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Change-impact analysis</a:t>
            </a:r>
            <a:endParaRPr lang="en-US" sz="1500" dirty="0"/>
          </a:p>
        </p:txBody>
      </p:sp>
      <p:sp>
        <p:nvSpPr>
          <p:cNvPr id="23" name="Text 17"/>
          <p:cNvSpPr txBox="1"/>
          <p:nvPr/>
        </p:nvSpPr>
        <p:spPr>
          <a:xfrm>
            <a:off x="9281160" y="2971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Dependency graph plus semantic search rank affected files</a:t>
            </a:r>
            <a:endParaRPr lang="en-US" sz="1200" dirty="0"/>
          </a:p>
        </p:txBody>
      </p:sp>
      <p:sp>
        <p:nvSpPr>
          <p:cNvPr id="24" name="Shape 18"/>
          <p:cNvSpPr/>
          <p:nvPr/>
        </p:nvSpPr>
        <p:spPr>
          <a:xfrm>
            <a:off x="548640" y="3931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5" name="Shape 19"/>
          <p:cNvSpPr/>
          <p:nvPr/>
        </p:nvSpPr>
        <p:spPr>
          <a:xfrm>
            <a:off x="777240" y="4160520"/>
            <a:ext cx="640080" cy="640080"/>
          </a:xfrm>
          <a:prstGeom prst="ellipse">
            <a:avLst/>
          </a:prstGeom>
          <a:solidFill>
            <a:srgbClr val="0F766E"/>
          </a:solidFill>
          <a:ln w="12700">
            <a:solidFill>
              <a:srgbClr val="0F766E"/>
            </a:solidFill>
            <a:prstDash val="solid"/>
          </a:ln>
        </p:spPr>
        <p:txBody>
          <a:bodyPr/>
          <a:lstStyle/>
          <a:p>
            <a:endParaRPr/>
          </a:p>
        </p:txBody>
      </p:sp>
      <p:pic>
        <p:nvPicPr>
          <p:cNvPr id="26" name="Image 4" descr="preencoded.png"/>
          <p:cNvPicPr>
            <a:picLocks noChangeAspect="1"/>
          </p:cNvPicPr>
          <p:nvPr/>
        </p:nvPicPr>
        <p:blipFill>
          <a:blip r:embed="rId7"/>
          <a:stretch>
            <a:fillRect/>
          </a:stretch>
        </p:blipFill>
        <p:spPr>
          <a:xfrm>
            <a:off x="943661" y="4326941"/>
            <a:ext cx="307238" cy="307238"/>
          </a:xfrm>
          <a:prstGeom prst="rect">
            <a:avLst/>
          </a:prstGeom>
        </p:spPr>
      </p:pic>
      <p:sp>
        <p:nvSpPr>
          <p:cNvPr id="27" name="Text 20"/>
          <p:cNvSpPr txBox="1"/>
          <p:nvPr/>
        </p:nvSpPr>
        <p:spPr>
          <a:xfrm>
            <a:off x="777240" y="4864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Grounded generation</a:t>
            </a:r>
            <a:endParaRPr lang="en-US" sz="1500" dirty="0"/>
          </a:p>
        </p:txBody>
      </p:sp>
      <p:sp>
        <p:nvSpPr>
          <p:cNvPr id="28" name="Text 21"/>
          <p:cNvSpPr txBox="1"/>
          <p:nvPr/>
        </p:nvSpPr>
        <p:spPr>
          <a:xfrm>
            <a:off x="777240" y="5257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Gemini generates using only the retrieved repository evidence</a:t>
            </a:r>
            <a:endParaRPr lang="en-US" sz="1200" dirty="0"/>
          </a:p>
        </p:txBody>
      </p:sp>
      <p:sp>
        <p:nvSpPr>
          <p:cNvPr id="29" name="Shape 22"/>
          <p:cNvSpPr/>
          <p:nvPr/>
        </p:nvSpPr>
        <p:spPr>
          <a:xfrm>
            <a:off x="3383280" y="3931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0" name="Shape 23"/>
          <p:cNvSpPr/>
          <p:nvPr/>
        </p:nvSpPr>
        <p:spPr>
          <a:xfrm>
            <a:off x="3611880" y="4160520"/>
            <a:ext cx="640080" cy="640080"/>
          </a:xfrm>
          <a:prstGeom prst="ellipse">
            <a:avLst/>
          </a:prstGeom>
          <a:solidFill>
            <a:srgbClr val="171A21"/>
          </a:solidFill>
          <a:ln w="12700">
            <a:solidFill>
              <a:srgbClr val="171A21"/>
            </a:solidFill>
            <a:prstDash val="solid"/>
          </a:ln>
        </p:spPr>
        <p:txBody>
          <a:bodyPr/>
          <a:lstStyle/>
          <a:p>
            <a:endParaRPr/>
          </a:p>
        </p:txBody>
      </p:sp>
      <p:pic>
        <p:nvPicPr>
          <p:cNvPr id="31" name="Image 5" descr="preencoded.png"/>
          <p:cNvPicPr>
            <a:picLocks noChangeAspect="1"/>
          </p:cNvPicPr>
          <p:nvPr/>
        </p:nvPicPr>
        <p:blipFill>
          <a:blip r:embed="rId8"/>
          <a:stretch>
            <a:fillRect/>
          </a:stretch>
        </p:blipFill>
        <p:spPr>
          <a:xfrm>
            <a:off x="3778301" y="4326941"/>
            <a:ext cx="307238" cy="307238"/>
          </a:xfrm>
          <a:prstGeom prst="rect">
            <a:avLst/>
          </a:prstGeom>
        </p:spPr>
      </p:pic>
      <p:sp>
        <p:nvSpPr>
          <p:cNvPr id="32" name="Text 24"/>
          <p:cNvSpPr txBox="1"/>
          <p:nvPr/>
        </p:nvSpPr>
        <p:spPr>
          <a:xfrm>
            <a:off x="3611880" y="4864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Code validation</a:t>
            </a:r>
            <a:endParaRPr lang="en-US" sz="1500" dirty="0"/>
          </a:p>
        </p:txBody>
      </p:sp>
      <p:sp>
        <p:nvSpPr>
          <p:cNvPr id="33" name="Text 25"/>
          <p:cNvSpPr txBox="1"/>
          <p:nvPr/>
        </p:nvSpPr>
        <p:spPr>
          <a:xfrm>
            <a:off x="3611880" y="5257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Generated code is checked before it is returned</a:t>
            </a:r>
            <a:endParaRPr lang="en-US" sz="1200" dirty="0"/>
          </a:p>
        </p:txBody>
      </p:sp>
      <p:sp>
        <p:nvSpPr>
          <p:cNvPr id="34" name="Shape 26"/>
          <p:cNvSpPr/>
          <p:nvPr/>
        </p:nvSpPr>
        <p:spPr>
          <a:xfrm>
            <a:off x="6217920" y="3931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5" name="Shape 27"/>
          <p:cNvSpPr/>
          <p:nvPr/>
        </p:nvSpPr>
        <p:spPr>
          <a:xfrm>
            <a:off x="6446520" y="4160520"/>
            <a:ext cx="640080" cy="640080"/>
          </a:xfrm>
          <a:prstGeom prst="ellipse">
            <a:avLst/>
          </a:prstGeom>
          <a:solidFill>
            <a:srgbClr val="262B36"/>
          </a:solidFill>
          <a:ln w="12700">
            <a:solidFill>
              <a:srgbClr val="262B36"/>
            </a:solidFill>
            <a:prstDash val="solid"/>
          </a:ln>
        </p:spPr>
        <p:txBody>
          <a:bodyPr/>
          <a:lstStyle/>
          <a:p>
            <a:endParaRPr/>
          </a:p>
        </p:txBody>
      </p:sp>
      <p:pic>
        <p:nvPicPr>
          <p:cNvPr id="36" name="Image 6" descr="preencoded.png"/>
          <p:cNvPicPr>
            <a:picLocks noChangeAspect="1"/>
          </p:cNvPicPr>
          <p:nvPr/>
        </p:nvPicPr>
        <p:blipFill>
          <a:blip r:embed="rId9"/>
          <a:stretch>
            <a:fillRect/>
          </a:stretch>
        </p:blipFill>
        <p:spPr>
          <a:xfrm>
            <a:off x="6612941" y="4326941"/>
            <a:ext cx="307238" cy="307238"/>
          </a:xfrm>
          <a:prstGeom prst="rect">
            <a:avLst/>
          </a:prstGeom>
        </p:spPr>
      </p:pic>
      <p:sp>
        <p:nvSpPr>
          <p:cNvPr id="37" name="Text 28"/>
          <p:cNvSpPr txBox="1"/>
          <p:nvPr/>
        </p:nvSpPr>
        <p:spPr>
          <a:xfrm>
            <a:off x="6446520" y="4864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CI security gating</a:t>
            </a:r>
            <a:endParaRPr lang="en-US" sz="1500" dirty="0"/>
          </a:p>
        </p:txBody>
      </p:sp>
      <p:sp>
        <p:nvSpPr>
          <p:cNvPr id="38" name="Text 29"/>
          <p:cNvSpPr txBox="1"/>
          <p:nvPr/>
        </p:nvSpPr>
        <p:spPr>
          <a:xfrm>
            <a:off x="6446520" y="5257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A GitHub Actions gate blocks unsafe changes</a:t>
            </a:r>
            <a:endParaRPr lang="en-US" sz="1200" dirty="0"/>
          </a:p>
        </p:txBody>
      </p:sp>
      <p:sp>
        <p:nvSpPr>
          <p:cNvPr id="39" name="Shape 30"/>
          <p:cNvSpPr/>
          <p:nvPr/>
        </p:nvSpPr>
        <p:spPr>
          <a:xfrm>
            <a:off x="9052560" y="3931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40" name="Shape 31"/>
          <p:cNvSpPr/>
          <p:nvPr/>
        </p:nvSpPr>
        <p:spPr>
          <a:xfrm>
            <a:off x="9281160" y="4160520"/>
            <a:ext cx="640080" cy="640080"/>
          </a:xfrm>
          <a:prstGeom prst="ellipse">
            <a:avLst/>
          </a:prstGeom>
          <a:solidFill>
            <a:srgbClr val="C8372D"/>
          </a:solidFill>
          <a:ln w="12700">
            <a:solidFill>
              <a:srgbClr val="C8372D"/>
            </a:solidFill>
            <a:prstDash val="solid"/>
          </a:ln>
        </p:spPr>
        <p:txBody>
          <a:bodyPr/>
          <a:lstStyle/>
          <a:p>
            <a:endParaRPr/>
          </a:p>
        </p:txBody>
      </p:sp>
      <p:pic>
        <p:nvPicPr>
          <p:cNvPr id="41" name="Image 7" descr="preencoded.png"/>
          <p:cNvPicPr>
            <a:picLocks noChangeAspect="1"/>
          </p:cNvPicPr>
          <p:nvPr/>
        </p:nvPicPr>
        <p:blipFill>
          <a:blip r:embed="rId10"/>
          <a:stretch>
            <a:fillRect/>
          </a:stretch>
        </p:blipFill>
        <p:spPr>
          <a:xfrm>
            <a:off x="9447581" y="4326941"/>
            <a:ext cx="307238" cy="307238"/>
          </a:xfrm>
          <a:prstGeom prst="rect">
            <a:avLst/>
          </a:prstGeom>
        </p:spPr>
      </p:pic>
      <p:sp>
        <p:nvSpPr>
          <p:cNvPr id="42" name="Text 32"/>
          <p:cNvSpPr txBox="1"/>
          <p:nvPr/>
        </p:nvSpPr>
        <p:spPr>
          <a:xfrm>
            <a:off x="9281160" y="4864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Workflow audit trail</a:t>
            </a:r>
            <a:endParaRPr lang="en-US" sz="1500" dirty="0"/>
          </a:p>
        </p:txBody>
      </p:sp>
      <p:sp>
        <p:nvSpPr>
          <p:cNvPr id="43" name="Text 33"/>
          <p:cNvSpPr txBox="1"/>
          <p:nvPr/>
        </p:nvSpPr>
        <p:spPr>
          <a:xfrm>
            <a:off x="9281160" y="5257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Every stage's decision is recorded and visible</a:t>
            </a:r>
            <a:endParaRPr lang="en-US" sz="1200" dirty="0"/>
          </a:p>
        </p:txBody>
      </p:sp>
      <p:sp>
        <p:nvSpPr>
          <p:cNvPr id="44" name="Text 34"/>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4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How it works: the life of one request</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Every request passes through these stages, in this order</a:t>
            </a:r>
            <a:endParaRPr lang="en-US" sz="1600" dirty="0"/>
          </a:p>
        </p:txBody>
      </p:sp>
      <p:sp>
        <p:nvSpPr>
          <p:cNvPr id="4" name="Shape 2"/>
          <p:cNvSpPr/>
          <p:nvPr/>
        </p:nvSpPr>
        <p:spPr>
          <a:xfrm>
            <a:off x="548640"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5" name="Text 3"/>
          <p:cNvSpPr txBox="1"/>
          <p:nvPr/>
        </p:nvSpPr>
        <p:spPr>
          <a:xfrm>
            <a:off x="548640"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01</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Developer request</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A change or question is submitted in plain language</a:t>
            </a:r>
            <a:endParaRPr lang="en-US" sz="1100" dirty="0"/>
          </a:p>
        </p:txBody>
      </p:sp>
      <p:sp>
        <p:nvSpPr>
          <p:cNvPr id="6" name="Shape 4"/>
          <p:cNvSpPr/>
          <p:nvPr/>
        </p:nvSpPr>
        <p:spPr>
          <a:xfrm>
            <a:off x="1938528" y="2811780"/>
            <a:ext cx="210312" cy="0"/>
          </a:xfrm>
          <a:prstGeom prst="line">
            <a:avLst/>
          </a:prstGeom>
          <a:noFill/>
          <a:ln w="25400">
            <a:solidFill>
              <a:srgbClr val="171A21"/>
            </a:solidFill>
            <a:prstDash val="solid"/>
            <a:tailEnd type="triangle"/>
          </a:ln>
        </p:spPr>
        <p:txBody>
          <a:bodyPr/>
          <a:lstStyle/>
          <a:p>
            <a:endParaRPr lang="en-IN"/>
          </a:p>
        </p:txBody>
      </p:sp>
      <p:sp>
        <p:nvSpPr>
          <p:cNvPr id="7" name="Shape 5"/>
          <p:cNvSpPr/>
          <p:nvPr/>
        </p:nvSpPr>
        <p:spPr>
          <a:xfrm>
            <a:off x="2167128" y="1691640"/>
            <a:ext cx="1371600" cy="224028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8" name="Text 6"/>
          <p:cNvSpPr txBox="1"/>
          <p:nvPr/>
        </p:nvSpPr>
        <p:spPr>
          <a:xfrm>
            <a:off x="2167128"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02</a:t>
            </a:r>
            <a:endParaRPr lang="en-US" sz="1100" dirty="0"/>
          </a:p>
          <a:p>
            <a:pPr marL="0" indent="0" algn="l">
              <a:spcAft>
                <a:spcPts val="300"/>
              </a:spcAft>
              <a:buNone/>
            </a:pPr>
            <a:r>
              <a:rPr lang="en-US" sz="1500" b="1" dirty="0">
                <a:solidFill>
                  <a:srgbClr val="F5A524"/>
                </a:solidFill>
                <a:latin typeface="Calibri" pitchFamily="34" charset="0"/>
                <a:ea typeface="Calibri" pitchFamily="34" charset="-122"/>
                <a:cs typeface="Calibri" pitchFamily="34" charset="-120"/>
              </a:rPr>
              <a:t>Security Gate #1</a:t>
            </a:r>
            <a:endParaRPr lang="en-US" sz="1100" dirty="0"/>
          </a:p>
          <a:p>
            <a:pPr marL="0" indent="0" algn="l">
              <a:spcAft>
                <a:spcPts val="300"/>
              </a:spcAft>
              <a:buNone/>
            </a:pPr>
            <a:r>
              <a:rPr lang="en-US" sz="1300" dirty="0">
                <a:solidFill>
                  <a:srgbClr val="D5D9E0"/>
                </a:solidFill>
                <a:latin typeface="Calibri" pitchFamily="34" charset="0"/>
                <a:ea typeface="Calibri" pitchFamily="34" charset="-122"/>
                <a:cs typeface="Calibri" pitchFamily="34" charset="-120"/>
              </a:rPr>
              <a:t>Scans the request for PII, keys and policy violations</a:t>
            </a:r>
            <a:endParaRPr lang="en-US" sz="1100" dirty="0"/>
          </a:p>
        </p:txBody>
      </p:sp>
      <p:sp>
        <p:nvSpPr>
          <p:cNvPr id="9" name="Shape 7"/>
          <p:cNvSpPr/>
          <p:nvPr/>
        </p:nvSpPr>
        <p:spPr>
          <a:xfrm>
            <a:off x="3557016" y="2811780"/>
            <a:ext cx="210312" cy="0"/>
          </a:xfrm>
          <a:prstGeom prst="line">
            <a:avLst/>
          </a:prstGeom>
          <a:noFill/>
          <a:ln w="25400">
            <a:solidFill>
              <a:srgbClr val="171A21"/>
            </a:solidFill>
            <a:prstDash val="solid"/>
            <a:tailEnd type="triangle"/>
          </a:ln>
        </p:spPr>
        <p:txBody>
          <a:bodyPr/>
          <a:lstStyle/>
          <a:p>
            <a:endParaRPr lang="en-IN"/>
          </a:p>
        </p:txBody>
      </p:sp>
      <p:sp>
        <p:nvSpPr>
          <p:cNvPr id="10" name="Shape 8"/>
          <p:cNvSpPr/>
          <p:nvPr/>
        </p:nvSpPr>
        <p:spPr>
          <a:xfrm>
            <a:off x="3785616"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1" name="Text 9"/>
          <p:cNvSpPr txBox="1"/>
          <p:nvPr/>
        </p:nvSpPr>
        <p:spPr>
          <a:xfrm>
            <a:off x="3785616"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03</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RAG retrieval</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Finds the most relevant code chunks in the repository</a:t>
            </a:r>
            <a:endParaRPr lang="en-US" sz="1100" dirty="0"/>
          </a:p>
        </p:txBody>
      </p:sp>
      <p:sp>
        <p:nvSpPr>
          <p:cNvPr id="12" name="Shape 10"/>
          <p:cNvSpPr/>
          <p:nvPr/>
        </p:nvSpPr>
        <p:spPr>
          <a:xfrm>
            <a:off x="5175504" y="2811780"/>
            <a:ext cx="210312" cy="0"/>
          </a:xfrm>
          <a:prstGeom prst="line">
            <a:avLst/>
          </a:prstGeom>
          <a:noFill/>
          <a:ln w="25400">
            <a:solidFill>
              <a:srgbClr val="171A21"/>
            </a:solidFill>
            <a:prstDash val="solid"/>
            <a:tailEnd type="triangle"/>
          </a:ln>
        </p:spPr>
        <p:txBody>
          <a:bodyPr/>
          <a:lstStyle/>
          <a:p>
            <a:endParaRPr lang="en-IN"/>
          </a:p>
        </p:txBody>
      </p:sp>
      <p:sp>
        <p:nvSpPr>
          <p:cNvPr id="13" name="Shape 11"/>
          <p:cNvSpPr/>
          <p:nvPr/>
        </p:nvSpPr>
        <p:spPr>
          <a:xfrm>
            <a:off x="5404104" y="1691640"/>
            <a:ext cx="1371600" cy="224028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14" name="Text 12"/>
          <p:cNvSpPr txBox="1"/>
          <p:nvPr/>
        </p:nvSpPr>
        <p:spPr>
          <a:xfrm>
            <a:off x="5404104"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04</a:t>
            </a:r>
            <a:endParaRPr lang="en-US" sz="1100" dirty="0"/>
          </a:p>
          <a:p>
            <a:pPr marL="0" indent="0" algn="l">
              <a:spcAft>
                <a:spcPts val="300"/>
              </a:spcAft>
              <a:buNone/>
            </a:pPr>
            <a:r>
              <a:rPr lang="en-US" sz="1500" b="1" dirty="0">
                <a:solidFill>
                  <a:srgbClr val="F5A524"/>
                </a:solidFill>
                <a:latin typeface="Calibri" pitchFamily="34" charset="0"/>
                <a:ea typeface="Calibri" pitchFamily="34" charset="-122"/>
                <a:cs typeface="Calibri" pitchFamily="34" charset="-120"/>
              </a:rPr>
              <a:t>Security Gate #2</a:t>
            </a:r>
            <a:endParaRPr lang="en-US" sz="1100" dirty="0"/>
          </a:p>
          <a:p>
            <a:pPr marL="0" indent="0" algn="l">
              <a:spcAft>
                <a:spcPts val="300"/>
              </a:spcAft>
              <a:buNone/>
            </a:pPr>
            <a:r>
              <a:rPr lang="en-US" sz="1300" dirty="0">
                <a:solidFill>
                  <a:srgbClr val="D5D9E0"/>
                </a:solidFill>
                <a:latin typeface="Calibri" pitchFamily="34" charset="0"/>
                <a:ea typeface="Calibri" pitchFamily="34" charset="-122"/>
                <a:cs typeface="Calibri" pitchFamily="34" charset="-120"/>
              </a:rPr>
              <a:t>Scans the retrieved evidence before it reaches the LLM</a:t>
            </a:r>
            <a:endParaRPr lang="en-US" sz="1100" dirty="0"/>
          </a:p>
        </p:txBody>
      </p:sp>
      <p:sp>
        <p:nvSpPr>
          <p:cNvPr id="15" name="Shape 13"/>
          <p:cNvSpPr/>
          <p:nvPr/>
        </p:nvSpPr>
        <p:spPr>
          <a:xfrm>
            <a:off x="6793992" y="2811780"/>
            <a:ext cx="210312" cy="0"/>
          </a:xfrm>
          <a:prstGeom prst="line">
            <a:avLst/>
          </a:prstGeom>
          <a:noFill/>
          <a:ln w="25400">
            <a:solidFill>
              <a:srgbClr val="171A21"/>
            </a:solidFill>
            <a:prstDash val="solid"/>
            <a:tailEnd type="triangle"/>
          </a:ln>
        </p:spPr>
        <p:txBody>
          <a:bodyPr/>
          <a:lstStyle/>
          <a:p>
            <a:endParaRPr lang="en-IN"/>
          </a:p>
        </p:txBody>
      </p:sp>
      <p:sp>
        <p:nvSpPr>
          <p:cNvPr id="16" name="Shape 14"/>
          <p:cNvSpPr/>
          <p:nvPr/>
        </p:nvSpPr>
        <p:spPr>
          <a:xfrm>
            <a:off x="7022592"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7" name="Text 15"/>
          <p:cNvSpPr txBox="1"/>
          <p:nvPr/>
        </p:nvSpPr>
        <p:spPr>
          <a:xfrm>
            <a:off x="7022592"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05</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Impact analysis</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Ranks which files a change is likely to affect</a:t>
            </a:r>
            <a:endParaRPr lang="en-US" sz="1100" dirty="0"/>
          </a:p>
        </p:txBody>
      </p:sp>
      <p:sp>
        <p:nvSpPr>
          <p:cNvPr id="18" name="Shape 16"/>
          <p:cNvSpPr/>
          <p:nvPr/>
        </p:nvSpPr>
        <p:spPr>
          <a:xfrm>
            <a:off x="8412480" y="2811780"/>
            <a:ext cx="210312" cy="0"/>
          </a:xfrm>
          <a:prstGeom prst="line">
            <a:avLst/>
          </a:prstGeom>
          <a:noFill/>
          <a:ln w="25400">
            <a:solidFill>
              <a:srgbClr val="171A21"/>
            </a:solidFill>
            <a:prstDash val="solid"/>
            <a:tailEnd type="triangle"/>
          </a:ln>
        </p:spPr>
        <p:txBody>
          <a:bodyPr/>
          <a:lstStyle/>
          <a:p>
            <a:endParaRPr lang="en-IN"/>
          </a:p>
        </p:txBody>
      </p:sp>
      <p:sp>
        <p:nvSpPr>
          <p:cNvPr id="19" name="Shape 17"/>
          <p:cNvSpPr/>
          <p:nvPr/>
        </p:nvSpPr>
        <p:spPr>
          <a:xfrm>
            <a:off x="8641080"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0" name="Text 18"/>
          <p:cNvSpPr txBox="1"/>
          <p:nvPr/>
        </p:nvSpPr>
        <p:spPr>
          <a:xfrm>
            <a:off x="8641080"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06</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Grounded generation</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Gemini writes code using only the retrieved evidence</a:t>
            </a:r>
            <a:endParaRPr lang="en-US" sz="1100" dirty="0"/>
          </a:p>
        </p:txBody>
      </p:sp>
      <p:sp>
        <p:nvSpPr>
          <p:cNvPr id="21" name="Shape 19"/>
          <p:cNvSpPr/>
          <p:nvPr/>
        </p:nvSpPr>
        <p:spPr>
          <a:xfrm>
            <a:off x="10030968" y="2811780"/>
            <a:ext cx="210312" cy="0"/>
          </a:xfrm>
          <a:prstGeom prst="line">
            <a:avLst/>
          </a:prstGeom>
          <a:noFill/>
          <a:ln w="25400">
            <a:solidFill>
              <a:srgbClr val="171A21"/>
            </a:solidFill>
            <a:prstDash val="solid"/>
            <a:tailEnd type="triangle"/>
          </a:ln>
        </p:spPr>
        <p:txBody>
          <a:bodyPr/>
          <a:lstStyle/>
          <a:p>
            <a:endParaRPr lang="en-IN"/>
          </a:p>
        </p:txBody>
      </p:sp>
      <p:sp>
        <p:nvSpPr>
          <p:cNvPr id="22" name="Shape 20"/>
          <p:cNvSpPr/>
          <p:nvPr/>
        </p:nvSpPr>
        <p:spPr>
          <a:xfrm>
            <a:off x="10259568"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3" name="Text 21"/>
          <p:cNvSpPr txBox="1"/>
          <p:nvPr/>
        </p:nvSpPr>
        <p:spPr>
          <a:xfrm>
            <a:off x="10259568"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07</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Validate &amp; audit</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Code is validated, CI gate checks it, trace is recorded</a:t>
            </a:r>
            <a:endParaRPr lang="en-US" sz="1100" dirty="0"/>
          </a:p>
        </p:txBody>
      </p:sp>
      <p:sp>
        <p:nvSpPr>
          <p:cNvPr id="24" name="Shape 22"/>
          <p:cNvSpPr/>
          <p:nvPr/>
        </p:nvSpPr>
        <p:spPr>
          <a:xfrm>
            <a:off x="2852928" y="3950208"/>
            <a:ext cx="0" cy="640080"/>
          </a:xfrm>
          <a:prstGeom prst="line">
            <a:avLst/>
          </a:prstGeom>
          <a:noFill/>
          <a:ln w="25400">
            <a:solidFill>
              <a:srgbClr val="C8372D"/>
            </a:solidFill>
            <a:prstDash val="solid"/>
            <a:tailEnd type="triangle"/>
          </a:ln>
        </p:spPr>
        <p:txBody>
          <a:bodyPr/>
          <a:lstStyle/>
          <a:p>
            <a:endParaRPr lang="en-IN"/>
          </a:p>
        </p:txBody>
      </p:sp>
      <p:sp>
        <p:nvSpPr>
          <p:cNvPr id="25" name="Shape 23"/>
          <p:cNvSpPr/>
          <p:nvPr/>
        </p:nvSpPr>
        <p:spPr>
          <a:xfrm>
            <a:off x="6089904" y="3950208"/>
            <a:ext cx="0" cy="640080"/>
          </a:xfrm>
          <a:prstGeom prst="line">
            <a:avLst/>
          </a:prstGeom>
          <a:noFill/>
          <a:ln w="25400">
            <a:solidFill>
              <a:srgbClr val="C8372D"/>
            </a:solidFill>
            <a:prstDash val="solid"/>
            <a:tailEnd type="triangle"/>
          </a:ln>
        </p:spPr>
        <p:txBody>
          <a:bodyPr/>
          <a:lstStyle/>
          <a:p>
            <a:endParaRPr lang="en-IN"/>
          </a:p>
        </p:txBody>
      </p:sp>
      <p:sp>
        <p:nvSpPr>
          <p:cNvPr id="26" name="Text 24"/>
          <p:cNvSpPr txBox="1"/>
          <p:nvPr/>
        </p:nvSpPr>
        <p:spPr>
          <a:xfrm>
            <a:off x="2944368" y="4023360"/>
            <a:ext cx="1097280" cy="320040"/>
          </a:xfrm>
          <a:prstGeom prst="rect">
            <a:avLst/>
          </a:prstGeom>
          <a:noFill/>
          <a:ln/>
        </p:spPr>
        <p:txBody>
          <a:bodyPr wrap="square" lIns="0" tIns="0" rIns="0" bIns="0" rtlCol="0" anchor="ctr"/>
          <a:lstStyle/>
          <a:p>
            <a:pPr marL="0" indent="0">
              <a:buNone/>
            </a:pPr>
            <a:r>
              <a:rPr lang="en-US" sz="1100" i="1" dirty="0">
                <a:solidFill>
                  <a:srgbClr val="C8372D"/>
                </a:solidFill>
                <a:latin typeface="Calibri" pitchFamily="34" charset="0"/>
                <a:ea typeface="Calibri" pitchFamily="34" charset="-122"/>
                <a:cs typeface="Calibri" pitchFamily="34" charset="-120"/>
              </a:rPr>
              <a:t>if unsafe</a:t>
            </a:r>
            <a:endParaRPr lang="en-US" sz="1100" dirty="0"/>
          </a:p>
        </p:txBody>
      </p:sp>
      <p:sp>
        <p:nvSpPr>
          <p:cNvPr id="27" name="Text 25"/>
          <p:cNvSpPr txBox="1"/>
          <p:nvPr/>
        </p:nvSpPr>
        <p:spPr>
          <a:xfrm>
            <a:off x="2167128" y="4617720"/>
            <a:ext cx="4608576" cy="1188720"/>
          </a:xfrm>
          <a:prstGeom prst="roundRect">
            <a:avLst>
              <a:gd name="adj" fmla="val 7692"/>
            </a:avLst>
          </a:prstGeom>
          <a:solidFill>
            <a:srgbClr val="C8372D"/>
          </a:solidFill>
          <a:ln/>
        </p:spPr>
        <p:txBody>
          <a:bodyPr wrap="square" lIns="152400" tIns="152400" rIns="152400" bIns="15240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BLOCKED</a:t>
            </a:r>
            <a:endParaRPr lang="en-US" sz="1600" dirty="0"/>
          </a:p>
          <a:p>
            <a:pPr marL="0" indent="0">
              <a:buNone/>
            </a:pPr>
            <a:r>
              <a:rPr lang="en-US" sz="1300" dirty="0">
                <a:solidFill>
                  <a:srgbClr val="FFFFFF"/>
                </a:solidFill>
                <a:latin typeface="Calibri" pitchFamily="34" charset="0"/>
                <a:ea typeface="Calibri" pitchFamily="34" charset="-122"/>
                <a:cs typeface="Calibri" pitchFamily="34" charset="-120"/>
              </a:rPr>
              <a:t>Pipeline stops. Downstream stages are skipped and the reason is logged.</a:t>
            </a:r>
            <a:endParaRPr lang="en-US" sz="1600" dirty="0"/>
          </a:p>
        </p:txBody>
      </p:sp>
      <p:sp>
        <p:nvSpPr>
          <p:cNvPr id="28" name="Text 26"/>
          <p:cNvSpPr txBox="1"/>
          <p:nvPr/>
        </p:nvSpPr>
        <p:spPr>
          <a:xfrm>
            <a:off x="7141464" y="4617720"/>
            <a:ext cx="4434840" cy="1188720"/>
          </a:xfrm>
          <a:prstGeom prst="roundRect">
            <a:avLst>
              <a:gd name="adj" fmla="val 7692"/>
            </a:avLst>
          </a:prstGeom>
          <a:solidFill>
            <a:srgbClr val="0F766E"/>
          </a:solidFill>
          <a:ln/>
        </p:spPr>
        <p:txBody>
          <a:bodyPr wrap="square" lIns="152400" tIns="152400" rIns="152400" bIns="15240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SAFE</a:t>
            </a:r>
            <a:endParaRPr lang="en-US" sz="1600" dirty="0"/>
          </a:p>
          <a:p>
            <a:pPr marL="0" indent="0">
              <a:buNone/>
            </a:pPr>
            <a:r>
              <a:rPr lang="en-US" sz="1300" dirty="0">
                <a:solidFill>
                  <a:srgbClr val="FFFFFF"/>
                </a:solidFill>
                <a:latin typeface="Calibri" pitchFamily="34" charset="0"/>
                <a:ea typeface="Calibri" pitchFamily="34" charset="-122"/>
                <a:cs typeface="Calibri" pitchFamily="34" charset="-120"/>
              </a:rPr>
              <a:t>Result is delivered with a validation report and a full workflow trace.</a:t>
            </a:r>
            <a:endParaRPr lang="en-US" sz="1600" dirty="0"/>
          </a:p>
        </p:txBody>
      </p:sp>
      <p:sp>
        <p:nvSpPr>
          <p:cNvPr id="29" name="Text 27"/>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Our key design idea: security at two boundaries</a:t>
            </a:r>
            <a:endParaRPr lang="en-US" sz="3200" dirty="0"/>
          </a:p>
        </p:txBody>
      </p:sp>
      <p:sp>
        <p:nvSpPr>
          <p:cNvPr id="3" name="Shape 1"/>
          <p:cNvSpPr/>
          <p:nvPr/>
        </p:nvSpPr>
        <p:spPr>
          <a:xfrm>
            <a:off x="548640" y="1463040"/>
            <a:ext cx="1920240" cy="1005840"/>
          </a:xfrm>
          <a:prstGeom prst="roundRect">
            <a:avLst>
              <a:gd name="adj" fmla="val 909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4" name="Text 2"/>
          <p:cNvSpPr txBox="1"/>
          <p:nvPr/>
        </p:nvSpPr>
        <p:spPr>
          <a:xfrm>
            <a:off x="548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Developer request</a:t>
            </a:r>
            <a:endParaRPr lang="en-US" sz="1600" dirty="0"/>
          </a:p>
        </p:txBody>
      </p:sp>
      <p:sp>
        <p:nvSpPr>
          <p:cNvPr id="5" name="Shape 3"/>
          <p:cNvSpPr/>
          <p:nvPr/>
        </p:nvSpPr>
        <p:spPr>
          <a:xfrm>
            <a:off x="2487168" y="1965960"/>
            <a:ext cx="329184" cy="0"/>
          </a:xfrm>
          <a:prstGeom prst="line">
            <a:avLst/>
          </a:prstGeom>
          <a:noFill/>
          <a:ln w="25400">
            <a:solidFill>
              <a:srgbClr val="171A21"/>
            </a:solidFill>
            <a:prstDash val="solid"/>
            <a:tailEnd type="triangle"/>
          </a:ln>
        </p:spPr>
        <p:txBody>
          <a:bodyPr/>
          <a:lstStyle/>
          <a:p>
            <a:endParaRPr/>
          </a:p>
        </p:txBody>
      </p:sp>
      <p:sp>
        <p:nvSpPr>
          <p:cNvPr id="6" name="Shape 4"/>
          <p:cNvSpPr/>
          <p:nvPr/>
        </p:nvSpPr>
        <p:spPr>
          <a:xfrm>
            <a:off x="2834640" y="1463040"/>
            <a:ext cx="1920240" cy="1005840"/>
          </a:xfrm>
          <a:prstGeom prst="roundRect">
            <a:avLst>
              <a:gd name="adj" fmla="val 9091"/>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7" name="Text 5"/>
          <p:cNvSpPr txBox="1"/>
          <p:nvPr/>
        </p:nvSpPr>
        <p:spPr>
          <a:xfrm>
            <a:off x="2834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F5A524"/>
                </a:solidFill>
                <a:latin typeface="Calibri" pitchFamily="34" charset="0"/>
                <a:ea typeface="Calibri" pitchFamily="34" charset="-122"/>
                <a:cs typeface="Calibri" pitchFamily="34" charset="-120"/>
              </a:rPr>
              <a:t>Boundary 1</a:t>
            </a:r>
            <a:endParaRPr lang="en-US" sz="1600" dirty="0"/>
          </a:p>
        </p:txBody>
      </p:sp>
      <p:sp>
        <p:nvSpPr>
          <p:cNvPr id="8" name="Shape 6"/>
          <p:cNvSpPr/>
          <p:nvPr/>
        </p:nvSpPr>
        <p:spPr>
          <a:xfrm>
            <a:off x="4773168" y="1965960"/>
            <a:ext cx="329184" cy="0"/>
          </a:xfrm>
          <a:prstGeom prst="line">
            <a:avLst/>
          </a:prstGeom>
          <a:noFill/>
          <a:ln w="25400">
            <a:solidFill>
              <a:srgbClr val="171A21"/>
            </a:solidFill>
            <a:prstDash val="solid"/>
            <a:tailEnd type="triangle"/>
          </a:ln>
        </p:spPr>
        <p:txBody>
          <a:bodyPr/>
          <a:lstStyle/>
          <a:p>
            <a:endParaRPr/>
          </a:p>
        </p:txBody>
      </p:sp>
      <p:sp>
        <p:nvSpPr>
          <p:cNvPr id="9" name="Shape 7"/>
          <p:cNvSpPr/>
          <p:nvPr/>
        </p:nvSpPr>
        <p:spPr>
          <a:xfrm>
            <a:off x="5120640" y="1463040"/>
            <a:ext cx="1920240" cy="1005840"/>
          </a:xfrm>
          <a:prstGeom prst="roundRect">
            <a:avLst>
              <a:gd name="adj" fmla="val 909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0" name="Text 8"/>
          <p:cNvSpPr txBox="1"/>
          <p:nvPr/>
        </p:nvSpPr>
        <p:spPr>
          <a:xfrm>
            <a:off x="5120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Retrieved evidence</a:t>
            </a:r>
            <a:endParaRPr lang="en-US" sz="1600" dirty="0"/>
          </a:p>
        </p:txBody>
      </p:sp>
      <p:sp>
        <p:nvSpPr>
          <p:cNvPr id="11" name="Shape 9"/>
          <p:cNvSpPr/>
          <p:nvPr/>
        </p:nvSpPr>
        <p:spPr>
          <a:xfrm>
            <a:off x="7059168" y="1965960"/>
            <a:ext cx="329184" cy="0"/>
          </a:xfrm>
          <a:prstGeom prst="line">
            <a:avLst/>
          </a:prstGeom>
          <a:noFill/>
          <a:ln w="25400">
            <a:solidFill>
              <a:srgbClr val="171A21"/>
            </a:solidFill>
            <a:prstDash val="solid"/>
            <a:tailEnd type="triangle"/>
          </a:ln>
        </p:spPr>
        <p:txBody>
          <a:bodyPr/>
          <a:lstStyle/>
          <a:p>
            <a:endParaRPr/>
          </a:p>
        </p:txBody>
      </p:sp>
      <p:sp>
        <p:nvSpPr>
          <p:cNvPr id="12" name="Shape 10"/>
          <p:cNvSpPr/>
          <p:nvPr/>
        </p:nvSpPr>
        <p:spPr>
          <a:xfrm>
            <a:off x="7406640" y="1463040"/>
            <a:ext cx="1920240" cy="1005840"/>
          </a:xfrm>
          <a:prstGeom prst="roundRect">
            <a:avLst>
              <a:gd name="adj" fmla="val 9091"/>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13" name="Text 11"/>
          <p:cNvSpPr txBox="1"/>
          <p:nvPr/>
        </p:nvSpPr>
        <p:spPr>
          <a:xfrm>
            <a:off x="7406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F5A524"/>
                </a:solidFill>
                <a:latin typeface="Calibri" pitchFamily="34" charset="0"/>
                <a:ea typeface="Calibri" pitchFamily="34" charset="-122"/>
                <a:cs typeface="Calibri" pitchFamily="34" charset="-120"/>
              </a:rPr>
              <a:t>Boundary 2</a:t>
            </a:r>
            <a:endParaRPr lang="en-US" sz="1600" dirty="0"/>
          </a:p>
        </p:txBody>
      </p:sp>
      <p:sp>
        <p:nvSpPr>
          <p:cNvPr id="14" name="Shape 12"/>
          <p:cNvSpPr/>
          <p:nvPr/>
        </p:nvSpPr>
        <p:spPr>
          <a:xfrm>
            <a:off x="9345168" y="1965960"/>
            <a:ext cx="329184" cy="0"/>
          </a:xfrm>
          <a:prstGeom prst="line">
            <a:avLst/>
          </a:prstGeom>
          <a:noFill/>
          <a:ln w="25400">
            <a:solidFill>
              <a:srgbClr val="171A21"/>
            </a:solidFill>
            <a:prstDash val="solid"/>
            <a:tailEnd type="triangle"/>
          </a:ln>
        </p:spPr>
        <p:txBody>
          <a:bodyPr/>
          <a:lstStyle/>
          <a:p>
            <a:endParaRPr/>
          </a:p>
        </p:txBody>
      </p:sp>
      <p:sp>
        <p:nvSpPr>
          <p:cNvPr id="15" name="Shape 13"/>
          <p:cNvSpPr/>
          <p:nvPr/>
        </p:nvSpPr>
        <p:spPr>
          <a:xfrm>
            <a:off x="9692640" y="1463040"/>
            <a:ext cx="1920240" cy="1005840"/>
          </a:xfrm>
          <a:prstGeom prst="roundRect">
            <a:avLst>
              <a:gd name="adj" fmla="val 909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6" name="Text 14"/>
          <p:cNvSpPr txBox="1"/>
          <p:nvPr/>
        </p:nvSpPr>
        <p:spPr>
          <a:xfrm>
            <a:off x="9692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LLM generation</a:t>
            </a:r>
            <a:endParaRPr lang="en-US" sz="1600" dirty="0"/>
          </a:p>
        </p:txBody>
      </p:sp>
      <p:sp>
        <p:nvSpPr>
          <p:cNvPr id="17" name="Shape 15"/>
          <p:cNvSpPr/>
          <p:nvPr/>
        </p:nvSpPr>
        <p:spPr>
          <a:xfrm>
            <a:off x="548640" y="2834640"/>
            <a:ext cx="5440680" cy="2606040"/>
          </a:xfrm>
          <a:prstGeom prst="roundRect">
            <a:avLst>
              <a:gd name="adj" fmla="val 421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8" name="Text 16"/>
          <p:cNvSpPr txBox="1"/>
          <p:nvPr/>
        </p:nvSpPr>
        <p:spPr>
          <a:xfrm>
            <a:off x="822960" y="2971800"/>
            <a:ext cx="4937760" cy="50292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Boundary 1: the developer's request</a:t>
            </a:r>
            <a:endParaRPr lang="en-US" sz="1900" dirty="0"/>
          </a:p>
        </p:txBody>
      </p:sp>
      <p:sp>
        <p:nvSpPr>
          <p:cNvPr id="19" name="Text 17"/>
          <p:cNvSpPr txBox="1"/>
          <p:nvPr/>
        </p:nvSpPr>
        <p:spPr>
          <a:xfrm>
            <a:off x="822960" y="3566160"/>
            <a:ext cx="4937760" cy="1783080"/>
          </a:xfrm>
          <a:prstGeom prst="rect">
            <a:avLst/>
          </a:prstGeom>
          <a:noFill/>
          <a:ln/>
        </p:spPr>
        <p:txBody>
          <a:bodyPr wrap="square" lIns="0" tIns="0" rIns="0" bIns="0" rtlCol="0" anchor="t"/>
          <a:lstStyle/>
          <a:p>
            <a:r>
              <a:t>Detects Aadhaar-like numbers, keys and credentials typed into the prompt</a:t>
            </a:r>
          </a:p>
          <a:p>
            <a:r>
              <a:t>Uses explicit English security context and identifier formats</a:t>
            </a:r>
          </a:p>
          <a:p>
            <a:r>
              <a:t>BLOCKED means nothing ever reaches the LLM</a:t>
            </a:r>
          </a:p>
        </p:txBody>
      </p:sp>
      <p:sp>
        <p:nvSpPr>
          <p:cNvPr id="20" name="Shape 18"/>
          <p:cNvSpPr/>
          <p:nvPr/>
        </p:nvSpPr>
        <p:spPr>
          <a:xfrm>
            <a:off x="6172200" y="2834640"/>
            <a:ext cx="5440680" cy="2606040"/>
          </a:xfrm>
          <a:prstGeom prst="roundRect">
            <a:avLst>
              <a:gd name="adj" fmla="val 421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1" name="Text 19"/>
          <p:cNvSpPr txBox="1"/>
          <p:nvPr/>
        </p:nvSpPr>
        <p:spPr>
          <a:xfrm>
            <a:off x="6446520" y="2971800"/>
            <a:ext cx="4937760" cy="50292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Boundary 2: the retrieved repository context</a:t>
            </a:r>
            <a:endParaRPr lang="en-US" sz="1900" dirty="0"/>
          </a:p>
        </p:txBody>
      </p:sp>
      <p:sp>
        <p:nvSpPr>
          <p:cNvPr id="22" name="Text 20"/>
          <p:cNvSpPr txBox="1"/>
          <p:nvPr/>
        </p:nvSpPr>
        <p:spPr>
          <a:xfrm>
            <a:off x="6446520" y="3566160"/>
            <a:ext cx="493776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430"/>
                </a:solidFill>
                <a:latin typeface="Calibri" pitchFamily="34" charset="0"/>
                <a:ea typeface="Calibri" pitchFamily="34" charset="-122"/>
                <a:cs typeface="Calibri" pitchFamily="34" charset="-120"/>
              </a:rPr>
              <a:t>Retrieved chunks can hold secrets or sensitive data too</a:t>
            </a:r>
            <a:endParaRPr lang="en-US" sz="1400" dirty="0"/>
          </a:p>
          <a:p>
            <a:pPr marL="342900" indent="-342900">
              <a:spcAft>
                <a:spcPts val="600"/>
              </a:spcAft>
              <a:buSzPct val="100000"/>
              <a:buChar char="•"/>
            </a:pPr>
            <a:r>
              <a:rPr lang="en-US" sz="1400" dirty="0">
                <a:solidFill>
                  <a:srgbClr val="1F2430"/>
                </a:solidFill>
                <a:latin typeface="Calibri" pitchFamily="34" charset="0"/>
                <a:ea typeface="Calibri" pitchFamily="34" charset="-122"/>
                <a:cs typeface="Calibri" pitchFamily="34" charset="-120"/>
              </a:rPr>
              <a:t>Evidence is screened before it enters the prompt</a:t>
            </a:r>
            <a:endParaRPr lang="en-US" sz="1400" dirty="0"/>
          </a:p>
          <a:p>
            <a:pPr marL="342900" indent="-342900">
              <a:spcAft>
                <a:spcPts val="600"/>
              </a:spcAft>
              <a:buSzPct val="100000"/>
              <a:buChar char="•"/>
            </a:pPr>
            <a:r>
              <a:rPr lang="en-US" sz="1400" dirty="0">
                <a:solidFill>
                  <a:srgbClr val="1F2430"/>
                </a:solidFill>
                <a:latin typeface="Calibri" pitchFamily="34" charset="0"/>
                <a:ea typeface="Calibri" pitchFamily="34" charset="-122"/>
                <a:cs typeface="Calibri" pitchFamily="34" charset="-120"/>
              </a:rPr>
              <a:t>Most assistants skip this step. KAVACH never trusts context blindly.</a:t>
            </a:r>
            <a:endParaRPr lang="en-US" sz="1400" dirty="0"/>
          </a:p>
        </p:txBody>
      </p:sp>
      <p:sp>
        <p:nvSpPr>
          <p:cNvPr id="23" name="Shape 21"/>
          <p:cNvSpPr/>
          <p:nvPr/>
        </p:nvSpPr>
        <p:spPr>
          <a:xfrm>
            <a:off x="548640" y="5669280"/>
            <a:ext cx="11064240" cy="566928"/>
          </a:xfrm>
          <a:prstGeom prst="roundRect">
            <a:avLst>
              <a:gd name="adj" fmla="val 16129"/>
            </a:avLst>
          </a:prstGeom>
          <a:solidFill>
            <a:srgbClr val="F5A524"/>
          </a:solidFill>
          <a:ln w="12700">
            <a:solidFill>
              <a:srgbClr val="F5A524"/>
            </a:solidFill>
            <a:prstDash val="solid"/>
          </a:ln>
        </p:spPr>
        <p:txBody>
          <a:bodyPr/>
          <a:lstStyle/>
          <a:p>
            <a:endParaRPr/>
          </a:p>
        </p:txBody>
      </p:sp>
      <p:sp>
        <p:nvSpPr>
          <p:cNvPr id="24" name="Text 22"/>
          <p:cNvSpPr txBox="1"/>
          <p:nvPr/>
        </p:nvSpPr>
        <p:spPr>
          <a:xfrm>
            <a:off x="548640" y="5669280"/>
            <a:ext cx="11064240" cy="566928"/>
          </a:xfrm>
          <a:prstGeom prst="rect">
            <a:avLst/>
          </a:prstGeom>
          <a:noFill/>
          <a:ln/>
        </p:spPr>
        <p:txBody>
          <a:bodyPr wrap="square" lIns="0" tIns="0" rIns="0" bIns="0" rtlCol="0" anchor="ctr"/>
          <a:lstStyle/>
          <a:p>
            <a:pPr marL="0" indent="0" algn="ctr">
              <a:buNone/>
            </a:pPr>
            <a:r>
              <a:rPr lang="en-US" sz="1500" b="1" dirty="0">
                <a:solidFill>
                  <a:srgbClr val="171A21"/>
                </a:solidFill>
                <a:latin typeface="Calibri" pitchFamily="34" charset="0"/>
                <a:ea typeface="Calibri" pitchFamily="34" charset="-122"/>
                <a:cs typeface="Calibri" pitchFamily="34" charset="-120"/>
              </a:rPr>
              <a:t>Security at both doors: what the developer sends in AND what the system pulls from the repository.</a:t>
            </a:r>
            <a:endParaRPr lang="en-US" sz="1500" dirty="0"/>
          </a:p>
        </p:txBody>
      </p:sp>
      <p:sp>
        <p:nvSpPr>
          <p:cNvPr id="25" name="Text 2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Architecture and technology stack</a:t>
            </a:r>
            <a:endParaRPr lang="en-US" sz="3200" dirty="0"/>
          </a:p>
        </p:txBody>
      </p:sp>
      <p:sp>
        <p:nvSpPr>
          <p:cNvPr id="3" name="Text 1"/>
          <p:cNvSpPr txBox="1"/>
          <p:nvPr/>
        </p:nvSpPr>
        <p:spPr>
          <a:xfrm>
            <a:off x="548640" y="1371600"/>
            <a:ext cx="1737360" cy="86868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Interface</a:t>
            </a:r>
            <a:endParaRPr lang="en-US" sz="1700" dirty="0"/>
          </a:p>
        </p:txBody>
      </p:sp>
      <p:sp>
        <p:nvSpPr>
          <p:cNvPr id="4" name="Text 2"/>
          <p:cNvSpPr txBox="1"/>
          <p:nvPr/>
        </p:nvSpPr>
        <p:spPr>
          <a:xfrm>
            <a:off x="2286000" y="1371600"/>
            <a:ext cx="457200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Web dashboard (HTML / CSS / JS)</a:t>
            </a:r>
            <a:endParaRPr lang="en-US" sz="1400" dirty="0"/>
          </a:p>
        </p:txBody>
      </p:sp>
      <p:sp>
        <p:nvSpPr>
          <p:cNvPr id="5" name="Text 3"/>
          <p:cNvSpPr txBox="1"/>
          <p:nvPr/>
        </p:nvSpPr>
        <p:spPr>
          <a:xfrm>
            <a:off x="7040880" y="1371600"/>
            <a:ext cx="457200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Swagger / OpenAPI docs</a:t>
            </a:r>
            <a:endParaRPr lang="en-US" sz="1400" dirty="0"/>
          </a:p>
        </p:txBody>
      </p:sp>
      <p:sp>
        <p:nvSpPr>
          <p:cNvPr id="6" name="Shape 4"/>
          <p:cNvSpPr/>
          <p:nvPr/>
        </p:nvSpPr>
        <p:spPr>
          <a:xfrm>
            <a:off x="6949440" y="2258568"/>
            <a:ext cx="0" cy="146304"/>
          </a:xfrm>
          <a:prstGeom prst="line">
            <a:avLst/>
          </a:prstGeom>
          <a:noFill/>
          <a:ln w="25400">
            <a:solidFill>
              <a:srgbClr val="6B7280"/>
            </a:solidFill>
            <a:prstDash val="solid"/>
            <a:tailEnd type="triangle"/>
          </a:ln>
        </p:spPr>
        <p:txBody>
          <a:bodyPr/>
          <a:lstStyle/>
          <a:p>
            <a:endParaRPr lang="en-IN"/>
          </a:p>
        </p:txBody>
      </p:sp>
      <p:sp>
        <p:nvSpPr>
          <p:cNvPr id="7" name="Text 5"/>
          <p:cNvSpPr txBox="1"/>
          <p:nvPr/>
        </p:nvSpPr>
        <p:spPr>
          <a:xfrm>
            <a:off x="548640" y="2423160"/>
            <a:ext cx="1737360" cy="86868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API layer</a:t>
            </a:r>
            <a:endParaRPr lang="en-US" sz="1700" dirty="0"/>
          </a:p>
        </p:txBody>
      </p:sp>
      <p:sp>
        <p:nvSpPr>
          <p:cNvPr id="8" name="Text 6"/>
          <p:cNvSpPr txBox="1"/>
          <p:nvPr/>
        </p:nvSpPr>
        <p:spPr>
          <a:xfrm>
            <a:off x="2286000" y="2423160"/>
            <a:ext cx="9326880" cy="868680"/>
          </a:xfrm>
          <a:prstGeom prst="roundRect">
            <a:avLst>
              <a:gd name="adj" fmla="val 10526"/>
            </a:avLst>
          </a:prstGeom>
          <a:solidFill>
            <a:srgbClr val="171A21"/>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FastAPI:  /detect   /ingest   /search   /agent/request   /evaluate   /impact/analyze   /impact/evaluate</a:t>
            </a:r>
            <a:endParaRPr lang="en-US" sz="1400" dirty="0"/>
          </a:p>
        </p:txBody>
      </p:sp>
      <p:sp>
        <p:nvSpPr>
          <p:cNvPr id="9" name="Shape 7"/>
          <p:cNvSpPr/>
          <p:nvPr/>
        </p:nvSpPr>
        <p:spPr>
          <a:xfrm>
            <a:off x="6949440" y="3310128"/>
            <a:ext cx="0" cy="146304"/>
          </a:xfrm>
          <a:prstGeom prst="line">
            <a:avLst/>
          </a:prstGeom>
          <a:noFill/>
          <a:ln w="25400">
            <a:solidFill>
              <a:srgbClr val="6B7280"/>
            </a:solidFill>
            <a:prstDash val="solid"/>
            <a:tailEnd type="triangle"/>
          </a:ln>
        </p:spPr>
        <p:txBody>
          <a:bodyPr/>
          <a:lstStyle/>
          <a:p>
            <a:endParaRPr lang="en-IN"/>
          </a:p>
        </p:txBody>
      </p:sp>
      <p:sp>
        <p:nvSpPr>
          <p:cNvPr id="10" name="Text 8"/>
          <p:cNvSpPr txBox="1"/>
          <p:nvPr/>
        </p:nvSpPr>
        <p:spPr>
          <a:xfrm>
            <a:off x="548640" y="3474720"/>
            <a:ext cx="1737360" cy="86868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Engines</a:t>
            </a:r>
            <a:endParaRPr lang="en-US" sz="1700" dirty="0"/>
          </a:p>
        </p:txBody>
      </p:sp>
      <p:sp>
        <p:nvSpPr>
          <p:cNvPr id="11" name="Text 9"/>
          <p:cNvSpPr txBox="1"/>
          <p:nvPr/>
        </p:nvSpPr>
        <p:spPr>
          <a:xfrm>
            <a:off x="2286000"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Security engine</a:t>
            </a:r>
            <a:endParaRPr lang="en-US" sz="1400" dirty="0"/>
          </a:p>
        </p:txBody>
      </p:sp>
      <p:sp>
        <p:nvSpPr>
          <p:cNvPr id="12" name="Text 10"/>
          <p:cNvSpPr txBox="1"/>
          <p:nvPr/>
        </p:nvSpPr>
        <p:spPr>
          <a:xfrm>
            <a:off x="4187952"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Agent orchestrator</a:t>
            </a:r>
            <a:endParaRPr lang="en-US" sz="1400" dirty="0"/>
          </a:p>
        </p:txBody>
      </p:sp>
      <p:sp>
        <p:nvSpPr>
          <p:cNvPr id="13" name="Text 11"/>
          <p:cNvSpPr txBox="1"/>
          <p:nvPr/>
        </p:nvSpPr>
        <p:spPr>
          <a:xfrm>
            <a:off x="6089904"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RAG</a:t>
            </a:r>
            <a:endParaRPr lang="en-US" sz="1400" dirty="0"/>
          </a:p>
        </p:txBody>
      </p:sp>
      <p:sp>
        <p:nvSpPr>
          <p:cNvPr id="14" name="Text 12"/>
          <p:cNvSpPr txBox="1"/>
          <p:nvPr/>
        </p:nvSpPr>
        <p:spPr>
          <a:xfrm>
            <a:off x="7991856"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Impact analyzer</a:t>
            </a:r>
            <a:endParaRPr lang="en-US" sz="1400" dirty="0"/>
          </a:p>
        </p:txBody>
      </p:sp>
      <p:sp>
        <p:nvSpPr>
          <p:cNvPr id="15" name="Text 13"/>
          <p:cNvSpPr txBox="1"/>
          <p:nvPr/>
        </p:nvSpPr>
        <p:spPr>
          <a:xfrm>
            <a:off x="9893808"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Generator + validator</a:t>
            </a:r>
            <a:endParaRPr lang="en-US" sz="1400" dirty="0"/>
          </a:p>
        </p:txBody>
      </p:sp>
      <p:sp>
        <p:nvSpPr>
          <p:cNvPr id="16" name="Shape 14"/>
          <p:cNvSpPr/>
          <p:nvPr/>
        </p:nvSpPr>
        <p:spPr>
          <a:xfrm>
            <a:off x="6949440" y="4361688"/>
            <a:ext cx="0" cy="146304"/>
          </a:xfrm>
          <a:prstGeom prst="line">
            <a:avLst/>
          </a:prstGeom>
          <a:noFill/>
          <a:ln w="25400">
            <a:solidFill>
              <a:srgbClr val="6B7280"/>
            </a:solidFill>
            <a:prstDash val="solid"/>
            <a:tailEnd type="triangle"/>
          </a:ln>
        </p:spPr>
        <p:txBody>
          <a:bodyPr/>
          <a:lstStyle/>
          <a:p>
            <a:endParaRPr lang="en-IN"/>
          </a:p>
        </p:txBody>
      </p:sp>
      <p:sp>
        <p:nvSpPr>
          <p:cNvPr id="17" name="Text 15"/>
          <p:cNvSpPr txBox="1"/>
          <p:nvPr/>
        </p:nvSpPr>
        <p:spPr>
          <a:xfrm>
            <a:off x="548640" y="4526280"/>
            <a:ext cx="1737360" cy="86868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AI &amp; data</a:t>
            </a:r>
            <a:endParaRPr lang="en-US" sz="1700" dirty="0"/>
          </a:p>
        </p:txBody>
      </p:sp>
      <p:sp>
        <p:nvSpPr>
          <p:cNvPr id="18" name="Text 16"/>
          <p:cNvSpPr txBox="1"/>
          <p:nvPr/>
        </p:nvSpPr>
        <p:spPr>
          <a:xfrm>
            <a:off x="2286000" y="4526280"/>
            <a:ext cx="298704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Qdrant (vector search)</a:t>
            </a:r>
            <a:endParaRPr lang="en-US" sz="1400" dirty="0"/>
          </a:p>
        </p:txBody>
      </p:sp>
      <p:sp>
        <p:nvSpPr>
          <p:cNvPr id="19" name="Text 17"/>
          <p:cNvSpPr txBox="1"/>
          <p:nvPr/>
        </p:nvSpPr>
        <p:spPr>
          <a:xfrm>
            <a:off x="5455920" y="4526280"/>
            <a:ext cx="298704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Sentence Transformers</a:t>
            </a:r>
            <a:endParaRPr lang="en-US" sz="1400" dirty="0"/>
          </a:p>
        </p:txBody>
      </p:sp>
      <p:sp>
        <p:nvSpPr>
          <p:cNvPr id="20" name="Text 18"/>
          <p:cNvSpPr txBox="1"/>
          <p:nvPr/>
        </p:nvSpPr>
        <p:spPr>
          <a:xfrm>
            <a:off x="8625840" y="4526280"/>
            <a:ext cx="298704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Google Gemini</a:t>
            </a:r>
            <a:endParaRPr lang="en-US" sz="1400" dirty="0"/>
          </a:p>
        </p:txBody>
      </p:sp>
      <p:sp>
        <p:nvSpPr>
          <p:cNvPr id="21" name="Text 19"/>
          <p:cNvSpPr txBox="1"/>
          <p:nvPr/>
        </p:nvSpPr>
        <p:spPr>
          <a:xfrm>
            <a:off x="548640" y="5623560"/>
            <a:ext cx="11064240" cy="640080"/>
          </a:xfrm>
          <a:prstGeom prst="roundRect">
            <a:avLst>
              <a:gd name="adj" fmla="val 14286"/>
            </a:avLst>
          </a:prstGeom>
          <a:solidFill>
            <a:srgbClr val="171A21"/>
          </a:solidFill>
          <a:ln/>
        </p:spPr>
        <p:txBody>
          <a:bodyPr wrap="square" lIns="76200" tIns="76200" rIns="76200" bIns="76200" rtlCol="0" anchor="ctr"/>
          <a:lstStyle/>
          <a:p>
            <a:pPr marL="0" indent="0" algn="ctr">
              <a:buNone/>
            </a:pPr>
            <a:r>
              <a:rPr lang="en-US" sz="1500" b="1" dirty="0">
                <a:solidFill>
                  <a:srgbClr val="F5A524"/>
                </a:solidFill>
                <a:latin typeface="Calibri" pitchFamily="34" charset="0"/>
                <a:ea typeface="Calibri" pitchFamily="34" charset="-122"/>
                <a:cs typeface="Calibri" pitchFamily="34" charset="-120"/>
              </a:rPr>
              <a:t>Quality &amp; delivery:  GitHub Actions CI security gate   |   pytest test suite</a:t>
            </a:r>
            <a:endParaRPr lang="en-US" sz="1500" dirty="0"/>
          </a:p>
        </p:txBody>
      </p:sp>
      <p:sp>
        <p:nvSpPr>
          <p:cNvPr id="22" name="Text 20"/>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Under the hood: chunking</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Phase 1: how KAVACH breaks a codebase into searchable pieces</a:t>
            </a:r>
            <a:endParaRPr lang="en-US" sz="1600" dirty="0"/>
          </a:p>
        </p:txBody>
      </p:sp>
      <p:sp>
        <p:nvSpPr>
          <p:cNvPr id="4" name="Text 2"/>
          <p:cNvSpPr txBox="1"/>
          <p:nvPr/>
        </p:nvSpPr>
        <p:spPr>
          <a:xfrm>
            <a:off x="548640" y="1600200"/>
            <a:ext cx="603504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Example: one 3,200-character source file</a:t>
            </a:r>
            <a:endParaRPr lang="en-US" sz="1200" dirty="0"/>
          </a:p>
        </p:txBody>
      </p:sp>
      <p:sp>
        <p:nvSpPr>
          <p:cNvPr id="5" name="Text 3"/>
          <p:cNvSpPr txBox="1"/>
          <p:nvPr/>
        </p:nvSpPr>
        <p:spPr>
          <a:xfrm>
            <a:off x="548640" y="1920240"/>
            <a:ext cx="6035040" cy="457200"/>
          </a:xfrm>
          <a:prstGeom prst="rect">
            <a:avLst/>
          </a:prstGeom>
          <a:solidFill>
            <a:srgbClr val="262B36"/>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source file</a:t>
            </a:r>
            <a:endParaRPr lang="en-US" sz="1300" dirty="0"/>
          </a:p>
        </p:txBody>
      </p:sp>
      <p:sp>
        <p:nvSpPr>
          <p:cNvPr id="6" name="Text 4"/>
          <p:cNvSpPr txBox="1"/>
          <p:nvPr/>
        </p:nvSpPr>
        <p:spPr>
          <a:xfrm>
            <a:off x="548640" y="2743200"/>
            <a:ext cx="2263140" cy="548640"/>
          </a:xfrm>
          <a:prstGeom prst="rect">
            <a:avLst/>
          </a:prstGeom>
          <a:solidFill>
            <a:srgbClr val="0F76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Chunk 0</a:t>
            </a:r>
            <a:endParaRPr lang="en-US" sz="1300" dirty="0"/>
          </a:p>
        </p:txBody>
      </p:sp>
      <p:sp>
        <p:nvSpPr>
          <p:cNvPr id="7" name="Text 5"/>
          <p:cNvSpPr txBox="1"/>
          <p:nvPr/>
        </p:nvSpPr>
        <p:spPr>
          <a:xfrm>
            <a:off x="2434590" y="3520440"/>
            <a:ext cx="2263140" cy="548640"/>
          </a:xfrm>
          <a:prstGeom prst="rect">
            <a:avLst/>
          </a:prstGeom>
          <a:solidFill>
            <a:srgbClr val="0F76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Chunk 1</a:t>
            </a:r>
            <a:endParaRPr lang="en-US" sz="1300" dirty="0"/>
          </a:p>
        </p:txBody>
      </p:sp>
      <p:sp>
        <p:nvSpPr>
          <p:cNvPr id="8" name="Text 6"/>
          <p:cNvSpPr txBox="1"/>
          <p:nvPr/>
        </p:nvSpPr>
        <p:spPr>
          <a:xfrm>
            <a:off x="4320540" y="4297680"/>
            <a:ext cx="2263140" cy="548640"/>
          </a:xfrm>
          <a:prstGeom prst="rect">
            <a:avLst/>
          </a:prstGeom>
          <a:solidFill>
            <a:srgbClr val="0F76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Chunk 2</a:t>
            </a:r>
            <a:endParaRPr lang="en-US" sz="1300" dirty="0"/>
          </a:p>
        </p:txBody>
      </p:sp>
      <p:sp>
        <p:nvSpPr>
          <p:cNvPr id="9" name="Shape 7"/>
          <p:cNvSpPr/>
          <p:nvPr/>
        </p:nvSpPr>
        <p:spPr>
          <a:xfrm>
            <a:off x="2434590" y="2743200"/>
            <a:ext cx="377190" cy="548640"/>
          </a:xfrm>
          <a:prstGeom prst="rect">
            <a:avLst/>
          </a:prstGeom>
          <a:solidFill>
            <a:srgbClr val="F5A524"/>
          </a:solidFill>
          <a:ln w="12700">
            <a:solidFill>
              <a:srgbClr val="F5A524"/>
            </a:solidFill>
            <a:prstDash val="solid"/>
          </a:ln>
        </p:spPr>
        <p:txBody>
          <a:bodyPr/>
          <a:lstStyle/>
          <a:p>
            <a:endParaRPr lang="en-IN"/>
          </a:p>
        </p:txBody>
      </p:sp>
      <p:sp>
        <p:nvSpPr>
          <p:cNvPr id="10" name="Shape 8"/>
          <p:cNvSpPr/>
          <p:nvPr/>
        </p:nvSpPr>
        <p:spPr>
          <a:xfrm>
            <a:off x="2434590" y="3520440"/>
            <a:ext cx="377190" cy="548640"/>
          </a:xfrm>
          <a:prstGeom prst="rect">
            <a:avLst/>
          </a:prstGeom>
          <a:solidFill>
            <a:srgbClr val="F5A524"/>
          </a:solidFill>
          <a:ln w="12700">
            <a:solidFill>
              <a:srgbClr val="F5A524"/>
            </a:solidFill>
            <a:prstDash val="solid"/>
          </a:ln>
        </p:spPr>
        <p:txBody>
          <a:bodyPr/>
          <a:lstStyle/>
          <a:p>
            <a:endParaRPr lang="en-IN"/>
          </a:p>
        </p:txBody>
      </p:sp>
      <p:sp>
        <p:nvSpPr>
          <p:cNvPr id="11" name="Shape 9"/>
          <p:cNvSpPr/>
          <p:nvPr/>
        </p:nvSpPr>
        <p:spPr>
          <a:xfrm>
            <a:off x="4320540" y="3520440"/>
            <a:ext cx="377190" cy="548640"/>
          </a:xfrm>
          <a:prstGeom prst="rect">
            <a:avLst/>
          </a:prstGeom>
          <a:solidFill>
            <a:srgbClr val="F5A524"/>
          </a:solidFill>
          <a:ln w="12700">
            <a:solidFill>
              <a:srgbClr val="F5A524"/>
            </a:solidFill>
            <a:prstDash val="solid"/>
          </a:ln>
        </p:spPr>
        <p:txBody>
          <a:bodyPr/>
          <a:lstStyle/>
          <a:p>
            <a:endParaRPr lang="en-IN"/>
          </a:p>
        </p:txBody>
      </p:sp>
      <p:sp>
        <p:nvSpPr>
          <p:cNvPr id="12" name="Shape 10"/>
          <p:cNvSpPr/>
          <p:nvPr/>
        </p:nvSpPr>
        <p:spPr>
          <a:xfrm>
            <a:off x="4320540" y="4297680"/>
            <a:ext cx="377190" cy="548640"/>
          </a:xfrm>
          <a:prstGeom prst="rect">
            <a:avLst/>
          </a:prstGeom>
          <a:solidFill>
            <a:srgbClr val="F5A524"/>
          </a:solidFill>
          <a:ln w="12700">
            <a:solidFill>
              <a:srgbClr val="F5A524"/>
            </a:solidFill>
            <a:prstDash val="solid"/>
          </a:ln>
        </p:spPr>
        <p:txBody>
          <a:bodyPr/>
          <a:lstStyle/>
          <a:p>
            <a:endParaRPr lang="en-IN"/>
          </a:p>
        </p:txBody>
      </p:sp>
      <p:sp>
        <p:nvSpPr>
          <p:cNvPr id="13" name="Text 11"/>
          <p:cNvSpPr txBox="1"/>
          <p:nvPr/>
        </p:nvSpPr>
        <p:spPr>
          <a:xfrm>
            <a:off x="548640" y="5120640"/>
            <a:ext cx="621792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Chunk 0 = chars 0-1,200   |   Chunk 1 = 1,000-2,200   |   Chunk 2 = 2,000-3,200</a:t>
            </a:r>
            <a:endParaRPr lang="en-US" sz="1200" dirty="0"/>
          </a:p>
        </p:txBody>
      </p:sp>
      <p:sp>
        <p:nvSpPr>
          <p:cNvPr id="14" name="Shape 12"/>
          <p:cNvSpPr/>
          <p:nvPr/>
        </p:nvSpPr>
        <p:spPr>
          <a:xfrm>
            <a:off x="548640" y="5577840"/>
            <a:ext cx="274320" cy="201168"/>
          </a:xfrm>
          <a:prstGeom prst="rect">
            <a:avLst/>
          </a:prstGeom>
          <a:solidFill>
            <a:srgbClr val="F5A524"/>
          </a:solidFill>
          <a:ln w="12700">
            <a:solidFill>
              <a:srgbClr val="F5A524"/>
            </a:solidFill>
            <a:prstDash val="solid"/>
          </a:ln>
        </p:spPr>
        <p:txBody>
          <a:bodyPr/>
          <a:lstStyle/>
          <a:p>
            <a:endParaRPr lang="en-IN"/>
          </a:p>
        </p:txBody>
      </p:sp>
      <p:sp>
        <p:nvSpPr>
          <p:cNvPr id="15" name="Text 13"/>
          <p:cNvSpPr txBox="1"/>
          <p:nvPr/>
        </p:nvSpPr>
        <p:spPr>
          <a:xfrm>
            <a:off x="960120" y="5513832"/>
            <a:ext cx="5669280" cy="329184"/>
          </a:xfrm>
          <a:prstGeom prst="rect">
            <a:avLst/>
          </a:prstGeom>
          <a:noFill/>
          <a:ln/>
        </p:spPr>
        <p:txBody>
          <a:bodyPr wrap="square" lIns="0" tIns="0" rIns="0" bIns="0" rtlCol="0" anchor="ctr"/>
          <a:lstStyle/>
          <a:p>
            <a:pPr marL="0" indent="0">
              <a:buNone/>
            </a:pPr>
            <a:r>
              <a:rPr lang="en-US" sz="1200" dirty="0">
                <a:solidFill>
                  <a:srgbClr val="1F2430"/>
                </a:solidFill>
                <a:latin typeface="Calibri" pitchFamily="34" charset="0"/>
                <a:ea typeface="Calibri" pitchFamily="34" charset="-122"/>
                <a:cs typeface="Calibri" pitchFamily="34" charset="-120"/>
              </a:rPr>
              <a:t>200-character overlap shared with the neighbouring chunk</a:t>
            </a:r>
            <a:endParaRPr lang="en-US" sz="1200" dirty="0"/>
          </a:p>
        </p:txBody>
      </p:sp>
      <p:sp>
        <p:nvSpPr>
          <p:cNvPr id="16" name="Shape 14"/>
          <p:cNvSpPr/>
          <p:nvPr/>
        </p:nvSpPr>
        <p:spPr>
          <a:xfrm>
            <a:off x="7132320" y="1600200"/>
            <a:ext cx="4480560" cy="4526280"/>
          </a:xfrm>
          <a:prstGeom prst="roundRect">
            <a:avLst>
              <a:gd name="adj" fmla="val 2449"/>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7" name="Text 15"/>
          <p:cNvSpPr txBox="1"/>
          <p:nvPr/>
        </p:nvSpPr>
        <p:spPr>
          <a:xfrm>
            <a:off x="7406640" y="1783080"/>
            <a:ext cx="3977640" cy="4206240"/>
          </a:xfrm>
          <a:prstGeom prst="rect">
            <a:avLst/>
          </a:prstGeom>
          <a:noFill/>
          <a:ln/>
        </p:spPr>
        <p:txBody>
          <a:bodyPr wrap="square" lIns="0" tIns="0" rIns="0" bIns="0" rtlCol="0" anchor="t"/>
          <a:lstStyle/>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What happens</a:t>
            </a:r>
            <a:endParaRPr lang="en-US" sz="1600" dirty="0"/>
          </a:p>
          <a:p>
            <a:pPr marL="342900" indent="-342900">
              <a:spcAft>
                <a:spcPts val="400"/>
              </a:spcAft>
              <a:buSzPct val="100000"/>
              <a:buChar char="•"/>
            </a:pPr>
            <a:r>
              <a:rPr lang="en-US" sz="1300" dirty="0">
                <a:solidFill>
                  <a:srgbClr val="1F2430"/>
                </a:solidFill>
                <a:latin typeface="Calibri" pitchFamily="34" charset="0"/>
                <a:ea typeface="Calibri" pitchFamily="34" charset="-122"/>
                <a:cs typeface="Calibri" pitchFamily="34" charset="-120"/>
              </a:rPr>
              <a:t>Reads code and text files (.py .js .ts .md .json .html .css and more); skips .git, venv, node_modules</a:t>
            </a:r>
            <a:endParaRPr lang="en-US" sz="1600" dirty="0"/>
          </a:p>
          <a:p>
            <a:pPr marL="342900" indent="-342900">
              <a:spcAft>
                <a:spcPts val="1200"/>
              </a:spcAft>
              <a:buSzPct val="100000"/>
              <a:buChar char="•"/>
            </a:pPr>
            <a:r>
              <a:rPr lang="en-US" sz="1300" dirty="0">
                <a:solidFill>
                  <a:srgbClr val="1F2430"/>
                </a:solidFill>
                <a:latin typeface="Calibri" pitchFamily="34" charset="0"/>
                <a:ea typeface="Calibri" pitchFamily="34" charset="-122"/>
                <a:cs typeface="Calibri" pitchFamily="34" charset="-120"/>
              </a:rPr>
              <a:t>Cuts each file into 1,200-character chunks, each saved with its file path and chunk number</a:t>
            </a:r>
            <a:endParaRPr lang="en-US" sz="1600" dirty="0"/>
          </a:p>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Why the overlap</a:t>
            </a:r>
            <a:endParaRPr lang="en-US" sz="1600" dirty="0"/>
          </a:p>
          <a:p>
            <a:pPr marL="342900" indent="-342900">
              <a:spcAft>
                <a:spcPts val="1200"/>
              </a:spcAft>
              <a:buSzPct val="100000"/>
              <a:buChar char="•"/>
            </a:pPr>
            <a:r>
              <a:rPr lang="en-US" sz="1300" dirty="0">
                <a:solidFill>
                  <a:srgbClr val="1F2430"/>
                </a:solidFill>
                <a:latin typeface="Calibri" pitchFamily="34" charset="0"/>
                <a:ea typeface="Calibri" pitchFamily="34" charset="-122"/>
                <a:cs typeface="Calibri" pitchFamily="34" charset="-120"/>
              </a:rPr>
              <a:t>Code that sits on a cut still appears in full in one neighbouring chunk, so context is not lost at the boundary</a:t>
            </a:r>
            <a:endParaRPr lang="en-US" sz="1600" dirty="0"/>
          </a:p>
          <a:p>
            <a:pPr marL="0" indent="0">
              <a:spcAft>
                <a:spcPts val="400"/>
              </a:spcAft>
              <a:buNone/>
            </a:pPr>
            <a:r>
              <a:rPr lang="en-US" sz="1600" b="1" dirty="0">
                <a:solidFill>
                  <a:srgbClr val="C8372D"/>
                </a:solidFill>
                <a:latin typeface="Calibri" pitchFamily="34" charset="0"/>
                <a:ea typeface="Calibri" pitchFamily="34" charset="-122"/>
                <a:cs typeface="Calibri" pitchFamily="34" charset="-120"/>
              </a:rPr>
              <a:t>Known limitation</a:t>
            </a:r>
            <a:endParaRPr lang="en-US" sz="1600" dirty="0"/>
          </a:p>
          <a:p>
            <a:pPr marL="342900" indent="-342900">
              <a:buSzPct val="100000"/>
              <a:buChar char="•"/>
            </a:pPr>
            <a:r>
              <a:rPr lang="en-US" sz="1300" dirty="0">
                <a:solidFill>
                  <a:srgbClr val="1F2430"/>
                </a:solidFill>
                <a:latin typeface="Calibri" pitchFamily="34" charset="0"/>
                <a:ea typeface="Calibri" pitchFamily="34" charset="-122"/>
                <a:cs typeface="Calibri" pitchFamily="34" charset="-120"/>
              </a:rPr>
              <a:t>Cuts are by character count, not by function, so a chunk can end mid-word. Next step: per-function (AST) chunking</a:t>
            </a:r>
            <a:endParaRPr lang="en-US" sz="1600" dirty="0"/>
          </a:p>
        </p:txBody>
      </p:sp>
      <p:sp>
        <p:nvSpPr>
          <p:cNvPr id="18" name="Text 16"/>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Under the hood: embeddings and vector search</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Phase 1: how KAVACH finds the right code for a request</a:t>
            </a:r>
            <a:endParaRPr lang="en-US" sz="1600" dirty="0"/>
          </a:p>
        </p:txBody>
      </p:sp>
      <p:sp>
        <p:nvSpPr>
          <p:cNvPr id="4" name="Text 2"/>
          <p:cNvSpPr txBox="1"/>
          <p:nvPr/>
        </p:nvSpPr>
        <p:spPr>
          <a:xfrm>
            <a:off x="548640" y="1691640"/>
            <a:ext cx="1645920" cy="1417320"/>
          </a:xfrm>
          <a:prstGeom prst="rect">
            <a:avLst/>
          </a:prstGeom>
          <a:noFill/>
          <a:ln/>
        </p:spPr>
        <p:txBody>
          <a:bodyPr wrap="square" lIns="0" tIns="0" rIns="0" bIns="0" rtlCol="0" anchor="ctr"/>
          <a:lstStyle/>
          <a:p>
            <a:pPr marL="0" indent="0">
              <a:buNone/>
            </a:pPr>
            <a:r>
              <a:rPr lang="en-US" sz="1500" b="1" dirty="0">
                <a:solidFill>
                  <a:srgbClr val="171A21"/>
                </a:solidFill>
                <a:latin typeface="Calibri" pitchFamily="34" charset="0"/>
                <a:ea typeface="Calibri" pitchFamily="34" charset="-122"/>
                <a:cs typeface="Calibri" pitchFamily="34" charset="-120"/>
              </a:rPr>
              <a:t>Ingest</a:t>
            </a:r>
            <a:endParaRPr lang="en-US" sz="1500" dirty="0"/>
          </a:p>
          <a:p>
            <a:pPr marL="0" indent="0">
              <a:buNone/>
            </a:pPr>
            <a:r>
              <a:rPr lang="en-US" sz="1500" b="1" dirty="0">
                <a:solidFill>
                  <a:srgbClr val="171A21"/>
                </a:solidFill>
                <a:latin typeface="Calibri" pitchFamily="34" charset="0"/>
                <a:ea typeface="Calibri" pitchFamily="34" charset="-122"/>
                <a:cs typeface="Calibri" pitchFamily="34" charset="-120"/>
              </a:rPr>
              <a:t>(once per repo)</a:t>
            </a:r>
            <a:endParaRPr lang="en-US" sz="1500" dirty="0"/>
          </a:p>
        </p:txBody>
      </p:sp>
      <p:sp>
        <p:nvSpPr>
          <p:cNvPr id="5" name="Shape 3"/>
          <p:cNvSpPr/>
          <p:nvPr/>
        </p:nvSpPr>
        <p:spPr>
          <a:xfrm>
            <a:off x="2377440" y="169164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6" name="Text 4"/>
          <p:cNvSpPr txBox="1"/>
          <p:nvPr/>
        </p:nvSpPr>
        <p:spPr>
          <a:xfrm>
            <a:off x="2377440" y="169164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Code chunk</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A 1,200-character piece of a file</a:t>
            </a:r>
            <a:endParaRPr lang="en-US" sz="1500" dirty="0"/>
          </a:p>
        </p:txBody>
      </p:sp>
      <p:sp>
        <p:nvSpPr>
          <p:cNvPr id="7" name="Shape 5"/>
          <p:cNvSpPr/>
          <p:nvPr/>
        </p:nvSpPr>
        <p:spPr>
          <a:xfrm>
            <a:off x="4315968" y="2400300"/>
            <a:ext cx="329184" cy="0"/>
          </a:xfrm>
          <a:prstGeom prst="line">
            <a:avLst/>
          </a:prstGeom>
          <a:noFill/>
          <a:ln w="25400">
            <a:solidFill>
              <a:srgbClr val="171A21"/>
            </a:solidFill>
            <a:prstDash val="solid"/>
            <a:tailEnd type="triangle"/>
          </a:ln>
        </p:spPr>
        <p:txBody>
          <a:bodyPr/>
          <a:lstStyle/>
          <a:p>
            <a:endParaRPr lang="en-IN"/>
          </a:p>
        </p:txBody>
      </p:sp>
      <p:sp>
        <p:nvSpPr>
          <p:cNvPr id="8" name="Shape 6"/>
          <p:cNvSpPr/>
          <p:nvPr/>
        </p:nvSpPr>
        <p:spPr>
          <a:xfrm>
            <a:off x="4663440" y="169164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9" name="Text 7"/>
          <p:cNvSpPr txBox="1"/>
          <p:nvPr/>
        </p:nvSpPr>
        <p:spPr>
          <a:xfrm>
            <a:off x="4663440" y="169164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Embedding model</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all-MiniLM-L6-v2 (Sentence Transformers)</a:t>
            </a:r>
            <a:endParaRPr lang="en-US" sz="1500" dirty="0"/>
          </a:p>
        </p:txBody>
      </p:sp>
      <p:sp>
        <p:nvSpPr>
          <p:cNvPr id="10" name="Shape 8"/>
          <p:cNvSpPr/>
          <p:nvPr/>
        </p:nvSpPr>
        <p:spPr>
          <a:xfrm>
            <a:off x="6601968" y="2400300"/>
            <a:ext cx="329184" cy="0"/>
          </a:xfrm>
          <a:prstGeom prst="line">
            <a:avLst/>
          </a:prstGeom>
          <a:noFill/>
          <a:ln w="25400">
            <a:solidFill>
              <a:srgbClr val="171A21"/>
            </a:solidFill>
            <a:prstDash val="solid"/>
            <a:tailEnd type="triangle"/>
          </a:ln>
        </p:spPr>
        <p:txBody>
          <a:bodyPr/>
          <a:lstStyle/>
          <a:p>
            <a:endParaRPr lang="en-IN"/>
          </a:p>
        </p:txBody>
      </p:sp>
      <p:sp>
        <p:nvSpPr>
          <p:cNvPr id="11" name="Shape 9"/>
          <p:cNvSpPr/>
          <p:nvPr/>
        </p:nvSpPr>
        <p:spPr>
          <a:xfrm>
            <a:off x="6949440" y="1691640"/>
            <a:ext cx="1920240" cy="1417320"/>
          </a:xfrm>
          <a:prstGeom prst="roundRect">
            <a:avLst>
              <a:gd name="adj" fmla="val 6452"/>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12" name="Text 10"/>
          <p:cNvSpPr txBox="1"/>
          <p:nvPr/>
        </p:nvSpPr>
        <p:spPr>
          <a:xfrm>
            <a:off x="6949440" y="169164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F5A524"/>
                </a:solidFill>
                <a:latin typeface="Calibri" pitchFamily="34" charset="0"/>
                <a:ea typeface="Calibri" pitchFamily="34" charset="-122"/>
                <a:cs typeface="Calibri" pitchFamily="34" charset="-120"/>
              </a:rPr>
              <a:t>Qdrant vector DB</a:t>
            </a:r>
            <a:endParaRPr lang="en-US" sz="1500" dirty="0"/>
          </a:p>
          <a:p>
            <a:pPr marL="0" indent="0" algn="l">
              <a:spcAft>
                <a:spcPts val="300"/>
              </a:spcAft>
              <a:buNone/>
            </a:pPr>
            <a:r>
              <a:rPr lang="en-US" sz="1200" dirty="0">
                <a:solidFill>
                  <a:srgbClr val="D5D9E0"/>
                </a:solidFill>
                <a:latin typeface="Calibri" pitchFamily="34" charset="0"/>
                <a:ea typeface="Calibri" pitchFamily="34" charset="-122"/>
                <a:cs typeface="Calibri" pitchFamily="34" charset="-120"/>
              </a:rPr>
              <a:t>384 numbers + file path, saved locally on disk</a:t>
            </a:r>
            <a:endParaRPr lang="en-US" sz="1500" dirty="0"/>
          </a:p>
        </p:txBody>
      </p:sp>
      <p:sp>
        <p:nvSpPr>
          <p:cNvPr id="13" name="Text 11"/>
          <p:cNvSpPr txBox="1"/>
          <p:nvPr/>
        </p:nvSpPr>
        <p:spPr>
          <a:xfrm>
            <a:off x="548640" y="3429000"/>
            <a:ext cx="1645920" cy="1417320"/>
          </a:xfrm>
          <a:prstGeom prst="rect">
            <a:avLst/>
          </a:prstGeom>
          <a:noFill/>
          <a:ln/>
        </p:spPr>
        <p:txBody>
          <a:bodyPr wrap="square" lIns="0" tIns="0" rIns="0" bIns="0" rtlCol="0" anchor="ctr"/>
          <a:lstStyle/>
          <a:p>
            <a:pPr marL="0" indent="0">
              <a:buNone/>
            </a:pPr>
            <a:r>
              <a:rPr lang="en-US" sz="1500" b="1" dirty="0">
                <a:solidFill>
                  <a:srgbClr val="171A21"/>
                </a:solidFill>
                <a:latin typeface="Calibri" pitchFamily="34" charset="0"/>
                <a:ea typeface="Calibri" pitchFamily="34" charset="-122"/>
                <a:cs typeface="Calibri" pitchFamily="34" charset="-120"/>
              </a:rPr>
              <a:t>Search</a:t>
            </a:r>
            <a:endParaRPr lang="en-US" sz="1500" dirty="0"/>
          </a:p>
          <a:p>
            <a:pPr marL="0" indent="0">
              <a:buNone/>
            </a:pPr>
            <a:r>
              <a:rPr lang="en-US" sz="1500" b="1" dirty="0">
                <a:solidFill>
                  <a:srgbClr val="171A21"/>
                </a:solidFill>
                <a:latin typeface="Calibri" pitchFamily="34" charset="0"/>
                <a:ea typeface="Calibri" pitchFamily="34" charset="-122"/>
                <a:cs typeface="Calibri" pitchFamily="34" charset="-120"/>
              </a:rPr>
              <a:t>(every request)</a:t>
            </a:r>
            <a:endParaRPr lang="en-US" sz="1500" dirty="0"/>
          </a:p>
        </p:txBody>
      </p:sp>
      <p:sp>
        <p:nvSpPr>
          <p:cNvPr id="14" name="Shape 12"/>
          <p:cNvSpPr/>
          <p:nvPr/>
        </p:nvSpPr>
        <p:spPr>
          <a:xfrm>
            <a:off x="2377440" y="342900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5" name="Text 13"/>
          <p:cNvSpPr txBox="1"/>
          <p:nvPr/>
        </p:nvSpPr>
        <p:spPr>
          <a:xfrm>
            <a:off x="2377440" y="342900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Developer request</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Plain-language text</a:t>
            </a:r>
            <a:endParaRPr lang="en-US" sz="1500" dirty="0"/>
          </a:p>
        </p:txBody>
      </p:sp>
      <p:sp>
        <p:nvSpPr>
          <p:cNvPr id="16" name="Shape 14"/>
          <p:cNvSpPr/>
          <p:nvPr/>
        </p:nvSpPr>
        <p:spPr>
          <a:xfrm>
            <a:off x="4315968" y="4137660"/>
            <a:ext cx="329184" cy="0"/>
          </a:xfrm>
          <a:prstGeom prst="line">
            <a:avLst/>
          </a:prstGeom>
          <a:noFill/>
          <a:ln w="25400">
            <a:solidFill>
              <a:srgbClr val="171A21"/>
            </a:solidFill>
            <a:prstDash val="solid"/>
            <a:tailEnd type="triangle"/>
          </a:ln>
        </p:spPr>
        <p:txBody>
          <a:bodyPr/>
          <a:lstStyle/>
          <a:p>
            <a:endParaRPr lang="en-IN"/>
          </a:p>
        </p:txBody>
      </p:sp>
      <p:sp>
        <p:nvSpPr>
          <p:cNvPr id="17" name="Shape 15"/>
          <p:cNvSpPr/>
          <p:nvPr/>
        </p:nvSpPr>
        <p:spPr>
          <a:xfrm>
            <a:off x="4663440" y="342900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8" name="Text 16"/>
          <p:cNvSpPr txBox="1"/>
          <p:nvPr/>
        </p:nvSpPr>
        <p:spPr>
          <a:xfrm>
            <a:off x="4663440" y="342900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Same embedding model</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The request becomes 384 numbers</a:t>
            </a:r>
            <a:endParaRPr lang="en-US" sz="1500" dirty="0"/>
          </a:p>
        </p:txBody>
      </p:sp>
      <p:sp>
        <p:nvSpPr>
          <p:cNvPr id="19" name="Shape 17"/>
          <p:cNvSpPr/>
          <p:nvPr/>
        </p:nvSpPr>
        <p:spPr>
          <a:xfrm>
            <a:off x="6601968" y="4137660"/>
            <a:ext cx="329184" cy="0"/>
          </a:xfrm>
          <a:prstGeom prst="line">
            <a:avLst/>
          </a:prstGeom>
          <a:noFill/>
          <a:ln w="25400">
            <a:solidFill>
              <a:srgbClr val="171A21"/>
            </a:solidFill>
            <a:prstDash val="solid"/>
            <a:tailEnd type="triangle"/>
          </a:ln>
        </p:spPr>
        <p:txBody>
          <a:bodyPr/>
          <a:lstStyle/>
          <a:p>
            <a:endParaRPr lang="en-IN"/>
          </a:p>
        </p:txBody>
      </p:sp>
      <p:sp>
        <p:nvSpPr>
          <p:cNvPr id="20" name="Shape 18"/>
          <p:cNvSpPr/>
          <p:nvPr/>
        </p:nvSpPr>
        <p:spPr>
          <a:xfrm>
            <a:off x="6949440" y="342900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1" name="Text 19"/>
          <p:cNvSpPr txBox="1"/>
          <p:nvPr/>
        </p:nvSpPr>
        <p:spPr>
          <a:xfrm>
            <a:off x="6949440" y="342900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Nearest match</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Cosine similarity inside Qdrant</a:t>
            </a:r>
            <a:endParaRPr lang="en-US" sz="1500" dirty="0"/>
          </a:p>
        </p:txBody>
      </p:sp>
      <p:sp>
        <p:nvSpPr>
          <p:cNvPr id="22" name="Shape 20"/>
          <p:cNvSpPr/>
          <p:nvPr/>
        </p:nvSpPr>
        <p:spPr>
          <a:xfrm>
            <a:off x="8887968" y="4137660"/>
            <a:ext cx="329184" cy="0"/>
          </a:xfrm>
          <a:prstGeom prst="line">
            <a:avLst/>
          </a:prstGeom>
          <a:noFill/>
          <a:ln w="25400">
            <a:solidFill>
              <a:srgbClr val="171A21"/>
            </a:solidFill>
            <a:prstDash val="solid"/>
            <a:tailEnd type="triangle"/>
          </a:ln>
        </p:spPr>
        <p:txBody>
          <a:bodyPr/>
          <a:lstStyle/>
          <a:p>
            <a:endParaRPr lang="en-IN"/>
          </a:p>
        </p:txBody>
      </p:sp>
      <p:sp>
        <p:nvSpPr>
          <p:cNvPr id="23" name="Shape 21"/>
          <p:cNvSpPr/>
          <p:nvPr/>
        </p:nvSpPr>
        <p:spPr>
          <a:xfrm>
            <a:off x="9235440" y="3429000"/>
            <a:ext cx="1920240" cy="1417320"/>
          </a:xfrm>
          <a:prstGeom prst="roundRect">
            <a:avLst>
              <a:gd name="adj" fmla="val 6452"/>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24" name="Text 22"/>
          <p:cNvSpPr txBox="1"/>
          <p:nvPr/>
        </p:nvSpPr>
        <p:spPr>
          <a:xfrm>
            <a:off x="9235440" y="342900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F5A524"/>
                </a:solidFill>
                <a:latin typeface="Calibri" pitchFamily="34" charset="0"/>
                <a:ea typeface="Calibri" pitchFamily="34" charset="-122"/>
                <a:cs typeface="Calibri" pitchFamily="34" charset="-120"/>
              </a:rPr>
              <a:t>Top-5 chunks</a:t>
            </a:r>
            <a:endParaRPr lang="en-US" sz="1500" dirty="0"/>
          </a:p>
          <a:p>
            <a:pPr marL="0" indent="0" algn="l">
              <a:spcAft>
                <a:spcPts val="300"/>
              </a:spcAft>
              <a:buNone/>
            </a:pPr>
            <a:r>
              <a:rPr lang="en-US" sz="1200" dirty="0">
                <a:solidFill>
                  <a:srgbClr val="D5D9E0"/>
                </a:solidFill>
                <a:latin typeface="Calibri" pitchFamily="34" charset="0"/>
                <a:ea typeface="Calibri" pitchFamily="34" charset="-122"/>
                <a:cs typeface="Calibri" pitchFamily="34" charset="-120"/>
              </a:rPr>
              <a:t>Each returned with a similarity score</a:t>
            </a:r>
            <a:endParaRPr lang="en-US" sz="1500" dirty="0"/>
          </a:p>
        </p:txBody>
      </p:sp>
      <p:sp>
        <p:nvSpPr>
          <p:cNvPr id="25" name="Shape 23"/>
          <p:cNvSpPr/>
          <p:nvPr/>
        </p:nvSpPr>
        <p:spPr>
          <a:xfrm>
            <a:off x="548640" y="5166360"/>
            <a:ext cx="11064240" cy="1051560"/>
          </a:xfrm>
          <a:prstGeom prst="roundRect">
            <a:avLst>
              <a:gd name="adj" fmla="val 10435"/>
            </a:avLst>
          </a:prstGeom>
          <a:solidFill>
            <a:srgbClr val="171A21"/>
          </a:solidFill>
          <a:ln w="12700">
            <a:solidFill>
              <a:srgbClr val="171A21"/>
            </a:solidFill>
            <a:prstDash val="solid"/>
          </a:ln>
        </p:spPr>
        <p:txBody>
          <a:bodyPr/>
          <a:lstStyle/>
          <a:p>
            <a:endParaRPr lang="en-IN"/>
          </a:p>
        </p:txBody>
      </p:sp>
      <p:sp>
        <p:nvSpPr>
          <p:cNvPr id="26" name="Text 24"/>
          <p:cNvSpPr txBox="1"/>
          <p:nvPr/>
        </p:nvSpPr>
        <p:spPr>
          <a:xfrm>
            <a:off x="822960" y="5166360"/>
            <a:ext cx="10515600" cy="1051560"/>
          </a:xfrm>
          <a:prstGeom prst="rect">
            <a:avLst/>
          </a:prstGeom>
          <a:noFill/>
          <a:ln/>
        </p:spPr>
        <p:txBody>
          <a:bodyPr wrap="square" lIns="0" tIns="0" rIns="0" bIns="0" rtlCol="0" anchor="ctr"/>
          <a:lstStyle/>
          <a:p>
            <a:pPr marL="0" indent="0">
              <a:buNone/>
            </a:pPr>
            <a:r>
              <a:rPr lang="en-US" sz="1500" b="1" dirty="0">
                <a:solidFill>
                  <a:srgbClr val="F5A524"/>
                </a:solidFill>
                <a:latin typeface="Calibri" pitchFamily="34" charset="0"/>
                <a:ea typeface="Calibri" pitchFamily="34" charset="-122"/>
                <a:cs typeface="Calibri" pitchFamily="34" charset="-120"/>
              </a:rPr>
              <a:t>Think of it as a map</a:t>
            </a:r>
            <a:endParaRPr lang="en-US" sz="1500" dirty="0"/>
          </a:p>
          <a:p>
            <a:pPr marL="0" indent="0">
              <a:buNone/>
            </a:pPr>
            <a:r>
              <a:rPr lang="en-US" sz="1400" dirty="0">
                <a:solidFill>
                  <a:srgbClr val="FFFFFF"/>
                </a:solidFill>
                <a:latin typeface="Calibri" pitchFamily="34" charset="0"/>
                <a:ea typeface="Calibri" pitchFamily="34" charset="-122"/>
                <a:cs typeface="Calibri" pitchFamily="34" charset="-120"/>
              </a:rPr>
              <a:t>Text with similar meaning lands at nearby points. "health check endpoint" lands close to code that does health checks, even when the words differ. A higher score means a closer match.</a:t>
            </a:r>
            <a:endParaRPr lang="en-US" sz="1500" dirty="0"/>
          </a:p>
        </p:txBody>
      </p:sp>
      <p:sp>
        <p:nvSpPr>
          <p:cNvPr id="27" name="Text 25"/>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8"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Under the hood: RAG in one picture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Phases 1 and 3: retrieve, augment, generate, validate</a:t>
            </a:r>
            <a:endParaRPr lang="en-US" sz="1600" dirty="0"/>
          </a:p>
        </p:txBody>
      </p:sp>
      <p:sp>
        <p:nvSpPr>
          <p:cNvPr id="4" name="Shape 2"/>
          <p:cNvSpPr/>
          <p:nvPr/>
        </p:nvSpPr>
        <p:spPr>
          <a:xfrm>
            <a:off x="548640" y="1600200"/>
            <a:ext cx="2514600" cy="1417320"/>
          </a:xfrm>
          <a:prstGeom prst="roundRect">
            <a:avLst>
              <a:gd name="adj" fmla="val 6452"/>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5" name="Text 3"/>
          <p:cNvSpPr txBox="1"/>
          <p:nvPr/>
        </p:nvSpPr>
        <p:spPr>
          <a:xfrm>
            <a:off x="548640" y="1600200"/>
            <a:ext cx="2514600" cy="141732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RETRIEVE</a:t>
            </a:r>
            <a:endParaRPr lang="en-US" sz="1100" dirty="0"/>
          </a:p>
          <a:p>
            <a:pPr marL="0" indent="0" algn="l">
              <a:spcAft>
                <a:spcPts val="300"/>
              </a:spcAft>
              <a:buNone/>
            </a:pPr>
            <a:r>
              <a:rPr lang="en-US" sz="1600" b="1" dirty="0">
                <a:solidFill>
                  <a:srgbClr val="FFFFFF"/>
                </a:solidFill>
                <a:latin typeface="Calibri" pitchFamily="34" charset="0"/>
                <a:ea typeface="Calibri" pitchFamily="34" charset="-122"/>
                <a:cs typeface="Calibri" pitchFamily="34" charset="-120"/>
              </a:rPr>
              <a:t>Find the evidence</a:t>
            </a:r>
            <a:endParaRPr lang="en-US" sz="1100" dirty="0"/>
          </a:p>
          <a:p>
            <a:pPr marL="0" indent="0" algn="l">
              <a:spcAft>
                <a:spcPts val="300"/>
              </a:spcAft>
              <a:buNone/>
            </a:pPr>
            <a:r>
              <a:rPr lang="en-US" sz="1300" dirty="0">
                <a:solidFill>
                  <a:srgbClr val="D5D9E0"/>
                </a:solidFill>
                <a:latin typeface="Calibri" pitchFamily="34" charset="0"/>
                <a:ea typeface="Calibri" pitchFamily="34" charset="-122"/>
                <a:cs typeface="Calibri" pitchFamily="34" charset="-120"/>
              </a:rPr>
              <a:t>Top-5 chunks from Qdrant</a:t>
            </a:r>
            <a:endParaRPr lang="en-US" sz="1100" dirty="0"/>
          </a:p>
        </p:txBody>
      </p:sp>
      <p:sp>
        <p:nvSpPr>
          <p:cNvPr id="6" name="Shape 4"/>
          <p:cNvSpPr/>
          <p:nvPr/>
        </p:nvSpPr>
        <p:spPr>
          <a:xfrm>
            <a:off x="3081528" y="2308860"/>
            <a:ext cx="301752" cy="0"/>
          </a:xfrm>
          <a:prstGeom prst="line">
            <a:avLst/>
          </a:prstGeom>
          <a:noFill/>
          <a:ln w="25400">
            <a:solidFill>
              <a:srgbClr val="171A21"/>
            </a:solidFill>
            <a:prstDash val="solid"/>
            <a:tailEnd type="triangle"/>
          </a:ln>
        </p:spPr>
        <p:txBody>
          <a:bodyPr/>
          <a:lstStyle/>
          <a:p>
            <a:endParaRPr lang="en-IN"/>
          </a:p>
        </p:txBody>
      </p:sp>
      <p:sp>
        <p:nvSpPr>
          <p:cNvPr id="7" name="Shape 5"/>
          <p:cNvSpPr/>
          <p:nvPr/>
        </p:nvSpPr>
        <p:spPr>
          <a:xfrm>
            <a:off x="3401568" y="1600200"/>
            <a:ext cx="251460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8" name="Text 6"/>
          <p:cNvSpPr txBox="1"/>
          <p:nvPr/>
        </p:nvSpPr>
        <p:spPr>
          <a:xfrm>
            <a:off x="3401568" y="1600200"/>
            <a:ext cx="2514600" cy="141732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AUGMENT</a:t>
            </a:r>
            <a:endParaRPr lang="en-US" sz="1100" dirty="0"/>
          </a:p>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Build the prompt</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Rules + evidence + request become one text</a:t>
            </a:r>
            <a:endParaRPr lang="en-US" sz="1100" dirty="0"/>
          </a:p>
        </p:txBody>
      </p:sp>
      <p:sp>
        <p:nvSpPr>
          <p:cNvPr id="9" name="Shape 7"/>
          <p:cNvSpPr/>
          <p:nvPr/>
        </p:nvSpPr>
        <p:spPr>
          <a:xfrm>
            <a:off x="5934456" y="2308860"/>
            <a:ext cx="301752" cy="0"/>
          </a:xfrm>
          <a:prstGeom prst="line">
            <a:avLst/>
          </a:prstGeom>
          <a:noFill/>
          <a:ln w="25400">
            <a:solidFill>
              <a:srgbClr val="171A21"/>
            </a:solidFill>
            <a:prstDash val="solid"/>
            <a:tailEnd type="triangle"/>
          </a:ln>
        </p:spPr>
        <p:txBody>
          <a:bodyPr/>
          <a:lstStyle/>
          <a:p>
            <a:endParaRPr lang="en-IN"/>
          </a:p>
        </p:txBody>
      </p:sp>
      <p:sp>
        <p:nvSpPr>
          <p:cNvPr id="10" name="Shape 8"/>
          <p:cNvSpPr/>
          <p:nvPr/>
        </p:nvSpPr>
        <p:spPr>
          <a:xfrm>
            <a:off x="6254496" y="1600200"/>
            <a:ext cx="251460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1" name="Text 9"/>
          <p:cNvSpPr txBox="1"/>
          <p:nvPr/>
        </p:nvSpPr>
        <p:spPr>
          <a:xfrm>
            <a:off x="6254496" y="1600200"/>
            <a:ext cx="2514600" cy="141732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GENERATE</a:t>
            </a:r>
            <a:endParaRPr lang="en-US" sz="1100" dirty="0"/>
          </a:p>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Ask Gemini</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HTTPS call; API key read from .env</a:t>
            </a:r>
            <a:endParaRPr lang="en-US" sz="1100" dirty="0"/>
          </a:p>
        </p:txBody>
      </p:sp>
      <p:sp>
        <p:nvSpPr>
          <p:cNvPr id="12" name="Shape 10"/>
          <p:cNvSpPr/>
          <p:nvPr/>
        </p:nvSpPr>
        <p:spPr>
          <a:xfrm>
            <a:off x="8787384" y="2308860"/>
            <a:ext cx="301752" cy="0"/>
          </a:xfrm>
          <a:prstGeom prst="line">
            <a:avLst/>
          </a:prstGeom>
          <a:noFill/>
          <a:ln w="25400">
            <a:solidFill>
              <a:srgbClr val="171A21"/>
            </a:solidFill>
            <a:prstDash val="solid"/>
            <a:tailEnd type="triangle"/>
          </a:ln>
        </p:spPr>
        <p:txBody>
          <a:bodyPr/>
          <a:lstStyle/>
          <a:p>
            <a:endParaRPr lang="en-IN"/>
          </a:p>
        </p:txBody>
      </p:sp>
      <p:sp>
        <p:nvSpPr>
          <p:cNvPr id="13" name="Shape 11"/>
          <p:cNvSpPr/>
          <p:nvPr/>
        </p:nvSpPr>
        <p:spPr>
          <a:xfrm>
            <a:off x="9107424" y="1600200"/>
            <a:ext cx="2514600" cy="1417320"/>
          </a:xfrm>
          <a:prstGeom prst="roundRect">
            <a:avLst>
              <a:gd name="adj" fmla="val 6452"/>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14" name="Text 12"/>
          <p:cNvSpPr txBox="1"/>
          <p:nvPr/>
        </p:nvSpPr>
        <p:spPr>
          <a:xfrm>
            <a:off x="9107424" y="1600200"/>
            <a:ext cx="2514600" cy="141732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VALIDATE</a:t>
            </a:r>
            <a:endParaRPr lang="en-US" sz="1100" dirty="0"/>
          </a:p>
          <a:p>
            <a:pPr marL="0" indent="0" algn="l">
              <a:spcAft>
                <a:spcPts val="300"/>
              </a:spcAft>
              <a:buNone/>
            </a:pPr>
            <a:r>
              <a:rPr lang="en-US" sz="1600" b="1" dirty="0">
                <a:solidFill>
                  <a:srgbClr val="FFFFFF"/>
                </a:solidFill>
                <a:latin typeface="Calibri" pitchFamily="34" charset="0"/>
                <a:ea typeface="Calibri" pitchFamily="34" charset="-122"/>
                <a:cs typeface="Calibri" pitchFamily="34" charset="-120"/>
              </a:rPr>
              <a:t>Check the code</a:t>
            </a:r>
            <a:endParaRPr lang="en-US" sz="1100" dirty="0"/>
          </a:p>
          <a:p>
            <a:pPr marL="0" indent="0" algn="l">
              <a:spcAft>
                <a:spcPts val="300"/>
              </a:spcAft>
              <a:buNone/>
            </a:pPr>
            <a:r>
              <a:rPr lang="en-US" sz="1300" dirty="0">
                <a:solidFill>
                  <a:srgbClr val="D5D9E0"/>
                </a:solidFill>
                <a:latin typeface="Calibri" pitchFamily="34" charset="0"/>
                <a:ea typeface="Calibri" pitchFamily="34" charset="-122"/>
                <a:cs typeface="Calibri" pitchFamily="34" charset="-120"/>
              </a:rPr>
              <a:t>Extract the Python block, run compile()</a:t>
            </a:r>
            <a:endParaRPr lang="en-US" sz="1100" dirty="0"/>
          </a:p>
        </p:txBody>
      </p:sp>
      <p:sp>
        <p:nvSpPr>
          <p:cNvPr id="15" name="Text 13"/>
          <p:cNvSpPr txBox="1"/>
          <p:nvPr/>
        </p:nvSpPr>
        <p:spPr>
          <a:xfrm>
            <a:off x="548640" y="3291840"/>
            <a:ext cx="7315200" cy="320040"/>
          </a:xfrm>
          <a:prstGeom prst="rect">
            <a:avLst/>
          </a:prstGeom>
          <a:noFill/>
          <a:ln/>
        </p:spPr>
        <p:txBody>
          <a:bodyPr wrap="square" lIns="0" tIns="0" rIns="0" bIns="0" rtlCol="0" anchor="ctr"/>
          <a:lstStyle/>
          <a:p>
            <a:pPr marL="0" indent="0">
              <a:buNone/>
            </a:pPr>
            <a:r>
              <a:rPr lang="en-US" sz="1500" b="1" dirty="0">
                <a:solidFill>
                  <a:srgbClr val="171A21"/>
                </a:solidFill>
                <a:latin typeface="Calibri" pitchFamily="34" charset="0"/>
                <a:ea typeface="Calibri" pitchFamily="34" charset="-122"/>
                <a:cs typeface="Calibri" pitchFamily="34" charset="-120"/>
              </a:rPr>
              <a:t>Anatomy of the grounded prompt</a:t>
            </a:r>
            <a:endParaRPr lang="en-US" sz="1500" dirty="0"/>
          </a:p>
        </p:txBody>
      </p:sp>
      <p:sp>
        <p:nvSpPr>
          <p:cNvPr id="16" name="Shape 14"/>
          <p:cNvSpPr/>
          <p:nvPr/>
        </p:nvSpPr>
        <p:spPr>
          <a:xfrm>
            <a:off x="548640" y="3703320"/>
            <a:ext cx="3383280" cy="1783080"/>
          </a:xfrm>
          <a:prstGeom prst="roundRect">
            <a:avLst>
              <a:gd name="adj" fmla="val 615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7" name="Text 15"/>
          <p:cNvSpPr txBox="1"/>
          <p:nvPr/>
        </p:nvSpPr>
        <p:spPr>
          <a:xfrm>
            <a:off x="777240" y="3703320"/>
            <a:ext cx="2926080" cy="1783080"/>
          </a:xfrm>
          <a:prstGeom prst="rect">
            <a:avLst/>
          </a:prstGeom>
          <a:noFill/>
          <a:ln/>
        </p:spPr>
        <p:txBody>
          <a:bodyPr wrap="square" lIns="0" tIns="0" rIns="0" bIns="0" rtlCol="0" anchor="ctr"/>
          <a:lstStyle/>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1  Rules</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Use ONLY the evidence. Do not invent libraries or APIs. If the evidence is not enough, say so.</a:t>
            </a:r>
            <a:endParaRPr lang="en-US" sz="1600" dirty="0"/>
          </a:p>
        </p:txBody>
      </p:sp>
      <p:sp>
        <p:nvSpPr>
          <p:cNvPr id="18" name="Text 16"/>
          <p:cNvSpPr txBox="1"/>
          <p:nvPr/>
        </p:nvSpPr>
        <p:spPr>
          <a:xfrm>
            <a:off x="3931920" y="4206240"/>
            <a:ext cx="457200" cy="731520"/>
          </a:xfrm>
          <a:prstGeom prst="rect">
            <a:avLst/>
          </a:prstGeom>
          <a:noFill/>
          <a:ln/>
        </p:spPr>
        <p:txBody>
          <a:bodyPr wrap="square" lIns="0" tIns="0" rIns="0" bIns="0" rtlCol="0" anchor="ctr"/>
          <a:lstStyle/>
          <a:p>
            <a:pPr marL="0" indent="0" algn="ctr">
              <a:buNone/>
            </a:pPr>
            <a:r>
              <a:rPr lang="en-US" sz="3000" b="1" dirty="0">
                <a:solidFill>
                  <a:srgbClr val="F5A524"/>
                </a:solidFill>
                <a:latin typeface="Calibri" pitchFamily="34" charset="0"/>
                <a:ea typeface="Calibri" pitchFamily="34" charset="-122"/>
                <a:cs typeface="Calibri" pitchFamily="34" charset="-120"/>
              </a:rPr>
              <a:t>+</a:t>
            </a:r>
            <a:endParaRPr lang="en-US" sz="3000" dirty="0"/>
          </a:p>
        </p:txBody>
      </p:sp>
      <p:sp>
        <p:nvSpPr>
          <p:cNvPr id="19" name="Shape 17"/>
          <p:cNvSpPr/>
          <p:nvPr/>
        </p:nvSpPr>
        <p:spPr>
          <a:xfrm>
            <a:off x="4389120" y="3703320"/>
            <a:ext cx="3383280" cy="1783080"/>
          </a:xfrm>
          <a:prstGeom prst="roundRect">
            <a:avLst>
              <a:gd name="adj" fmla="val 615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0" name="Text 18"/>
          <p:cNvSpPr txBox="1"/>
          <p:nvPr/>
        </p:nvSpPr>
        <p:spPr>
          <a:xfrm>
            <a:off x="4617720" y="3703320"/>
            <a:ext cx="2926080" cy="1783080"/>
          </a:xfrm>
          <a:prstGeom prst="rect">
            <a:avLst/>
          </a:prstGeom>
          <a:noFill/>
          <a:ln/>
        </p:spPr>
        <p:txBody>
          <a:bodyPr wrap="square" lIns="0" tIns="0" rIns="0" bIns="0" rtlCol="0" anchor="ctr"/>
          <a:lstStyle/>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2  Repository evidence</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The top-5 retrieved chunks, each labelled with its file name.</a:t>
            </a:r>
            <a:endParaRPr lang="en-US" sz="1600" dirty="0"/>
          </a:p>
        </p:txBody>
      </p:sp>
      <p:sp>
        <p:nvSpPr>
          <p:cNvPr id="21" name="Text 19"/>
          <p:cNvSpPr txBox="1"/>
          <p:nvPr/>
        </p:nvSpPr>
        <p:spPr>
          <a:xfrm>
            <a:off x="7772400" y="4206240"/>
            <a:ext cx="457200" cy="731520"/>
          </a:xfrm>
          <a:prstGeom prst="rect">
            <a:avLst/>
          </a:prstGeom>
          <a:noFill/>
          <a:ln/>
        </p:spPr>
        <p:txBody>
          <a:bodyPr wrap="square" lIns="0" tIns="0" rIns="0" bIns="0" rtlCol="0" anchor="ctr"/>
          <a:lstStyle/>
          <a:p>
            <a:pPr marL="0" indent="0" algn="ctr">
              <a:buNone/>
            </a:pPr>
            <a:r>
              <a:rPr lang="en-US" sz="3000" b="1" dirty="0">
                <a:solidFill>
                  <a:srgbClr val="F5A524"/>
                </a:solidFill>
                <a:latin typeface="Calibri" pitchFamily="34" charset="0"/>
                <a:ea typeface="Calibri" pitchFamily="34" charset="-122"/>
                <a:cs typeface="Calibri" pitchFamily="34" charset="-120"/>
              </a:rPr>
              <a:t>+</a:t>
            </a:r>
            <a:endParaRPr lang="en-US" sz="3000" dirty="0"/>
          </a:p>
        </p:txBody>
      </p:sp>
      <p:sp>
        <p:nvSpPr>
          <p:cNvPr id="22" name="Shape 20"/>
          <p:cNvSpPr/>
          <p:nvPr/>
        </p:nvSpPr>
        <p:spPr>
          <a:xfrm>
            <a:off x="8229600" y="3703320"/>
            <a:ext cx="3383280" cy="1783080"/>
          </a:xfrm>
          <a:prstGeom prst="roundRect">
            <a:avLst>
              <a:gd name="adj" fmla="val 615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3" name="Text 21"/>
          <p:cNvSpPr txBox="1"/>
          <p:nvPr/>
        </p:nvSpPr>
        <p:spPr>
          <a:xfrm>
            <a:off x="8458200" y="3703320"/>
            <a:ext cx="2926080" cy="1783080"/>
          </a:xfrm>
          <a:prstGeom prst="rect">
            <a:avLst/>
          </a:prstGeom>
          <a:noFill/>
          <a:ln/>
        </p:spPr>
        <p:txBody>
          <a:bodyPr wrap="square" lIns="0" tIns="0" rIns="0" bIns="0" rtlCol="0" anchor="ctr"/>
          <a:lstStyle/>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3  Developer request</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The task itself, plus: add a one-line comment for any assumption made.</a:t>
            </a:r>
            <a:endParaRPr lang="en-US" sz="1600" dirty="0"/>
          </a:p>
        </p:txBody>
      </p:sp>
      <p:sp>
        <p:nvSpPr>
          <p:cNvPr id="24" name="Text 22"/>
          <p:cNvSpPr txBox="1"/>
          <p:nvPr/>
        </p:nvSpPr>
        <p:spPr>
          <a:xfrm>
            <a:off x="548640" y="5715000"/>
            <a:ext cx="11064240" cy="502920"/>
          </a:xfrm>
          <a:prstGeom prst="roundRect">
            <a:avLst>
              <a:gd name="adj" fmla="val 18182"/>
            </a:avLst>
          </a:prstGeom>
          <a:solidFill>
            <a:srgbClr val="F5A524"/>
          </a:solidFill>
          <a:ln/>
        </p:spPr>
        <p:txBody>
          <a:bodyPr wrap="square" lIns="76200" tIns="76200" rIns="76200" bIns="76200" rtlCol="0" anchor="ctr"/>
          <a:lstStyle/>
          <a:p>
            <a:pPr marL="0" indent="0" algn="ctr">
              <a:buNone/>
            </a:pPr>
            <a:r>
              <a:rPr lang="en-US" sz="1500" b="1" dirty="0">
                <a:solidFill>
                  <a:srgbClr val="171A21"/>
                </a:solidFill>
                <a:latin typeface="Calibri" pitchFamily="34" charset="0"/>
                <a:ea typeface="Calibri" pitchFamily="34" charset="-122"/>
                <a:cs typeface="Calibri" pitchFamily="34" charset="-120"/>
              </a:rPr>
              <a:t>Result: the model reuses code that really exists in the repository instead of guessing.</a:t>
            </a:r>
            <a:endParaRPr lang="en-US" sz="1500" dirty="0"/>
          </a:p>
        </p:txBody>
      </p:sp>
      <p:sp>
        <p:nvSpPr>
          <p:cNvPr id="25" name="Text 2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End to end: from request to result</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The code module behind every step (dark boxes are security gates)</a:t>
            </a:r>
            <a:endParaRPr lang="en-US" sz="1600" dirty="0"/>
          </a:p>
        </p:txBody>
      </p:sp>
      <p:sp>
        <p:nvSpPr>
          <p:cNvPr id="4" name="Shape 2"/>
          <p:cNvSpPr/>
          <p:nvPr/>
        </p:nvSpPr>
        <p:spPr>
          <a:xfrm>
            <a:off x="608076" y="1463040"/>
            <a:ext cx="1828800" cy="1691640"/>
          </a:xfrm>
          <a:prstGeom prst="roundRect">
            <a:avLst>
              <a:gd name="adj" fmla="val 5405"/>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5" name="Text 3"/>
          <p:cNvSpPr txBox="1"/>
          <p:nvPr/>
        </p:nvSpPr>
        <p:spPr>
          <a:xfrm>
            <a:off x="608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STEP 1</a:t>
            </a:r>
            <a:endParaRPr lang="en-US" sz="1100" dirty="0"/>
          </a:p>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Request received</a:t>
            </a:r>
            <a:endParaRPr lang="en-US" sz="1100" dirty="0"/>
          </a:p>
          <a:p>
            <a:pPr marL="0" indent="0" algn="l">
              <a:spcAft>
                <a:spcPts val="300"/>
              </a:spcAft>
              <a:buNone/>
            </a:pPr>
            <a:r>
              <a:rPr lang="en-US" sz="1100" dirty="0">
                <a:solidFill>
                  <a:srgbClr val="D5D9E0"/>
                </a:solidFill>
                <a:latin typeface="Calibri" pitchFamily="34" charset="0"/>
                <a:ea typeface="Calibri" pitchFamily="34" charset="-122"/>
                <a:cs typeface="Calibri" pitchFamily="34" charset="-120"/>
              </a:rPr>
              <a:t>run_workflow() creates the run and an audit-safe redacted copy</a:t>
            </a:r>
            <a:endParaRPr lang="en-US" sz="1100" dirty="0"/>
          </a:p>
        </p:txBody>
      </p:sp>
      <p:sp>
        <p:nvSpPr>
          <p:cNvPr id="6" name="Shape 4"/>
          <p:cNvSpPr/>
          <p:nvPr/>
        </p:nvSpPr>
        <p:spPr>
          <a:xfrm>
            <a:off x="2455164" y="2308860"/>
            <a:ext cx="420624" cy="0"/>
          </a:xfrm>
          <a:prstGeom prst="line">
            <a:avLst/>
          </a:prstGeom>
          <a:noFill/>
          <a:ln w="25400">
            <a:solidFill>
              <a:srgbClr val="171A21"/>
            </a:solidFill>
            <a:prstDash val="solid"/>
            <a:tailEnd type="triangle"/>
          </a:ln>
        </p:spPr>
        <p:txBody>
          <a:bodyPr/>
          <a:lstStyle/>
          <a:p>
            <a:endParaRPr lang="en-IN"/>
          </a:p>
        </p:txBody>
      </p:sp>
      <p:sp>
        <p:nvSpPr>
          <p:cNvPr id="7" name="Shape 5"/>
          <p:cNvSpPr/>
          <p:nvPr/>
        </p:nvSpPr>
        <p:spPr>
          <a:xfrm>
            <a:off x="2894076" y="1463040"/>
            <a:ext cx="1828800" cy="1691640"/>
          </a:xfrm>
          <a:prstGeom prst="roundRect">
            <a:avLst>
              <a:gd name="adj" fmla="val 5405"/>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8" name="Text 6"/>
          <p:cNvSpPr txBox="1"/>
          <p:nvPr/>
        </p:nvSpPr>
        <p:spPr>
          <a:xfrm>
            <a:off x="2894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STEP 2</a:t>
            </a:r>
            <a:endParaRPr lang="en-US" sz="1100" dirty="0"/>
          </a:p>
          <a:p>
            <a:pPr marL="0" indent="0" algn="l">
              <a:spcAft>
                <a:spcPts val="300"/>
              </a:spcAft>
              <a:buNone/>
            </a:pPr>
            <a:r>
              <a:rPr lang="en-US" sz="1400" b="1" dirty="0">
                <a:solidFill>
                  <a:srgbClr val="F5A524"/>
                </a:solidFill>
                <a:latin typeface="Calibri" pitchFamily="34" charset="0"/>
                <a:ea typeface="Calibri" pitchFamily="34" charset="-122"/>
                <a:cs typeface="Calibri" pitchFamily="34" charset="-120"/>
              </a:rPr>
              <a:t>Security check on request</a:t>
            </a:r>
            <a:endParaRPr lang="en-US" sz="1100" dirty="0"/>
          </a:p>
          <a:p>
            <a:pPr marL="0" indent="0" algn="l">
              <a:spcAft>
                <a:spcPts val="300"/>
              </a:spcAft>
              <a:buNone/>
            </a:pPr>
            <a:r>
              <a:rPr lang="en-US" sz="1100" dirty="0">
                <a:solidFill>
                  <a:srgbClr val="D5D9E0"/>
                </a:solidFill>
                <a:latin typeface="Calibri" pitchFamily="34" charset="0"/>
                <a:ea typeface="Calibri" pitchFamily="34" charset="-122"/>
                <a:cs typeface="Calibri" pitchFamily="34" charset="-120"/>
              </a:rPr>
              <a:t>PII and secret scan, then a risk-based policy decision</a:t>
            </a:r>
            <a:endParaRPr lang="en-US" sz="1100" dirty="0"/>
          </a:p>
          <a:p>
            <a:pPr marL="0" indent="0" algn="l">
              <a:spcAft>
                <a:spcPts val="300"/>
              </a:spcAft>
              <a:buNone/>
            </a:pPr>
            <a:r>
              <a:rPr lang="en-US" sz="1100" b="1" dirty="0">
                <a:solidFill>
                  <a:srgbClr val="F4A6A0"/>
                </a:solidFill>
                <a:latin typeface="Calibri" pitchFamily="34" charset="0"/>
                <a:ea typeface="Calibri" pitchFamily="34" charset="-122"/>
                <a:cs typeface="Calibri" pitchFamily="34" charset="-120"/>
              </a:rPr>
              <a:t>Unsafe: run stops</a:t>
            </a:r>
            <a:endParaRPr lang="en-US" sz="1100" dirty="0"/>
          </a:p>
        </p:txBody>
      </p:sp>
      <p:sp>
        <p:nvSpPr>
          <p:cNvPr id="9" name="Shape 7"/>
          <p:cNvSpPr/>
          <p:nvPr/>
        </p:nvSpPr>
        <p:spPr>
          <a:xfrm>
            <a:off x="4741164" y="2308860"/>
            <a:ext cx="420624" cy="0"/>
          </a:xfrm>
          <a:prstGeom prst="line">
            <a:avLst/>
          </a:prstGeom>
          <a:noFill/>
          <a:ln w="25400">
            <a:solidFill>
              <a:srgbClr val="171A21"/>
            </a:solidFill>
            <a:prstDash val="solid"/>
            <a:tailEnd type="triangle"/>
          </a:ln>
        </p:spPr>
        <p:txBody>
          <a:bodyPr/>
          <a:lstStyle/>
          <a:p>
            <a:endParaRPr lang="en-IN"/>
          </a:p>
        </p:txBody>
      </p:sp>
      <p:sp>
        <p:nvSpPr>
          <p:cNvPr id="10" name="Shape 8"/>
          <p:cNvSpPr/>
          <p:nvPr/>
        </p:nvSpPr>
        <p:spPr>
          <a:xfrm>
            <a:off x="5180076" y="14630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1" name="Text 9"/>
          <p:cNvSpPr txBox="1"/>
          <p:nvPr/>
        </p:nvSpPr>
        <p:spPr>
          <a:xfrm>
            <a:off x="5180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3</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Planning</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Planner splits the request into steps</a:t>
            </a:r>
            <a:endParaRPr lang="en-US" sz="1100" dirty="0"/>
          </a:p>
        </p:txBody>
      </p:sp>
      <p:sp>
        <p:nvSpPr>
          <p:cNvPr id="12" name="Shape 10"/>
          <p:cNvSpPr/>
          <p:nvPr/>
        </p:nvSpPr>
        <p:spPr>
          <a:xfrm>
            <a:off x="7027164" y="2308860"/>
            <a:ext cx="420624" cy="0"/>
          </a:xfrm>
          <a:prstGeom prst="line">
            <a:avLst/>
          </a:prstGeom>
          <a:noFill/>
          <a:ln w="25400">
            <a:solidFill>
              <a:srgbClr val="171A21"/>
            </a:solidFill>
            <a:prstDash val="solid"/>
            <a:tailEnd type="triangle"/>
          </a:ln>
        </p:spPr>
        <p:txBody>
          <a:bodyPr/>
          <a:lstStyle/>
          <a:p>
            <a:endParaRPr lang="en-IN"/>
          </a:p>
        </p:txBody>
      </p:sp>
      <p:sp>
        <p:nvSpPr>
          <p:cNvPr id="13" name="Shape 11"/>
          <p:cNvSpPr/>
          <p:nvPr/>
        </p:nvSpPr>
        <p:spPr>
          <a:xfrm>
            <a:off x="7466076" y="14630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4" name="Text 12"/>
          <p:cNvSpPr txBox="1"/>
          <p:nvPr/>
        </p:nvSpPr>
        <p:spPr>
          <a:xfrm>
            <a:off x="7466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4</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RAG search</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Top-5 chunks from Qdrant (Phase 1)</a:t>
            </a:r>
            <a:endParaRPr lang="en-US" sz="1100" dirty="0"/>
          </a:p>
        </p:txBody>
      </p:sp>
      <p:sp>
        <p:nvSpPr>
          <p:cNvPr id="15" name="Shape 13"/>
          <p:cNvSpPr/>
          <p:nvPr/>
        </p:nvSpPr>
        <p:spPr>
          <a:xfrm>
            <a:off x="9313164" y="2308860"/>
            <a:ext cx="420624" cy="0"/>
          </a:xfrm>
          <a:prstGeom prst="line">
            <a:avLst/>
          </a:prstGeom>
          <a:noFill/>
          <a:ln w="25400">
            <a:solidFill>
              <a:srgbClr val="171A21"/>
            </a:solidFill>
            <a:prstDash val="solid"/>
            <a:tailEnd type="triangle"/>
          </a:ln>
        </p:spPr>
        <p:txBody>
          <a:bodyPr/>
          <a:lstStyle/>
          <a:p>
            <a:endParaRPr lang="en-IN"/>
          </a:p>
        </p:txBody>
      </p:sp>
      <p:sp>
        <p:nvSpPr>
          <p:cNvPr id="16" name="Shape 14"/>
          <p:cNvSpPr/>
          <p:nvPr/>
        </p:nvSpPr>
        <p:spPr>
          <a:xfrm>
            <a:off x="9752076" y="1463040"/>
            <a:ext cx="1828800" cy="1691640"/>
          </a:xfrm>
          <a:prstGeom prst="roundRect">
            <a:avLst>
              <a:gd name="adj" fmla="val 5405"/>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17" name="Text 15"/>
          <p:cNvSpPr txBox="1"/>
          <p:nvPr/>
        </p:nvSpPr>
        <p:spPr>
          <a:xfrm>
            <a:off x="9752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STEP 5</a:t>
            </a:r>
            <a:endParaRPr lang="en-US" sz="1100" dirty="0"/>
          </a:p>
          <a:p>
            <a:pPr marL="0" indent="0" algn="l">
              <a:spcAft>
                <a:spcPts val="300"/>
              </a:spcAft>
              <a:buNone/>
            </a:pPr>
            <a:r>
              <a:rPr lang="en-US" sz="1400" b="1" dirty="0">
                <a:solidFill>
                  <a:srgbClr val="F5A524"/>
                </a:solidFill>
                <a:latin typeface="Calibri" pitchFamily="34" charset="0"/>
                <a:ea typeface="Calibri" pitchFamily="34" charset="-122"/>
                <a:cs typeface="Calibri" pitchFamily="34" charset="-120"/>
              </a:rPr>
              <a:t>Security check on chunks</a:t>
            </a:r>
            <a:endParaRPr lang="en-US" sz="1100" dirty="0"/>
          </a:p>
          <a:p>
            <a:pPr marL="0" indent="0" algn="l">
              <a:spcAft>
                <a:spcPts val="300"/>
              </a:spcAft>
              <a:buNone/>
            </a:pPr>
            <a:r>
              <a:rPr lang="en-US" sz="1100" dirty="0">
                <a:solidFill>
                  <a:srgbClr val="D5D9E0"/>
                </a:solidFill>
                <a:latin typeface="Calibri" pitchFamily="34" charset="0"/>
                <a:ea typeface="Calibri" pitchFamily="34" charset="-122"/>
                <a:cs typeface="Calibri" pitchFamily="34" charset="-120"/>
              </a:rPr>
              <a:t>Same scan over the retrieved code</a:t>
            </a:r>
            <a:endParaRPr lang="en-US" sz="1100" dirty="0"/>
          </a:p>
          <a:p>
            <a:pPr marL="0" indent="0" algn="l">
              <a:spcAft>
                <a:spcPts val="300"/>
              </a:spcAft>
              <a:buNone/>
            </a:pPr>
            <a:r>
              <a:rPr lang="en-US" sz="1100" b="1" dirty="0">
                <a:solidFill>
                  <a:srgbClr val="F4A6A0"/>
                </a:solidFill>
                <a:latin typeface="Calibri" pitchFamily="34" charset="0"/>
                <a:ea typeface="Calibri" pitchFamily="34" charset="-122"/>
                <a:cs typeface="Calibri" pitchFamily="34" charset="-120"/>
              </a:rPr>
              <a:t>Unsafe: needs review</a:t>
            </a:r>
            <a:endParaRPr lang="en-US" sz="1100" dirty="0"/>
          </a:p>
        </p:txBody>
      </p:sp>
      <p:sp>
        <p:nvSpPr>
          <p:cNvPr id="18" name="Shape 16"/>
          <p:cNvSpPr/>
          <p:nvPr/>
        </p:nvSpPr>
        <p:spPr>
          <a:xfrm>
            <a:off x="608076" y="39776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9" name="Text 17"/>
          <p:cNvSpPr txBox="1"/>
          <p:nvPr/>
        </p:nvSpPr>
        <p:spPr>
          <a:xfrm>
            <a:off x="608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6</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Impact analysis</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Semantic search + import graph rank affected files</a:t>
            </a:r>
            <a:endParaRPr lang="en-US" sz="1100" dirty="0"/>
          </a:p>
        </p:txBody>
      </p:sp>
      <p:sp>
        <p:nvSpPr>
          <p:cNvPr id="20" name="Shape 18"/>
          <p:cNvSpPr/>
          <p:nvPr/>
        </p:nvSpPr>
        <p:spPr>
          <a:xfrm>
            <a:off x="2455164" y="4823460"/>
            <a:ext cx="420624" cy="0"/>
          </a:xfrm>
          <a:prstGeom prst="line">
            <a:avLst/>
          </a:prstGeom>
          <a:noFill/>
          <a:ln w="25400">
            <a:solidFill>
              <a:srgbClr val="171A21"/>
            </a:solidFill>
            <a:prstDash val="solid"/>
            <a:tailEnd type="triangle"/>
          </a:ln>
        </p:spPr>
        <p:txBody>
          <a:bodyPr/>
          <a:lstStyle/>
          <a:p>
            <a:endParaRPr lang="en-IN"/>
          </a:p>
        </p:txBody>
      </p:sp>
      <p:sp>
        <p:nvSpPr>
          <p:cNvPr id="21" name="Shape 19"/>
          <p:cNvSpPr/>
          <p:nvPr/>
        </p:nvSpPr>
        <p:spPr>
          <a:xfrm>
            <a:off x="2894076" y="39776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2" name="Text 20"/>
          <p:cNvSpPr txBox="1"/>
          <p:nvPr/>
        </p:nvSpPr>
        <p:spPr>
          <a:xfrm>
            <a:off x="2894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7</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Grounded prompt</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Rules + evidence + request (generator.py)</a:t>
            </a:r>
            <a:endParaRPr lang="en-US" sz="1100" dirty="0"/>
          </a:p>
        </p:txBody>
      </p:sp>
      <p:sp>
        <p:nvSpPr>
          <p:cNvPr id="23" name="Shape 21"/>
          <p:cNvSpPr/>
          <p:nvPr/>
        </p:nvSpPr>
        <p:spPr>
          <a:xfrm>
            <a:off x="4741164" y="4823460"/>
            <a:ext cx="420624" cy="0"/>
          </a:xfrm>
          <a:prstGeom prst="line">
            <a:avLst/>
          </a:prstGeom>
          <a:noFill/>
          <a:ln w="25400">
            <a:solidFill>
              <a:srgbClr val="171A21"/>
            </a:solidFill>
            <a:prstDash val="solid"/>
            <a:tailEnd type="triangle"/>
          </a:ln>
        </p:spPr>
        <p:txBody>
          <a:bodyPr/>
          <a:lstStyle/>
          <a:p>
            <a:endParaRPr lang="en-IN"/>
          </a:p>
        </p:txBody>
      </p:sp>
      <p:sp>
        <p:nvSpPr>
          <p:cNvPr id="24" name="Shape 22"/>
          <p:cNvSpPr/>
          <p:nvPr/>
        </p:nvSpPr>
        <p:spPr>
          <a:xfrm>
            <a:off x="5180076" y="39776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5" name="Text 23"/>
          <p:cNvSpPr txBox="1"/>
          <p:nvPr/>
        </p:nvSpPr>
        <p:spPr>
          <a:xfrm>
            <a:off x="5180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8</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Gemini call</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llm_client.py sends the prompt and returns the text</a:t>
            </a:r>
            <a:endParaRPr lang="en-US" sz="1100" dirty="0"/>
          </a:p>
        </p:txBody>
      </p:sp>
      <p:sp>
        <p:nvSpPr>
          <p:cNvPr id="26" name="Shape 24"/>
          <p:cNvSpPr/>
          <p:nvPr/>
        </p:nvSpPr>
        <p:spPr>
          <a:xfrm>
            <a:off x="7027164" y="4823460"/>
            <a:ext cx="420624" cy="0"/>
          </a:xfrm>
          <a:prstGeom prst="line">
            <a:avLst/>
          </a:prstGeom>
          <a:noFill/>
          <a:ln w="25400">
            <a:solidFill>
              <a:srgbClr val="171A21"/>
            </a:solidFill>
            <a:prstDash val="solid"/>
            <a:tailEnd type="triangle"/>
          </a:ln>
        </p:spPr>
        <p:txBody>
          <a:bodyPr/>
          <a:lstStyle/>
          <a:p>
            <a:endParaRPr lang="en-IN"/>
          </a:p>
        </p:txBody>
      </p:sp>
      <p:sp>
        <p:nvSpPr>
          <p:cNvPr id="27" name="Shape 25"/>
          <p:cNvSpPr/>
          <p:nvPr/>
        </p:nvSpPr>
        <p:spPr>
          <a:xfrm>
            <a:off x="7466076" y="39776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8" name="Text 26"/>
          <p:cNvSpPr txBox="1"/>
          <p:nvPr/>
        </p:nvSpPr>
        <p:spPr>
          <a:xfrm>
            <a:off x="7466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9</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Validation</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Extract the code block, compile() syntax check</a:t>
            </a:r>
            <a:endParaRPr lang="en-US" sz="1100" dirty="0"/>
          </a:p>
        </p:txBody>
      </p:sp>
      <p:sp>
        <p:nvSpPr>
          <p:cNvPr id="29" name="Shape 27"/>
          <p:cNvSpPr/>
          <p:nvPr/>
        </p:nvSpPr>
        <p:spPr>
          <a:xfrm>
            <a:off x="9313164" y="4823460"/>
            <a:ext cx="420624" cy="0"/>
          </a:xfrm>
          <a:prstGeom prst="line">
            <a:avLst/>
          </a:prstGeom>
          <a:noFill/>
          <a:ln w="25400">
            <a:solidFill>
              <a:srgbClr val="171A21"/>
            </a:solidFill>
            <a:prstDash val="solid"/>
            <a:tailEnd type="triangle"/>
          </a:ln>
        </p:spPr>
        <p:txBody>
          <a:bodyPr/>
          <a:lstStyle/>
          <a:p>
            <a:endParaRPr lang="en-IN"/>
          </a:p>
        </p:txBody>
      </p:sp>
      <p:sp>
        <p:nvSpPr>
          <p:cNvPr id="30" name="Shape 28"/>
          <p:cNvSpPr/>
          <p:nvPr/>
        </p:nvSpPr>
        <p:spPr>
          <a:xfrm>
            <a:off x="9752076" y="3977640"/>
            <a:ext cx="1828800" cy="1691640"/>
          </a:xfrm>
          <a:prstGeom prst="roundRect">
            <a:avLst>
              <a:gd name="adj" fmla="val 5405"/>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31" name="Text 29"/>
          <p:cNvSpPr txBox="1"/>
          <p:nvPr/>
        </p:nvSpPr>
        <p:spPr>
          <a:xfrm>
            <a:off x="9752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STEP 10</a:t>
            </a:r>
            <a:endParaRPr lang="en-US" sz="1100" dirty="0"/>
          </a:p>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Result + audit trail</a:t>
            </a:r>
            <a:endParaRPr lang="en-US" sz="1100" dirty="0"/>
          </a:p>
          <a:p>
            <a:pPr marL="0" indent="0" algn="l">
              <a:spcAft>
                <a:spcPts val="300"/>
              </a:spcAft>
              <a:buNone/>
            </a:pPr>
            <a:r>
              <a:rPr lang="en-US" sz="1100" dirty="0">
                <a:solidFill>
                  <a:srgbClr val="D5D9E0"/>
                </a:solidFill>
                <a:latin typeface="Calibri" pitchFamily="34" charset="0"/>
                <a:ea typeface="Calibri" pitchFamily="34" charset="-122"/>
                <a:cs typeface="Calibri" pitchFamily="34" charset="-120"/>
              </a:rPr>
              <a:t>Saved run with the full stage history</a:t>
            </a:r>
            <a:endParaRPr lang="en-US" sz="1100" dirty="0"/>
          </a:p>
        </p:txBody>
      </p:sp>
      <p:sp>
        <p:nvSpPr>
          <p:cNvPr id="32" name="Shape 30"/>
          <p:cNvSpPr/>
          <p:nvPr/>
        </p:nvSpPr>
        <p:spPr>
          <a:xfrm>
            <a:off x="10666476" y="3172968"/>
            <a:ext cx="0" cy="393192"/>
          </a:xfrm>
          <a:prstGeom prst="line">
            <a:avLst/>
          </a:prstGeom>
          <a:noFill/>
          <a:ln w="25400">
            <a:solidFill>
              <a:srgbClr val="171A21"/>
            </a:solidFill>
            <a:prstDash val="solid"/>
          </a:ln>
        </p:spPr>
        <p:txBody>
          <a:bodyPr/>
          <a:lstStyle/>
          <a:p>
            <a:endParaRPr lang="en-IN"/>
          </a:p>
        </p:txBody>
      </p:sp>
      <p:sp>
        <p:nvSpPr>
          <p:cNvPr id="33" name="Shape 31"/>
          <p:cNvSpPr/>
          <p:nvPr/>
        </p:nvSpPr>
        <p:spPr>
          <a:xfrm>
            <a:off x="1522476" y="3566160"/>
            <a:ext cx="9144000" cy="0"/>
          </a:xfrm>
          <a:prstGeom prst="line">
            <a:avLst/>
          </a:prstGeom>
          <a:noFill/>
          <a:ln w="25400">
            <a:solidFill>
              <a:srgbClr val="171A21"/>
            </a:solidFill>
            <a:prstDash val="solid"/>
          </a:ln>
        </p:spPr>
        <p:txBody>
          <a:bodyPr/>
          <a:lstStyle/>
          <a:p>
            <a:endParaRPr lang="en-IN"/>
          </a:p>
        </p:txBody>
      </p:sp>
      <p:sp>
        <p:nvSpPr>
          <p:cNvPr id="34" name="Shape 32"/>
          <p:cNvSpPr/>
          <p:nvPr/>
        </p:nvSpPr>
        <p:spPr>
          <a:xfrm>
            <a:off x="1522476" y="3566160"/>
            <a:ext cx="0" cy="393192"/>
          </a:xfrm>
          <a:prstGeom prst="line">
            <a:avLst/>
          </a:prstGeom>
          <a:noFill/>
          <a:ln w="25400">
            <a:solidFill>
              <a:srgbClr val="171A21"/>
            </a:solidFill>
            <a:prstDash val="solid"/>
            <a:tailEnd type="triangle"/>
          </a:ln>
        </p:spPr>
        <p:txBody>
          <a:bodyPr/>
          <a:lstStyle/>
          <a:p>
            <a:endParaRPr lang="en-IN"/>
          </a:p>
        </p:txBody>
      </p:sp>
      <p:sp>
        <p:nvSpPr>
          <p:cNvPr id="35" name="Text 33"/>
          <p:cNvSpPr txBox="1"/>
          <p:nvPr/>
        </p:nvSpPr>
        <p:spPr>
          <a:xfrm>
            <a:off x="548640" y="5897880"/>
            <a:ext cx="11064240" cy="411480"/>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A BLOCK or REVIEW verdict at either gate stops the run before Gemini is ever called.</a:t>
            </a:r>
            <a:endParaRPr lang="en-US" sz="1400" dirty="0"/>
          </a:p>
        </p:txBody>
      </p:sp>
      <p:sp>
        <p:nvSpPr>
          <p:cNvPr id="36" name="Text 34"/>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7"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The 9-phase roadmap</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Each phase builds on the one before it</a:t>
            </a:r>
            <a:endParaRPr lang="en-US" sz="1600" dirty="0"/>
          </a:p>
        </p:txBody>
      </p:sp>
      <p:sp>
        <p:nvSpPr>
          <p:cNvPr id="4" name="Shape 2"/>
          <p:cNvSpPr/>
          <p:nvPr/>
        </p:nvSpPr>
        <p:spPr>
          <a:xfrm>
            <a:off x="608076" y="1691640"/>
            <a:ext cx="1828800" cy="137160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5" name="Text 3"/>
          <p:cNvSpPr txBox="1"/>
          <p:nvPr/>
        </p:nvSpPr>
        <p:spPr>
          <a:xfrm>
            <a:off x="608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PHASE 1</a:t>
            </a:r>
            <a:endParaRPr lang="en-US" sz="1100" dirty="0"/>
          </a:p>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RAG Foundation</a:t>
            </a:r>
            <a:endParaRPr lang="en-US" sz="1100" dirty="0"/>
          </a:p>
        </p:txBody>
      </p:sp>
      <p:sp>
        <p:nvSpPr>
          <p:cNvPr id="6" name="Shape 4"/>
          <p:cNvSpPr/>
          <p:nvPr/>
        </p:nvSpPr>
        <p:spPr>
          <a:xfrm>
            <a:off x="2455164" y="2377440"/>
            <a:ext cx="420624" cy="0"/>
          </a:xfrm>
          <a:prstGeom prst="line">
            <a:avLst/>
          </a:prstGeom>
          <a:noFill/>
          <a:ln w="25400">
            <a:solidFill>
              <a:srgbClr val="171A21"/>
            </a:solidFill>
            <a:prstDash val="solid"/>
            <a:tailEnd type="triangle"/>
          </a:ln>
        </p:spPr>
        <p:txBody>
          <a:bodyPr/>
          <a:lstStyle/>
          <a:p>
            <a:endParaRPr/>
          </a:p>
        </p:txBody>
      </p:sp>
      <p:sp>
        <p:nvSpPr>
          <p:cNvPr id="7" name="Shape 5"/>
          <p:cNvSpPr/>
          <p:nvPr/>
        </p:nvSpPr>
        <p:spPr>
          <a:xfrm>
            <a:off x="2894076" y="1691640"/>
            <a:ext cx="1828800" cy="137160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8" name="Text 6"/>
          <p:cNvSpPr txBox="1"/>
          <p:nvPr/>
        </p:nvSpPr>
        <p:spPr>
          <a:xfrm>
            <a:off x="2894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PHASE 2</a:t>
            </a:r>
            <a:endParaRPr lang="en-US" sz="1100" dirty="0"/>
          </a:p>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Agent Orchestrator</a:t>
            </a:r>
            <a:endParaRPr lang="en-US" sz="1100" dirty="0"/>
          </a:p>
        </p:txBody>
      </p:sp>
      <p:sp>
        <p:nvSpPr>
          <p:cNvPr id="9" name="Shape 7"/>
          <p:cNvSpPr/>
          <p:nvPr/>
        </p:nvSpPr>
        <p:spPr>
          <a:xfrm>
            <a:off x="4741164" y="2377440"/>
            <a:ext cx="420624" cy="0"/>
          </a:xfrm>
          <a:prstGeom prst="line">
            <a:avLst/>
          </a:prstGeom>
          <a:noFill/>
          <a:ln w="25400">
            <a:solidFill>
              <a:srgbClr val="171A21"/>
            </a:solidFill>
            <a:prstDash val="solid"/>
            <a:tailEnd type="triangle"/>
          </a:ln>
        </p:spPr>
        <p:txBody>
          <a:bodyPr/>
          <a:lstStyle/>
          <a:p>
            <a:endParaRPr/>
          </a:p>
        </p:txBody>
      </p:sp>
      <p:sp>
        <p:nvSpPr>
          <p:cNvPr id="10" name="Shape 8"/>
          <p:cNvSpPr/>
          <p:nvPr/>
        </p:nvSpPr>
        <p:spPr>
          <a:xfrm>
            <a:off x="5180076" y="1691640"/>
            <a:ext cx="1828800" cy="137160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11" name="Text 9"/>
          <p:cNvSpPr txBox="1"/>
          <p:nvPr/>
        </p:nvSpPr>
        <p:spPr>
          <a:xfrm>
            <a:off x="5180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PHASE 3</a:t>
            </a:r>
            <a:endParaRPr lang="en-US" sz="1100" dirty="0"/>
          </a:p>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Evidence-Grounded Generation</a:t>
            </a:r>
            <a:endParaRPr lang="en-US" sz="1100" dirty="0"/>
          </a:p>
        </p:txBody>
      </p:sp>
      <p:sp>
        <p:nvSpPr>
          <p:cNvPr id="12" name="Shape 10"/>
          <p:cNvSpPr/>
          <p:nvPr/>
        </p:nvSpPr>
        <p:spPr>
          <a:xfrm>
            <a:off x="7027164" y="2377440"/>
            <a:ext cx="420624" cy="0"/>
          </a:xfrm>
          <a:prstGeom prst="line">
            <a:avLst/>
          </a:prstGeom>
          <a:noFill/>
          <a:ln w="25400">
            <a:solidFill>
              <a:srgbClr val="171A21"/>
            </a:solidFill>
            <a:prstDash val="solid"/>
            <a:tailEnd type="triangle"/>
          </a:ln>
        </p:spPr>
        <p:txBody>
          <a:bodyPr/>
          <a:lstStyle/>
          <a:p>
            <a:endParaRPr/>
          </a:p>
        </p:txBody>
      </p:sp>
      <p:sp>
        <p:nvSpPr>
          <p:cNvPr id="13" name="Shape 11"/>
          <p:cNvSpPr/>
          <p:nvPr/>
        </p:nvSpPr>
        <p:spPr>
          <a:xfrm>
            <a:off x="7466076" y="1691640"/>
            <a:ext cx="1828800" cy="1371600"/>
          </a:xfrm>
          <a:prstGeom prst="roundRect">
            <a:avLst>
              <a:gd name="adj" fmla="val 6667"/>
            </a:avLst>
          </a:prstGeom>
          <a:solidFill>
            <a:srgbClr val="FFFFFF"/>
          </a:solidFill>
          <a:ln w="19050">
            <a:solidFill>
              <a:srgbClr val="6B7280"/>
            </a:solidFill>
            <a:prstDash val="solid"/>
          </a:ln>
        </p:spPr>
        <p:txBody>
          <a:bodyPr/>
          <a:lstStyle/>
          <a:p>
            <a:endParaRPr/>
          </a:p>
        </p:txBody>
      </p:sp>
      <p:sp>
        <p:nvSpPr>
          <p:cNvPr id="14" name="Text 12"/>
          <p:cNvSpPr txBox="1"/>
          <p:nvPr/>
        </p:nvSpPr>
        <p:spPr>
          <a:xfrm>
            <a:off x="7466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4</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Security Engine Hardening</a:t>
            </a:r>
            <a:endParaRPr lang="en-US" sz="1100" dirty="0"/>
          </a:p>
        </p:txBody>
      </p:sp>
      <p:sp>
        <p:nvSpPr>
          <p:cNvPr id="15" name="Shape 13"/>
          <p:cNvSpPr/>
          <p:nvPr/>
        </p:nvSpPr>
        <p:spPr>
          <a:xfrm>
            <a:off x="9313164" y="2377440"/>
            <a:ext cx="420624" cy="0"/>
          </a:xfrm>
          <a:prstGeom prst="line">
            <a:avLst/>
          </a:prstGeom>
          <a:noFill/>
          <a:ln w="25400">
            <a:solidFill>
              <a:srgbClr val="171A21"/>
            </a:solidFill>
            <a:prstDash val="solid"/>
            <a:tailEnd type="triangle"/>
          </a:ln>
        </p:spPr>
        <p:txBody>
          <a:bodyPr/>
          <a:lstStyle/>
          <a:p>
            <a:endParaRPr/>
          </a:p>
        </p:txBody>
      </p:sp>
      <p:sp>
        <p:nvSpPr>
          <p:cNvPr id="16" name="Shape 14"/>
          <p:cNvSpPr/>
          <p:nvPr/>
        </p:nvSpPr>
        <p:spPr>
          <a:xfrm>
            <a:off x="9752076" y="1691640"/>
            <a:ext cx="1828800" cy="1371600"/>
          </a:xfrm>
          <a:prstGeom prst="roundRect">
            <a:avLst>
              <a:gd name="adj" fmla="val 6667"/>
            </a:avLst>
          </a:prstGeom>
          <a:solidFill>
            <a:srgbClr val="FFFFFF"/>
          </a:solidFill>
          <a:ln w="19050">
            <a:solidFill>
              <a:srgbClr val="6B7280"/>
            </a:solidFill>
            <a:prstDash val="solid"/>
          </a:ln>
        </p:spPr>
        <p:txBody>
          <a:bodyPr/>
          <a:lstStyle/>
          <a:p>
            <a:endParaRPr/>
          </a:p>
        </p:txBody>
      </p:sp>
      <p:sp>
        <p:nvSpPr>
          <p:cNvPr id="17" name="Text 15"/>
          <p:cNvSpPr txBox="1"/>
          <p:nvPr/>
        </p:nvSpPr>
        <p:spPr>
          <a:xfrm>
            <a:off x="9752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5</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Change-Impact Analysis</a:t>
            </a:r>
            <a:endParaRPr lang="en-US" sz="1100" dirty="0"/>
          </a:p>
        </p:txBody>
      </p:sp>
      <p:sp>
        <p:nvSpPr>
          <p:cNvPr id="18" name="Shape 16"/>
          <p:cNvSpPr/>
          <p:nvPr/>
        </p:nvSpPr>
        <p:spPr>
          <a:xfrm>
            <a:off x="608076" y="4069080"/>
            <a:ext cx="1828800" cy="1371600"/>
          </a:xfrm>
          <a:prstGeom prst="roundRect">
            <a:avLst>
              <a:gd name="adj" fmla="val 6667"/>
            </a:avLst>
          </a:prstGeom>
          <a:solidFill>
            <a:srgbClr val="FFFFFF"/>
          </a:solidFill>
          <a:ln w="19050">
            <a:solidFill>
              <a:srgbClr val="6B7280"/>
            </a:solidFill>
            <a:prstDash val="solid"/>
          </a:ln>
        </p:spPr>
        <p:txBody>
          <a:bodyPr/>
          <a:lstStyle/>
          <a:p>
            <a:endParaRPr/>
          </a:p>
        </p:txBody>
      </p:sp>
      <p:sp>
        <p:nvSpPr>
          <p:cNvPr id="19" name="Text 17"/>
          <p:cNvSpPr txBox="1"/>
          <p:nvPr/>
        </p:nvSpPr>
        <p:spPr>
          <a:xfrm>
            <a:off x="608076" y="406908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6</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Integration Verification</a:t>
            </a:r>
            <a:endParaRPr lang="en-US" sz="1100" dirty="0"/>
          </a:p>
        </p:txBody>
      </p:sp>
      <p:sp>
        <p:nvSpPr>
          <p:cNvPr id="20" name="Shape 18"/>
          <p:cNvSpPr/>
          <p:nvPr/>
        </p:nvSpPr>
        <p:spPr>
          <a:xfrm>
            <a:off x="2455164" y="4754880"/>
            <a:ext cx="420624" cy="0"/>
          </a:xfrm>
          <a:prstGeom prst="line">
            <a:avLst/>
          </a:prstGeom>
          <a:noFill/>
          <a:ln w="25400">
            <a:solidFill>
              <a:srgbClr val="171A21"/>
            </a:solidFill>
            <a:prstDash val="solid"/>
            <a:tailEnd type="triangle"/>
          </a:ln>
        </p:spPr>
        <p:txBody>
          <a:bodyPr/>
          <a:lstStyle/>
          <a:p>
            <a:endParaRPr/>
          </a:p>
        </p:txBody>
      </p:sp>
      <p:sp>
        <p:nvSpPr>
          <p:cNvPr id="21" name="Shape 19"/>
          <p:cNvSpPr/>
          <p:nvPr/>
        </p:nvSpPr>
        <p:spPr>
          <a:xfrm>
            <a:off x="2894076" y="4069080"/>
            <a:ext cx="1828800" cy="1371600"/>
          </a:xfrm>
          <a:prstGeom prst="roundRect">
            <a:avLst>
              <a:gd name="adj" fmla="val 6667"/>
            </a:avLst>
          </a:prstGeom>
          <a:solidFill>
            <a:srgbClr val="FFFFFF"/>
          </a:solidFill>
          <a:ln w="19050">
            <a:solidFill>
              <a:srgbClr val="6B7280"/>
            </a:solidFill>
            <a:prstDash val="solid"/>
          </a:ln>
        </p:spPr>
        <p:txBody>
          <a:bodyPr/>
          <a:lstStyle/>
          <a:p>
            <a:endParaRPr/>
          </a:p>
        </p:txBody>
      </p:sp>
      <p:sp>
        <p:nvSpPr>
          <p:cNvPr id="22" name="Text 20"/>
          <p:cNvSpPr txBox="1"/>
          <p:nvPr/>
        </p:nvSpPr>
        <p:spPr>
          <a:xfrm>
            <a:off x="2894076" y="406908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7</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CI / Security Gate</a:t>
            </a:r>
            <a:endParaRPr lang="en-US" sz="1100" dirty="0"/>
          </a:p>
        </p:txBody>
      </p:sp>
      <p:sp>
        <p:nvSpPr>
          <p:cNvPr id="23" name="Shape 21"/>
          <p:cNvSpPr/>
          <p:nvPr/>
        </p:nvSpPr>
        <p:spPr>
          <a:xfrm>
            <a:off x="4741164" y="4754880"/>
            <a:ext cx="420624" cy="0"/>
          </a:xfrm>
          <a:prstGeom prst="line">
            <a:avLst/>
          </a:prstGeom>
          <a:noFill/>
          <a:ln w="25400">
            <a:solidFill>
              <a:srgbClr val="171A21"/>
            </a:solidFill>
            <a:prstDash val="solid"/>
            <a:tailEnd type="triangle"/>
          </a:ln>
        </p:spPr>
        <p:txBody>
          <a:bodyPr/>
          <a:lstStyle/>
          <a:p>
            <a:endParaRPr/>
          </a:p>
        </p:txBody>
      </p:sp>
      <p:sp>
        <p:nvSpPr>
          <p:cNvPr id="24" name="Shape 22"/>
          <p:cNvSpPr/>
          <p:nvPr/>
        </p:nvSpPr>
        <p:spPr>
          <a:xfrm>
            <a:off x="5180076" y="4069080"/>
            <a:ext cx="1828800" cy="1371600"/>
          </a:xfrm>
          <a:prstGeom prst="roundRect">
            <a:avLst>
              <a:gd name="adj" fmla="val 6667"/>
            </a:avLst>
          </a:prstGeom>
          <a:solidFill>
            <a:srgbClr val="FFFFFF"/>
          </a:solidFill>
          <a:ln w="19050">
            <a:solidFill>
              <a:srgbClr val="6B7280"/>
            </a:solidFill>
            <a:prstDash val="solid"/>
          </a:ln>
        </p:spPr>
        <p:txBody>
          <a:bodyPr/>
          <a:lstStyle/>
          <a:p>
            <a:endParaRPr/>
          </a:p>
        </p:txBody>
      </p:sp>
      <p:sp>
        <p:nvSpPr>
          <p:cNvPr id="25" name="Text 23"/>
          <p:cNvSpPr txBox="1"/>
          <p:nvPr/>
        </p:nvSpPr>
        <p:spPr>
          <a:xfrm>
            <a:off x="5180076" y="406908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8</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Frontend &amp; Integrated Workflow</a:t>
            </a:r>
            <a:endParaRPr lang="en-US" sz="1100" dirty="0"/>
          </a:p>
        </p:txBody>
      </p:sp>
      <p:sp>
        <p:nvSpPr>
          <p:cNvPr id="26" name="Shape 24"/>
          <p:cNvSpPr/>
          <p:nvPr/>
        </p:nvSpPr>
        <p:spPr>
          <a:xfrm>
            <a:off x="7027164" y="4754880"/>
            <a:ext cx="420624" cy="0"/>
          </a:xfrm>
          <a:prstGeom prst="line">
            <a:avLst/>
          </a:prstGeom>
          <a:noFill/>
          <a:ln w="25400">
            <a:solidFill>
              <a:srgbClr val="171A21"/>
            </a:solidFill>
            <a:prstDash val="solid"/>
            <a:tailEnd type="triangle"/>
          </a:ln>
        </p:spPr>
        <p:txBody>
          <a:bodyPr/>
          <a:lstStyle/>
          <a:p>
            <a:endParaRPr/>
          </a:p>
        </p:txBody>
      </p:sp>
      <p:sp>
        <p:nvSpPr>
          <p:cNvPr id="27" name="Shape 25"/>
          <p:cNvSpPr/>
          <p:nvPr/>
        </p:nvSpPr>
        <p:spPr>
          <a:xfrm>
            <a:off x="7466076" y="4069080"/>
            <a:ext cx="1828800" cy="1371600"/>
          </a:xfrm>
          <a:prstGeom prst="roundRect">
            <a:avLst>
              <a:gd name="adj" fmla="val 6667"/>
            </a:avLst>
          </a:prstGeom>
          <a:solidFill>
            <a:srgbClr val="FFFFFF"/>
          </a:solidFill>
          <a:ln w="19050">
            <a:solidFill>
              <a:srgbClr val="6B7280"/>
            </a:solidFill>
            <a:prstDash val="solid"/>
          </a:ln>
        </p:spPr>
        <p:txBody>
          <a:bodyPr/>
          <a:lstStyle/>
          <a:p>
            <a:endParaRPr/>
          </a:p>
        </p:txBody>
      </p:sp>
      <p:sp>
        <p:nvSpPr>
          <p:cNvPr id="28" name="Text 26"/>
          <p:cNvSpPr txBox="1"/>
          <p:nvPr/>
        </p:nvSpPr>
        <p:spPr>
          <a:xfrm>
            <a:off x="7466076" y="406908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9</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Finalization</a:t>
            </a:r>
            <a:endParaRPr lang="en-US" sz="1100" dirty="0"/>
          </a:p>
        </p:txBody>
      </p:sp>
      <p:sp>
        <p:nvSpPr>
          <p:cNvPr id="29" name="Shape 27"/>
          <p:cNvSpPr/>
          <p:nvPr/>
        </p:nvSpPr>
        <p:spPr>
          <a:xfrm>
            <a:off x="10666476" y="3081528"/>
            <a:ext cx="0" cy="484632"/>
          </a:xfrm>
          <a:prstGeom prst="line">
            <a:avLst/>
          </a:prstGeom>
          <a:noFill/>
          <a:ln w="25400">
            <a:solidFill>
              <a:srgbClr val="171A21"/>
            </a:solidFill>
            <a:prstDash val="solid"/>
          </a:ln>
        </p:spPr>
        <p:txBody>
          <a:bodyPr/>
          <a:lstStyle/>
          <a:p>
            <a:endParaRPr/>
          </a:p>
        </p:txBody>
      </p:sp>
      <p:sp>
        <p:nvSpPr>
          <p:cNvPr id="30" name="Shape 28"/>
          <p:cNvSpPr/>
          <p:nvPr/>
        </p:nvSpPr>
        <p:spPr>
          <a:xfrm>
            <a:off x="1522476" y="3566160"/>
            <a:ext cx="9144000" cy="0"/>
          </a:xfrm>
          <a:prstGeom prst="line">
            <a:avLst/>
          </a:prstGeom>
          <a:noFill/>
          <a:ln w="25400">
            <a:solidFill>
              <a:srgbClr val="171A21"/>
            </a:solidFill>
            <a:prstDash val="solid"/>
          </a:ln>
        </p:spPr>
        <p:txBody>
          <a:bodyPr/>
          <a:lstStyle/>
          <a:p>
            <a:endParaRPr/>
          </a:p>
        </p:txBody>
      </p:sp>
      <p:sp>
        <p:nvSpPr>
          <p:cNvPr id="31" name="Shape 29"/>
          <p:cNvSpPr/>
          <p:nvPr/>
        </p:nvSpPr>
        <p:spPr>
          <a:xfrm>
            <a:off x="1522476" y="3566160"/>
            <a:ext cx="0" cy="484632"/>
          </a:xfrm>
          <a:prstGeom prst="line">
            <a:avLst/>
          </a:prstGeom>
          <a:noFill/>
          <a:ln w="25400">
            <a:solidFill>
              <a:srgbClr val="171A21"/>
            </a:solidFill>
            <a:prstDash val="solid"/>
            <a:tailEnd type="triangle"/>
          </a:ln>
        </p:spPr>
        <p:txBody>
          <a:bodyPr/>
          <a:lstStyle/>
          <a:p>
            <a:endParaRPr/>
          </a:p>
        </p:txBody>
      </p:sp>
      <p:sp>
        <p:nvSpPr>
          <p:cNvPr id="32" name="Shape 30"/>
          <p:cNvSpPr/>
          <p:nvPr/>
        </p:nvSpPr>
        <p:spPr>
          <a:xfrm>
            <a:off x="9752076" y="4069080"/>
            <a:ext cx="1828800" cy="1371600"/>
          </a:xfrm>
          <a:prstGeom prst="roundRect">
            <a:avLst>
              <a:gd name="adj" fmla="val 8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3" name="Shape 31"/>
          <p:cNvSpPr/>
          <p:nvPr/>
        </p:nvSpPr>
        <p:spPr>
          <a:xfrm>
            <a:off x="9934956" y="4270248"/>
            <a:ext cx="365760" cy="256032"/>
          </a:xfrm>
          <a:prstGeom prst="roundRect">
            <a:avLst>
              <a:gd name="adj" fmla="val 17857"/>
            </a:avLst>
          </a:prstGeom>
          <a:solidFill>
            <a:srgbClr val="171A21"/>
          </a:solidFill>
          <a:ln w="12700">
            <a:solidFill>
              <a:srgbClr val="171A21"/>
            </a:solidFill>
            <a:prstDash val="solid"/>
          </a:ln>
        </p:spPr>
        <p:txBody>
          <a:bodyPr/>
          <a:lstStyle/>
          <a:p>
            <a:endParaRPr/>
          </a:p>
        </p:txBody>
      </p:sp>
      <p:sp>
        <p:nvSpPr>
          <p:cNvPr id="34" name="Text 32"/>
          <p:cNvSpPr txBox="1"/>
          <p:nvPr/>
        </p:nvSpPr>
        <p:spPr>
          <a:xfrm>
            <a:off x="10392156" y="4206240"/>
            <a:ext cx="1143000" cy="411480"/>
          </a:xfrm>
          <a:prstGeom prst="rect">
            <a:avLst/>
          </a:prstGeom>
          <a:noFill/>
          <a:ln/>
        </p:spPr>
        <p:txBody>
          <a:bodyPr wrap="square" lIns="0" tIns="0" rIns="0" bIns="0" rtlCol="0" anchor="ctr"/>
          <a:lstStyle/>
          <a:p>
            <a:pPr marL="0" indent="0">
              <a:buNone/>
            </a:pPr>
            <a:r>
              <a:rPr lang="en-US" sz="1100" dirty="0">
                <a:solidFill>
                  <a:srgbClr val="1F2430"/>
                </a:solidFill>
                <a:latin typeface="Calibri" pitchFamily="34" charset="0"/>
                <a:ea typeface="Calibri" pitchFamily="34" charset="-122"/>
                <a:cs typeface="Calibri" pitchFamily="34" charset="-120"/>
              </a:rPr>
              <a:t>Presented in detail today</a:t>
            </a:r>
            <a:endParaRPr lang="en-US" sz="1100" dirty="0"/>
          </a:p>
        </p:txBody>
      </p:sp>
      <p:sp>
        <p:nvSpPr>
          <p:cNvPr id="35" name="Shape 33"/>
          <p:cNvSpPr/>
          <p:nvPr/>
        </p:nvSpPr>
        <p:spPr>
          <a:xfrm>
            <a:off x="9934956" y="4846320"/>
            <a:ext cx="365760" cy="256032"/>
          </a:xfrm>
          <a:prstGeom prst="roundRect">
            <a:avLst>
              <a:gd name="adj" fmla="val 17857"/>
            </a:avLst>
          </a:prstGeom>
          <a:solidFill>
            <a:srgbClr val="FFFFFF"/>
          </a:solidFill>
          <a:ln w="19050">
            <a:solidFill>
              <a:srgbClr val="6B7280"/>
            </a:solidFill>
            <a:prstDash val="solid"/>
          </a:ln>
        </p:spPr>
        <p:txBody>
          <a:bodyPr/>
          <a:lstStyle/>
          <a:p>
            <a:endParaRPr/>
          </a:p>
        </p:txBody>
      </p:sp>
      <p:sp>
        <p:nvSpPr>
          <p:cNvPr id="36" name="Text 34"/>
          <p:cNvSpPr txBox="1"/>
          <p:nvPr/>
        </p:nvSpPr>
        <p:spPr>
          <a:xfrm>
            <a:off x="10392156" y="4782312"/>
            <a:ext cx="1143000" cy="411480"/>
          </a:xfrm>
          <a:prstGeom prst="rect">
            <a:avLst/>
          </a:prstGeom>
          <a:noFill/>
          <a:ln/>
        </p:spPr>
        <p:txBody>
          <a:bodyPr wrap="square" lIns="0" tIns="0" rIns="0" bIns="0" rtlCol="0" anchor="ctr"/>
          <a:lstStyle/>
          <a:p>
            <a:pPr marL="0" indent="0">
              <a:buNone/>
            </a:pPr>
            <a:r>
              <a:rPr lang="en-US" sz="1100" dirty="0">
                <a:solidFill>
                  <a:srgbClr val="1F2430"/>
                </a:solidFill>
                <a:latin typeface="Calibri" pitchFamily="34" charset="0"/>
                <a:ea typeface="Calibri" pitchFamily="34" charset="-122"/>
                <a:cs typeface="Calibri" pitchFamily="34" charset="-120"/>
              </a:rPr>
              <a:t>Next review</a:t>
            </a:r>
            <a:endParaRPr lang="en-US" sz="1100" dirty="0"/>
          </a:p>
        </p:txBody>
      </p:sp>
      <p:sp>
        <p:nvSpPr>
          <p:cNvPr id="37" name="Text 35"/>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8"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2743200" cy="27432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PHASE 1</a:t>
            </a:r>
            <a:endParaRPr lang="en-US" sz="1300" dirty="0"/>
          </a:p>
        </p:txBody>
      </p:sp>
      <p:sp>
        <p:nvSpPr>
          <p:cNvPr id="3" name="Text 1"/>
          <p:cNvSpPr txBox="1"/>
          <p:nvPr/>
        </p:nvSpPr>
        <p:spPr>
          <a:xfrm>
            <a:off x="548640" y="548640"/>
            <a:ext cx="11064240" cy="64008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RAG Foundation</a:t>
            </a:r>
            <a:endParaRPr lang="en-US" sz="32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Give the system real understanding of a codebase</a:t>
            </a:r>
            <a:endParaRPr lang="en-US" sz="1600" dirty="0"/>
          </a:p>
        </p:txBody>
      </p:sp>
      <p:sp>
        <p:nvSpPr>
          <p:cNvPr id="5" name="Shape 3"/>
          <p:cNvSpPr/>
          <p:nvPr/>
        </p:nvSpPr>
        <p:spPr>
          <a:xfrm>
            <a:off x="54864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6" name="Shape 4"/>
          <p:cNvSpPr/>
          <p:nvPr/>
        </p:nvSpPr>
        <p:spPr>
          <a:xfrm>
            <a:off x="777240" y="1874520"/>
            <a:ext cx="457200" cy="457200"/>
          </a:xfrm>
          <a:prstGeom prst="ellipse">
            <a:avLst/>
          </a:prstGeom>
          <a:solidFill>
            <a:srgbClr val="171A21"/>
          </a:solidFill>
          <a:ln w="12700">
            <a:solidFill>
              <a:srgbClr val="171A21"/>
            </a:solidFill>
            <a:prstDash val="solid"/>
          </a:ln>
        </p:spPr>
        <p:txBody>
          <a:bodyPr/>
          <a:lstStyle/>
          <a:p>
            <a:endParaRPr/>
          </a:p>
        </p:txBody>
      </p:sp>
      <p:pic>
        <p:nvPicPr>
          <p:cNvPr id="7" name="Image 0" descr="preencoded.png"/>
          <p:cNvPicPr>
            <a:picLocks noChangeAspect="1"/>
          </p:cNvPicPr>
          <p:nvPr/>
        </p:nvPicPr>
        <p:blipFill>
          <a:blip r:embed="rId3"/>
          <a:stretch>
            <a:fillRect/>
          </a:stretch>
        </p:blipFill>
        <p:spPr>
          <a:xfrm>
            <a:off x="896112" y="1993392"/>
            <a:ext cx="219456" cy="219456"/>
          </a:xfrm>
          <a:prstGeom prst="rect">
            <a:avLst/>
          </a:prstGeom>
        </p:spPr>
      </p:pic>
      <p:sp>
        <p:nvSpPr>
          <p:cNvPr id="8" name="Text 5"/>
          <p:cNvSpPr txBox="1"/>
          <p:nvPr/>
        </p:nvSpPr>
        <p:spPr>
          <a:xfrm>
            <a:off x="137160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What we built</a:t>
            </a:r>
            <a:endParaRPr lang="en-US" sz="1800" dirty="0"/>
          </a:p>
        </p:txBody>
      </p:sp>
      <p:sp>
        <p:nvSpPr>
          <p:cNvPr id="9" name="Text 6"/>
          <p:cNvSpPr txBox="1"/>
          <p:nvPr/>
        </p:nvSpPr>
        <p:spPr>
          <a:xfrm>
            <a:off x="777240" y="2468880"/>
            <a:ext cx="3154680" cy="1874520"/>
          </a:xfrm>
          <a:prstGeom prst="rect">
            <a:avLst/>
          </a:prstGeom>
          <a:noFill/>
          <a:ln/>
        </p:spPr>
        <p:txBody>
          <a:bodyPr wrap="square" lIns="0" tIns="0" rIns="0" bIns="0" rtlCol="0" anchor="t"/>
          <a:lstStyle/>
          <a:p>
            <a:r>
              <a:t>Repository ingestion: reads a codebase and splits it into searchable chunks</a:t>
            </a:r>
          </a:p>
          <a:p>
            <a:r>
              <a:t>Semantic search over code using vector embeddings</a:t>
            </a:r>
          </a:p>
          <a:p>
            <a:r>
              <a:t>A security test corpus to check retrieval</a:t>
            </a:r>
          </a:p>
        </p:txBody>
      </p:sp>
      <p:sp>
        <p:nvSpPr>
          <p:cNvPr id="10" name="Shape 7"/>
          <p:cNvSpPr/>
          <p:nvPr/>
        </p:nvSpPr>
        <p:spPr>
          <a:xfrm>
            <a:off x="434340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1" name="Shape 8"/>
          <p:cNvSpPr/>
          <p:nvPr/>
        </p:nvSpPr>
        <p:spPr>
          <a:xfrm>
            <a:off x="4572000" y="1874520"/>
            <a:ext cx="457200" cy="457200"/>
          </a:xfrm>
          <a:prstGeom prst="ellipse">
            <a:avLst/>
          </a:prstGeom>
          <a:solidFill>
            <a:srgbClr val="0F766E"/>
          </a:solidFill>
          <a:ln w="12700">
            <a:solidFill>
              <a:srgbClr val="0F766E"/>
            </a:solidFill>
            <a:prstDash val="solid"/>
          </a:ln>
        </p:spPr>
        <p:txBody>
          <a:bodyPr/>
          <a:lstStyle/>
          <a:p>
            <a:endParaRPr/>
          </a:p>
        </p:txBody>
      </p:sp>
      <p:pic>
        <p:nvPicPr>
          <p:cNvPr id="12" name="Image 1" descr="preencoded.png"/>
          <p:cNvPicPr>
            <a:picLocks noChangeAspect="1"/>
          </p:cNvPicPr>
          <p:nvPr/>
        </p:nvPicPr>
        <p:blipFill>
          <a:blip r:embed="rId4"/>
          <a:stretch>
            <a:fillRect/>
          </a:stretch>
        </p:blipFill>
        <p:spPr>
          <a:xfrm>
            <a:off x="4690872" y="1993392"/>
            <a:ext cx="219456" cy="219456"/>
          </a:xfrm>
          <a:prstGeom prst="rect">
            <a:avLst/>
          </a:prstGeom>
        </p:spPr>
      </p:pic>
      <p:sp>
        <p:nvSpPr>
          <p:cNvPr id="13" name="Text 9"/>
          <p:cNvSpPr txBox="1"/>
          <p:nvPr/>
        </p:nvSpPr>
        <p:spPr>
          <a:xfrm>
            <a:off x="516636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How we built it</a:t>
            </a:r>
            <a:endParaRPr lang="en-US" sz="1800" dirty="0"/>
          </a:p>
        </p:txBody>
      </p:sp>
      <p:sp>
        <p:nvSpPr>
          <p:cNvPr id="14" name="Text 10"/>
          <p:cNvSpPr txBox="1"/>
          <p:nvPr/>
        </p:nvSpPr>
        <p:spPr>
          <a:xfrm>
            <a:off x="457200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Sentence Transformers turn each chunk into an embedding</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Qdrant stores the vectors and returns top matches with similarity scores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Exposed through FastAPI endpoints: /ingest and /search</a:t>
            </a:r>
            <a:endParaRPr lang="en-US" sz="1300" dirty="0"/>
          </a:p>
        </p:txBody>
      </p:sp>
      <p:sp>
        <p:nvSpPr>
          <p:cNvPr id="15" name="Shape 11"/>
          <p:cNvSpPr/>
          <p:nvPr/>
        </p:nvSpPr>
        <p:spPr>
          <a:xfrm>
            <a:off x="813816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6" name="Shape 12"/>
          <p:cNvSpPr/>
          <p:nvPr/>
        </p:nvSpPr>
        <p:spPr>
          <a:xfrm>
            <a:off x="8366760" y="1874520"/>
            <a:ext cx="457200" cy="457200"/>
          </a:xfrm>
          <a:prstGeom prst="ellipse">
            <a:avLst/>
          </a:prstGeom>
          <a:solidFill>
            <a:srgbClr val="262B36"/>
          </a:solidFill>
          <a:ln w="12700">
            <a:solidFill>
              <a:srgbClr val="262B36"/>
            </a:solidFill>
            <a:prstDash val="solid"/>
          </a:ln>
        </p:spPr>
        <p:txBody>
          <a:bodyPr/>
          <a:lstStyle/>
          <a:p>
            <a:endParaRPr/>
          </a:p>
        </p:txBody>
      </p:sp>
      <p:pic>
        <p:nvPicPr>
          <p:cNvPr id="17" name="Image 2" descr="preencoded.png"/>
          <p:cNvPicPr>
            <a:picLocks noChangeAspect="1"/>
          </p:cNvPicPr>
          <p:nvPr/>
        </p:nvPicPr>
        <p:blipFill>
          <a:blip r:embed="rId5"/>
          <a:stretch>
            <a:fillRect/>
          </a:stretch>
        </p:blipFill>
        <p:spPr>
          <a:xfrm>
            <a:off x="8485632" y="1993392"/>
            <a:ext cx="219456" cy="219456"/>
          </a:xfrm>
          <a:prstGeom prst="rect">
            <a:avLst/>
          </a:prstGeom>
        </p:spPr>
      </p:pic>
      <p:sp>
        <p:nvSpPr>
          <p:cNvPr id="18" name="Text 13"/>
          <p:cNvSpPr txBox="1"/>
          <p:nvPr/>
        </p:nvSpPr>
        <p:spPr>
          <a:xfrm>
            <a:off x="896112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Why it matters</a:t>
            </a:r>
            <a:endParaRPr lang="en-US" sz="1800" dirty="0"/>
          </a:p>
        </p:txBody>
      </p:sp>
      <p:sp>
        <p:nvSpPr>
          <p:cNvPr id="19" name="Text 14"/>
          <p:cNvSpPr txBox="1"/>
          <p:nvPr/>
        </p:nvSpPr>
        <p:spPr>
          <a:xfrm>
            <a:off x="836676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LLMs guess when they cannot see your code; RAG gives them real context</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Every later phase (security, impact, generation) depends on this evidence layer</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Similarity scores make retrieval transparent</a:t>
            </a:r>
            <a:endParaRPr lang="en-US" sz="1300" dirty="0"/>
          </a:p>
        </p:txBody>
      </p:sp>
      <p:sp>
        <p:nvSpPr>
          <p:cNvPr id="20" name="Text 15"/>
          <p:cNvSpPr txBox="1"/>
          <p:nvPr/>
        </p:nvSpPr>
        <p:spPr>
          <a:xfrm>
            <a:off x="548640" y="4617720"/>
            <a:ext cx="3657600" cy="320040"/>
          </a:xfrm>
          <a:prstGeom prst="rect">
            <a:avLst/>
          </a:prstGeom>
          <a:noFill/>
          <a:ln/>
        </p:spPr>
        <p:txBody>
          <a:bodyPr wrap="square" lIns="0" tIns="0" rIns="0" bIns="0" rtlCol="0" anchor="ctr"/>
          <a:lstStyle/>
          <a:p>
            <a:pPr marL="0" indent="0">
              <a:buNone/>
            </a:pPr>
            <a:r>
              <a:rPr lang="en-US" sz="1400" b="1" dirty="0">
                <a:solidFill>
                  <a:srgbClr val="171A21"/>
                </a:solidFill>
                <a:latin typeface="Calibri" pitchFamily="34" charset="0"/>
                <a:ea typeface="Calibri" pitchFamily="34" charset="-122"/>
                <a:cs typeface="Calibri" pitchFamily="34" charset="-120"/>
              </a:rPr>
              <a:t>Data flow</a:t>
            </a:r>
            <a:endParaRPr lang="en-US" sz="1400" dirty="0"/>
          </a:p>
        </p:txBody>
      </p:sp>
      <p:sp>
        <p:nvSpPr>
          <p:cNvPr id="21" name="Shape 16"/>
          <p:cNvSpPr/>
          <p:nvPr/>
        </p:nvSpPr>
        <p:spPr>
          <a:xfrm>
            <a:off x="548640" y="5029200"/>
            <a:ext cx="1539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22" name="Text 17"/>
          <p:cNvSpPr txBox="1"/>
          <p:nvPr/>
        </p:nvSpPr>
        <p:spPr>
          <a:xfrm>
            <a:off x="54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Repository files</a:t>
            </a:r>
            <a:endParaRPr lang="en-US" sz="1300" dirty="0"/>
          </a:p>
        </p:txBody>
      </p:sp>
      <p:sp>
        <p:nvSpPr>
          <p:cNvPr id="23" name="Shape 18"/>
          <p:cNvSpPr/>
          <p:nvPr/>
        </p:nvSpPr>
        <p:spPr>
          <a:xfrm>
            <a:off x="2106168" y="5486400"/>
            <a:ext cx="329184" cy="0"/>
          </a:xfrm>
          <a:prstGeom prst="line">
            <a:avLst/>
          </a:prstGeom>
          <a:noFill/>
          <a:ln w="25400">
            <a:solidFill>
              <a:srgbClr val="171A21"/>
            </a:solidFill>
            <a:prstDash val="solid"/>
            <a:tailEnd type="triangle"/>
          </a:ln>
        </p:spPr>
        <p:txBody>
          <a:bodyPr/>
          <a:lstStyle/>
          <a:p>
            <a:endParaRPr/>
          </a:p>
        </p:txBody>
      </p:sp>
      <p:sp>
        <p:nvSpPr>
          <p:cNvPr id="24" name="Shape 19"/>
          <p:cNvSpPr/>
          <p:nvPr/>
        </p:nvSpPr>
        <p:spPr>
          <a:xfrm>
            <a:off x="2453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5" name="Text 20"/>
          <p:cNvSpPr txBox="1"/>
          <p:nvPr/>
        </p:nvSpPr>
        <p:spPr>
          <a:xfrm>
            <a:off x="245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Chunking</a:t>
            </a:r>
            <a:endParaRPr lang="en-US" sz="1300" dirty="0"/>
          </a:p>
        </p:txBody>
      </p:sp>
      <p:sp>
        <p:nvSpPr>
          <p:cNvPr id="26" name="Shape 21"/>
          <p:cNvSpPr/>
          <p:nvPr/>
        </p:nvSpPr>
        <p:spPr>
          <a:xfrm>
            <a:off x="4011168" y="5486400"/>
            <a:ext cx="329184" cy="0"/>
          </a:xfrm>
          <a:prstGeom prst="line">
            <a:avLst/>
          </a:prstGeom>
          <a:noFill/>
          <a:ln w="25400">
            <a:solidFill>
              <a:srgbClr val="171A21"/>
            </a:solidFill>
            <a:prstDash val="solid"/>
            <a:tailEnd type="triangle"/>
          </a:ln>
        </p:spPr>
        <p:txBody>
          <a:bodyPr/>
          <a:lstStyle/>
          <a:p>
            <a:endParaRPr/>
          </a:p>
        </p:txBody>
      </p:sp>
      <p:sp>
        <p:nvSpPr>
          <p:cNvPr id="27" name="Shape 22"/>
          <p:cNvSpPr/>
          <p:nvPr/>
        </p:nvSpPr>
        <p:spPr>
          <a:xfrm>
            <a:off x="4358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8" name="Text 23"/>
          <p:cNvSpPr txBox="1"/>
          <p:nvPr/>
        </p:nvSpPr>
        <p:spPr>
          <a:xfrm>
            <a:off x="435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Embeddings</a:t>
            </a:r>
            <a:endParaRPr lang="en-US" sz="1300" dirty="0"/>
          </a:p>
        </p:txBody>
      </p:sp>
      <p:sp>
        <p:nvSpPr>
          <p:cNvPr id="29" name="Shape 24"/>
          <p:cNvSpPr/>
          <p:nvPr/>
        </p:nvSpPr>
        <p:spPr>
          <a:xfrm>
            <a:off x="5916168" y="5486400"/>
            <a:ext cx="329184" cy="0"/>
          </a:xfrm>
          <a:prstGeom prst="line">
            <a:avLst/>
          </a:prstGeom>
          <a:noFill/>
          <a:ln w="25400">
            <a:solidFill>
              <a:srgbClr val="171A21"/>
            </a:solidFill>
            <a:prstDash val="solid"/>
            <a:tailEnd type="triangle"/>
          </a:ln>
        </p:spPr>
        <p:txBody>
          <a:bodyPr/>
          <a:lstStyle/>
          <a:p>
            <a:endParaRPr/>
          </a:p>
        </p:txBody>
      </p:sp>
      <p:sp>
        <p:nvSpPr>
          <p:cNvPr id="30" name="Shape 25"/>
          <p:cNvSpPr/>
          <p:nvPr/>
        </p:nvSpPr>
        <p:spPr>
          <a:xfrm>
            <a:off x="6263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1" name="Text 26"/>
          <p:cNvSpPr txBox="1"/>
          <p:nvPr/>
        </p:nvSpPr>
        <p:spPr>
          <a:xfrm>
            <a:off x="626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Qdrant index</a:t>
            </a:r>
            <a:endParaRPr lang="en-US" sz="1300" dirty="0"/>
          </a:p>
        </p:txBody>
      </p:sp>
      <p:sp>
        <p:nvSpPr>
          <p:cNvPr id="32" name="Shape 27"/>
          <p:cNvSpPr/>
          <p:nvPr/>
        </p:nvSpPr>
        <p:spPr>
          <a:xfrm>
            <a:off x="7821168" y="5486400"/>
            <a:ext cx="329184" cy="0"/>
          </a:xfrm>
          <a:prstGeom prst="line">
            <a:avLst/>
          </a:prstGeom>
          <a:noFill/>
          <a:ln w="25400">
            <a:solidFill>
              <a:srgbClr val="171A21"/>
            </a:solidFill>
            <a:prstDash val="solid"/>
            <a:tailEnd type="triangle"/>
          </a:ln>
        </p:spPr>
        <p:txBody>
          <a:bodyPr/>
          <a:lstStyle/>
          <a:p>
            <a:endParaRPr/>
          </a:p>
        </p:txBody>
      </p:sp>
      <p:sp>
        <p:nvSpPr>
          <p:cNvPr id="33" name="Shape 28"/>
          <p:cNvSpPr/>
          <p:nvPr/>
        </p:nvSpPr>
        <p:spPr>
          <a:xfrm>
            <a:off x="8168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4" name="Text 29"/>
          <p:cNvSpPr txBox="1"/>
          <p:nvPr/>
        </p:nvSpPr>
        <p:spPr>
          <a:xfrm>
            <a:off x="816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Search query</a:t>
            </a:r>
            <a:endParaRPr lang="en-US" sz="1300" dirty="0"/>
          </a:p>
        </p:txBody>
      </p:sp>
      <p:sp>
        <p:nvSpPr>
          <p:cNvPr id="35" name="Shape 30"/>
          <p:cNvSpPr/>
          <p:nvPr/>
        </p:nvSpPr>
        <p:spPr>
          <a:xfrm>
            <a:off x="9726168" y="5486400"/>
            <a:ext cx="329184" cy="0"/>
          </a:xfrm>
          <a:prstGeom prst="line">
            <a:avLst/>
          </a:prstGeom>
          <a:noFill/>
          <a:ln w="25400">
            <a:solidFill>
              <a:srgbClr val="171A21"/>
            </a:solidFill>
            <a:prstDash val="solid"/>
            <a:tailEnd type="triangle"/>
          </a:ln>
        </p:spPr>
        <p:txBody>
          <a:bodyPr/>
          <a:lstStyle/>
          <a:p>
            <a:endParaRPr/>
          </a:p>
        </p:txBody>
      </p:sp>
      <p:sp>
        <p:nvSpPr>
          <p:cNvPr id="36" name="Shape 31"/>
          <p:cNvSpPr/>
          <p:nvPr/>
        </p:nvSpPr>
        <p:spPr>
          <a:xfrm>
            <a:off x="10073640" y="5029200"/>
            <a:ext cx="1539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a:p>
        </p:txBody>
      </p:sp>
      <p:sp>
        <p:nvSpPr>
          <p:cNvPr id="37" name="Text 32"/>
          <p:cNvSpPr txBox="1"/>
          <p:nvPr/>
        </p:nvSpPr>
        <p:spPr>
          <a:xfrm>
            <a:off x="1007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Top-k evidence</a:t>
            </a:r>
            <a:endParaRPr lang="en-US" sz="1300" dirty="0"/>
          </a:p>
        </p:txBody>
      </p:sp>
      <p:sp>
        <p:nvSpPr>
          <p:cNvPr id="38" name="Text 3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9"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2743200" cy="27432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PHASE 2</a:t>
            </a:r>
            <a:endParaRPr lang="en-US" sz="1300" dirty="0"/>
          </a:p>
        </p:txBody>
      </p:sp>
      <p:sp>
        <p:nvSpPr>
          <p:cNvPr id="3" name="Text 1"/>
          <p:cNvSpPr txBox="1"/>
          <p:nvPr/>
        </p:nvSpPr>
        <p:spPr>
          <a:xfrm>
            <a:off x="548640" y="548640"/>
            <a:ext cx="11064240" cy="64008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Agent Orchestrator</a:t>
            </a:r>
            <a:endParaRPr lang="en-US" sz="32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A controlled workflow instead of a free-running agent</a:t>
            </a:r>
            <a:endParaRPr lang="en-US" sz="1600" dirty="0"/>
          </a:p>
        </p:txBody>
      </p:sp>
      <p:sp>
        <p:nvSpPr>
          <p:cNvPr id="5" name="Shape 3"/>
          <p:cNvSpPr/>
          <p:nvPr/>
        </p:nvSpPr>
        <p:spPr>
          <a:xfrm>
            <a:off x="54864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6" name="Shape 4"/>
          <p:cNvSpPr/>
          <p:nvPr/>
        </p:nvSpPr>
        <p:spPr>
          <a:xfrm>
            <a:off x="777240" y="1874520"/>
            <a:ext cx="457200" cy="457200"/>
          </a:xfrm>
          <a:prstGeom prst="ellipse">
            <a:avLst/>
          </a:prstGeom>
          <a:solidFill>
            <a:srgbClr val="171A21"/>
          </a:solidFill>
          <a:ln w="12700">
            <a:solidFill>
              <a:srgbClr val="171A21"/>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896112" y="1993392"/>
            <a:ext cx="219456" cy="219456"/>
          </a:xfrm>
          <a:prstGeom prst="rect">
            <a:avLst/>
          </a:prstGeom>
        </p:spPr>
      </p:pic>
      <p:sp>
        <p:nvSpPr>
          <p:cNvPr id="8" name="Text 5"/>
          <p:cNvSpPr txBox="1"/>
          <p:nvPr/>
        </p:nvSpPr>
        <p:spPr>
          <a:xfrm>
            <a:off x="137160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What we built</a:t>
            </a:r>
            <a:endParaRPr lang="en-US" sz="1800" dirty="0"/>
          </a:p>
        </p:txBody>
      </p:sp>
      <p:sp>
        <p:nvSpPr>
          <p:cNvPr id="9" name="Text 6"/>
          <p:cNvSpPr txBox="1"/>
          <p:nvPr/>
        </p:nvSpPr>
        <p:spPr>
          <a:xfrm>
            <a:off x="77724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 workflow state machine that tracks every request through defined stages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 planner and an orchestrator that decide and run the steps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The sensitive-data detector extracted as a reusable module</a:t>
            </a:r>
            <a:endParaRPr lang="en-US" sz="1300" dirty="0"/>
          </a:p>
        </p:txBody>
      </p:sp>
      <p:sp>
        <p:nvSpPr>
          <p:cNvPr id="10" name="Shape 7"/>
          <p:cNvSpPr/>
          <p:nvPr/>
        </p:nvSpPr>
        <p:spPr>
          <a:xfrm>
            <a:off x="434340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1" name="Shape 8"/>
          <p:cNvSpPr/>
          <p:nvPr/>
        </p:nvSpPr>
        <p:spPr>
          <a:xfrm>
            <a:off x="4572000" y="1874520"/>
            <a:ext cx="457200" cy="457200"/>
          </a:xfrm>
          <a:prstGeom prst="ellipse">
            <a:avLst/>
          </a:prstGeom>
          <a:solidFill>
            <a:srgbClr val="0F766E"/>
          </a:solidFill>
          <a:ln w="12700">
            <a:solidFill>
              <a:srgbClr val="0F766E"/>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4690872" y="1993392"/>
            <a:ext cx="219456" cy="219456"/>
          </a:xfrm>
          <a:prstGeom prst="rect">
            <a:avLst/>
          </a:prstGeom>
        </p:spPr>
      </p:pic>
      <p:sp>
        <p:nvSpPr>
          <p:cNvPr id="13" name="Text 9"/>
          <p:cNvSpPr txBox="1"/>
          <p:nvPr/>
        </p:nvSpPr>
        <p:spPr>
          <a:xfrm>
            <a:off x="516636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How we built it</a:t>
            </a:r>
            <a:endParaRPr lang="en-US" sz="1800" dirty="0"/>
          </a:p>
        </p:txBody>
      </p:sp>
      <p:sp>
        <p:nvSpPr>
          <p:cNvPr id="14" name="Text 10"/>
          <p:cNvSpPr txBox="1"/>
          <p:nvPr/>
        </p:nvSpPr>
        <p:spPr>
          <a:xfrm>
            <a:off x="457200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Each request is a state that moves forward, or stops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The security verdict decides the path: SAFE continues, BLOCKED skips downstream stages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Single entry point: /agent/request</a:t>
            </a:r>
            <a:endParaRPr lang="en-US" sz="1300" dirty="0"/>
          </a:p>
        </p:txBody>
      </p:sp>
      <p:sp>
        <p:nvSpPr>
          <p:cNvPr id="15" name="Shape 11"/>
          <p:cNvSpPr/>
          <p:nvPr/>
        </p:nvSpPr>
        <p:spPr>
          <a:xfrm>
            <a:off x="813816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6" name="Shape 12"/>
          <p:cNvSpPr/>
          <p:nvPr/>
        </p:nvSpPr>
        <p:spPr>
          <a:xfrm>
            <a:off x="8366760" y="1874520"/>
            <a:ext cx="457200" cy="457200"/>
          </a:xfrm>
          <a:prstGeom prst="ellipse">
            <a:avLst/>
          </a:prstGeom>
          <a:solidFill>
            <a:srgbClr val="262B36"/>
          </a:solidFill>
          <a:ln w="12700">
            <a:solidFill>
              <a:srgbClr val="262B36"/>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8485632" y="1993392"/>
            <a:ext cx="219456" cy="219456"/>
          </a:xfrm>
          <a:prstGeom prst="rect">
            <a:avLst/>
          </a:prstGeom>
        </p:spPr>
      </p:pic>
      <p:sp>
        <p:nvSpPr>
          <p:cNvPr id="18" name="Text 13"/>
          <p:cNvSpPr txBox="1"/>
          <p:nvPr/>
        </p:nvSpPr>
        <p:spPr>
          <a:xfrm>
            <a:off x="896112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Why it matters</a:t>
            </a:r>
            <a:endParaRPr lang="en-US" sz="1800" dirty="0"/>
          </a:p>
        </p:txBody>
      </p:sp>
      <p:sp>
        <p:nvSpPr>
          <p:cNvPr id="19" name="Text 14"/>
          <p:cNvSpPr txBox="1"/>
          <p:nvPr/>
        </p:nvSpPr>
        <p:spPr>
          <a:xfrm>
            <a:off x="836676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Agents that act freely are hard to trust; a fixed workflow is predictable</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Every decision is traceable for audit</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New stages can be added without breaking the flow</a:t>
            </a:r>
            <a:endParaRPr lang="en-US" sz="1300" dirty="0"/>
          </a:p>
        </p:txBody>
      </p:sp>
      <p:sp>
        <p:nvSpPr>
          <p:cNvPr id="20" name="Text 15"/>
          <p:cNvSpPr txBox="1"/>
          <p:nvPr/>
        </p:nvSpPr>
        <p:spPr>
          <a:xfrm>
            <a:off x="548640" y="4617720"/>
            <a:ext cx="3657600" cy="320040"/>
          </a:xfrm>
          <a:prstGeom prst="rect">
            <a:avLst/>
          </a:prstGeom>
          <a:noFill/>
          <a:ln/>
        </p:spPr>
        <p:txBody>
          <a:bodyPr wrap="square" lIns="0" tIns="0" rIns="0" bIns="0" rtlCol="0" anchor="ctr"/>
          <a:lstStyle/>
          <a:p>
            <a:pPr marL="0" indent="0">
              <a:buNone/>
            </a:pPr>
            <a:r>
              <a:rPr lang="en-US" sz="1400" b="1" dirty="0">
                <a:solidFill>
                  <a:srgbClr val="171A21"/>
                </a:solidFill>
                <a:latin typeface="Calibri" pitchFamily="34" charset="0"/>
                <a:ea typeface="Calibri" pitchFamily="34" charset="-122"/>
                <a:cs typeface="Calibri" pitchFamily="34" charset="-120"/>
              </a:rPr>
              <a:t>Data flow</a:t>
            </a:r>
            <a:endParaRPr lang="en-US" sz="1400" dirty="0"/>
          </a:p>
        </p:txBody>
      </p:sp>
      <p:sp>
        <p:nvSpPr>
          <p:cNvPr id="21" name="Shape 16"/>
          <p:cNvSpPr/>
          <p:nvPr/>
        </p:nvSpPr>
        <p:spPr>
          <a:xfrm>
            <a:off x="548640" y="5029200"/>
            <a:ext cx="1539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22" name="Text 17"/>
          <p:cNvSpPr txBox="1"/>
          <p:nvPr/>
        </p:nvSpPr>
        <p:spPr>
          <a:xfrm>
            <a:off x="54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Request</a:t>
            </a:r>
            <a:endParaRPr lang="en-US" sz="1300" dirty="0"/>
          </a:p>
        </p:txBody>
      </p:sp>
      <p:sp>
        <p:nvSpPr>
          <p:cNvPr id="23" name="Shape 18"/>
          <p:cNvSpPr/>
          <p:nvPr/>
        </p:nvSpPr>
        <p:spPr>
          <a:xfrm>
            <a:off x="2106168" y="5486400"/>
            <a:ext cx="329184" cy="0"/>
          </a:xfrm>
          <a:prstGeom prst="line">
            <a:avLst/>
          </a:prstGeom>
          <a:noFill/>
          <a:ln w="25400">
            <a:solidFill>
              <a:srgbClr val="171A21"/>
            </a:solidFill>
            <a:prstDash val="solid"/>
            <a:tailEnd type="triangle"/>
          </a:ln>
        </p:spPr>
        <p:txBody>
          <a:bodyPr/>
          <a:lstStyle/>
          <a:p>
            <a:endParaRPr lang="en-IN"/>
          </a:p>
        </p:txBody>
      </p:sp>
      <p:sp>
        <p:nvSpPr>
          <p:cNvPr id="24" name="Shape 19"/>
          <p:cNvSpPr/>
          <p:nvPr/>
        </p:nvSpPr>
        <p:spPr>
          <a:xfrm>
            <a:off x="2453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5" name="Text 20"/>
          <p:cNvSpPr txBox="1"/>
          <p:nvPr/>
        </p:nvSpPr>
        <p:spPr>
          <a:xfrm>
            <a:off x="245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Planner</a:t>
            </a:r>
            <a:endParaRPr lang="en-US" sz="1300" dirty="0"/>
          </a:p>
        </p:txBody>
      </p:sp>
      <p:sp>
        <p:nvSpPr>
          <p:cNvPr id="26" name="Shape 21"/>
          <p:cNvSpPr/>
          <p:nvPr/>
        </p:nvSpPr>
        <p:spPr>
          <a:xfrm>
            <a:off x="4011168" y="5486400"/>
            <a:ext cx="329184" cy="0"/>
          </a:xfrm>
          <a:prstGeom prst="line">
            <a:avLst/>
          </a:prstGeom>
          <a:noFill/>
          <a:ln w="25400">
            <a:solidFill>
              <a:srgbClr val="171A21"/>
            </a:solidFill>
            <a:prstDash val="solid"/>
            <a:tailEnd type="triangle"/>
          </a:ln>
        </p:spPr>
        <p:txBody>
          <a:bodyPr/>
          <a:lstStyle/>
          <a:p>
            <a:endParaRPr lang="en-IN"/>
          </a:p>
        </p:txBody>
      </p:sp>
      <p:sp>
        <p:nvSpPr>
          <p:cNvPr id="27" name="Shape 22"/>
          <p:cNvSpPr/>
          <p:nvPr/>
        </p:nvSpPr>
        <p:spPr>
          <a:xfrm>
            <a:off x="4358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8" name="Text 23"/>
          <p:cNvSpPr txBox="1"/>
          <p:nvPr/>
        </p:nvSpPr>
        <p:spPr>
          <a:xfrm>
            <a:off x="435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State machine</a:t>
            </a:r>
            <a:endParaRPr lang="en-US" sz="1300" dirty="0"/>
          </a:p>
        </p:txBody>
      </p:sp>
      <p:sp>
        <p:nvSpPr>
          <p:cNvPr id="29" name="Shape 24"/>
          <p:cNvSpPr/>
          <p:nvPr/>
        </p:nvSpPr>
        <p:spPr>
          <a:xfrm>
            <a:off x="5916168" y="5486400"/>
            <a:ext cx="329184" cy="0"/>
          </a:xfrm>
          <a:prstGeom prst="line">
            <a:avLst/>
          </a:prstGeom>
          <a:noFill/>
          <a:ln w="25400">
            <a:solidFill>
              <a:srgbClr val="171A21"/>
            </a:solidFill>
            <a:prstDash val="solid"/>
            <a:tailEnd type="triangle"/>
          </a:ln>
        </p:spPr>
        <p:txBody>
          <a:bodyPr/>
          <a:lstStyle/>
          <a:p>
            <a:endParaRPr lang="en-IN"/>
          </a:p>
        </p:txBody>
      </p:sp>
      <p:sp>
        <p:nvSpPr>
          <p:cNvPr id="30" name="Shape 25"/>
          <p:cNvSpPr/>
          <p:nvPr/>
        </p:nvSpPr>
        <p:spPr>
          <a:xfrm>
            <a:off x="6263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31" name="Text 26"/>
          <p:cNvSpPr txBox="1"/>
          <p:nvPr/>
        </p:nvSpPr>
        <p:spPr>
          <a:xfrm>
            <a:off x="626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Security verdict</a:t>
            </a:r>
            <a:endParaRPr lang="en-US" sz="1300" dirty="0"/>
          </a:p>
        </p:txBody>
      </p:sp>
      <p:sp>
        <p:nvSpPr>
          <p:cNvPr id="32" name="Shape 27"/>
          <p:cNvSpPr/>
          <p:nvPr/>
        </p:nvSpPr>
        <p:spPr>
          <a:xfrm>
            <a:off x="7821168" y="5486400"/>
            <a:ext cx="329184" cy="0"/>
          </a:xfrm>
          <a:prstGeom prst="line">
            <a:avLst/>
          </a:prstGeom>
          <a:noFill/>
          <a:ln w="25400">
            <a:solidFill>
              <a:srgbClr val="171A21"/>
            </a:solidFill>
            <a:prstDash val="solid"/>
            <a:tailEnd type="triangle"/>
          </a:ln>
        </p:spPr>
        <p:txBody>
          <a:bodyPr/>
          <a:lstStyle/>
          <a:p>
            <a:endParaRPr lang="en-IN"/>
          </a:p>
        </p:txBody>
      </p:sp>
      <p:sp>
        <p:nvSpPr>
          <p:cNvPr id="33" name="Shape 28"/>
          <p:cNvSpPr/>
          <p:nvPr/>
        </p:nvSpPr>
        <p:spPr>
          <a:xfrm>
            <a:off x="8168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34" name="Text 29"/>
          <p:cNvSpPr txBox="1"/>
          <p:nvPr/>
        </p:nvSpPr>
        <p:spPr>
          <a:xfrm>
            <a:off x="816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Orchestrator</a:t>
            </a:r>
            <a:endParaRPr lang="en-US" sz="1300" dirty="0"/>
          </a:p>
        </p:txBody>
      </p:sp>
      <p:sp>
        <p:nvSpPr>
          <p:cNvPr id="35" name="Shape 30"/>
          <p:cNvSpPr/>
          <p:nvPr/>
        </p:nvSpPr>
        <p:spPr>
          <a:xfrm>
            <a:off x="9726168" y="5486400"/>
            <a:ext cx="329184" cy="0"/>
          </a:xfrm>
          <a:prstGeom prst="line">
            <a:avLst/>
          </a:prstGeom>
          <a:noFill/>
          <a:ln w="25400">
            <a:solidFill>
              <a:srgbClr val="171A21"/>
            </a:solidFill>
            <a:prstDash val="solid"/>
            <a:tailEnd type="triangle"/>
          </a:ln>
        </p:spPr>
        <p:txBody>
          <a:bodyPr/>
          <a:lstStyle/>
          <a:p>
            <a:endParaRPr lang="en-IN"/>
          </a:p>
        </p:txBody>
      </p:sp>
      <p:sp>
        <p:nvSpPr>
          <p:cNvPr id="36" name="Shape 31"/>
          <p:cNvSpPr/>
          <p:nvPr/>
        </p:nvSpPr>
        <p:spPr>
          <a:xfrm>
            <a:off x="10073640" y="5029200"/>
            <a:ext cx="1539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37" name="Text 32"/>
          <p:cNvSpPr txBox="1"/>
          <p:nvPr/>
        </p:nvSpPr>
        <p:spPr>
          <a:xfrm>
            <a:off x="1007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p>
        </p:txBody>
      </p:sp>
      <p:sp>
        <p:nvSpPr>
          <p:cNvPr id="38" name="Text 3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9"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2743200" cy="27432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PHASE 3</a:t>
            </a:r>
            <a:endParaRPr lang="en-US" sz="1300" dirty="0"/>
          </a:p>
        </p:txBody>
      </p:sp>
      <p:sp>
        <p:nvSpPr>
          <p:cNvPr id="3" name="Text 1"/>
          <p:cNvSpPr txBox="1"/>
          <p:nvPr/>
        </p:nvSpPr>
        <p:spPr>
          <a:xfrm>
            <a:off x="548640" y="548640"/>
            <a:ext cx="11064240" cy="64008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Evidence-Grounded Generation</a:t>
            </a:r>
            <a:endParaRPr lang="en-US" sz="32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AI-written code tied to what actually exists in the repository</a:t>
            </a:r>
            <a:endParaRPr lang="en-US" sz="1600" dirty="0"/>
          </a:p>
        </p:txBody>
      </p:sp>
      <p:sp>
        <p:nvSpPr>
          <p:cNvPr id="5" name="Shape 3"/>
          <p:cNvSpPr/>
          <p:nvPr/>
        </p:nvSpPr>
        <p:spPr>
          <a:xfrm>
            <a:off x="54864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6" name="Shape 4"/>
          <p:cNvSpPr/>
          <p:nvPr/>
        </p:nvSpPr>
        <p:spPr>
          <a:xfrm>
            <a:off x="777240" y="1874520"/>
            <a:ext cx="457200" cy="457200"/>
          </a:xfrm>
          <a:prstGeom prst="ellipse">
            <a:avLst/>
          </a:prstGeom>
          <a:solidFill>
            <a:srgbClr val="171A21"/>
          </a:solidFill>
          <a:ln w="12700">
            <a:solidFill>
              <a:srgbClr val="171A21"/>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896112" y="1993392"/>
            <a:ext cx="219456" cy="219456"/>
          </a:xfrm>
          <a:prstGeom prst="rect">
            <a:avLst/>
          </a:prstGeom>
        </p:spPr>
      </p:pic>
      <p:sp>
        <p:nvSpPr>
          <p:cNvPr id="8" name="Text 5"/>
          <p:cNvSpPr txBox="1"/>
          <p:nvPr/>
        </p:nvSpPr>
        <p:spPr>
          <a:xfrm>
            <a:off x="137160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What we built</a:t>
            </a:r>
            <a:endParaRPr lang="en-US" sz="1800" dirty="0"/>
          </a:p>
        </p:txBody>
      </p:sp>
      <p:sp>
        <p:nvSpPr>
          <p:cNvPr id="9" name="Text 6"/>
          <p:cNvSpPr txBox="1"/>
          <p:nvPr/>
        </p:nvSpPr>
        <p:spPr>
          <a:xfrm>
            <a:off x="77724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Google Gemini integration for code generation</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Prompts built only from retrieved repository evidence</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Syntax validation of generated code, with a stub fallback if Gemini is unavailable</a:t>
            </a:r>
            <a:endParaRPr lang="en-US" sz="1300" dirty="0"/>
          </a:p>
        </p:txBody>
      </p:sp>
      <p:sp>
        <p:nvSpPr>
          <p:cNvPr id="10" name="Shape 7"/>
          <p:cNvSpPr/>
          <p:nvPr/>
        </p:nvSpPr>
        <p:spPr>
          <a:xfrm>
            <a:off x="434340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1" name="Shape 8"/>
          <p:cNvSpPr/>
          <p:nvPr/>
        </p:nvSpPr>
        <p:spPr>
          <a:xfrm>
            <a:off x="4572000" y="1874520"/>
            <a:ext cx="457200" cy="457200"/>
          </a:xfrm>
          <a:prstGeom prst="ellipse">
            <a:avLst/>
          </a:prstGeom>
          <a:solidFill>
            <a:srgbClr val="0F766E"/>
          </a:solidFill>
          <a:ln w="12700">
            <a:solidFill>
              <a:srgbClr val="0F766E"/>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4690872" y="1993392"/>
            <a:ext cx="219456" cy="219456"/>
          </a:xfrm>
          <a:prstGeom prst="rect">
            <a:avLst/>
          </a:prstGeom>
        </p:spPr>
      </p:pic>
      <p:sp>
        <p:nvSpPr>
          <p:cNvPr id="13" name="Text 9"/>
          <p:cNvSpPr txBox="1"/>
          <p:nvPr/>
        </p:nvSpPr>
        <p:spPr>
          <a:xfrm>
            <a:off x="516636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How we built it</a:t>
            </a:r>
            <a:endParaRPr lang="en-US" sz="1800" dirty="0"/>
          </a:p>
        </p:txBody>
      </p:sp>
      <p:sp>
        <p:nvSpPr>
          <p:cNvPr id="14" name="Text 10"/>
          <p:cNvSpPr txBox="1"/>
          <p:nvPr/>
        </p:nvSpPr>
        <p:spPr>
          <a:xfrm>
            <a:off x="457200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Top evidence chunks plus the request are assembled into a grounded prompt</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Gemini generates and the output is checked before it is returned</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API key kept in a local .env file, never committed</a:t>
            </a:r>
            <a:endParaRPr lang="en-US" sz="1300" dirty="0"/>
          </a:p>
        </p:txBody>
      </p:sp>
      <p:sp>
        <p:nvSpPr>
          <p:cNvPr id="15" name="Shape 11"/>
          <p:cNvSpPr/>
          <p:nvPr/>
        </p:nvSpPr>
        <p:spPr>
          <a:xfrm>
            <a:off x="813816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6" name="Shape 12"/>
          <p:cNvSpPr/>
          <p:nvPr/>
        </p:nvSpPr>
        <p:spPr>
          <a:xfrm>
            <a:off x="8366760" y="1874520"/>
            <a:ext cx="457200" cy="457200"/>
          </a:xfrm>
          <a:prstGeom prst="ellipse">
            <a:avLst/>
          </a:prstGeom>
          <a:solidFill>
            <a:srgbClr val="262B36"/>
          </a:solidFill>
          <a:ln w="12700">
            <a:solidFill>
              <a:srgbClr val="262B36"/>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8485632" y="1993392"/>
            <a:ext cx="219456" cy="219456"/>
          </a:xfrm>
          <a:prstGeom prst="rect">
            <a:avLst/>
          </a:prstGeom>
        </p:spPr>
      </p:pic>
      <p:sp>
        <p:nvSpPr>
          <p:cNvPr id="18" name="Text 13"/>
          <p:cNvSpPr txBox="1"/>
          <p:nvPr/>
        </p:nvSpPr>
        <p:spPr>
          <a:xfrm>
            <a:off x="896112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Why it matters</a:t>
            </a:r>
            <a:endParaRPr lang="en-US" sz="1800" dirty="0"/>
          </a:p>
        </p:txBody>
      </p:sp>
      <p:sp>
        <p:nvSpPr>
          <p:cNvPr id="19" name="Text 14"/>
          <p:cNvSpPr txBox="1"/>
          <p:nvPr/>
        </p:nvSpPr>
        <p:spPr>
          <a:xfrm>
            <a:off x="836676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Answers are tied to the real codebase, not guesses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Broken output is caught early</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The system keeps working even if the API is down</a:t>
            </a:r>
            <a:endParaRPr lang="en-US" sz="1300" dirty="0"/>
          </a:p>
        </p:txBody>
      </p:sp>
      <p:sp>
        <p:nvSpPr>
          <p:cNvPr id="20" name="Text 15"/>
          <p:cNvSpPr txBox="1"/>
          <p:nvPr/>
        </p:nvSpPr>
        <p:spPr>
          <a:xfrm>
            <a:off x="548640" y="4617720"/>
            <a:ext cx="3657600" cy="320040"/>
          </a:xfrm>
          <a:prstGeom prst="rect">
            <a:avLst/>
          </a:prstGeom>
          <a:noFill/>
          <a:ln/>
        </p:spPr>
        <p:txBody>
          <a:bodyPr wrap="square" lIns="0" tIns="0" rIns="0" bIns="0" rtlCol="0" anchor="ctr"/>
          <a:lstStyle/>
          <a:p>
            <a:pPr marL="0" indent="0">
              <a:buNone/>
            </a:pPr>
            <a:r>
              <a:rPr lang="en-US" sz="1400" b="1" dirty="0">
                <a:solidFill>
                  <a:srgbClr val="171A21"/>
                </a:solidFill>
                <a:latin typeface="Calibri" pitchFamily="34" charset="0"/>
                <a:ea typeface="Calibri" pitchFamily="34" charset="-122"/>
                <a:cs typeface="Calibri" pitchFamily="34" charset="-120"/>
              </a:rPr>
              <a:t>Data flow</a:t>
            </a:r>
            <a:endParaRPr lang="en-US" sz="1400" dirty="0"/>
          </a:p>
        </p:txBody>
      </p:sp>
      <p:sp>
        <p:nvSpPr>
          <p:cNvPr id="21" name="Shape 16"/>
          <p:cNvSpPr/>
          <p:nvPr/>
        </p:nvSpPr>
        <p:spPr>
          <a:xfrm>
            <a:off x="548640" y="5029200"/>
            <a:ext cx="1920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22" name="Text 17"/>
          <p:cNvSpPr txBox="1"/>
          <p:nvPr/>
        </p:nvSpPr>
        <p:spPr>
          <a:xfrm>
            <a:off x="548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Retrieved evidence</a:t>
            </a:r>
            <a:endParaRPr lang="en-US" sz="1300" dirty="0"/>
          </a:p>
        </p:txBody>
      </p:sp>
      <p:sp>
        <p:nvSpPr>
          <p:cNvPr id="23" name="Shape 18"/>
          <p:cNvSpPr/>
          <p:nvPr/>
        </p:nvSpPr>
        <p:spPr>
          <a:xfrm>
            <a:off x="2487168" y="5486400"/>
            <a:ext cx="329184" cy="0"/>
          </a:xfrm>
          <a:prstGeom prst="line">
            <a:avLst/>
          </a:prstGeom>
          <a:noFill/>
          <a:ln w="25400">
            <a:solidFill>
              <a:srgbClr val="171A21"/>
            </a:solidFill>
            <a:prstDash val="solid"/>
            <a:tailEnd type="triangle"/>
          </a:ln>
        </p:spPr>
        <p:txBody>
          <a:bodyPr/>
          <a:lstStyle/>
          <a:p>
            <a:endParaRPr lang="en-IN"/>
          </a:p>
        </p:txBody>
      </p:sp>
      <p:sp>
        <p:nvSpPr>
          <p:cNvPr id="24" name="Shape 19"/>
          <p:cNvSpPr/>
          <p:nvPr/>
        </p:nvSpPr>
        <p:spPr>
          <a:xfrm>
            <a:off x="2834640" y="5029200"/>
            <a:ext cx="1920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5" name="Text 20"/>
          <p:cNvSpPr txBox="1"/>
          <p:nvPr/>
        </p:nvSpPr>
        <p:spPr>
          <a:xfrm>
            <a:off x="2834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Prompt builder</a:t>
            </a:r>
            <a:endParaRPr lang="en-US" sz="1300" dirty="0"/>
          </a:p>
        </p:txBody>
      </p:sp>
      <p:sp>
        <p:nvSpPr>
          <p:cNvPr id="26" name="Shape 21"/>
          <p:cNvSpPr/>
          <p:nvPr/>
        </p:nvSpPr>
        <p:spPr>
          <a:xfrm>
            <a:off x="4773168" y="5486400"/>
            <a:ext cx="329184" cy="0"/>
          </a:xfrm>
          <a:prstGeom prst="line">
            <a:avLst/>
          </a:prstGeom>
          <a:noFill/>
          <a:ln w="25400">
            <a:solidFill>
              <a:srgbClr val="171A21"/>
            </a:solidFill>
            <a:prstDash val="solid"/>
            <a:tailEnd type="triangle"/>
          </a:ln>
        </p:spPr>
        <p:txBody>
          <a:bodyPr/>
          <a:lstStyle/>
          <a:p>
            <a:endParaRPr lang="en-IN"/>
          </a:p>
        </p:txBody>
      </p:sp>
      <p:sp>
        <p:nvSpPr>
          <p:cNvPr id="27" name="Shape 22"/>
          <p:cNvSpPr/>
          <p:nvPr/>
        </p:nvSpPr>
        <p:spPr>
          <a:xfrm>
            <a:off x="5120640" y="5029200"/>
            <a:ext cx="1920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28" name="Text 23"/>
          <p:cNvSpPr txBox="1"/>
          <p:nvPr/>
        </p:nvSpPr>
        <p:spPr>
          <a:xfrm>
            <a:off x="5120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Gemini</a:t>
            </a:r>
            <a:endParaRPr lang="en-US" sz="1300" dirty="0"/>
          </a:p>
        </p:txBody>
      </p:sp>
      <p:sp>
        <p:nvSpPr>
          <p:cNvPr id="29" name="Shape 24"/>
          <p:cNvSpPr/>
          <p:nvPr/>
        </p:nvSpPr>
        <p:spPr>
          <a:xfrm>
            <a:off x="7059168" y="5486400"/>
            <a:ext cx="329184" cy="0"/>
          </a:xfrm>
          <a:prstGeom prst="line">
            <a:avLst/>
          </a:prstGeom>
          <a:noFill/>
          <a:ln w="25400">
            <a:solidFill>
              <a:srgbClr val="171A21"/>
            </a:solidFill>
            <a:prstDash val="solid"/>
            <a:tailEnd type="triangle"/>
          </a:ln>
        </p:spPr>
        <p:txBody>
          <a:bodyPr/>
          <a:lstStyle/>
          <a:p>
            <a:endParaRPr lang="en-IN"/>
          </a:p>
        </p:txBody>
      </p:sp>
      <p:sp>
        <p:nvSpPr>
          <p:cNvPr id="30" name="Shape 25"/>
          <p:cNvSpPr/>
          <p:nvPr/>
        </p:nvSpPr>
        <p:spPr>
          <a:xfrm>
            <a:off x="7406640" y="5029200"/>
            <a:ext cx="1920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31" name="Text 26"/>
          <p:cNvSpPr txBox="1"/>
          <p:nvPr/>
        </p:nvSpPr>
        <p:spPr>
          <a:xfrm>
            <a:off x="7406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Syntax validation</a:t>
            </a:r>
            <a:endParaRPr lang="en-US" sz="1300" dirty="0"/>
          </a:p>
        </p:txBody>
      </p:sp>
      <p:sp>
        <p:nvSpPr>
          <p:cNvPr id="32" name="Shape 27"/>
          <p:cNvSpPr/>
          <p:nvPr/>
        </p:nvSpPr>
        <p:spPr>
          <a:xfrm>
            <a:off x="9345168" y="5486400"/>
            <a:ext cx="329184" cy="0"/>
          </a:xfrm>
          <a:prstGeom prst="line">
            <a:avLst/>
          </a:prstGeom>
          <a:noFill/>
          <a:ln w="25400">
            <a:solidFill>
              <a:srgbClr val="171A21"/>
            </a:solidFill>
            <a:prstDash val="solid"/>
            <a:tailEnd type="triangle"/>
          </a:ln>
        </p:spPr>
        <p:txBody>
          <a:bodyPr/>
          <a:lstStyle/>
          <a:p>
            <a:endParaRPr lang="en-IN"/>
          </a:p>
        </p:txBody>
      </p:sp>
      <p:sp>
        <p:nvSpPr>
          <p:cNvPr id="33" name="Shape 28"/>
          <p:cNvSpPr/>
          <p:nvPr/>
        </p:nvSpPr>
        <p:spPr>
          <a:xfrm>
            <a:off x="9692640" y="5029200"/>
            <a:ext cx="1920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34" name="Text 29"/>
          <p:cNvSpPr txBox="1"/>
          <p:nvPr/>
        </p:nvSpPr>
        <p:spPr>
          <a:xfrm>
            <a:off x="9692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p:txBody>
      </p:sp>
      <p:sp>
        <p:nvSpPr>
          <p:cNvPr id="35" name="Text 30"/>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Phases 4 to 9: what comes next</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Each one hardens, connects or ships the platform</a:t>
            </a:r>
            <a:endParaRPr lang="en-US" sz="1600" dirty="0"/>
          </a:p>
        </p:txBody>
      </p:sp>
      <p:sp>
        <p:nvSpPr>
          <p:cNvPr id="4" name="Shape 2"/>
          <p:cNvSpPr/>
          <p:nvPr/>
        </p:nvSpPr>
        <p:spPr>
          <a:xfrm>
            <a:off x="548640" y="164592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5" name="Shape 3"/>
          <p:cNvSpPr/>
          <p:nvPr/>
        </p:nvSpPr>
        <p:spPr>
          <a:xfrm>
            <a:off x="777240" y="1874520"/>
            <a:ext cx="594360" cy="594360"/>
          </a:xfrm>
          <a:prstGeom prst="ellipse">
            <a:avLst/>
          </a:prstGeom>
          <a:solidFill>
            <a:srgbClr val="171A21"/>
          </a:solidFill>
          <a:ln w="12700">
            <a:solidFill>
              <a:srgbClr val="171A21"/>
            </a:solidFill>
            <a:prstDash val="solid"/>
          </a:ln>
        </p:spPr>
        <p:txBody>
          <a:bodyPr/>
          <a:lstStyle/>
          <a:p>
            <a:endParaRPr/>
          </a:p>
        </p:txBody>
      </p:sp>
      <p:pic>
        <p:nvPicPr>
          <p:cNvPr id="6" name="Image 0" descr="preencoded.png"/>
          <p:cNvPicPr>
            <a:picLocks noChangeAspect="1"/>
          </p:cNvPicPr>
          <p:nvPr/>
        </p:nvPicPr>
        <p:blipFill>
          <a:blip r:embed="rId3"/>
          <a:stretch>
            <a:fillRect/>
          </a:stretch>
        </p:blipFill>
        <p:spPr>
          <a:xfrm>
            <a:off x="931774" y="2029054"/>
            <a:ext cx="285293" cy="285293"/>
          </a:xfrm>
          <a:prstGeom prst="rect">
            <a:avLst/>
          </a:prstGeom>
        </p:spPr>
      </p:pic>
      <p:sp>
        <p:nvSpPr>
          <p:cNvPr id="7" name="Text 4"/>
          <p:cNvSpPr txBox="1"/>
          <p:nvPr/>
        </p:nvSpPr>
        <p:spPr>
          <a:xfrm>
            <a:off x="1554480" y="187452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4</a:t>
            </a:r>
            <a:endParaRPr lang="en-US" sz="1100" dirty="0"/>
          </a:p>
        </p:txBody>
      </p:sp>
      <p:sp>
        <p:nvSpPr>
          <p:cNvPr id="8" name="Text 5"/>
          <p:cNvSpPr txBox="1"/>
          <p:nvPr/>
        </p:nvSpPr>
        <p:spPr>
          <a:xfrm>
            <a:off x="1554480" y="210312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Security Engine Hardening</a:t>
            </a:r>
            <a:endParaRPr lang="en-US" sz="1500" dirty="0"/>
          </a:p>
        </p:txBody>
      </p:sp>
      <p:sp>
        <p:nvSpPr>
          <p:cNvPr id="9" name="Text 6"/>
          <p:cNvSpPr txBox="1"/>
          <p:nvPr/>
        </p:nvSpPr>
        <p:spPr>
          <a:xfrm>
            <a:off x="777240" y="2743200"/>
            <a:ext cx="3108960" cy="1005840"/>
          </a:xfrm>
          <a:prstGeom prst="rect">
            <a:avLst/>
          </a:prstGeom>
          <a:noFill/>
          <a:ln/>
        </p:spPr>
        <p:txBody>
          <a:bodyPr wrap="square" lIns="0" tIns="0" rIns="0" bIns="0" rtlCol="0" anchor="t"/>
          <a:lstStyle/>
          <a:p>
            <a:r>
              <a:t>Context-aware PII detection with severity, confidence and explainability, plus an evaluation script</a:t>
            </a:r>
          </a:p>
        </p:txBody>
      </p:sp>
      <p:sp>
        <p:nvSpPr>
          <p:cNvPr id="10" name="Shape 7"/>
          <p:cNvSpPr/>
          <p:nvPr/>
        </p:nvSpPr>
        <p:spPr>
          <a:xfrm>
            <a:off x="4343400" y="164592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1" name="Shape 8"/>
          <p:cNvSpPr/>
          <p:nvPr/>
        </p:nvSpPr>
        <p:spPr>
          <a:xfrm>
            <a:off x="4572000" y="1874520"/>
            <a:ext cx="594360" cy="594360"/>
          </a:xfrm>
          <a:prstGeom prst="ellipse">
            <a:avLst/>
          </a:prstGeom>
          <a:solidFill>
            <a:srgbClr val="171A21"/>
          </a:solidFill>
          <a:ln w="12700">
            <a:solidFill>
              <a:srgbClr val="171A21"/>
            </a:solidFill>
            <a:prstDash val="solid"/>
          </a:ln>
        </p:spPr>
        <p:txBody>
          <a:bodyPr/>
          <a:lstStyle/>
          <a:p>
            <a:endParaRPr/>
          </a:p>
        </p:txBody>
      </p:sp>
      <p:pic>
        <p:nvPicPr>
          <p:cNvPr id="12" name="Image 1" descr="preencoded.png"/>
          <p:cNvPicPr>
            <a:picLocks noChangeAspect="1"/>
          </p:cNvPicPr>
          <p:nvPr/>
        </p:nvPicPr>
        <p:blipFill>
          <a:blip r:embed="rId4"/>
          <a:stretch>
            <a:fillRect/>
          </a:stretch>
        </p:blipFill>
        <p:spPr>
          <a:xfrm>
            <a:off x="4726534" y="2029054"/>
            <a:ext cx="285293" cy="285293"/>
          </a:xfrm>
          <a:prstGeom prst="rect">
            <a:avLst/>
          </a:prstGeom>
        </p:spPr>
      </p:pic>
      <p:sp>
        <p:nvSpPr>
          <p:cNvPr id="13" name="Text 9"/>
          <p:cNvSpPr txBox="1"/>
          <p:nvPr/>
        </p:nvSpPr>
        <p:spPr>
          <a:xfrm>
            <a:off x="5349240" y="187452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5</a:t>
            </a:r>
            <a:endParaRPr lang="en-US" sz="1100" dirty="0"/>
          </a:p>
        </p:txBody>
      </p:sp>
      <p:sp>
        <p:nvSpPr>
          <p:cNvPr id="14" name="Text 10"/>
          <p:cNvSpPr txBox="1"/>
          <p:nvPr/>
        </p:nvSpPr>
        <p:spPr>
          <a:xfrm>
            <a:off x="5349240" y="210312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Change-Impact Analysis</a:t>
            </a:r>
            <a:endParaRPr lang="en-US" sz="1500" dirty="0"/>
          </a:p>
        </p:txBody>
      </p:sp>
      <p:sp>
        <p:nvSpPr>
          <p:cNvPr id="15" name="Text 11"/>
          <p:cNvSpPr txBox="1"/>
          <p:nvPr/>
        </p:nvSpPr>
        <p:spPr>
          <a:xfrm>
            <a:off x="4572000" y="274320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Dependency graph built with Python's ast, combined with semantic search to rank affected files</a:t>
            </a:r>
            <a:endParaRPr lang="en-US" sz="1300" dirty="0"/>
          </a:p>
        </p:txBody>
      </p:sp>
      <p:sp>
        <p:nvSpPr>
          <p:cNvPr id="16" name="Shape 12"/>
          <p:cNvSpPr/>
          <p:nvPr/>
        </p:nvSpPr>
        <p:spPr>
          <a:xfrm>
            <a:off x="8138160" y="164592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17" name="Shape 13"/>
          <p:cNvSpPr/>
          <p:nvPr/>
        </p:nvSpPr>
        <p:spPr>
          <a:xfrm>
            <a:off x="8366760" y="1874520"/>
            <a:ext cx="594360" cy="594360"/>
          </a:xfrm>
          <a:prstGeom prst="ellipse">
            <a:avLst/>
          </a:prstGeom>
          <a:solidFill>
            <a:srgbClr val="171A21"/>
          </a:solidFill>
          <a:ln w="12700">
            <a:solidFill>
              <a:srgbClr val="171A21"/>
            </a:solidFill>
            <a:prstDash val="solid"/>
          </a:ln>
        </p:spPr>
        <p:txBody>
          <a:bodyPr/>
          <a:lstStyle/>
          <a:p>
            <a:endParaRPr/>
          </a:p>
        </p:txBody>
      </p:sp>
      <p:pic>
        <p:nvPicPr>
          <p:cNvPr id="18" name="Image 2" descr="preencoded.png"/>
          <p:cNvPicPr>
            <a:picLocks noChangeAspect="1"/>
          </p:cNvPicPr>
          <p:nvPr/>
        </p:nvPicPr>
        <p:blipFill>
          <a:blip r:embed="rId5"/>
          <a:stretch>
            <a:fillRect/>
          </a:stretch>
        </p:blipFill>
        <p:spPr>
          <a:xfrm>
            <a:off x="8521294" y="2029054"/>
            <a:ext cx="285293" cy="285293"/>
          </a:xfrm>
          <a:prstGeom prst="rect">
            <a:avLst/>
          </a:prstGeom>
        </p:spPr>
      </p:pic>
      <p:sp>
        <p:nvSpPr>
          <p:cNvPr id="19" name="Text 14"/>
          <p:cNvSpPr txBox="1"/>
          <p:nvPr/>
        </p:nvSpPr>
        <p:spPr>
          <a:xfrm>
            <a:off x="9144000" y="187452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6</a:t>
            </a:r>
            <a:endParaRPr lang="en-US" sz="1100" dirty="0"/>
          </a:p>
        </p:txBody>
      </p:sp>
      <p:sp>
        <p:nvSpPr>
          <p:cNvPr id="20" name="Text 15"/>
          <p:cNvSpPr txBox="1"/>
          <p:nvPr/>
        </p:nvSpPr>
        <p:spPr>
          <a:xfrm>
            <a:off x="9144000" y="210312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Integration Verification</a:t>
            </a:r>
            <a:endParaRPr lang="en-US" sz="1500" dirty="0"/>
          </a:p>
        </p:txBody>
      </p:sp>
      <p:sp>
        <p:nvSpPr>
          <p:cNvPr id="21" name="Text 16"/>
          <p:cNvSpPr txBox="1"/>
          <p:nvPr/>
        </p:nvSpPr>
        <p:spPr>
          <a:xfrm>
            <a:off x="8366760" y="274320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End-to-end checks that every component works together as one system</a:t>
            </a:r>
            <a:endParaRPr lang="en-US" sz="1300" dirty="0"/>
          </a:p>
        </p:txBody>
      </p:sp>
      <p:sp>
        <p:nvSpPr>
          <p:cNvPr id="22" name="Shape 17"/>
          <p:cNvSpPr/>
          <p:nvPr/>
        </p:nvSpPr>
        <p:spPr>
          <a:xfrm>
            <a:off x="548640" y="402336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3" name="Shape 18"/>
          <p:cNvSpPr/>
          <p:nvPr/>
        </p:nvSpPr>
        <p:spPr>
          <a:xfrm>
            <a:off x="777240" y="4251960"/>
            <a:ext cx="594360" cy="594360"/>
          </a:xfrm>
          <a:prstGeom prst="ellipse">
            <a:avLst/>
          </a:prstGeom>
          <a:solidFill>
            <a:srgbClr val="171A21"/>
          </a:solidFill>
          <a:ln w="12700">
            <a:solidFill>
              <a:srgbClr val="171A21"/>
            </a:solidFill>
            <a:prstDash val="solid"/>
          </a:ln>
        </p:spPr>
        <p:txBody>
          <a:bodyPr/>
          <a:lstStyle/>
          <a:p>
            <a:endParaRPr/>
          </a:p>
        </p:txBody>
      </p:sp>
      <p:pic>
        <p:nvPicPr>
          <p:cNvPr id="24" name="Image 3" descr="preencoded.png"/>
          <p:cNvPicPr>
            <a:picLocks noChangeAspect="1"/>
          </p:cNvPicPr>
          <p:nvPr/>
        </p:nvPicPr>
        <p:blipFill>
          <a:blip r:embed="rId6"/>
          <a:stretch>
            <a:fillRect/>
          </a:stretch>
        </p:blipFill>
        <p:spPr>
          <a:xfrm>
            <a:off x="931774" y="4406494"/>
            <a:ext cx="285293" cy="285293"/>
          </a:xfrm>
          <a:prstGeom prst="rect">
            <a:avLst/>
          </a:prstGeom>
        </p:spPr>
      </p:pic>
      <p:sp>
        <p:nvSpPr>
          <p:cNvPr id="25" name="Text 19"/>
          <p:cNvSpPr txBox="1"/>
          <p:nvPr/>
        </p:nvSpPr>
        <p:spPr>
          <a:xfrm>
            <a:off x="1554480" y="425196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7</a:t>
            </a:r>
            <a:endParaRPr lang="en-US" sz="1100" dirty="0"/>
          </a:p>
        </p:txBody>
      </p:sp>
      <p:sp>
        <p:nvSpPr>
          <p:cNvPr id="26" name="Text 20"/>
          <p:cNvSpPr txBox="1"/>
          <p:nvPr/>
        </p:nvSpPr>
        <p:spPr>
          <a:xfrm>
            <a:off x="1554480" y="448056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CI / Security Gate</a:t>
            </a:r>
            <a:endParaRPr lang="en-US" sz="1500" dirty="0"/>
          </a:p>
        </p:txBody>
      </p:sp>
      <p:sp>
        <p:nvSpPr>
          <p:cNvPr id="27" name="Text 21"/>
          <p:cNvSpPr txBox="1"/>
          <p:nvPr/>
        </p:nvSpPr>
        <p:spPr>
          <a:xfrm>
            <a:off x="777240" y="512064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A GitHub Actions gate that runs the evaluators and blocks unsafe changes</a:t>
            </a:r>
            <a:endParaRPr lang="en-US" sz="1300" dirty="0"/>
          </a:p>
        </p:txBody>
      </p:sp>
      <p:sp>
        <p:nvSpPr>
          <p:cNvPr id="28" name="Shape 22"/>
          <p:cNvSpPr/>
          <p:nvPr/>
        </p:nvSpPr>
        <p:spPr>
          <a:xfrm>
            <a:off x="4343400" y="402336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9" name="Shape 23"/>
          <p:cNvSpPr/>
          <p:nvPr/>
        </p:nvSpPr>
        <p:spPr>
          <a:xfrm>
            <a:off x="4572000" y="4251960"/>
            <a:ext cx="594360" cy="594360"/>
          </a:xfrm>
          <a:prstGeom prst="ellipse">
            <a:avLst/>
          </a:prstGeom>
          <a:solidFill>
            <a:srgbClr val="171A21"/>
          </a:solidFill>
          <a:ln w="12700">
            <a:solidFill>
              <a:srgbClr val="171A21"/>
            </a:solidFill>
            <a:prstDash val="solid"/>
          </a:ln>
        </p:spPr>
        <p:txBody>
          <a:bodyPr/>
          <a:lstStyle/>
          <a:p>
            <a:endParaRPr/>
          </a:p>
        </p:txBody>
      </p:sp>
      <p:pic>
        <p:nvPicPr>
          <p:cNvPr id="30" name="Image 4" descr="preencoded.png"/>
          <p:cNvPicPr>
            <a:picLocks noChangeAspect="1"/>
          </p:cNvPicPr>
          <p:nvPr/>
        </p:nvPicPr>
        <p:blipFill>
          <a:blip r:embed="rId7"/>
          <a:stretch>
            <a:fillRect/>
          </a:stretch>
        </p:blipFill>
        <p:spPr>
          <a:xfrm>
            <a:off x="4726534" y="4406494"/>
            <a:ext cx="285293" cy="285293"/>
          </a:xfrm>
          <a:prstGeom prst="rect">
            <a:avLst/>
          </a:prstGeom>
        </p:spPr>
      </p:pic>
      <p:sp>
        <p:nvSpPr>
          <p:cNvPr id="31" name="Text 24"/>
          <p:cNvSpPr txBox="1"/>
          <p:nvPr/>
        </p:nvSpPr>
        <p:spPr>
          <a:xfrm>
            <a:off x="5349240" y="425196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8</a:t>
            </a:r>
            <a:endParaRPr lang="en-US" sz="1100" dirty="0"/>
          </a:p>
        </p:txBody>
      </p:sp>
      <p:sp>
        <p:nvSpPr>
          <p:cNvPr id="32" name="Text 25"/>
          <p:cNvSpPr txBox="1"/>
          <p:nvPr/>
        </p:nvSpPr>
        <p:spPr>
          <a:xfrm>
            <a:off x="5349240" y="448056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Frontend &amp; Integrated Workflow</a:t>
            </a:r>
            <a:endParaRPr lang="en-US" sz="1500" dirty="0"/>
          </a:p>
        </p:txBody>
      </p:sp>
      <p:sp>
        <p:nvSpPr>
          <p:cNvPr id="33" name="Text 26"/>
          <p:cNvSpPr txBox="1"/>
          <p:nvPr/>
        </p:nvSpPr>
        <p:spPr>
          <a:xfrm>
            <a:off x="4572000" y="512064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A dashboard showing verdicts, evidence, impact and the workflow trace in one place</a:t>
            </a:r>
            <a:endParaRPr lang="en-US" sz="1300" dirty="0"/>
          </a:p>
        </p:txBody>
      </p:sp>
      <p:sp>
        <p:nvSpPr>
          <p:cNvPr id="34" name="Shape 27"/>
          <p:cNvSpPr/>
          <p:nvPr/>
        </p:nvSpPr>
        <p:spPr>
          <a:xfrm>
            <a:off x="8138160" y="402336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5" name="Shape 28"/>
          <p:cNvSpPr/>
          <p:nvPr/>
        </p:nvSpPr>
        <p:spPr>
          <a:xfrm>
            <a:off x="8366760" y="4251960"/>
            <a:ext cx="594360" cy="594360"/>
          </a:xfrm>
          <a:prstGeom prst="ellipse">
            <a:avLst/>
          </a:prstGeom>
          <a:solidFill>
            <a:srgbClr val="171A21"/>
          </a:solidFill>
          <a:ln w="12700">
            <a:solidFill>
              <a:srgbClr val="171A21"/>
            </a:solidFill>
            <a:prstDash val="solid"/>
          </a:ln>
        </p:spPr>
        <p:txBody>
          <a:bodyPr/>
          <a:lstStyle/>
          <a:p>
            <a:endParaRPr/>
          </a:p>
        </p:txBody>
      </p:sp>
      <p:pic>
        <p:nvPicPr>
          <p:cNvPr id="36" name="Image 5" descr="preencoded.png"/>
          <p:cNvPicPr>
            <a:picLocks noChangeAspect="1"/>
          </p:cNvPicPr>
          <p:nvPr/>
        </p:nvPicPr>
        <p:blipFill>
          <a:blip r:embed="rId8"/>
          <a:stretch>
            <a:fillRect/>
          </a:stretch>
        </p:blipFill>
        <p:spPr>
          <a:xfrm>
            <a:off x="8521294" y="4406494"/>
            <a:ext cx="285293" cy="285293"/>
          </a:xfrm>
          <a:prstGeom prst="rect">
            <a:avLst/>
          </a:prstGeom>
        </p:spPr>
      </p:pic>
      <p:sp>
        <p:nvSpPr>
          <p:cNvPr id="37" name="Text 29"/>
          <p:cNvSpPr txBox="1"/>
          <p:nvPr/>
        </p:nvSpPr>
        <p:spPr>
          <a:xfrm>
            <a:off x="9144000" y="425196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9</a:t>
            </a:r>
            <a:endParaRPr lang="en-US" sz="1100" dirty="0"/>
          </a:p>
        </p:txBody>
      </p:sp>
      <p:sp>
        <p:nvSpPr>
          <p:cNvPr id="38" name="Text 30"/>
          <p:cNvSpPr txBox="1"/>
          <p:nvPr/>
        </p:nvSpPr>
        <p:spPr>
          <a:xfrm>
            <a:off x="9144000" y="448056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Finalization</a:t>
            </a:r>
            <a:endParaRPr lang="en-US" sz="1500" dirty="0"/>
          </a:p>
        </p:txBody>
      </p:sp>
      <p:sp>
        <p:nvSpPr>
          <p:cNvPr id="39" name="Text 31"/>
          <p:cNvSpPr txBox="1"/>
          <p:nvPr/>
        </p:nvSpPr>
        <p:spPr>
          <a:xfrm>
            <a:off x="8366760" y="512064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Full test run, documentation and cleanup so the project is ready to hand over</a:t>
            </a:r>
            <a:endParaRPr lang="en-US" sz="1300" dirty="0"/>
          </a:p>
        </p:txBody>
      </p:sp>
      <p:sp>
        <p:nvSpPr>
          <p:cNvPr id="40" name="Text 32"/>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41"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Under the hood: security and policy</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Preview of Phases 4-5 (full walkthrough at the next review)</a:t>
            </a:r>
            <a:endParaRPr lang="en-US" sz="1600" dirty="0"/>
          </a:p>
        </p:txBody>
      </p:sp>
      <p:sp>
        <p:nvSpPr>
          <p:cNvPr id="4" name="Shape 2"/>
          <p:cNvSpPr/>
          <p:nvPr/>
        </p:nvSpPr>
        <p:spPr>
          <a:xfrm>
            <a:off x="548640" y="1600200"/>
            <a:ext cx="3566160" cy="3337560"/>
          </a:xfrm>
          <a:prstGeom prst="roundRect">
            <a:avLst>
              <a:gd name="adj" fmla="val 328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5" name="Text 3"/>
          <p:cNvSpPr txBox="1"/>
          <p:nvPr/>
        </p:nvSpPr>
        <p:spPr>
          <a:xfrm>
            <a:off x="777240" y="1737360"/>
            <a:ext cx="3108960" cy="45720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Detecting sensitive data</a:t>
            </a:r>
            <a:endParaRPr lang="en-US" sz="1700" dirty="0"/>
          </a:p>
        </p:txBody>
      </p:sp>
      <p:sp>
        <p:nvSpPr>
          <p:cNvPr id="6" name="Text 4"/>
          <p:cNvSpPr txBox="1"/>
          <p:nvPr/>
        </p:nvSpPr>
        <p:spPr>
          <a:xfrm>
            <a:off x="777240" y="2286000"/>
            <a:ext cx="3108960" cy="2514600"/>
          </a:xfrm>
          <a:prstGeom prst="rect">
            <a:avLst/>
          </a:prstGeom>
          <a:noFill/>
          <a:ln/>
        </p:spPr>
        <p:txBody>
          <a:bodyPr wrap="square" lIns="0" tIns="0" rIns="0" bIns="0" rtlCol="0" anchor="t"/>
          <a:lstStyle/>
          <a:p>
            <a:r>
              <a:t>Pattern plus context, never pattern alone</a:t>
            </a:r>
          </a:p>
          <a:p>
            <a:r>
              <a:t>PAN: 5 letters + 4 digits + 1 letter</a:t>
            </a:r>
          </a:p>
          <a:p>
            <a:r>
              <a:t>Aadhaar-like: 12 digits with explicit identity context nearby</a:t>
            </a:r>
          </a:p>
          <a:p>
            <a:r>
              <a:t>Every finding carries severity, confidence and a reason</a:t>
            </a:r>
          </a:p>
        </p:txBody>
      </p:sp>
      <p:sp>
        <p:nvSpPr>
          <p:cNvPr id="7" name="Shape 5"/>
          <p:cNvSpPr/>
          <p:nvPr/>
        </p:nvSpPr>
        <p:spPr>
          <a:xfrm>
            <a:off x="4297680" y="1600200"/>
            <a:ext cx="3566160" cy="3337560"/>
          </a:xfrm>
          <a:prstGeom prst="roundRect">
            <a:avLst>
              <a:gd name="adj" fmla="val 328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8" name="Text 6"/>
          <p:cNvSpPr txBox="1"/>
          <p:nvPr/>
        </p:nvSpPr>
        <p:spPr>
          <a:xfrm>
            <a:off x="4526280" y="1737360"/>
            <a:ext cx="3108960" cy="45720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Deciding what to do</a:t>
            </a:r>
            <a:endParaRPr lang="en-US" sz="1700" dirty="0"/>
          </a:p>
        </p:txBody>
      </p:sp>
      <p:sp>
        <p:nvSpPr>
          <p:cNvPr id="9" name="Text 7"/>
          <p:cNvSpPr txBox="1"/>
          <p:nvPr/>
        </p:nvSpPr>
        <p:spPr>
          <a:xfrm>
            <a:off x="4526280" y="2240280"/>
            <a:ext cx="3108960" cy="365760"/>
          </a:xfrm>
          <a:prstGeom prst="rect">
            <a:avLst/>
          </a:prstGeom>
          <a:noFill/>
          <a:ln/>
        </p:spPr>
        <p:txBody>
          <a:bodyPr wrap="square" lIns="0" tIns="0" rIns="0" bIns="0" rtlCol="0" anchor="ctr"/>
          <a:lstStyle/>
          <a:p>
            <a:pPr marL="0" indent="0">
              <a:buNone/>
            </a:pPr>
            <a:r>
              <a:rPr lang="en-US" sz="1100" b="1" dirty="0">
                <a:solidFill>
                  <a:srgbClr val="0F766E"/>
                </a:solidFill>
                <a:latin typeface="Courier New" pitchFamily="34" charset="0"/>
                <a:ea typeface="Courier New" pitchFamily="34" charset="-122"/>
                <a:cs typeface="Courier New" pitchFamily="34" charset="-120"/>
              </a:rPr>
              <a:t>risk = data risk x (0.7 + 0.3 x action risk)</a:t>
            </a:r>
            <a:endParaRPr lang="en-US" sz="1100" dirty="0"/>
          </a:p>
        </p:txBody>
      </p:sp>
      <p:sp>
        <p:nvSpPr>
          <p:cNvPr id="10" name="Text 8"/>
          <p:cNvSpPr txBox="1"/>
          <p:nvPr/>
        </p:nvSpPr>
        <p:spPr>
          <a:xfrm>
            <a:off x="4526280" y="2743200"/>
            <a:ext cx="1600200" cy="365760"/>
          </a:xfrm>
          <a:prstGeom prst="roundRect">
            <a:avLst>
              <a:gd name="adj" fmla="val 15000"/>
            </a:avLst>
          </a:prstGeom>
          <a:solidFill>
            <a:srgbClr val="F3F4F6"/>
          </a:solidFill>
          <a:ln/>
        </p:spPr>
        <p:txBody>
          <a:bodyPr wrap="square" lIns="25400" tIns="25400" rIns="25400" bIns="2540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0.75 and above</a:t>
            </a:r>
            <a:endParaRPr lang="en-US" sz="1200" dirty="0"/>
          </a:p>
        </p:txBody>
      </p:sp>
      <p:sp>
        <p:nvSpPr>
          <p:cNvPr id="11" name="Text 9"/>
          <p:cNvSpPr txBox="1"/>
          <p:nvPr/>
        </p:nvSpPr>
        <p:spPr>
          <a:xfrm>
            <a:off x="6217920" y="2743200"/>
            <a:ext cx="1417320" cy="365760"/>
          </a:xfrm>
          <a:prstGeom prst="roundRect">
            <a:avLst>
              <a:gd name="adj" fmla="val 15000"/>
            </a:avLst>
          </a:prstGeom>
          <a:solidFill>
            <a:srgbClr val="C8372D"/>
          </a:solid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BLOCK</a:t>
            </a:r>
            <a:endParaRPr lang="en-US" sz="1200" dirty="0"/>
          </a:p>
        </p:txBody>
      </p:sp>
      <p:sp>
        <p:nvSpPr>
          <p:cNvPr id="12" name="Text 10"/>
          <p:cNvSpPr txBox="1"/>
          <p:nvPr/>
        </p:nvSpPr>
        <p:spPr>
          <a:xfrm>
            <a:off x="4526280" y="3172968"/>
            <a:ext cx="1600200" cy="365760"/>
          </a:xfrm>
          <a:prstGeom prst="roundRect">
            <a:avLst>
              <a:gd name="adj" fmla="val 15000"/>
            </a:avLst>
          </a:prstGeom>
          <a:solidFill>
            <a:srgbClr val="F3F4F6"/>
          </a:solidFill>
          <a:ln/>
        </p:spPr>
        <p:txBody>
          <a:bodyPr wrap="square" lIns="25400" tIns="25400" rIns="25400" bIns="2540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0.45 to 0.75</a:t>
            </a:r>
            <a:endParaRPr lang="en-US" sz="1200" dirty="0"/>
          </a:p>
        </p:txBody>
      </p:sp>
      <p:sp>
        <p:nvSpPr>
          <p:cNvPr id="13" name="Text 11"/>
          <p:cNvSpPr txBox="1"/>
          <p:nvPr/>
        </p:nvSpPr>
        <p:spPr>
          <a:xfrm>
            <a:off x="6217920" y="3172968"/>
            <a:ext cx="1417320" cy="365760"/>
          </a:xfrm>
          <a:prstGeom prst="roundRect">
            <a:avLst>
              <a:gd name="adj" fmla="val 15000"/>
            </a:avLst>
          </a:prstGeom>
          <a:solidFill>
            <a:srgbClr val="F5A524"/>
          </a:solidFill>
          <a:ln/>
        </p:spPr>
        <p:txBody>
          <a:bodyPr wrap="square" lIns="25400" tIns="25400" rIns="25400" bIns="25400" rtlCol="0" anchor="ctr"/>
          <a:lstStyle/>
          <a:p>
            <a:pPr marL="0" indent="0" algn="ctr">
              <a:buNone/>
            </a:pPr>
            <a:r>
              <a:rPr lang="en-US" sz="1200" b="1" dirty="0">
                <a:solidFill>
                  <a:srgbClr val="171A21"/>
                </a:solidFill>
                <a:latin typeface="Calibri" pitchFamily="34" charset="0"/>
                <a:ea typeface="Calibri" pitchFamily="34" charset="-122"/>
                <a:cs typeface="Calibri" pitchFamily="34" charset="-120"/>
              </a:rPr>
              <a:t>REVIEW</a:t>
            </a:r>
            <a:endParaRPr lang="en-US" sz="1200" dirty="0"/>
          </a:p>
        </p:txBody>
      </p:sp>
      <p:sp>
        <p:nvSpPr>
          <p:cNvPr id="14" name="Text 12"/>
          <p:cNvSpPr txBox="1"/>
          <p:nvPr/>
        </p:nvSpPr>
        <p:spPr>
          <a:xfrm>
            <a:off x="4526280" y="3602736"/>
            <a:ext cx="1600200" cy="365760"/>
          </a:xfrm>
          <a:prstGeom prst="roundRect">
            <a:avLst>
              <a:gd name="adj" fmla="val 15000"/>
            </a:avLst>
          </a:prstGeom>
          <a:solidFill>
            <a:srgbClr val="F3F4F6"/>
          </a:solidFill>
          <a:ln/>
        </p:spPr>
        <p:txBody>
          <a:bodyPr wrap="square" lIns="25400" tIns="25400" rIns="25400" bIns="2540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0.15 to 0.45</a:t>
            </a:r>
            <a:endParaRPr lang="en-US" sz="1200" dirty="0"/>
          </a:p>
        </p:txBody>
      </p:sp>
      <p:sp>
        <p:nvSpPr>
          <p:cNvPr id="15" name="Text 13"/>
          <p:cNvSpPr txBox="1"/>
          <p:nvPr/>
        </p:nvSpPr>
        <p:spPr>
          <a:xfrm>
            <a:off x="6217920" y="3602736"/>
            <a:ext cx="1417320" cy="365760"/>
          </a:xfrm>
          <a:prstGeom prst="roundRect">
            <a:avLst>
              <a:gd name="adj" fmla="val 15000"/>
            </a:avLst>
          </a:prstGeom>
          <a:solidFill>
            <a:srgbClr val="0F766E"/>
          </a:solid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REDACT</a:t>
            </a:r>
            <a:endParaRPr lang="en-US" sz="1200" dirty="0"/>
          </a:p>
        </p:txBody>
      </p:sp>
      <p:sp>
        <p:nvSpPr>
          <p:cNvPr id="16" name="Text 14"/>
          <p:cNvSpPr txBox="1"/>
          <p:nvPr/>
        </p:nvSpPr>
        <p:spPr>
          <a:xfrm>
            <a:off x="4526280" y="4032504"/>
            <a:ext cx="1600200" cy="365760"/>
          </a:xfrm>
          <a:prstGeom prst="roundRect">
            <a:avLst>
              <a:gd name="adj" fmla="val 15000"/>
            </a:avLst>
          </a:prstGeom>
          <a:solidFill>
            <a:srgbClr val="F3F4F6"/>
          </a:solidFill>
          <a:ln/>
        </p:spPr>
        <p:txBody>
          <a:bodyPr wrap="square" lIns="25400" tIns="25400" rIns="25400" bIns="2540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below 0.15</a:t>
            </a:r>
            <a:endParaRPr lang="en-US" sz="1200" dirty="0"/>
          </a:p>
        </p:txBody>
      </p:sp>
      <p:sp>
        <p:nvSpPr>
          <p:cNvPr id="17" name="Text 15"/>
          <p:cNvSpPr txBox="1"/>
          <p:nvPr/>
        </p:nvSpPr>
        <p:spPr>
          <a:xfrm>
            <a:off x="6217920" y="4032504"/>
            <a:ext cx="1417320" cy="365760"/>
          </a:xfrm>
          <a:prstGeom prst="roundRect">
            <a:avLst>
              <a:gd name="adj" fmla="val 15000"/>
            </a:avLst>
          </a:prstGeom>
          <a:solidFill>
            <a:srgbClr val="6B7280"/>
          </a:solid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ALLOW</a:t>
            </a:r>
            <a:endParaRPr lang="en-US" sz="1200" dirty="0"/>
          </a:p>
        </p:txBody>
      </p:sp>
      <p:sp>
        <p:nvSpPr>
          <p:cNvPr id="18" name="Text 16"/>
          <p:cNvSpPr txBox="1"/>
          <p:nvPr/>
        </p:nvSpPr>
        <p:spPr>
          <a:xfrm>
            <a:off x="4526280" y="4526280"/>
            <a:ext cx="3108960" cy="320040"/>
          </a:xfrm>
          <a:prstGeom prst="rect">
            <a:avLst/>
          </a:prstGeom>
          <a:noFill/>
          <a:ln/>
        </p:spPr>
        <p:txBody>
          <a:bodyPr wrap="square" lIns="0" tIns="0" rIns="0" bIns="0" rtlCol="0" anchor="ctr"/>
          <a:lstStyle/>
          <a:p>
            <a:pPr marL="0" indent="0">
              <a:buNone/>
            </a:pPr>
            <a:r>
              <a:rPr lang="en-US" sz="1200" b="1" dirty="0">
                <a:solidFill>
                  <a:srgbClr val="C8372D"/>
                </a:solidFill>
                <a:latin typeface="Calibri" pitchFamily="34" charset="0"/>
                <a:ea typeface="Calibri" pitchFamily="34" charset="-122"/>
                <a:cs typeface="Calibri" pitchFamily="34" charset="-120"/>
              </a:rPr>
              <a:t>Credentials and keys: always BLOCK</a:t>
            </a:r>
            <a:endParaRPr lang="en-US" sz="1200" dirty="0"/>
          </a:p>
        </p:txBody>
      </p:sp>
      <p:sp>
        <p:nvSpPr>
          <p:cNvPr id="19" name="Shape 17"/>
          <p:cNvSpPr/>
          <p:nvPr/>
        </p:nvSpPr>
        <p:spPr>
          <a:xfrm>
            <a:off x="8046720" y="1600200"/>
            <a:ext cx="3566160" cy="3337560"/>
          </a:xfrm>
          <a:prstGeom prst="roundRect">
            <a:avLst>
              <a:gd name="adj" fmla="val 328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0" name="Text 18"/>
          <p:cNvSpPr txBox="1"/>
          <p:nvPr/>
        </p:nvSpPr>
        <p:spPr>
          <a:xfrm>
            <a:off x="8275320" y="1737360"/>
            <a:ext cx="3108960" cy="45720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Worked examples</a:t>
            </a:r>
            <a:endParaRPr lang="en-US" sz="1700" dirty="0"/>
          </a:p>
        </p:txBody>
      </p:sp>
      <p:sp>
        <p:nvSpPr>
          <p:cNvPr id="21" name="Text 19"/>
          <p:cNvSpPr txBox="1"/>
          <p:nvPr/>
        </p:nvSpPr>
        <p:spPr>
          <a:xfrm>
            <a:off x="8275320" y="2331720"/>
            <a:ext cx="3108960" cy="1097280"/>
          </a:xfrm>
          <a:prstGeom prst="rect">
            <a:avLst/>
          </a:prstGeom>
          <a:noFill/>
          <a:ln/>
        </p:spPr>
        <p:txBody>
          <a:bodyPr wrap="square" lIns="0" tIns="0" rIns="0" bIns="0" rtlCol="0" anchor="t"/>
          <a:lstStyle/>
          <a:p>
            <a:pPr marL="0" indent="0">
              <a:spcAft>
                <a:spcPts val="400"/>
              </a:spcAft>
              <a:buNone/>
            </a:pPr>
            <a:r>
              <a:rPr lang="en-US" sz="1200" i="1" dirty="0">
                <a:solidFill>
                  <a:srgbClr val="1F2430"/>
                </a:solidFill>
                <a:latin typeface="Calibri" pitchFamily="34" charset="0"/>
                <a:ea typeface="Calibri" pitchFamily="34" charset="-122"/>
                <a:cs typeface="Calibri" pitchFamily="34" charset="-120"/>
              </a:rPr>
              <a:t>"Delete all customer records for Aadhaar ..."</a:t>
            </a:r>
            <a:endParaRPr lang="en-US" sz="1200" dirty="0"/>
          </a:p>
          <a:p>
            <a:pPr marL="0" indent="0">
              <a:buNone/>
            </a:pPr>
            <a:r>
              <a:rPr lang="en-US" sz="1400" b="1" dirty="0">
                <a:solidFill>
                  <a:srgbClr val="C8372D"/>
                </a:solidFill>
                <a:latin typeface="Calibri" pitchFamily="34" charset="0"/>
                <a:ea typeface="Calibri" pitchFamily="34" charset="-122"/>
                <a:cs typeface="Calibri" pitchFamily="34" charset="-120"/>
              </a:rPr>
              <a:t>risk 0.776  =  BLOCKED</a:t>
            </a:r>
            <a:endParaRPr lang="en-US" sz="1200" dirty="0"/>
          </a:p>
        </p:txBody>
      </p:sp>
      <p:sp>
        <p:nvSpPr>
          <p:cNvPr id="22" name="Text 20"/>
          <p:cNvSpPr txBox="1"/>
          <p:nvPr/>
        </p:nvSpPr>
        <p:spPr>
          <a:xfrm>
            <a:off x="8275320" y="3611880"/>
            <a:ext cx="3108960" cy="1097280"/>
          </a:xfrm>
          <a:prstGeom prst="rect">
            <a:avLst/>
          </a:prstGeom>
          <a:noFill/>
          <a:ln/>
        </p:spPr>
        <p:txBody>
          <a:bodyPr wrap="square" lIns="0" tIns="0" rIns="0" bIns="0" rtlCol="0" anchor="t"/>
          <a:lstStyle/>
          <a:p>
            <a:pPr marL="0" indent="0">
              <a:spcAft>
                <a:spcPts val="400"/>
              </a:spcAft>
              <a:buNone/>
            </a:pPr>
            <a:r>
              <a:rPr lang="en-US" sz="1200" i="1" dirty="0">
                <a:solidFill>
                  <a:srgbClr val="1F2430"/>
                </a:solidFill>
                <a:latin typeface="Calibri" pitchFamily="34" charset="0"/>
                <a:ea typeface="Calibri" pitchFamily="34" charset="-122"/>
                <a:cs typeface="Calibri" pitchFamily="34" charset="-120"/>
              </a:rPr>
              <a:t>"Fix the KYC bug for customer Aadhaar ..."</a:t>
            </a:r>
            <a:endParaRPr lang="en-US" sz="1200" dirty="0"/>
          </a:p>
          <a:p>
            <a:pPr marL="0" indent="0">
              <a:buNone/>
            </a:pPr>
            <a:r>
              <a:rPr lang="en-US" sz="1400" b="1" dirty="0">
                <a:solidFill>
                  <a:srgbClr val="B7791F"/>
                </a:solidFill>
                <a:latin typeface="Calibri" pitchFamily="34" charset="0"/>
                <a:ea typeface="Calibri" pitchFamily="34" charset="-122"/>
                <a:cs typeface="Calibri" pitchFamily="34" charset="-120"/>
              </a:rPr>
              <a:t>risk 0.584  =  NEEDS REVIEW</a:t>
            </a:r>
            <a:endParaRPr lang="en-US" sz="1200" dirty="0"/>
          </a:p>
        </p:txBody>
      </p:sp>
      <p:sp>
        <p:nvSpPr>
          <p:cNvPr id="23" name="Text 21"/>
          <p:cNvSpPr txBox="1"/>
          <p:nvPr/>
        </p:nvSpPr>
        <p:spPr>
          <a:xfrm>
            <a:off x="8275320" y="4526280"/>
            <a:ext cx="310896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Same data, different action: delete is riskier than fix.</a:t>
            </a:r>
            <a:endParaRPr lang="en-US" sz="1200" dirty="0"/>
          </a:p>
        </p:txBody>
      </p:sp>
      <p:sp>
        <p:nvSpPr>
          <p:cNvPr id="24" name="Text 22"/>
          <p:cNvSpPr txBox="1"/>
          <p:nvPr/>
        </p:nvSpPr>
        <p:spPr>
          <a:xfrm>
            <a:off x="548640" y="5212080"/>
            <a:ext cx="11064240" cy="868680"/>
          </a:xfrm>
          <a:prstGeom prst="roundRect">
            <a:avLst>
              <a:gd name="adj" fmla="val 12632"/>
            </a:avLst>
          </a:prstGeom>
          <a:solidFill>
            <a:srgbClr val="171A21"/>
          </a:solidFill>
          <a:ln/>
        </p:spPr>
        <p:txBody>
          <a:bodyPr wrap="square" lIns="228600" tIns="228600" rIns="228600" bIns="22860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Impact analysis: relevance combines semantic similarity (weight 0.6) with import-graph dependency (weight 0.4), where the graph is built from Python's ast module.</a:t>
            </a:r>
            <a:endParaRPr lang="en-US" sz="1500" dirty="0"/>
          </a:p>
        </p:txBody>
      </p:sp>
      <p:sp>
        <p:nvSpPr>
          <p:cNvPr id="25" name="Text 2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Live demo: the working prototype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What we built, how we built it, and why</a:t>
            </a:r>
            <a:endParaRPr lang="en-US" sz="1600" dirty="0"/>
          </a:p>
        </p:txBody>
      </p:sp>
      <p:sp>
        <p:nvSpPr>
          <p:cNvPr id="4" name="Shape 2"/>
          <p:cNvSpPr/>
          <p:nvPr/>
        </p:nvSpPr>
        <p:spPr>
          <a:xfrm>
            <a:off x="548640" y="16459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5" name="Text 3"/>
          <p:cNvSpPr txBox="1"/>
          <p:nvPr/>
        </p:nvSpPr>
        <p:spPr>
          <a:xfrm>
            <a:off x="731520" y="1801368"/>
            <a:ext cx="493776" cy="493776"/>
          </a:xfrm>
          <a:prstGeom prst="ellipse">
            <a:avLst/>
          </a:prstGeom>
          <a:solidFill>
            <a:srgbClr val="171A21"/>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63040" y="16459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Start the platform</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Launch the FastAPI backend and open the dashboard or API docs</a:t>
            </a:r>
            <a:endParaRPr lang="en-US" sz="1600" dirty="0"/>
          </a:p>
        </p:txBody>
      </p:sp>
      <p:sp>
        <p:nvSpPr>
          <p:cNvPr id="7" name="Shape 5"/>
          <p:cNvSpPr/>
          <p:nvPr/>
        </p:nvSpPr>
        <p:spPr>
          <a:xfrm>
            <a:off x="548640" y="25603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8" name="Text 6"/>
          <p:cNvSpPr txBox="1"/>
          <p:nvPr/>
        </p:nvSpPr>
        <p:spPr>
          <a:xfrm>
            <a:off x="731520" y="2715768"/>
            <a:ext cx="493776" cy="493776"/>
          </a:xfrm>
          <a:prstGeom prst="ellipse">
            <a:avLst/>
          </a:prstGeom>
          <a:solidFill>
            <a:srgbClr val="171A21"/>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463040" y="25603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Index the repository</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POST /ingest: code chunks are embedded and stored in Qdrant</a:t>
            </a:r>
            <a:endParaRPr lang="en-US" sz="1600" dirty="0"/>
          </a:p>
        </p:txBody>
      </p:sp>
      <p:sp>
        <p:nvSpPr>
          <p:cNvPr id="10" name="Shape 8"/>
          <p:cNvSpPr/>
          <p:nvPr/>
        </p:nvSpPr>
        <p:spPr>
          <a:xfrm>
            <a:off x="548640" y="34747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1" name="Text 9"/>
          <p:cNvSpPr txBox="1"/>
          <p:nvPr/>
        </p:nvSpPr>
        <p:spPr>
          <a:xfrm>
            <a:off x="731520" y="3630168"/>
            <a:ext cx="493776" cy="493776"/>
          </a:xfrm>
          <a:prstGeom prst="ellipse">
            <a:avLst/>
          </a:prstGeom>
          <a:solidFill>
            <a:srgbClr val="171A21"/>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463040" y="34747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Search for evidence</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Show the similarity-scored chunks the system retrieves</a:t>
            </a:r>
            <a:endParaRPr lang="en-US" sz="1600" dirty="0"/>
          </a:p>
        </p:txBody>
      </p:sp>
      <p:sp>
        <p:nvSpPr>
          <p:cNvPr id="13" name="Shape 11"/>
          <p:cNvSpPr/>
          <p:nvPr/>
        </p:nvSpPr>
        <p:spPr>
          <a:xfrm>
            <a:off x="548640" y="43891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4" name="Text 12"/>
          <p:cNvSpPr txBox="1"/>
          <p:nvPr/>
        </p:nvSpPr>
        <p:spPr>
          <a:xfrm>
            <a:off x="731520" y="4544568"/>
            <a:ext cx="493776" cy="493776"/>
          </a:xfrm>
          <a:prstGeom prst="ellipse">
            <a:avLst/>
          </a:prstGeom>
          <a:solidFill>
            <a:srgbClr val="171A21"/>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463040" y="43891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Send a safe request</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Verdict SAFE, then generation, validation and the workflow trace</a:t>
            </a:r>
            <a:endParaRPr lang="en-US" sz="1600" dirty="0"/>
          </a:p>
        </p:txBody>
      </p:sp>
      <p:sp>
        <p:nvSpPr>
          <p:cNvPr id="16" name="Shape 14"/>
          <p:cNvSpPr/>
          <p:nvPr/>
        </p:nvSpPr>
        <p:spPr>
          <a:xfrm>
            <a:off x="548640" y="53035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IN"/>
          </a:p>
        </p:txBody>
      </p:sp>
      <p:sp>
        <p:nvSpPr>
          <p:cNvPr id="17" name="Text 15"/>
          <p:cNvSpPr txBox="1"/>
          <p:nvPr/>
        </p:nvSpPr>
        <p:spPr>
          <a:xfrm>
            <a:off x="731520" y="5458968"/>
            <a:ext cx="493776" cy="493776"/>
          </a:xfrm>
          <a:prstGeom prst="ellipse">
            <a:avLst/>
          </a:prstGeom>
          <a:solidFill>
            <a:srgbClr val="C8372D"/>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463040" y="53035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Send an unsafe request</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'Delete records for Aadhaar…' gives BLOCKED; downstream stages skipped</a:t>
            </a:r>
            <a:endParaRPr lang="en-US" sz="1600" dirty="0"/>
          </a:p>
        </p:txBody>
      </p:sp>
      <p:sp>
        <p:nvSpPr>
          <p:cNvPr id="19" name="Shape 17"/>
          <p:cNvSpPr/>
          <p:nvPr/>
        </p:nvSpPr>
        <p:spPr>
          <a:xfrm>
            <a:off x="7955280" y="1645920"/>
            <a:ext cx="3657600" cy="4389120"/>
          </a:xfrm>
          <a:prstGeom prst="roundRect">
            <a:avLst>
              <a:gd name="adj" fmla="val 3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txBody>
          <a:bodyPr/>
          <a:lstStyle/>
          <a:p>
            <a:endParaRPr lang="en-IN"/>
          </a:p>
        </p:txBody>
      </p:sp>
      <p:sp>
        <p:nvSpPr>
          <p:cNvPr id="20" name="Text 18"/>
          <p:cNvSpPr txBox="1"/>
          <p:nvPr/>
        </p:nvSpPr>
        <p:spPr>
          <a:xfrm>
            <a:off x="8229600" y="1874520"/>
            <a:ext cx="3108960" cy="4023360"/>
          </a:xfrm>
          <a:prstGeom prst="rect">
            <a:avLst/>
          </a:prstGeom>
          <a:noFill/>
          <a:ln/>
        </p:spPr>
        <p:txBody>
          <a:bodyPr wrap="square" lIns="0" tIns="0" rIns="0" bIns="0" rtlCol="0" anchor="t"/>
          <a:lstStyle/>
          <a:p>
            <a:pPr marL="0" indent="0">
              <a:spcAft>
                <a:spcPts val="1400"/>
              </a:spcAft>
              <a:buNone/>
            </a:pPr>
            <a:r>
              <a:rPr lang="en-US" sz="1800" b="1" dirty="0">
                <a:solidFill>
                  <a:srgbClr val="F5A524"/>
                </a:solidFill>
                <a:latin typeface="Calibri" pitchFamily="34" charset="0"/>
                <a:ea typeface="Calibri" pitchFamily="34" charset="-122"/>
                <a:cs typeface="Calibri" pitchFamily="34" charset="-120"/>
              </a:rPr>
              <a:t>What this proves</a:t>
            </a:r>
            <a:endParaRPr lang="en-US" sz="1800" dirty="0"/>
          </a:p>
          <a:p>
            <a:pPr marL="0" indent="0">
              <a:buNone/>
            </a:pPr>
            <a:r>
              <a:rPr lang="en-US" sz="1600" b="1" dirty="0">
                <a:solidFill>
                  <a:srgbClr val="FFFFFF"/>
                </a:solidFill>
                <a:latin typeface="Calibri" pitchFamily="34" charset="0"/>
                <a:ea typeface="Calibri" pitchFamily="34" charset="-122"/>
                <a:cs typeface="Calibri" pitchFamily="34" charset="-120"/>
              </a:rPr>
              <a:t>Grounded</a:t>
            </a:r>
            <a:endParaRPr lang="en-US" sz="1800" dirty="0"/>
          </a:p>
          <a:p>
            <a:pPr marL="0" indent="0">
              <a:spcAft>
                <a:spcPts val="1200"/>
              </a:spcAft>
              <a:buNone/>
            </a:pPr>
            <a:r>
              <a:rPr lang="en-US" sz="1300" dirty="0">
                <a:solidFill>
                  <a:srgbClr val="D5D9E0"/>
                </a:solidFill>
                <a:latin typeface="Calibri" pitchFamily="34" charset="0"/>
                <a:ea typeface="Calibri" pitchFamily="34" charset="-122"/>
                <a:cs typeface="Calibri" pitchFamily="34" charset="-120"/>
              </a:rPr>
              <a:t>Answers come from real repository evidence.</a:t>
            </a:r>
            <a:endParaRPr lang="en-US" sz="1800" dirty="0"/>
          </a:p>
          <a:p>
            <a:pPr marL="0" indent="0">
              <a:buNone/>
            </a:pPr>
            <a:r>
              <a:rPr lang="en-US" sz="1600" b="1" dirty="0">
                <a:solidFill>
                  <a:srgbClr val="FFFFFF"/>
                </a:solidFill>
                <a:latin typeface="Calibri" pitchFamily="34" charset="0"/>
                <a:ea typeface="Calibri" pitchFamily="34" charset="-122"/>
                <a:cs typeface="Calibri" pitchFamily="34" charset="-120"/>
              </a:rPr>
              <a:t>Secure by default</a:t>
            </a:r>
            <a:endParaRPr lang="en-US" sz="1800" dirty="0"/>
          </a:p>
          <a:p>
            <a:pPr marL="0" indent="0">
              <a:spcAft>
                <a:spcPts val="1200"/>
              </a:spcAft>
              <a:buNone/>
            </a:pPr>
            <a:r>
              <a:rPr lang="en-US" sz="1300" dirty="0">
                <a:solidFill>
                  <a:srgbClr val="D5D9E0"/>
                </a:solidFill>
                <a:latin typeface="Calibri" pitchFamily="34" charset="0"/>
                <a:ea typeface="Calibri" pitchFamily="34" charset="-122"/>
                <a:cs typeface="Calibri" pitchFamily="34" charset="-120"/>
              </a:rPr>
              <a:t>Sensitive input is stopped before it reaches the LLM.</a:t>
            </a:r>
            <a:endParaRPr lang="en-US" sz="1800" dirty="0"/>
          </a:p>
          <a:p>
            <a:pPr marL="0" indent="0">
              <a:buNone/>
            </a:pPr>
            <a:r>
              <a:rPr lang="en-US" sz="1600" b="1" dirty="0">
                <a:solidFill>
                  <a:srgbClr val="FFFFFF"/>
                </a:solidFill>
                <a:latin typeface="Calibri" pitchFamily="34" charset="0"/>
                <a:ea typeface="Calibri" pitchFamily="34" charset="-122"/>
                <a:cs typeface="Calibri" pitchFamily="34" charset="-120"/>
              </a:rPr>
              <a:t>Transparent</a:t>
            </a:r>
            <a:endParaRPr lang="en-US" sz="1800" dirty="0"/>
          </a:p>
          <a:p>
            <a:pPr marL="0" indent="0">
              <a:buNone/>
            </a:pPr>
            <a:r>
              <a:rPr lang="en-US" sz="1300" dirty="0">
                <a:solidFill>
                  <a:srgbClr val="D5D9E0"/>
                </a:solidFill>
                <a:latin typeface="Calibri" pitchFamily="34" charset="0"/>
                <a:ea typeface="Calibri" pitchFamily="34" charset="-122"/>
                <a:cs typeface="Calibri" pitchFamily="34" charset="-120"/>
              </a:rPr>
              <a:t>Every stage's decision is visible in the trace.</a:t>
            </a:r>
            <a:endParaRPr lang="en-US" sz="1800" dirty="0"/>
          </a:p>
        </p:txBody>
      </p:sp>
      <p:sp>
        <p:nvSpPr>
          <p:cNvPr id="21" name="Text 19"/>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Where we are, and why</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Depth over speed: a niche problem deserves careful groundwork</a:t>
            </a:r>
            <a:endParaRPr lang="en-US" sz="1600" dirty="0"/>
          </a:p>
        </p:txBody>
      </p:sp>
      <p:sp>
        <p:nvSpPr>
          <p:cNvPr id="4" name="Text 2"/>
          <p:cNvSpPr txBox="1"/>
          <p:nvPr/>
        </p:nvSpPr>
        <p:spPr>
          <a:xfrm>
            <a:off x="822960" y="1783080"/>
            <a:ext cx="640080" cy="640080"/>
          </a:xfrm>
          <a:prstGeom prst="ellipse">
            <a:avLst/>
          </a:prstGeom>
          <a:solidFill>
            <a:srgbClr val="171A21"/>
          </a:solidFill>
          <a:ln w="19050">
            <a:solidFill>
              <a:srgbClr val="171A21"/>
            </a:solidFill>
          </a:ln>
        </p:spPr>
        <p:txBody>
          <a:bodyPr wrap="square" lIns="0" tIns="0" rIns="0" bIns="0" rtlCol="0" anchor="ctr"/>
          <a:lstStyle/>
          <a:p>
            <a:pPr marL="0" indent="0" algn="ctr">
              <a:buNone/>
            </a:pPr>
            <a:r>
              <a:rPr lang="en-US" sz="1600" b="1" dirty="0">
                <a:solidFill>
                  <a:srgbClr val="F5A524"/>
                </a:solidFill>
                <a:latin typeface="Calibri" pitchFamily="34" charset="0"/>
                <a:ea typeface="Calibri" pitchFamily="34" charset="-122"/>
                <a:cs typeface="Calibri" pitchFamily="34" charset="-120"/>
              </a:rPr>
              <a:t>1</a:t>
            </a:r>
            <a:endParaRPr lang="en-US" sz="1600" dirty="0"/>
          </a:p>
        </p:txBody>
      </p:sp>
      <p:sp>
        <p:nvSpPr>
          <p:cNvPr id="5" name="Shape 3"/>
          <p:cNvSpPr/>
          <p:nvPr/>
        </p:nvSpPr>
        <p:spPr>
          <a:xfrm>
            <a:off x="1490472" y="2103120"/>
            <a:ext cx="585216" cy="0"/>
          </a:xfrm>
          <a:prstGeom prst="line">
            <a:avLst/>
          </a:prstGeom>
          <a:noFill/>
          <a:ln w="25400">
            <a:solidFill>
              <a:srgbClr val="171A21"/>
            </a:solidFill>
            <a:prstDash val="solid"/>
          </a:ln>
        </p:spPr>
        <p:txBody>
          <a:bodyPr/>
          <a:lstStyle/>
          <a:p>
            <a:endParaRPr/>
          </a:p>
        </p:txBody>
      </p:sp>
      <p:sp>
        <p:nvSpPr>
          <p:cNvPr id="6" name="Text 4"/>
          <p:cNvSpPr txBox="1"/>
          <p:nvPr/>
        </p:nvSpPr>
        <p:spPr>
          <a:xfrm>
            <a:off x="2103120" y="1783080"/>
            <a:ext cx="640080" cy="640080"/>
          </a:xfrm>
          <a:prstGeom prst="ellipse">
            <a:avLst/>
          </a:prstGeom>
          <a:solidFill>
            <a:srgbClr val="171A21"/>
          </a:solidFill>
          <a:ln w="19050">
            <a:solidFill>
              <a:srgbClr val="171A21"/>
            </a:solidFill>
          </a:ln>
        </p:spPr>
        <p:txBody>
          <a:bodyPr wrap="square" lIns="0" tIns="0" rIns="0" bIns="0" rtlCol="0" anchor="ctr"/>
          <a:lstStyle/>
          <a:p>
            <a:pPr marL="0" indent="0" algn="ctr">
              <a:buNone/>
            </a:pPr>
            <a:r>
              <a:rPr lang="en-US" sz="1600" b="1" dirty="0">
                <a:solidFill>
                  <a:srgbClr val="F5A524"/>
                </a:solidFill>
                <a:latin typeface="Calibri" pitchFamily="34" charset="0"/>
                <a:ea typeface="Calibri" pitchFamily="34" charset="-122"/>
                <a:cs typeface="Calibri" pitchFamily="34" charset="-120"/>
              </a:rPr>
              <a:t>2</a:t>
            </a:r>
            <a:endParaRPr lang="en-US" sz="1600" dirty="0"/>
          </a:p>
        </p:txBody>
      </p:sp>
      <p:sp>
        <p:nvSpPr>
          <p:cNvPr id="7" name="Shape 5"/>
          <p:cNvSpPr/>
          <p:nvPr/>
        </p:nvSpPr>
        <p:spPr>
          <a:xfrm>
            <a:off x="2770632" y="2103120"/>
            <a:ext cx="585216" cy="0"/>
          </a:xfrm>
          <a:prstGeom prst="line">
            <a:avLst/>
          </a:prstGeom>
          <a:noFill/>
          <a:ln w="25400">
            <a:solidFill>
              <a:srgbClr val="171A21"/>
            </a:solidFill>
            <a:prstDash val="solid"/>
          </a:ln>
        </p:spPr>
        <p:txBody>
          <a:bodyPr/>
          <a:lstStyle/>
          <a:p>
            <a:endParaRPr/>
          </a:p>
        </p:txBody>
      </p:sp>
      <p:sp>
        <p:nvSpPr>
          <p:cNvPr id="8" name="Text 6"/>
          <p:cNvSpPr txBox="1"/>
          <p:nvPr/>
        </p:nvSpPr>
        <p:spPr>
          <a:xfrm>
            <a:off x="3383280" y="1783080"/>
            <a:ext cx="640080" cy="640080"/>
          </a:xfrm>
          <a:prstGeom prst="ellipse">
            <a:avLst/>
          </a:prstGeom>
          <a:solidFill>
            <a:srgbClr val="171A21"/>
          </a:solidFill>
          <a:ln w="19050">
            <a:solidFill>
              <a:srgbClr val="171A21"/>
            </a:solidFill>
          </a:ln>
        </p:spPr>
        <p:txBody>
          <a:bodyPr wrap="square" lIns="0" tIns="0" rIns="0" bIns="0" rtlCol="0" anchor="ctr"/>
          <a:lstStyle/>
          <a:p>
            <a:pPr marL="0" indent="0" algn="ctr">
              <a:buNone/>
            </a:pPr>
            <a:r>
              <a:rPr lang="en-US" sz="1600" b="1" dirty="0">
                <a:solidFill>
                  <a:srgbClr val="F5A524"/>
                </a:solidFill>
                <a:latin typeface="Calibri" pitchFamily="34" charset="0"/>
                <a:ea typeface="Calibri" pitchFamily="34" charset="-122"/>
                <a:cs typeface="Calibri" pitchFamily="34" charset="-120"/>
              </a:rPr>
              <a:t>3</a:t>
            </a:r>
            <a:endParaRPr lang="en-US" sz="1600" dirty="0"/>
          </a:p>
        </p:txBody>
      </p:sp>
      <p:sp>
        <p:nvSpPr>
          <p:cNvPr id="9" name="Shape 7"/>
          <p:cNvSpPr/>
          <p:nvPr/>
        </p:nvSpPr>
        <p:spPr>
          <a:xfrm>
            <a:off x="4050792" y="2103120"/>
            <a:ext cx="585216" cy="0"/>
          </a:xfrm>
          <a:prstGeom prst="line">
            <a:avLst/>
          </a:prstGeom>
          <a:noFill/>
          <a:ln w="25400">
            <a:solidFill>
              <a:srgbClr val="6B7280"/>
            </a:solidFill>
            <a:prstDash val="dash"/>
          </a:ln>
        </p:spPr>
        <p:txBody>
          <a:bodyPr/>
          <a:lstStyle/>
          <a:p>
            <a:endParaRPr/>
          </a:p>
        </p:txBody>
      </p:sp>
      <p:sp>
        <p:nvSpPr>
          <p:cNvPr id="10" name="Text 8"/>
          <p:cNvSpPr txBox="1"/>
          <p:nvPr/>
        </p:nvSpPr>
        <p:spPr>
          <a:xfrm>
            <a:off x="466344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4</a:t>
            </a:r>
            <a:endParaRPr lang="en-US" sz="1600" dirty="0"/>
          </a:p>
        </p:txBody>
      </p:sp>
      <p:sp>
        <p:nvSpPr>
          <p:cNvPr id="11" name="Shape 9"/>
          <p:cNvSpPr/>
          <p:nvPr/>
        </p:nvSpPr>
        <p:spPr>
          <a:xfrm>
            <a:off x="5330952" y="2103120"/>
            <a:ext cx="585216" cy="0"/>
          </a:xfrm>
          <a:prstGeom prst="line">
            <a:avLst/>
          </a:prstGeom>
          <a:noFill/>
          <a:ln w="25400">
            <a:solidFill>
              <a:srgbClr val="6B7280"/>
            </a:solidFill>
            <a:prstDash val="dash"/>
          </a:ln>
        </p:spPr>
        <p:txBody>
          <a:bodyPr/>
          <a:lstStyle/>
          <a:p>
            <a:endParaRPr/>
          </a:p>
        </p:txBody>
      </p:sp>
      <p:sp>
        <p:nvSpPr>
          <p:cNvPr id="12" name="Text 10"/>
          <p:cNvSpPr txBox="1"/>
          <p:nvPr/>
        </p:nvSpPr>
        <p:spPr>
          <a:xfrm>
            <a:off x="594360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5</a:t>
            </a:r>
            <a:endParaRPr lang="en-US" sz="1600" dirty="0"/>
          </a:p>
        </p:txBody>
      </p:sp>
      <p:sp>
        <p:nvSpPr>
          <p:cNvPr id="13" name="Shape 11"/>
          <p:cNvSpPr/>
          <p:nvPr/>
        </p:nvSpPr>
        <p:spPr>
          <a:xfrm>
            <a:off x="6611112" y="2103120"/>
            <a:ext cx="585216" cy="0"/>
          </a:xfrm>
          <a:prstGeom prst="line">
            <a:avLst/>
          </a:prstGeom>
          <a:noFill/>
          <a:ln w="25400">
            <a:solidFill>
              <a:srgbClr val="6B7280"/>
            </a:solidFill>
            <a:prstDash val="dash"/>
          </a:ln>
        </p:spPr>
        <p:txBody>
          <a:bodyPr/>
          <a:lstStyle/>
          <a:p>
            <a:endParaRPr/>
          </a:p>
        </p:txBody>
      </p:sp>
      <p:sp>
        <p:nvSpPr>
          <p:cNvPr id="14" name="Text 12"/>
          <p:cNvSpPr txBox="1"/>
          <p:nvPr/>
        </p:nvSpPr>
        <p:spPr>
          <a:xfrm>
            <a:off x="722376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6</a:t>
            </a:r>
            <a:endParaRPr lang="en-US" sz="1600" dirty="0"/>
          </a:p>
        </p:txBody>
      </p:sp>
      <p:sp>
        <p:nvSpPr>
          <p:cNvPr id="15" name="Shape 13"/>
          <p:cNvSpPr/>
          <p:nvPr/>
        </p:nvSpPr>
        <p:spPr>
          <a:xfrm>
            <a:off x="7891272" y="2103120"/>
            <a:ext cx="585216" cy="0"/>
          </a:xfrm>
          <a:prstGeom prst="line">
            <a:avLst/>
          </a:prstGeom>
          <a:noFill/>
          <a:ln w="25400">
            <a:solidFill>
              <a:srgbClr val="6B7280"/>
            </a:solidFill>
            <a:prstDash val="dash"/>
          </a:ln>
        </p:spPr>
        <p:txBody>
          <a:bodyPr/>
          <a:lstStyle/>
          <a:p>
            <a:endParaRPr/>
          </a:p>
        </p:txBody>
      </p:sp>
      <p:sp>
        <p:nvSpPr>
          <p:cNvPr id="16" name="Text 14"/>
          <p:cNvSpPr txBox="1"/>
          <p:nvPr/>
        </p:nvSpPr>
        <p:spPr>
          <a:xfrm>
            <a:off x="850392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7</a:t>
            </a:r>
            <a:endParaRPr lang="en-US" sz="1600" dirty="0"/>
          </a:p>
        </p:txBody>
      </p:sp>
      <p:sp>
        <p:nvSpPr>
          <p:cNvPr id="17" name="Shape 15"/>
          <p:cNvSpPr/>
          <p:nvPr/>
        </p:nvSpPr>
        <p:spPr>
          <a:xfrm>
            <a:off x="9171432" y="2103120"/>
            <a:ext cx="585216" cy="0"/>
          </a:xfrm>
          <a:prstGeom prst="line">
            <a:avLst/>
          </a:prstGeom>
          <a:noFill/>
          <a:ln w="25400">
            <a:solidFill>
              <a:srgbClr val="6B7280"/>
            </a:solidFill>
            <a:prstDash val="dash"/>
          </a:ln>
        </p:spPr>
        <p:txBody>
          <a:bodyPr/>
          <a:lstStyle/>
          <a:p>
            <a:endParaRPr/>
          </a:p>
        </p:txBody>
      </p:sp>
      <p:sp>
        <p:nvSpPr>
          <p:cNvPr id="18" name="Text 16"/>
          <p:cNvSpPr txBox="1"/>
          <p:nvPr/>
        </p:nvSpPr>
        <p:spPr>
          <a:xfrm>
            <a:off x="978408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8</a:t>
            </a:r>
            <a:endParaRPr lang="en-US" sz="1600" dirty="0"/>
          </a:p>
        </p:txBody>
      </p:sp>
      <p:sp>
        <p:nvSpPr>
          <p:cNvPr id="19" name="Shape 17"/>
          <p:cNvSpPr/>
          <p:nvPr/>
        </p:nvSpPr>
        <p:spPr>
          <a:xfrm>
            <a:off x="10451592" y="2103120"/>
            <a:ext cx="585216" cy="0"/>
          </a:xfrm>
          <a:prstGeom prst="line">
            <a:avLst/>
          </a:prstGeom>
          <a:noFill/>
          <a:ln w="25400">
            <a:solidFill>
              <a:srgbClr val="6B7280"/>
            </a:solidFill>
            <a:prstDash val="dash"/>
          </a:ln>
        </p:spPr>
        <p:txBody>
          <a:bodyPr/>
          <a:lstStyle/>
          <a:p>
            <a:endParaRPr/>
          </a:p>
        </p:txBody>
      </p:sp>
      <p:sp>
        <p:nvSpPr>
          <p:cNvPr id="20" name="Text 18"/>
          <p:cNvSpPr txBox="1"/>
          <p:nvPr/>
        </p:nvSpPr>
        <p:spPr>
          <a:xfrm>
            <a:off x="1106424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9</a:t>
            </a:r>
            <a:endParaRPr lang="en-US" sz="1600" dirty="0"/>
          </a:p>
        </p:txBody>
      </p:sp>
      <p:sp>
        <p:nvSpPr>
          <p:cNvPr id="21" name="Shape 19"/>
          <p:cNvSpPr/>
          <p:nvPr/>
        </p:nvSpPr>
        <p:spPr>
          <a:xfrm>
            <a:off x="548640" y="2926080"/>
            <a:ext cx="3566160" cy="3017520"/>
          </a:xfrm>
          <a:prstGeom prst="roundRect">
            <a:avLst>
              <a:gd name="adj" fmla="val 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2" name="Shape 20"/>
          <p:cNvSpPr/>
          <p:nvPr/>
        </p:nvSpPr>
        <p:spPr>
          <a:xfrm>
            <a:off x="822960" y="3154680"/>
            <a:ext cx="640080" cy="640080"/>
          </a:xfrm>
          <a:prstGeom prst="ellipse">
            <a:avLst/>
          </a:prstGeom>
          <a:solidFill>
            <a:srgbClr val="171A21"/>
          </a:solidFill>
          <a:ln w="12700">
            <a:solidFill>
              <a:srgbClr val="171A21"/>
            </a:solidFill>
            <a:prstDash val="solid"/>
          </a:ln>
        </p:spPr>
        <p:txBody>
          <a:bodyPr/>
          <a:lstStyle/>
          <a:p>
            <a:endParaRPr/>
          </a:p>
        </p:txBody>
      </p:sp>
      <p:pic>
        <p:nvPicPr>
          <p:cNvPr id="23" name="Image 0" descr="preencoded.png"/>
          <p:cNvPicPr>
            <a:picLocks noChangeAspect="1"/>
          </p:cNvPicPr>
          <p:nvPr/>
        </p:nvPicPr>
        <p:blipFill>
          <a:blip r:embed="rId3"/>
          <a:stretch>
            <a:fillRect/>
          </a:stretch>
        </p:blipFill>
        <p:spPr>
          <a:xfrm>
            <a:off x="989381" y="3321101"/>
            <a:ext cx="307238" cy="307238"/>
          </a:xfrm>
          <a:prstGeom prst="rect">
            <a:avLst/>
          </a:prstGeom>
        </p:spPr>
      </p:pic>
      <p:sp>
        <p:nvSpPr>
          <p:cNvPr id="24" name="Text 21"/>
          <p:cNvSpPr txBox="1"/>
          <p:nvPr/>
        </p:nvSpPr>
        <p:spPr>
          <a:xfrm>
            <a:off x="822960" y="3931920"/>
            <a:ext cx="3017520" cy="45720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Research first</a:t>
            </a:r>
            <a:endParaRPr lang="en-US" sz="1900" dirty="0"/>
          </a:p>
        </p:txBody>
      </p:sp>
      <p:sp>
        <p:nvSpPr>
          <p:cNvPr id="25" name="Text 22"/>
          <p:cNvSpPr txBox="1"/>
          <p:nvPr/>
        </p:nvSpPr>
        <p:spPr>
          <a:xfrm>
            <a:off x="822960" y="4434840"/>
            <a:ext cx="3017520" cy="1417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Scoping the problem, finding the gaps and making design decisions took real time. We chose quality and depth over rushing.</a:t>
            </a:r>
            <a:endParaRPr lang="en-US" sz="1400" dirty="0"/>
          </a:p>
        </p:txBody>
      </p:sp>
      <p:sp>
        <p:nvSpPr>
          <p:cNvPr id="26" name="Shape 23"/>
          <p:cNvSpPr/>
          <p:nvPr/>
        </p:nvSpPr>
        <p:spPr>
          <a:xfrm>
            <a:off x="4343400" y="2926080"/>
            <a:ext cx="3566160" cy="3017520"/>
          </a:xfrm>
          <a:prstGeom prst="roundRect">
            <a:avLst>
              <a:gd name="adj" fmla="val 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27" name="Shape 24"/>
          <p:cNvSpPr/>
          <p:nvPr/>
        </p:nvSpPr>
        <p:spPr>
          <a:xfrm>
            <a:off x="4617720" y="3154680"/>
            <a:ext cx="640080" cy="640080"/>
          </a:xfrm>
          <a:prstGeom prst="ellipse">
            <a:avLst/>
          </a:prstGeom>
          <a:solidFill>
            <a:srgbClr val="0F766E"/>
          </a:solidFill>
          <a:ln w="12700">
            <a:solidFill>
              <a:srgbClr val="0F766E"/>
            </a:solidFill>
            <a:prstDash val="solid"/>
          </a:ln>
        </p:spPr>
        <p:txBody>
          <a:bodyPr/>
          <a:lstStyle/>
          <a:p>
            <a:endParaRPr/>
          </a:p>
        </p:txBody>
      </p:sp>
      <p:pic>
        <p:nvPicPr>
          <p:cNvPr id="28" name="Image 1" descr="preencoded.png"/>
          <p:cNvPicPr>
            <a:picLocks noChangeAspect="1"/>
          </p:cNvPicPr>
          <p:nvPr/>
        </p:nvPicPr>
        <p:blipFill>
          <a:blip r:embed="rId4"/>
          <a:stretch>
            <a:fillRect/>
          </a:stretch>
        </p:blipFill>
        <p:spPr>
          <a:xfrm>
            <a:off x="4784141" y="3321101"/>
            <a:ext cx="307238" cy="307238"/>
          </a:xfrm>
          <a:prstGeom prst="rect">
            <a:avLst/>
          </a:prstGeom>
        </p:spPr>
      </p:pic>
      <p:sp>
        <p:nvSpPr>
          <p:cNvPr id="29" name="Text 25"/>
          <p:cNvSpPr txBox="1"/>
          <p:nvPr/>
        </p:nvSpPr>
        <p:spPr>
          <a:xfrm>
            <a:off x="4617720" y="3931920"/>
            <a:ext cx="3017520" cy="45720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Delivered and demoable</a:t>
            </a:r>
            <a:endParaRPr lang="en-US" sz="1900" dirty="0"/>
          </a:p>
        </p:txBody>
      </p:sp>
      <p:sp>
        <p:nvSpPr>
          <p:cNvPr id="30" name="Text 26"/>
          <p:cNvSpPr txBox="1"/>
          <p:nvPr/>
        </p:nvSpPr>
        <p:spPr>
          <a:xfrm>
            <a:off x="4617720" y="4434840"/>
            <a:ext cx="3017520" cy="1417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Phases 1-3 are built, integrated and shown live today: RAG foundation, agent orchestration and evidence-grounded generation.</a:t>
            </a:r>
            <a:endParaRPr lang="en-US" sz="1400" dirty="0"/>
          </a:p>
        </p:txBody>
      </p:sp>
      <p:sp>
        <p:nvSpPr>
          <p:cNvPr id="31" name="Shape 27"/>
          <p:cNvSpPr/>
          <p:nvPr/>
        </p:nvSpPr>
        <p:spPr>
          <a:xfrm>
            <a:off x="8138160" y="2926080"/>
            <a:ext cx="3566160" cy="3017520"/>
          </a:xfrm>
          <a:prstGeom prst="roundRect">
            <a:avLst>
              <a:gd name="adj" fmla="val 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a:p>
        </p:txBody>
      </p:sp>
      <p:sp>
        <p:nvSpPr>
          <p:cNvPr id="32" name="Shape 28"/>
          <p:cNvSpPr/>
          <p:nvPr/>
        </p:nvSpPr>
        <p:spPr>
          <a:xfrm>
            <a:off x="8412480" y="3154680"/>
            <a:ext cx="640080" cy="640080"/>
          </a:xfrm>
          <a:prstGeom prst="ellipse">
            <a:avLst/>
          </a:prstGeom>
          <a:solidFill>
            <a:srgbClr val="171A21"/>
          </a:solidFill>
          <a:ln w="12700">
            <a:solidFill>
              <a:srgbClr val="171A21"/>
            </a:solidFill>
            <a:prstDash val="solid"/>
          </a:ln>
        </p:spPr>
        <p:txBody>
          <a:bodyPr/>
          <a:lstStyle/>
          <a:p>
            <a:endParaRPr/>
          </a:p>
        </p:txBody>
      </p:sp>
      <p:pic>
        <p:nvPicPr>
          <p:cNvPr id="33" name="Image 2" descr="preencoded.png"/>
          <p:cNvPicPr>
            <a:picLocks noChangeAspect="1"/>
          </p:cNvPicPr>
          <p:nvPr/>
        </p:nvPicPr>
        <p:blipFill>
          <a:blip r:embed="rId5"/>
          <a:stretch>
            <a:fillRect/>
          </a:stretch>
        </p:blipFill>
        <p:spPr>
          <a:xfrm>
            <a:off x="8578901" y="3321101"/>
            <a:ext cx="307238" cy="307238"/>
          </a:xfrm>
          <a:prstGeom prst="rect">
            <a:avLst/>
          </a:prstGeom>
        </p:spPr>
      </p:pic>
      <p:sp>
        <p:nvSpPr>
          <p:cNvPr id="34" name="Text 29"/>
          <p:cNvSpPr txBox="1"/>
          <p:nvPr/>
        </p:nvSpPr>
        <p:spPr>
          <a:xfrm>
            <a:off x="8412480" y="3931920"/>
            <a:ext cx="3017520" cy="45720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Next review</a:t>
            </a:r>
            <a:endParaRPr lang="en-US" sz="1900" dirty="0"/>
          </a:p>
        </p:txBody>
      </p:sp>
      <p:sp>
        <p:nvSpPr>
          <p:cNvPr id="35" name="Text 30"/>
          <p:cNvSpPr txBox="1"/>
          <p:nvPr/>
        </p:nvSpPr>
        <p:spPr>
          <a:xfrm>
            <a:off x="8412480" y="4434840"/>
            <a:ext cx="3017520" cy="1417320"/>
          </a:xfrm>
          <a:prstGeom prst="rect">
            <a:avLst/>
          </a:prstGeom>
          <a:noFill/>
          <a:ln/>
        </p:spPr>
        <p:txBody>
          <a:bodyPr wrap="square" lIns="0" tIns="0" rIns="0" bIns="0" rtlCol="0" anchor="t"/>
          <a:lstStyle/>
          <a:p>
            <a:r>
              <a:t>Phases 4-9 are now integrated, demonstrated, and extended with the shipped command-center workspace.</a:t>
            </a:r>
          </a:p>
        </p:txBody>
      </p:sp>
      <p:sp>
        <p:nvSpPr>
          <p:cNvPr id="36" name="Text 3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7"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8046720" cy="256032"/>
          </a:xfrm>
          <a:prstGeom prst="rect">
            <a:avLst/>
          </a:prstGeom>
          <a:noFill/>
        </p:spPr>
        <p:txBody>
          <a:bodyPr wrap="square" lIns="73152" rIns="73152" anchor="t">
            <a:spAutoFit/>
          </a:bodyPr>
          <a:lstStyle/>
          <a:p>
            <a:pPr algn="l"/>
            <a:r>
              <a:rPr sz="1000" b="1">
                <a:solidFill>
                  <a:srgbClr val="4FD6CF"/>
                </a:solidFill>
                <a:latin typeface="Aptos"/>
              </a:rPr>
              <a:t>KAVACH  /  SHIPPED PRODUCT UPDATE</a:t>
            </a:r>
          </a:p>
        </p:txBody>
      </p:sp>
      <p:sp>
        <p:nvSpPr>
          <p:cNvPr id="3" name="TextBox 2"/>
          <p:cNvSpPr txBox="1"/>
          <p:nvPr/>
        </p:nvSpPr>
        <p:spPr>
          <a:xfrm>
            <a:off x="502920" y="658368"/>
            <a:ext cx="11155680" cy="502920"/>
          </a:xfrm>
          <a:prstGeom prst="rect">
            <a:avLst/>
          </a:prstGeom>
          <a:noFill/>
        </p:spPr>
        <p:txBody>
          <a:bodyPr wrap="square" lIns="73152" rIns="73152" anchor="t">
            <a:spAutoFit/>
          </a:bodyPr>
          <a:lstStyle/>
          <a:p>
            <a:pPr algn="l"/>
            <a:r>
              <a:rPr sz="2500" b="1">
                <a:solidFill>
                  <a:srgbClr val="F1F6FC"/>
                </a:solidFill>
                <a:latin typeface="Aptos"/>
              </a:rPr>
              <a:t>From governed prototype to a usable security workspace</a:t>
            </a:r>
          </a:p>
        </p:txBody>
      </p:sp>
      <p:sp>
        <p:nvSpPr>
          <p:cNvPr id="4" name="TextBox 3"/>
          <p:cNvSpPr txBox="1"/>
          <p:nvPr/>
        </p:nvSpPr>
        <p:spPr>
          <a:xfrm>
            <a:off x="502920" y="1207008"/>
            <a:ext cx="10515600" cy="274320"/>
          </a:xfrm>
          <a:prstGeom prst="rect">
            <a:avLst/>
          </a:prstGeom>
          <a:noFill/>
        </p:spPr>
        <p:txBody>
          <a:bodyPr wrap="square" lIns="73152" rIns="73152" anchor="t">
            <a:spAutoFit/>
          </a:bodyPr>
          <a:lstStyle/>
          <a:p>
            <a:pPr algn="l"/>
            <a:r>
              <a:rPr sz="1200" b="0">
                <a:solidFill>
                  <a:srgbClr val="A6B7CC"/>
                </a:solidFill>
                <a:latin typeface="Aptos"/>
              </a:rPr>
              <a:t>What changed after the original project presentation</a:t>
            </a:r>
          </a:p>
        </p:txBody>
      </p:sp>
      <p:sp>
        <p:nvSpPr>
          <p:cNvPr id="5" name="Rounded Rectangle 4"/>
          <p:cNvSpPr/>
          <p:nvPr/>
        </p:nvSpPr>
        <p:spPr>
          <a:xfrm>
            <a:off x="502920" y="1737360"/>
            <a:ext cx="5257800" cy="4251960"/>
          </a:xfrm>
          <a:prstGeom prst="roundRect">
            <a:avLst/>
          </a:prstGeom>
          <a:solidFill>
            <a:srgbClr val="182234"/>
          </a:solidFill>
          <a:ln w="12700">
            <a:solidFill>
              <a:srgbClr val="4A5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89320" y="1737360"/>
            <a:ext cx="5669280" cy="4251960"/>
          </a:xfrm>
          <a:prstGeom prst="roundRect">
            <a:avLst/>
          </a:prstGeom>
          <a:solidFill>
            <a:srgbClr val="123039"/>
          </a:solidFill>
          <a:ln w="12700">
            <a:solidFill>
              <a:srgbClr val="4FD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993392"/>
            <a:ext cx="1828800" cy="274320"/>
          </a:xfrm>
          <a:prstGeom prst="rect">
            <a:avLst/>
          </a:prstGeom>
          <a:noFill/>
        </p:spPr>
        <p:txBody>
          <a:bodyPr wrap="square" lIns="73152" rIns="73152" anchor="t">
            <a:spAutoFit/>
          </a:bodyPr>
          <a:lstStyle/>
          <a:p>
            <a:pPr algn="l"/>
            <a:r>
              <a:rPr sz="1100" b="1">
                <a:solidFill>
                  <a:srgbClr val="F6B54A"/>
                </a:solidFill>
                <a:latin typeface="Aptos"/>
              </a:rPr>
              <a:t>BEFORE</a:t>
            </a:r>
          </a:p>
        </p:txBody>
      </p:sp>
      <p:sp>
        <p:nvSpPr>
          <p:cNvPr id="8" name="TextBox 7"/>
          <p:cNvSpPr txBox="1"/>
          <p:nvPr/>
        </p:nvSpPr>
        <p:spPr>
          <a:xfrm>
            <a:off x="804672" y="2304288"/>
            <a:ext cx="4297680" cy="365760"/>
          </a:xfrm>
          <a:prstGeom prst="rect">
            <a:avLst/>
          </a:prstGeom>
          <a:noFill/>
        </p:spPr>
        <p:txBody>
          <a:bodyPr wrap="square" lIns="73152" rIns="73152" anchor="t">
            <a:spAutoFit/>
          </a:bodyPr>
          <a:lstStyle/>
          <a:p>
            <a:pPr algn="l"/>
            <a:r>
              <a:rPr sz="1900" b="1">
                <a:solidFill>
                  <a:srgbClr val="F1F6FC"/>
                </a:solidFill>
                <a:latin typeface="Aptos"/>
              </a:rPr>
              <a:t>A strong integrated prototype</a:t>
            </a:r>
          </a:p>
        </p:txBody>
      </p:sp>
      <p:sp>
        <p:nvSpPr>
          <p:cNvPr id="9" name="TextBox 8"/>
          <p:cNvSpPr txBox="1"/>
          <p:nvPr/>
        </p:nvSpPr>
        <p:spPr>
          <a:xfrm>
            <a:off x="841248" y="2889504"/>
            <a:ext cx="4526280" cy="2377440"/>
          </a:xfrm>
          <a:prstGeom prst="rect">
            <a:avLst/>
          </a:prstGeom>
          <a:noFill/>
        </p:spPr>
        <p:txBody>
          <a:bodyPr wrap="square" lIns="73152" rIns="73152" anchor="t">
            <a:spAutoFit/>
          </a:bodyPr>
          <a:lstStyle/>
          <a:p>
            <a:pPr algn="l"/>
            <a:r>
              <a:rPr sz="1400" b="0">
                <a:solidFill>
                  <a:srgbClr val="A6B7CC"/>
                </a:solidFill>
                <a:latin typeface="Aptos"/>
              </a:rPr>
              <a:t>•  Single workflow dashboard for request analysis
•  Local repository ingestion and RAG evidence
•  PII and secret detection before generation
•  Risk-aware policy decisions and audit trace
•  Gemini generation with local .env support</a:t>
            </a:r>
          </a:p>
        </p:txBody>
      </p:sp>
      <p:sp>
        <p:nvSpPr>
          <p:cNvPr id="10" name="TextBox 9"/>
          <p:cNvSpPr txBox="1"/>
          <p:nvPr/>
        </p:nvSpPr>
        <p:spPr>
          <a:xfrm>
            <a:off x="804672" y="5376672"/>
            <a:ext cx="1828800" cy="228600"/>
          </a:xfrm>
          <a:prstGeom prst="rect">
            <a:avLst/>
          </a:prstGeom>
          <a:noFill/>
        </p:spPr>
        <p:txBody>
          <a:bodyPr wrap="square" lIns="73152" rIns="73152" anchor="t">
            <a:spAutoFit/>
          </a:bodyPr>
          <a:lstStyle/>
          <a:p>
            <a:pPr algn="l"/>
            <a:r>
              <a:rPr sz="900" b="1">
                <a:solidFill>
                  <a:srgbClr val="529CFF"/>
                </a:solidFill>
                <a:latin typeface="Aptos"/>
              </a:rPr>
              <a:t>FOUNDATION</a:t>
            </a:r>
          </a:p>
        </p:txBody>
      </p:sp>
      <p:sp>
        <p:nvSpPr>
          <p:cNvPr id="11" name="TextBox 10"/>
          <p:cNvSpPr txBox="1"/>
          <p:nvPr/>
        </p:nvSpPr>
        <p:spPr>
          <a:xfrm>
            <a:off x="6291072" y="1993392"/>
            <a:ext cx="1828800" cy="274320"/>
          </a:xfrm>
          <a:prstGeom prst="rect">
            <a:avLst/>
          </a:prstGeom>
          <a:noFill/>
        </p:spPr>
        <p:txBody>
          <a:bodyPr wrap="square" lIns="73152" rIns="73152" anchor="t">
            <a:spAutoFit/>
          </a:bodyPr>
          <a:lstStyle/>
          <a:p>
            <a:pPr algn="l"/>
            <a:r>
              <a:rPr sz="1100" b="1">
                <a:solidFill>
                  <a:srgbClr val="4FD6CF"/>
                </a:solidFill>
                <a:latin typeface="Aptos"/>
              </a:rPr>
              <a:t>NOW</a:t>
            </a:r>
          </a:p>
        </p:txBody>
      </p:sp>
      <p:sp>
        <p:nvSpPr>
          <p:cNvPr id="12" name="TextBox 11"/>
          <p:cNvSpPr txBox="1"/>
          <p:nvPr/>
        </p:nvSpPr>
        <p:spPr>
          <a:xfrm>
            <a:off x="6291072" y="2304288"/>
            <a:ext cx="4754880" cy="365760"/>
          </a:xfrm>
          <a:prstGeom prst="rect">
            <a:avLst/>
          </a:prstGeom>
          <a:noFill/>
        </p:spPr>
        <p:txBody>
          <a:bodyPr wrap="square" lIns="73152" rIns="73152" anchor="t">
            <a:spAutoFit/>
          </a:bodyPr>
          <a:lstStyle/>
          <a:p>
            <a:pPr algn="l"/>
            <a:r>
              <a:rPr sz="1900" b="1">
                <a:solidFill>
                  <a:srgbClr val="F1F6FC"/>
                </a:solidFill>
                <a:latin typeface="Aptos"/>
              </a:rPr>
              <a:t>A complete security command center</a:t>
            </a:r>
          </a:p>
        </p:txBody>
      </p:sp>
      <p:sp>
        <p:nvSpPr>
          <p:cNvPr id="13" name="TextBox 12"/>
          <p:cNvSpPr txBox="1"/>
          <p:nvPr/>
        </p:nvSpPr>
        <p:spPr>
          <a:xfrm>
            <a:off x="6327648" y="2889504"/>
            <a:ext cx="4892040" cy="2606040"/>
          </a:xfrm>
          <a:prstGeom prst="rect">
            <a:avLst/>
          </a:prstGeom>
          <a:noFill/>
        </p:spPr>
        <p:txBody>
          <a:bodyPr wrap="square" lIns="73152" rIns="73152" anchor="t">
            <a:spAutoFit/>
          </a:bodyPr>
          <a:lstStyle/>
          <a:p>
            <a:pPr algn="l"/>
            <a:r>
              <a:rPr sz="1400" b="0">
                <a:solidFill>
                  <a:srgbClr val="F1F6FC"/>
                </a:solidFill>
                <a:latin typeface="Aptos"/>
              </a:rPr>
              <a:t>•  Live animated command-center dashboard with run metrics
•  Public GitHub repository ingestion and evidence indexing
•  Standalone live code review for PII, secrets, and remediation
•  Persistent Gemini configuration via backend/.env
•  Reliable browser voice input with live transcript capture
•  Responsive UI with live activity states and workflow feedback</a:t>
            </a:r>
          </a:p>
        </p:txBody>
      </p:sp>
      <p:sp>
        <p:nvSpPr>
          <p:cNvPr id="14" name="TextBox 13"/>
          <p:cNvSpPr txBox="1"/>
          <p:nvPr/>
        </p:nvSpPr>
        <p:spPr>
          <a:xfrm>
            <a:off x="6291072" y="5376672"/>
            <a:ext cx="1828800" cy="228600"/>
          </a:xfrm>
          <a:prstGeom prst="rect">
            <a:avLst/>
          </a:prstGeom>
          <a:noFill/>
        </p:spPr>
        <p:txBody>
          <a:bodyPr wrap="square" lIns="73152" rIns="73152" anchor="t">
            <a:spAutoFit/>
          </a:bodyPr>
          <a:lstStyle/>
          <a:p>
            <a:pPr algn="l"/>
            <a:r>
              <a:rPr sz="900" b="1">
                <a:solidFill>
                  <a:srgbClr val="47CF89"/>
                </a:solidFill>
                <a:latin typeface="Aptos"/>
              </a:rPr>
              <a:t>SHIPPED</a:t>
            </a:r>
          </a:p>
        </p:txBody>
      </p:sp>
      <p:sp>
        <p:nvSpPr>
          <p:cNvPr id="15" name="TextBox 14"/>
          <p:cNvSpPr txBox="1"/>
          <p:nvPr/>
        </p:nvSpPr>
        <p:spPr>
          <a:xfrm>
            <a:off x="685800" y="6272784"/>
            <a:ext cx="10789920" cy="320040"/>
          </a:xfrm>
          <a:prstGeom prst="rect">
            <a:avLst/>
          </a:prstGeom>
          <a:noFill/>
        </p:spPr>
        <p:txBody>
          <a:bodyPr wrap="square" lIns="73152" rIns="73152" anchor="t">
            <a:spAutoFit/>
          </a:bodyPr>
          <a:lstStyle/>
          <a:p>
            <a:pPr algn="ctr"/>
            <a:r>
              <a:rPr sz="1300" b="1">
                <a:solidFill>
                  <a:srgbClr val="F1F6FC"/>
                </a:solidFill>
                <a:latin typeface="Aptos"/>
              </a:rPr>
              <a:t>The core principle stayed the same: every AI-assisted change remains evidence-grounded, policy-checked, explainable, and auditable.</a:t>
            </a:r>
          </a:p>
        </p:txBody>
      </p:sp>
      <p:sp>
        <p:nvSpPr>
          <p:cNvPr id="16" name="TextBox 15"/>
          <p:cNvSpPr txBox="1"/>
          <p:nvPr/>
        </p:nvSpPr>
        <p:spPr>
          <a:xfrm>
            <a:off x="502920" y="6629400"/>
            <a:ext cx="3657600" cy="182880"/>
          </a:xfrm>
          <a:prstGeom prst="rect">
            <a:avLst/>
          </a:prstGeom>
          <a:noFill/>
        </p:spPr>
        <p:txBody>
          <a:bodyPr wrap="square" lIns="73152" rIns="73152" anchor="t">
            <a:spAutoFit/>
          </a:bodyPr>
          <a:lstStyle/>
          <a:p>
            <a:pPr algn="l"/>
            <a:r>
              <a:rPr sz="800" b="0">
                <a:solidFill>
                  <a:srgbClr val="A6B7CC"/>
                </a:solidFill>
                <a:latin typeface="Aptos"/>
              </a:rPr>
              <a:t>KAVACH  •  Product evolution</a:t>
            </a:r>
          </a:p>
        </p:txBody>
      </p:sp>
      <p:sp>
        <p:nvSpPr>
          <p:cNvPr id="17" name="TextBox 16"/>
          <p:cNvSpPr txBox="1"/>
          <p:nvPr/>
        </p:nvSpPr>
        <p:spPr>
          <a:xfrm>
            <a:off x="11247120" y="6583680"/>
            <a:ext cx="320040" cy="228600"/>
          </a:xfrm>
          <a:prstGeom prst="rect">
            <a:avLst/>
          </a:prstGeom>
          <a:noFill/>
        </p:spPr>
        <p:txBody>
          <a:bodyPr wrap="square" lIns="73152" rIns="73152" anchor="t">
            <a:spAutoFit/>
          </a:bodyPr>
          <a:lstStyle/>
          <a:p>
            <a:pPr algn="r"/>
            <a:r>
              <a:rPr sz="900" b="1">
                <a:solidFill>
                  <a:srgbClr val="A6B7CC"/>
                </a:solidFill>
                <a:latin typeface="Aptos"/>
              </a:rPr>
              <a:t>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171A21"/>
        </a:solidFill>
        <a:effectLst/>
      </p:bgPr>
    </p:bg>
    <p:spTree>
      <p:nvGrpSpPr>
        <p:cNvPr id="1" name=""/>
        <p:cNvGrpSpPr/>
        <p:nvPr/>
      </p:nvGrpSpPr>
      <p:grpSpPr>
        <a:xfrm>
          <a:off x="0" y="0"/>
          <a:ext cx="0" cy="0"/>
          <a:chOff x="0" y="0"/>
          <a:chExt cx="0" cy="0"/>
        </a:xfrm>
      </p:grpSpPr>
      <p:sp>
        <p:nvSpPr>
          <p:cNvPr id="2" name="Text 0"/>
          <p:cNvSpPr txBox="1"/>
          <p:nvPr/>
        </p:nvSpPr>
        <p:spPr>
          <a:xfrm>
            <a:off x="731520" y="1097280"/>
            <a:ext cx="10515600" cy="146304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AI assistance you can actually trust with real code.</a:t>
            </a:r>
            <a:endParaRPr lang="en-US" sz="4400" dirty="0"/>
          </a:p>
        </p:txBody>
      </p:sp>
      <p:sp>
        <p:nvSpPr>
          <p:cNvPr id="3" name="Shape 1"/>
          <p:cNvSpPr/>
          <p:nvPr/>
        </p:nvSpPr>
        <p:spPr>
          <a:xfrm>
            <a:off x="731520" y="3200400"/>
            <a:ext cx="3383280" cy="1737360"/>
          </a:xfrm>
          <a:prstGeom prst="roundRect">
            <a:avLst>
              <a:gd name="adj" fmla="val 6316"/>
            </a:avLst>
          </a:prstGeom>
          <a:solidFill>
            <a:srgbClr val="262B36"/>
          </a:solidFill>
          <a:ln w="12700">
            <a:solidFill>
              <a:srgbClr val="262B36"/>
            </a:solidFill>
            <a:prstDash val="solid"/>
          </a:ln>
        </p:spPr>
        <p:txBody>
          <a:bodyPr/>
          <a:lstStyle/>
          <a:p>
            <a:endParaRPr lang="en-IN"/>
          </a:p>
        </p:txBody>
      </p:sp>
      <p:sp>
        <p:nvSpPr>
          <p:cNvPr id="4" name="Text 2"/>
          <p:cNvSpPr txBox="1"/>
          <p:nvPr/>
        </p:nvSpPr>
        <p:spPr>
          <a:xfrm>
            <a:off x="1005840" y="3200400"/>
            <a:ext cx="2880360" cy="1737360"/>
          </a:xfrm>
          <a:prstGeom prst="rect">
            <a:avLst/>
          </a:prstGeom>
          <a:noFill/>
          <a:ln/>
        </p:spPr>
        <p:txBody>
          <a:bodyPr wrap="square" lIns="0" tIns="0" rIns="0" bIns="0" rtlCol="0" anchor="ctr"/>
          <a:lstStyle/>
          <a:p>
            <a:pPr marL="0" indent="0">
              <a:spcAft>
                <a:spcPts val="600"/>
              </a:spcAft>
              <a:buNone/>
            </a:pPr>
            <a:r>
              <a:rPr lang="en-US" sz="2400" b="1" dirty="0">
                <a:solidFill>
                  <a:srgbClr val="F5A524"/>
                </a:solidFill>
                <a:latin typeface="Cambria" pitchFamily="34" charset="0"/>
                <a:ea typeface="Cambria" pitchFamily="34" charset="-122"/>
                <a:cs typeface="Cambria" pitchFamily="34" charset="-120"/>
              </a:rPr>
              <a:t>Governed</a:t>
            </a:r>
            <a:endParaRPr lang="en-US" sz="2400" dirty="0"/>
          </a:p>
          <a:p>
            <a:pPr marL="0" indent="0">
              <a:buNone/>
            </a:pPr>
            <a:r>
              <a:rPr lang="en-US" sz="1500" dirty="0">
                <a:solidFill>
                  <a:srgbClr val="FFFFFF"/>
                </a:solidFill>
                <a:latin typeface="Calibri" pitchFamily="34" charset="0"/>
                <a:ea typeface="Calibri" pitchFamily="34" charset="-122"/>
                <a:cs typeface="Calibri" pitchFamily="34" charset="-120"/>
              </a:rPr>
              <a:t>Two security boundaries around every request</a:t>
            </a:r>
            <a:endParaRPr lang="en-US" sz="2400" dirty="0"/>
          </a:p>
        </p:txBody>
      </p:sp>
      <p:sp>
        <p:nvSpPr>
          <p:cNvPr id="5" name="Shape 3"/>
          <p:cNvSpPr/>
          <p:nvPr/>
        </p:nvSpPr>
        <p:spPr>
          <a:xfrm>
            <a:off x="4389120" y="3200400"/>
            <a:ext cx="3383280" cy="1737360"/>
          </a:xfrm>
          <a:prstGeom prst="roundRect">
            <a:avLst>
              <a:gd name="adj" fmla="val 6316"/>
            </a:avLst>
          </a:prstGeom>
          <a:solidFill>
            <a:srgbClr val="262B36"/>
          </a:solidFill>
          <a:ln w="12700">
            <a:solidFill>
              <a:srgbClr val="262B36"/>
            </a:solidFill>
            <a:prstDash val="solid"/>
          </a:ln>
        </p:spPr>
        <p:txBody>
          <a:bodyPr/>
          <a:lstStyle/>
          <a:p>
            <a:endParaRPr lang="en-IN"/>
          </a:p>
        </p:txBody>
      </p:sp>
      <p:sp>
        <p:nvSpPr>
          <p:cNvPr id="6" name="Text 4"/>
          <p:cNvSpPr txBox="1"/>
          <p:nvPr/>
        </p:nvSpPr>
        <p:spPr>
          <a:xfrm>
            <a:off x="4663440" y="3200400"/>
            <a:ext cx="2880360" cy="1737360"/>
          </a:xfrm>
          <a:prstGeom prst="rect">
            <a:avLst/>
          </a:prstGeom>
          <a:noFill/>
          <a:ln/>
        </p:spPr>
        <p:txBody>
          <a:bodyPr wrap="square" lIns="0" tIns="0" rIns="0" bIns="0" rtlCol="0" anchor="ctr"/>
          <a:lstStyle/>
          <a:p>
            <a:pPr marL="0" indent="0">
              <a:spcAft>
                <a:spcPts val="600"/>
              </a:spcAft>
              <a:buNone/>
            </a:pPr>
            <a:r>
              <a:rPr lang="en-US" sz="2400" b="1" dirty="0">
                <a:solidFill>
                  <a:srgbClr val="F5A524"/>
                </a:solidFill>
                <a:latin typeface="Cambria" pitchFamily="34" charset="0"/>
                <a:ea typeface="Cambria" pitchFamily="34" charset="-122"/>
                <a:cs typeface="Cambria" pitchFamily="34" charset="-120"/>
              </a:rPr>
              <a:t>Grounded</a:t>
            </a:r>
            <a:endParaRPr lang="en-US" sz="2400" dirty="0"/>
          </a:p>
          <a:p>
            <a:pPr marL="0" indent="0">
              <a:buNone/>
            </a:pPr>
            <a:r>
              <a:rPr lang="en-US" sz="1500" dirty="0">
                <a:solidFill>
                  <a:srgbClr val="FFFFFF"/>
                </a:solidFill>
                <a:latin typeface="Calibri" pitchFamily="34" charset="0"/>
                <a:ea typeface="Calibri" pitchFamily="34" charset="-122"/>
                <a:cs typeface="Calibri" pitchFamily="34" charset="-120"/>
              </a:rPr>
              <a:t>Generation tied to real repository evidence</a:t>
            </a:r>
            <a:endParaRPr lang="en-US" sz="2400" dirty="0"/>
          </a:p>
        </p:txBody>
      </p:sp>
      <p:sp>
        <p:nvSpPr>
          <p:cNvPr id="7" name="Shape 5"/>
          <p:cNvSpPr/>
          <p:nvPr/>
        </p:nvSpPr>
        <p:spPr>
          <a:xfrm>
            <a:off x="8046720" y="3200400"/>
            <a:ext cx="3383280" cy="1737360"/>
          </a:xfrm>
          <a:prstGeom prst="roundRect">
            <a:avLst>
              <a:gd name="adj" fmla="val 6316"/>
            </a:avLst>
          </a:prstGeom>
          <a:solidFill>
            <a:srgbClr val="262B36"/>
          </a:solidFill>
          <a:ln w="12700">
            <a:solidFill>
              <a:srgbClr val="262B36"/>
            </a:solidFill>
            <a:prstDash val="solid"/>
          </a:ln>
        </p:spPr>
        <p:txBody>
          <a:bodyPr/>
          <a:lstStyle/>
          <a:p>
            <a:endParaRPr lang="en-IN"/>
          </a:p>
        </p:txBody>
      </p:sp>
      <p:sp>
        <p:nvSpPr>
          <p:cNvPr id="8" name="Text 6"/>
          <p:cNvSpPr txBox="1"/>
          <p:nvPr/>
        </p:nvSpPr>
        <p:spPr>
          <a:xfrm>
            <a:off x="8321040" y="3200400"/>
            <a:ext cx="2880360" cy="1737360"/>
          </a:xfrm>
          <a:prstGeom prst="rect">
            <a:avLst/>
          </a:prstGeom>
          <a:noFill/>
          <a:ln/>
        </p:spPr>
        <p:txBody>
          <a:bodyPr wrap="square" lIns="0" tIns="0" rIns="0" bIns="0" rtlCol="0" anchor="ctr"/>
          <a:lstStyle/>
          <a:p>
            <a:pPr marL="0" indent="0">
              <a:spcAft>
                <a:spcPts val="600"/>
              </a:spcAft>
              <a:buNone/>
            </a:pPr>
            <a:r>
              <a:rPr lang="en-US" sz="2400" b="1" dirty="0">
                <a:solidFill>
                  <a:srgbClr val="F5A524"/>
                </a:solidFill>
                <a:latin typeface="Cambria" pitchFamily="34" charset="0"/>
                <a:ea typeface="Cambria" pitchFamily="34" charset="-122"/>
                <a:cs typeface="Cambria" pitchFamily="34" charset="-120"/>
              </a:rPr>
              <a:t>Auditable</a:t>
            </a:r>
            <a:endParaRPr lang="en-US" sz="2400" dirty="0"/>
          </a:p>
          <a:p>
            <a:pPr marL="0" indent="0">
              <a:buNone/>
            </a:pPr>
            <a:r>
              <a:rPr lang="en-US" sz="1500" dirty="0">
                <a:solidFill>
                  <a:srgbClr val="FFFFFF"/>
                </a:solidFill>
                <a:latin typeface="Calibri" pitchFamily="34" charset="0"/>
                <a:ea typeface="Calibri" pitchFamily="34" charset="-122"/>
                <a:cs typeface="Calibri" pitchFamily="34" charset="-120"/>
              </a:rPr>
              <a:t>Every decision traced, every change gated</a:t>
            </a:r>
            <a:endParaRPr lang="en-US" sz="2400" dirty="0"/>
          </a:p>
        </p:txBody>
      </p:sp>
      <p:sp>
        <p:nvSpPr>
          <p:cNvPr id="9" name="Text 7"/>
          <p:cNvSpPr txBox="1"/>
          <p:nvPr/>
        </p:nvSpPr>
        <p:spPr>
          <a:xfrm>
            <a:off x="731520" y="5486400"/>
            <a:ext cx="7315200" cy="548640"/>
          </a:xfrm>
          <a:prstGeom prst="rect">
            <a:avLst/>
          </a:prstGeom>
          <a:noFill/>
          <a:ln/>
        </p:spPr>
        <p:txBody>
          <a:bodyPr wrap="square" lIns="0" tIns="0" rIns="0" bIns="0" rtlCol="0" anchor="ctr"/>
          <a:lstStyle/>
          <a:p>
            <a:pPr marL="0" indent="0">
              <a:buNone/>
            </a:pPr>
            <a:r>
              <a:rPr lang="en-US" sz="2200" b="1" dirty="0">
                <a:solidFill>
                  <a:srgbClr val="F5A524"/>
                </a:solidFill>
                <a:latin typeface="Calibri" pitchFamily="34" charset="0"/>
                <a:ea typeface="Calibri" pitchFamily="34" charset="-122"/>
                <a:cs typeface="Calibri" pitchFamily="34" charset="-120"/>
              </a:rPr>
              <a:t>Thank you  |  Questions?</a:t>
            </a:r>
            <a:endParaRPr lang="en-US" sz="22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56032"/>
            <a:ext cx="7315200" cy="219456"/>
          </a:xfrm>
          <a:prstGeom prst="rect">
            <a:avLst/>
          </a:prstGeom>
          <a:noFill/>
        </p:spPr>
        <p:txBody>
          <a:bodyPr wrap="square" lIns="64008" rIns="64008" anchor="t">
            <a:spAutoFit/>
          </a:bodyPr>
          <a:lstStyle/>
          <a:p>
            <a:pPr algn="l"/>
            <a:r>
              <a:rPr sz="900" b="1">
                <a:solidFill>
                  <a:srgbClr val="4FD6CF"/>
                </a:solidFill>
                <a:latin typeface="Aptos"/>
              </a:rPr>
              <a:t>KAVACH  /  NEW ADDITIONS</a:t>
            </a:r>
          </a:p>
        </p:txBody>
      </p:sp>
      <p:sp>
        <p:nvSpPr>
          <p:cNvPr id="3" name="TextBox 2"/>
          <p:cNvSpPr txBox="1"/>
          <p:nvPr/>
        </p:nvSpPr>
        <p:spPr>
          <a:xfrm>
            <a:off x="11201400" y="6583680"/>
            <a:ext cx="365760" cy="201168"/>
          </a:xfrm>
          <a:prstGeom prst="rect">
            <a:avLst/>
          </a:prstGeom>
          <a:noFill/>
        </p:spPr>
        <p:txBody>
          <a:bodyPr wrap="square" lIns="64008" rIns="64008" anchor="t">
            <a:spAutoFit/>
          </a:bodyPr>
          <a:lstStyle/>
          <a:p>
            <a:pPr algn="r"/>
            <a:r>
              <a:rPr sz="900" b="1">
                <a:solidFill>
                  <a:srgbClr val="A6B7CC"/>
                </a:solidFill>
                <a:latin typeface="Aptos"/>
              </a:rPr>
              <a:t>25</a:t>
            </a:r>
          </a:p>
        </p:txBody>
      </p:sp>
      <p:sp>
        <p:nvSpPr>
          <p:cNvPr id="4" name="TextBox 3"/>
          <p:cNvSpPr txBox="1"/>
          <p:nvPr/>
        </p:nvSpPr>
        <p:spPr>
          <a:xfrm>
            <a:off x="502920" y="658368"/>
            <a:ext cx="10972800" cy="475488"/>
          </a:xfrm>
          <a:prstGeom prst="rect">
            <a:avLst/>
          </a:prstGeom>
          <a:noFill/>
        </p:spPr>
        <p:txBody>
          <a:bodyPr wrap="square" lIns="64008" rIns="64008" anchor="t">
            <a:spAutoFit/>
          </a:bodyPr>
          <a:lstStyle/>
          <a:p>
            <a:pPr algn="l"/>
            <a:r>
              <a:rPr sz="2500" b="1">
                <a:solidFill>
                  <a:srgbClr val="F1F6FC"/>
                </a:solidFill>
                <a:latin typeface="Aptos"/>
              </a:rPr>
              <a:t>What shipped today</a:t>
            </a:r>
          </a:p>
        </p:txBody>
      </p:sp>
      <p:sp>
        <p:nvSpPr>
          <p:cNvPr id="5" name="TextBox 4"/>
          <p:cNvSpPr txBox="1"/>
          <p:nvPr/>
        </p:nvSpPr>
        <p:spPr>
          <a:xfrm>
            <a:off x="502920" y="1207008"/>
            <a:ext cx="10789920" cy="292608"/>
          </a:xfrm>
          <a:prstGeom prst="rect">
            <a:avLst/>
          </a:prstGeom>
          <a:noFill/>
        </p:spPr>
        <p:txBody>
          <a:bodyPr wrap="square" lIns="64008" rIns="64008" anchor="t">
            <a:spAutoFit/>
          </a:bodyPr>
          <a:lstStyle/>
          <a:p>
            <a:pPr algn="l"/>
            <a:r>
              <a:rPr sz="1100" b="0">
                <a:solidFill>
                  <a:srgbClr val="A6B7CC"/>
                </a:solidFill>
                <a:latin typeface="Aptos"/>
              </a:rPr>
              <a:t>KAVACH moved from a capable prototype to a multi-entry security workspace.</a:t>
            </a:r>
          </a:p>
        </p:txBody>
      </p:sp>
      <p:sp>
        <p:nvSpPr>
          <p:cNvPr id="6" name="Rounded Rectangle 5"/>
          <p:cNvSpPr/>
          <p:nvPr/>
        </p:nvSpPr>
        <p:spPr>
          <a:xfrm>
            <a:off x="594360" y="1737360"/>
            <a:ext cx="10972800" cy="621792"/>
          </a:xfrm>
          <a:prstGeom prst="roundRect">
            <a:avLst/>
          </a:prstGeom>
          <a:solidFill>
            <a:srgbClr val="141F34"/>
          </a:solidFill>
          <a:ln w="12700">
            <a:solidFill>
              <a:srgbClr val="365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883664"/>
            <a:ext cx="384048" cy="228600"/>
          </a:xfrm>
          <a:prstGeom prst="rect">
            <a:avLst/>
          </a:prstGeom>
          <a:noFill/>
        </p:spPr>
        <p:txBody>
          <a:bodyPr wrap="square" lIns="64008" rIns="64008" anchor="t">
            <a:spAutoFit/>
          </a:bodyPr>
          <a:lstStyle/>
          <a:p>
            <a:pPr algn="l"/>
            <a:r>
              <a:rPr sz="1200" b="1">
                <a:solidFill>
                  <a:srgbClr val="4FD6CF"/>
                </a:solidFill>
                <a:latin typeface="Aptos"/>
              </a:rPr>
              <a:t>01</a:t>
            </a:r>
          </a:p>
        </p:txBody>
      </p:sp>
      <p:sp>
        <p:nvSpPr>
          <p:cNvPr id="8" name="TextBox 7"/>
          <p:cNvSpPr txBox="1"/>
          <p:nvPr/>
        </p:nvSpPr>
        <p:spPr>
          <a:xfrm>
            <a:off x="1389888" y="1847088"/>
            <a:ext cx="2743200" cy="246888"/>
          </a:xfrm>
          <a:prstGeom prst="rect">
            <a:avLst/>
          </a:prstGeom>
          <a:noFill/>
        </p:spPr>
        <p:txBody>
          <a:bodyPr wrap="square" lIns="64008" rIns="64008" anchor="t">
            <a:spAutoFit/>
          </a:bodyPr>
          <a:lstStyle/>
          <a:p>
            <a:pPr algn="l"/>
            <a:r>
              <a:rPr sz="1400" b="1">
                <a:solidFill>
                  <a:srgbClr val="F1F6FC"/>
                </a:solidFill>
                <a:latin typeface="Aptos"/>
              </a:rPr>
              <a:t>Security Command Center</a:t>
            </a:r>
          </a:p>
        </p:txBody>
      </p:sp>
      <p:sp>
        <p:nvSpPr>
          <p:cNvPr id="9" name="TextBox 8"/>
          <p:cNvSpPr txBox="1"/>
          <p:nvPr/>
        </p:nvSpPr>
        <p:spPr>
          <a:xfrm>
            <a:off x="4297680" y="1847088"/>
            <a:ext cx="6812280" cy="320040"/>
          </a:xfrm>
          <a:prstGeom prst="rect">
            <a:avLst/>
          </a:prstGeom>
          <a:noFill/>
        </p:spPr>
        <p:txBody>
          <a:bodyPr wrap="square" lIns="64008" rIns="64008" anchor="t">
            <a:spAutoFit/>
          </a:bodyPr>
          <a:lstStyle/>
          <a:p>
            <a:pPr algn="l"/>
            <a:r>
              <a:rPr sz="1100" b="0">
                <a:solidFill>
                  <a:srgbClr val="A6B7CC"/>
                </a:solidFill>
                <a:latin typeface="Aptos"/>
              </a:rPr>
              <a:t>Live metrics, Gemini status, activity feed, heartbeat, responsive animated cards.</a:t>
            </a:r>
          </a:p>
        </p:txBody>
      </p:sp>
      <p:sp>
        <p:nvSpPr>
          <p:cNvPr id="10" name="Rounded Rectangle 9"/>
          <p:cNvSpPr/>
          <p:nvPr/>
        </p:nvSpPr>
        <p:spPr>
          <a:xfrm>
            <a:off x="594360" y="2560320"/>
            <a:ext cx="10972800" cy="621792"/>
          </a:xfrm>
          <a:prstGeom prst="roundRect">
            <a:avLst/>
          </a:prstGeom>
          <a:solidFill>
            <a:srgbClr val="123039"/>
          </a:solidFill>
          <a:ln w="12700">
            <a:solidFill>
              <a:srgbClr val="4FD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706624"/>
            <a:ext cx="384048" cy="228600"/>
          </a:xfrm>
          <a:prstGeom prst="rect">
            <a:avLst/>
          </a:prstGeom>
          <a:noFill/>
        </p:spPr>
        <p:txBody>
          <a:bodyPr wrap="square" lIns="64008" rIns="64008" anchor="t">
            <a:spAutoFit/>
          </a:bodyPr>
          <a:lstStyle/>
          <a:p>
            <a:pPr algn="l"/>
            <a:r>
              <a:rPr sz="1200" b="1">
                <a:solidFill>
                  <a:srgbClr val="4FD6CF"/>
                </a:solidFill>
                <a:latin typeface="Aptos"/>
              </a:rPr>
              <a:t>02</a:t>
            </a:r>
          </a:p>
        </p:txBody>
      </p:sp>
      <p:sp>
        <p:nvSpPr>
          <p:cNvPr id="12" name="TextBox 11"/>
          <p:cNvSpPr txBox="1"/>
          <p:nvPr/>
        </p:nvSpPr>
        <p:spPr>
          <a:xfrm>
            <a:off x="1389888" y="2670048"/>
            <a:ext cx="2743200" cy="246888"/>
          </a:xfrm>
          <a:prstGeom prst="rect">
            <a:avLst/>
          </a:prstGeom>
          <a:noFill/>
        </p:spPr>
        <p:txBody>
          <a:bodyPr wrap="square" lIns="64008" rIns="64008" anchor="t">
            <a:spAutoFit/>
          </a:bodyPr>
          <a:lstStyle/>
          <a:p>
            <a:pPr algn="l"/>
            <a:r>
              <a:rPr sz="1400" b="1">
                <a:solidFill>
                  <a:srgbClr val="F1F6FC"/>
                </a:solidFill>
                <a:latin typeface="Aptos"/>
              </a:rPr>
              <a:t>GitHub Intelligence</a:t>
            </a:r>
          </a:p>
        </p:txBody>
      </p:sp>
      <p:sp>
        <p:nvSpPr>
          <p:cNvPr id="13" name="TextBox 12"/>
          <p:cNvSpPr txBox="1"/>
          <p:nvPr/>
        </p:nvSpPr>
        <p:spPr>
          <a:xfrm>
            <a:off x="4297680" y="2670048"/>
            <a:ext cx="6812280" cy="320040"/>
          </a:xfrm>
          <a:prstGeom prst="rect">
            <a:avLst/>
          </a:prstGeom>
          <a:noFill/>
        </p:spPr>
        <p:txBody>
          <a:bodyPr wrap="square" lIns="64008" rIns="64008" anchor="t">
            <a:spAutoFit/>
          </a:bodyPr>
          <a:lstStyle/>
          <a:p>
            <a:pPr algn="l"/>
            <a:r>
              <a:rPr sz="1100" b="0">
                <a:solidFill>
                  <a:srgbClr val="A6B7CC"/>
                </a:solidFill>
                <a:latin typeface="Aptos"/>
              </a:rPr>
              <a:t>Public repository tree retrieval, source scanning, chunking, and Qdrant indexing.</a:t>
            </a:r>
          </a:p>
        </p:txBody>
      </p:sp>
      <p:sp>
        <p:nvSpPr>
          <p:cNvPr id="14" name="Rounded Rectangle 13"/>
          <p:cNvSpPr/>
          <p:nvPr/>
        </p:nvSpPr>
        <p:spPr>
          <a:xfrm>
            <a:off x="594360" y="3383280"/>
            <a:ext cx="10972800" cy="621792"/>
          </a:xfrm>
          <a:prstGeom prst="roundRect">
            <a:avLst/>
          </a:prstGeom>
          <a:solidFill>
            <a:srgbClr val="141F34"/>
          </a:solidFill>
          <a:ln w="12700">
            <a:solidFill>
              <a:srgbClr val="365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3529584"/>
            <a:ext cx="384048" cy="228600"/>
          </a:xfrm>
          <a:prstGeom prst="rect">
            <a:avLst/>
          </a:prstGeom>
          <a:noFill/>
        </p:spPr>
        <p:txBody>
          <a:bodyPr wrap="square" lIns="64008" rIns="64008" anchor="t">
            <a:spAutoFit/>
          </a:bodyPr>
          <a:lstStyle/>
          <a:p>
            <a:pPr algn="l"/>
            <a:r>
              <a:rPr sz="1200" b="1">
                <a:solidFill>
                  <a:srgbClr val="4FD6CF"/>
                </a:solidFill>
                <a:latin typeface="Aptos"/>
              </a:rPr>
              <a:t>03</a:t>
            </a:r>
          </a:p>
        </p:txBody>
      </p:sp>
      <p:sp>
        <p:nvSpPr>
          <p:cNvPr id="16" name="TextBox 15"/>
          <p:cNvSpPr txBox="1"/>
          <p:nvPr/>
        </p:nvSpPr>
        <p:spPr>
          <a:xfrm>
            <a:off x="1389888" y="3493008"/>
            <a:ext cx="2743200" cy="246888"/>
          </a:xfrm>
          <a:prstGeom prst="rect">
            <a:avLst/>
          </a:prstGeom>
          <a:noFill/>
        </p:spPr>
        <p:txBody>
          <a:bodyPr wrap="square" lIns="64008" rIns="64008" anchor="t">
            <a:spAutoFit/>
          </a:bodyPr>
          <a:lstStyle/>
          <a:p>
            <a:pPr algn="l"/>
            <a:r>
              <a:rPr sz="1400" b="1">
                <a:solidFill>
                  <a:srgbClr val="F1F6FC"/>
                </a:solidFill>
                <a:latin typeface="Aptos"/>
              </a:rPr>
              <a:t>Live Code Review</a:t>
            </a:r>
          </a:p>
        </p:txBody>
      </p:sp>
      <p:sp>
        <p:nvSpPr>
          <p:cNvPr id="17" name="TextBox 16"/>
          <p:cNvSpPr txBox="1"/>
          <p:nvPr/>
        </p:nvSpPr>
        <p:spPr>
          <a:xfrm>
            <a:off x="4297680" y="3493008"/>
            <a:ext cx="6812280" cy="320040"/>
          </a:xfrm>
          <a:prstGeom prst="rect">
            <a:avLst/>
          </a:prstGeom>
          <a:noFill/>
        </p:spPr>
        <p:txBody>
          <a:bodyPr wrap="square" lIns="64008" rIns="64008" anchor="t">
            <a:spAutoFit/>
          </a:bodyPr>
          <a:lstStyle/>
          <a:p>
            <a:pPr algn="l"/>
            <a:r>
              <a:rPr sz="1100" b="0">
                <a:solidFill>
                  <a:srgbClr val="A6B7CC"/>
                </a:solidFill>
                <a:latin typeface="Aptos"/>
              </a:rPr>
              <a:t>Standalone PII and credential review with policy risk and remediation guidance.</a:t>
            </a:r>
          </a:p>
        </p:txBody>
      </p:sp>
      <p:sp>
        <p:nvSpPr>
          <p:cNvPr id="18" name="Rounded Rectangle 17"/>
          <p:cNvSpPr/>
          <p:nvPr/>
        </p:nvSpPr>
        <p:spPr>
          <a:xfrm>
            <a:off x="594360" y="4206240"/>
            <a:ext cx="10972800" cy="621792"/>
          </a:xfrm>
          <a:prstGeom prst="roundRect">
            <a:avLst/>
          </a:prstGeom>
          <a:solidFill>
            <a:srgbClr val="123039"/>
          </a:solidFill>
          <a:ln w="12700">
            <a:solidFill>
              <a:srgbClr val="365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352544"/>
            <a:ext cx="384048" cy="228600"/>
          </a:xfrm>
          <a:prstGeom prst="rect">
            <a:avLst/>
          </a:prstGeom>
          <a:noFill/>
        </p:spPr>
        <p:txBody>
          <a:bodyPr wrap="square" lIns="64008" rIns="64008" anchor="t">
            <a:spAutoFit/>
          </a:bodyPr>
          <a:lstStyle/>
          <a:p>
            <a:pPr algn="l"/>
            <a:r>
              <a:rPr sz="1200" b="1">
                <a:solidFill>
                  <a:srgbClr val="4FD6CF"/>
                </a:solidFill>
                <a:latin typeface="Aptos"/>
              </a:rPr>
              <a:t>04</a:t>
            </a:r>
          </a:p>
        </p:txBody>
      </p:sp>
      <p:sp>
        <p:nvSpPr>
          <p:cNvPr id="20" name="TextBox 19"/>
          <p:cNvSpPr txBox="1"/>
          <p:nvPr/>
        </p:nvSpPr>
        <p:spPr>
          <a:xfrm>
            <a:off x="1389888" y="4315968"/>
            <a:ext cx="2743200" cy="246888"/>
          </a:xfrm>
          <a:prstGeom prst="rect">
            <a:avLst/>
          </a:prstGeom>
          <a:noFill/>
        </p:spPr>
        <p:txBody>
          <a:bodyPr wrap="square" lIns="64008" rIns="64008" anchor="t">
            <a:spAutoFit/>
          </a:bodyPr>
          <a:lstStyle/>
          <a:p>
            <a:pPr algn="l"/>
            <a:r>
              <a:rPr sz="1400" b="1">
                <a:solidFill>
                  <a:srgbClr val="F1F6FC"/>
                </a:solidFill>
                <a:latin typeface="Aptos"/>
              </a:rPr>
              <a:t>Voice-first requests</a:t>
            </a:r>
          </a:p>
        </p:txBody>
      </p:sp>
      <p:sp>
        <p:nvSpPr>
          <p:cNvPr id="21" name="TextBox 20"/>
          <p:cNvSpPr txBox="1"/>
          <p:nvPr/>
        </p:nvSpPr>
        <p:spPr>
          <a:xfrm>
            <a:off x="4297680" y="4315968"/>
            <a:ext cx="6812280" cy="320040"/>
          </a:xfrm>
          <a:prstGeom prst="rect">
            <a:avLst/>
          </a:prstGeom>
          <a:noFill/>
        </p:spPr>
        <p:txBody>
          <a:bodyPr wrap="square" lIns="64008" rIns="64008" anchor="t">
            <a:spAutoFit/>
          </a:bodyPr>
          <a:lstStyle/>
          <a:p>
            <a:pPr algn="l"/>
            <a:r>
              <a:rPr sz="1100" b="0">
                <a:solidFill>
                  <a:srgbClr val="A6B7CC"/>
                </a:solidFill>
                <a:latin typeface="Aptos"/>
              </a:rPr>
              <a:t>Continuous browser recognition with interim transcript updates and clear error states.</a:t>
            </a:r>
          </a:p>
        </p:txBody>
      </p:sp>
      <p:sp>
        <p:nvSpPr>
          <p:cNvPr id="22" name="Rounded Rectangle 21"/>
          <p:cNvSpPr/>
          <p:nvPr/>
        </p:nvSpPr>
        <p:spPr>
          <a:xfrm>
            <a:off x="594360" y="5029200"/>
            <a:ext cx="10972800" cy="621792"/>
          </a:xfrm>
          <a:prstGeom prst="roundRect">
            <a:avLst/>
          </a:prstGeom>
          <a:solidFill>
            <a:srgbClr val="141F34"/>
          </a:solidFill>
          <a:ln w="12700">
            <a:solidFill>
              <a:srgbClr val="365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5175504"/>
            <a:ext cx="384048" cy="228600"/>
          </a:xfrm>
          <a:prstGeom prst="rect">
            <a:avLst/>
          </a:prstGeom>
          <a:noFill/>
        </p:spPr>
        <p:txBody>
          <a:bodyPr wrap="square" lIns="64008" rIns="64008" anchor="t">
            <a:spAutoFit/>
          </a:bodyPr>
          <a:lstStyle/>
          <a:p>
            <a:pPr algn="l"/>
            <a:r>
              <a:rPr sz="1200" b="1">
                <a:solidFill>
                  <a:srgbClr val="4FD6CF"/>
                </a:solidFill>
                <a:latin typeface="Aptos"/>
              </a:rPr>
              <a:t>05</a:t>
            </a:r>
          </a:p>
        </p:txBody>
      </p:sp>
      <p:sp>
        <p:nvSpPr>
          <p:cNvPr id="24" name="TextBox 23"/>
          <p:cNvSpPr txBox="1"/>
          <p:nvPr/>
        </p:nvSpPr>
        <p:spPr>
          <a:xfrm>
            <a:off x="1389888" y="5138928"/>
            <a:ext cx="2743200" cy="246888"/>
          </a:xfrm>
          <a:prstGeom prst="rect">
            <a:avLst/>
          </a:prstGeom>
          <a:noFill/>
        </p:spPr>
        <p:txBody>
          <a:bodyPr wrap="square" lIns="64008" rIns="64008" anchor="t">
            <a:spAutoFit/>
          </a:bodyPr>
          <a:lstStyle/>
          <a:p>
            <a:pPr algn="l"/>
            <a:r>
              <a:rPr sz="1400" b="1">
                <a:solidFill>
                  <a:srgbClr val="F1F6FC"/>
                </a:solidFill>
                <a:latin typeface="Aptos"/>
              </a:rPr>
              <a:t>Safer numeric policy</a:t>
            </a:r>
          </a:p>
        </p:txBody>
      </p:sp>
      <p:sp>
        <p:nvSpPr>
          <p:cNvPr id="25" name="TextBox 24"/>
          <p:cNvSpPr txBox="1"/>
          <p:nvPr/>
        </p:nvSpPr>
        <p:spPr>
          <a:xfrm>
            <a:off x="4297680" y="5138928"/>
            <a:ext cx="6812280" cy="320040"/>
          </a:xfrm>
          <a:prstGeom prst="rect">
            <a:avLst/>
          </a:prstGeom>
          <a:noFill/>
        </p:spPr>
        <p:txBody>
          <a:bodyPr wrap="square" lIns="64008" rIns="64008" anchor="t">
            <a:spAutoFit/>
          </a:bodyPr>
          <a:lstStyle/>
          <a:p>
            <a:pPr algn="l"/>
            <a:r>
              <a:rPr sz="1100" b="0">
                <a:solidFill>
                  <a:srgbClr val="A6B7CC"/>
                </a:solidFill>
                <a:latin typeface="Aptos"/>
              </a:rPr>
              <a:t>Context-free numbers are not automatically treated as sensitive identifiers.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56032"/>
            <a:ext cx="7315200" cy="219456"/>
          </a:xfrm>
          <a:prstGeom prst="rect">
            <a:avLst/>
          </a:prstGeom>
          <a:noFill/>
        </p:spPr>
        <p:txBody>
          <a:bodyPr wrap="square" lIns="64008" rIns="64008" anchor="t">
            <a:spAutoFit/>
          </a:bodyPr>
          <a:lstStyle/>
          <a:p>
            <a:pPr algn="l"/>
            <a:r>
              <a:rPr sz="900" b="1">
                <a:solidFill>
                  <a:srgbClr val="4FD6CF"/>
                </a:solidFill>
                <a:latin typeface="Aptos"/>
              </a:rPr>
              <a:t>KAVACH  /  NEW ADDITIONS</a:t>
            </a:r>
          </a:p>
        </p:txBody>
      </p:sp>
      <p:sp>
        <p:nvSpPr>
          <p:cNvPr id="3" name="TextBox 2"/>
          <p:cNvSpPr txBox="1"/>
          <p:nvPr/>
        </p:nvSpPr>
        <p:spPr>
          <a:xfrm>
            <a:off x="11201400" y="6583680"/>
            <a:ext cx="365760" cy="201168"/>
          </a:xfrm>
          <a:prstGeom prst="rect">
            <a:avLst/>
          </a:prstGeom>
          <a:noFill/>
        </p:spPr>
        <p:txBody>
          <a:bodyPr wrap="square" lIns="64008" rIns="64008" anchor="t">
            <a:spAutoFit/>
          </a:bodyPr>
          <a:lstStyle/>
          <a:p>
            <a:pPr algn="r"/>
            <a:r>
              <a:rPr sz="900" b="1">
                <a:solidFill>
                  <a:srgbClr val="A6B7CC"/>
                </a:solidFill>
                <a:latin typeface="Aptos"/>
              </a:rPr>
              <a:t>26</a:t>
            </a:r>
          </a:p>
        </p:txBody>
      </p:sp>
      <p:sp>
        <p:nvSpPr>
          <p:cNvPr id="4" name="TextBox 3"/>
          <p:cNvSpPr txBox="1"/>
          <p:nvPr/>
        </p:nvSpPr>
        <p:spPr>
          <a:xfrm>
            <a:off x="502920" y="658368"/>
            <a:ext cx="10972800" cy="475488"/>
          </a:xfrm>
          <a:prstGeom prst="rect">
            <a:avLst/>
          </a:prstGeom>
          <a:noFill/>
        </p:spPr>
        <p:txBody>
          <a:bodyPr wrap="square" lIns="64008" rIns="64008" anchor="t">
            <a:spAutoFit/>
          </a:bodyPr>
          <a:lstStyle/>
          <a:p>
            <a:pPr algn="l"/>
            <a:r>
              <a:rPr sz="2500" b="1">
                <a:solidFill>
                  <a:srgbClr val="F1F6FC"/>
                </a:solidFill>
                <a:latin typeface="Aptos"/>
              </a:rPr>
              <a:t>Before vs after: the product evolution</a:t>
            </a:r>
          </a:p>
        </p:txBody>
      </p:sp>
      <p:sp>
        <p:nvSpPr>
          <p:cNvPr id="5" name="TextBox 4"/>
          <p:cNvSpPr txBox="1"/>
          <p:nvPr/>
        </p:nvSpPr>
        <p:spPr>
          <a:xfrm>
            <a:off x="502920" y="1207008"/>
            <a:ext cx="10789920" cy="292608"/>
          </a:xfrm>
          <a:prstGeom prst="rect">
            <a:avLst/>
          </a:prstGeom>
          <a:noFill/>
        </p:spPr>
        <p:txBody>
          <a:bodyPr wrap="square" lIns="64008" rIns="64008" anchor="t">
            <a:spAutoFit/>
          </a:bodyPr>
          <a:lstStyle/>
          <a:p>
            <a:pPr algn="l"/>
            <a:r>
              <a:rPr sz="1100" b="0">
                <a:solidFill>
                  <a:srgbClr val="A6B7CC"/>
                </a:solidFill>
                <a:latin typeface="Aptos"/>
              </a:rPr>
              <a:t>The security core remains stable; the product surface is now broader, clearer, and easier to operate.</a:t>
            </a:r>
          </a:p>
        </p:txBody>
      </p:sp>
      <p:sp>
        <p:nvSpPr>
          <p:cNvPr id="6" name="Rounded Rectangle 5"/>
          <p:cNvSpPr/>
          <p:nvPr/>
        </p:nvSpPr>
        <p:spPr>
          <a:xfrm>
            <a:off x="594360" y="1691640"/>
            <a:ext cx="5257800" cy="4343400"/>
          </a:xfrm>
          <a:prstGeom prst="roundRect">
            <a:avLst/>
          </a:prstGeom>
          <a:solidFill>
            <a:srgbClr val="1B2333"/>
          </a:solidFill>
          <a:ln w="12700">
            <a:solidFill>
              <a:srgbClr val="5762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89320" y="1691640"/>
            <a:ext cx="5577840" cy="4343400"/>
          </a:xfrm>
          <a:prstGeom prst="roundRect">
            <a:avLst/>
          </a:prstGeom>
          <a:solidFill>
            <a:srgbClr val="123039"/>
          </a:solidFill>
          <a:ln w="12700">
            <a:solidFill>
              <a:srgbClr val="4FD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65960"/>
            <a:ext cx="2743200" cy="228600"/>
          </a:xfrm>
          <a:prstGeom prst="rect">
            <a:avLst/>
          </a:prstGeom>
          <a:noFill/>
        </p:spPr>
        <p:txBody>
          <a:bodyPr wrap="square" lIns="64008" rIns="64008" anchor="t">
            <a:spAutoFit/>
          </a:bodyPr>
          <a:lstStyle/>
          <a:p>
            <a:pPr algn="l"/>
            <a:r>
              <a:rPr sz="1000" b="1">
                <a:solidFill>
                  <a:srgbClr val="F6B54A"/>
                </a:solidFill>
                <a:latin typeface="Aptos"/>
              </a:rPr>
              <a:t>EARLIER BASELINE</a:t>
            </a:r>
          </a:p>
        </p:txBody>
      </p:sp>
      <p:sp>
        <p:nvSpPr>
          <p:cNvPr id="9" name="TextBox 8"/>
          <p:cNvSpPr txBox="1"/>
          <p:nvPr/>
        </p:nvSpPr>
        <p:spPr>
          <a:xfrm>
            <a:off x="868680" y="2286000"/>
            <a:ext cx="4206240" cy="347472"/>
          </a:xfrm>
          <a:prstGeom prst="rect">
            <a:avLst/>
          </a:prstGeom>
          <a:noFill/>
        </p:spPr>
        <p:txBody>
          <a:bodyPr wrap="square" lIns="64008" rIns="64008" anchor="t">
            <a:spAutoFit/>
          </a:bodyPr>
          <a:lstStyle/>
          <a:p>
            <a:pPr algn="l"/>
            <a:r>
              <a:rPr sz="1900" b="1">
                <a:solidFill>
                  <a:srgbClr val="F1F6FC"/>
                </a:solidFill>
                <a:latin typeface="Aptos"/>
              </a:rPr>
              <a:t>Governed workflow prototype</a:t>
            </a:r>
          </a:p>
        </p:txBody>
      </p:sp>
      <p:sp>
        <p:nvSpPr>
          <p:cNvPr id="10" name="TextBox 9"/>
          <p:cNvSpPr txBox="1"/>
          <p:nvPr/>
        </p:nvSpPr>
        <p:spPr>
          <a:xfrm>
            <a:off x="914400" y="2880360"/>
            <a:ext cx="4343400" cy="2377440"/>
          </a:xfrm>
          <a:prstGeom prst="rect">
            <a:avLst/>
          </a:prstGeom>
          <a:noFill/>
        </p:spPr>
        <p:txBody>
          <a:bodyPr wrap="square" lIns="64008" rIns="64008" anchor="t">
            <a:spAutoFit/>
          </a:bodyPr>
          <a:lstStyle/>
          <a:p>
            <a:pPr algn="l"/>
            <a:r>
              <a:rPr sz="1400" b="0">
                <a:solidFill>
                  <a:srgbClr val="A6B7CC"/>
                </a:solidFill>
                <a:latin typeface="Aptos"/>
              </a:rPr>
              <a:t>•  Local repository ingestion and RAG
•  Agent planning and orchestration
•  PII, secret, and policy checks
•  Impact analysis and grounded generation
•  Validation and workflow trace</a:t>
            </a:r>
          </a:p>
        </p:txBody>
      </p:sp>
      <p:sp>
        <p:nvSpPr>
          <p:cNvPr id="11" name="TextBox 10"/>
          <p:cNvSpPr txBox="1"/>
          <p:nvPr/>
        </p:nvSpPr>
        <p:spPr>
          <a:xfrm>
            <a:off x="6291072" y="1965960"/>
            <a:ext cx="2743200" cy="228600"/>
          </a:xfrm>
          <a:prstGeom prst="rect">
            <a:avLst/>
          </a:prstGeom>
          <a:noFill/>
        </p:spPr>
        <p:txBody>
          <a:bodyPr wrap="square" lIns="64008" rIns="64008" anchor="t">
            <a:spAutoFit/>
          </a:bodyPr>
          <a:lstStyle/>
          <a:p>
            <a:pPr algn="l"/>
            <a:r>
              <a:rPr sz="1000" b="1">
                <a:solidFill>
                  <a:srgbClr val="4FD6CF"/>
                </a:solidFill>
                <a:latin typeface="Aptos"/>
              </a:rPr>
              <a:t>CURRENT RELEASE</a:t>
            </a:r>
          </a:p>
        </p:txBody>
      </p:sp>
      <p:sp>
        <p:nvSpPr>
          <p:cNvPr id="12" name="TextBox 11"/>
          <p:cNvSpPr txBox="1"/>
          <p:nvPr/>
        </p:nvSpPr>
        <p:spPr>
          <a:xfrm>
            <a:off x="6291072" y="2286000"/>
            <a:ext cx="4206240" cy="347472"/>
          </a:xfrm>
          <a:prstGeom prst="rect">
            <a:avLst/>
          </a:prstGeom>
          <a:noFill/>
        </p:spPr>
        <p:txBody>
          <a:bodyPr wrap="square" lIns="64008" rIns="64008" anchor="t">
            <a:spAutoFit/>
          </a:bodyPr>
          <a:lstStyle/>
          <a:p>
            <a:pPr algn="l"/>
            <a:r>
              <a:rPr sz="1900" b="1">
                <a:solidFill>
                  <a:srgbClr val="F1F6FC"/>
                </a:solidFill>
                <a:latin typeface="Aptos"/>
              </a:rPr>
              <a:t>Security command center</a:t>
            </a:r>
          </a:p>
        </p:txBody>
      </p:sp>
      <p:sp>
        <p:nvSpPr>
          <p:cNvPr id="13" name="TextBox 12"/>
          <p:cNvSpPr txBox="1"/>
          <p:nvPr/>
        </p:nvSpPr>
        <p:spPr>
          <a:xfrm>
            <a:off x="6336792" y="2880360"/>
            <a:ext cx="4709160" cy="2377440"/>
          </a:xfrm>
          <a:prstGeom prst="rect">
            <a:avLst/>
          </a:prstGeom>
          <a:noFill/>
        </p:spPr>
        <p:txBody>
          <a:bodyPr wrap="square" lIns="64008" rIns="64008" anchor="t">
            <a:spAutoFit/>
          </a:bodyPr>
          <a:lstStyle/>
          <a:p>
            <a:pPr algn="l"/>
            <a:r>
              <a:rPr sz="1400" b="0">
                <a:solidFill>
                  <a:srgbClr val="F1F6FC"/>
                </a:solidFill>
                <a:latin typeface="Aptos"/>
              </a:rPr>
              <a:t>•  Multiple entry points: workflow, GitHub, code review
•  Live operational metrics and activity feedback
•  Persistent Gemini setup with safe status visibility
•  Voice requests with live transcript capture
•  Animated, responsive dashboard for real users</a:t>
            </a:r>
          </a:p>
        </p:txBody>
      </p:sp>
      <p:sp>
        <p:nvSpPr>
          <p:cNvPr id="14" name="TextBox 13"/>
          <p:cNvSpPr txBox="1"/>
          <p:nvPr/>
        </p:nvSpPr>
        <p:spPr>
          <a:xfrm>
            <a:off x="914400" y="6236208"/>
            <a:ext cx="10515600" cy="292608"/>
          </a:xfrm>
          <a:prstGeom prst="rect">
            <a:avLst/>
          </a:prstGeom>
          <a:noFill/>
        </p:spPr>
        <p:txBody>
          <a:bodyPr wrap="square" lIns="64008" rIns="64008" anchor="t">
            <a:spAutoFit/>
          </a:bodyPr>
          <a:lstStyle/>
          <a:p>
            <a:pPr algn="ctr"/>
            <a:r>
              <a:rPr sz="1400" b="1">
                <a:solidFill>
                  <a:srgbClr val="F1F6FC"/>
                </a:solidFill>
                <a:latin typeface="Aptos"/>
              </a:rPr>
              <a:t>Same governance principle. More usable product.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56032"/>
            <a:ext cx="7315200" cy="219456"/>
          </a:xfrm>
          <a:prstGeom prst="rect">
            <a:avLst/>
          </a:prstGeom>
          <a:noFill/>
        </p:spPr>
        <p:txBody>
          <a:bodyPr wrap="square" lIns="64008" rIns="64008" anchor="t">
            <a:spAutoFit/>
          </a:bodyPr>
          <a:lstStyle/>
          <a:p>
            <a:pPr algn="l"/>
            <a:r>
              <a:rPr sz="900" b="1">
                <a:solidFill>
                  <a:srgbClr val="4FD6CF"/>
                </a:solidFill>
                <a:latin typeface="Aptos"/>
              </a:rPr>
              <a:t>KAVACH  /  NEW ADDITIONS</a:t>
            </a:r>
          </a:p>
        </p:txBody>
      </p:sp>
      <p:sp>
        <p:nvSpPr>
          <p:cNvPr id="3" name="TextBox 2"/>
          <p:cNvSpPr txBox="1"/>
          <p:nvPr/>
        </p:nvSpPr>
        <p:spPr>
          <a:xfrm>
            <a:off x="11201400" y="6583680"/>
            <a:ext cx="365760" cy="201168"/>
          </a:xfrm>
          <a:prstGeom prst="rect">
            <a:avLst/>
          </a:prstGeom>
          <a:noFill/>
        </p:spPr>
        <p:txBody>
          <a:bodyPr wrap="square" lIns="64008" rIns="64008" anchor="t">
            <a:spAutoFit/>
          </a:bodyPr>
          <a:lstStyle/>
          <a:p>
            <a:pPr algn="r"/>
            <a:r>
              <a:rPr sz="900" b="1">
                <a:solidFill>
                  <a:srgbClr val="A6B7CC"/>
                </a:solidFill>
                <a:latin typeface="Aptos"/>
              </a:rPr>
              <a:t>27</a:t>
            </a:r>
          </a:p>
        </p:txBody>
      </p:sp>
      <p:sp>
        <p:nvSpPr>
          <p:cNvPr id="4" name="TextBox 3"/>
          <p:cNvSpPr txBox="1"/>
          <p:nvPr/>
        </p:nvSpPr>
        <p:spPr>
          <a:xfrm>
            <a:off x="502920" y="658368"/>
            <a:ext cx="10972800" cy="475488"/>
          </a:xfrm>
          <a:prstGeom prst="rect">
            <a:avLst/>
          </a:prstGeom>
          <a:noFill/>
        </p:spPr>
        <p:txBody>
          <a:bodyPr wrap="square" lIns="64008" rIns="64008" anchor="t">
            <a:spAutoFit/>
          </a:bodyPr>
          <a:lstStyle/>
          <a:p>
            <a:pPr algn="l"/>
            <a:r>
              <a:rPr sz="2500" b="1">
                <a:solidFill>
                  <a:srgbClr val="F1F6FC"/>
                </a:solidFill>
                <a:latin typeface="Aptos"/>
              </a:rPr>
              <a:t>The current KAVACH flow</a:t>
            </a:r>
          </a:p>
        </p:txBody>
      </p:sp>
      <p:sp>
        <p:nvSpPr>
          <p:cNvPr id="5" name="TextBox 4"/>
          <p:cNvSpPr txBox="1"/>
          <p:nvPr/>
        </p:nvSpPr>
        <p:spPr>
          <a:xfrm>
            <a:off x="502920" y="1207008"/>
            <a:ext cx="10789920" cy="292608"/>
          </a:xfrm>
          <a:prstGeom prst="rect">
            <a:avLst/>
          </a:prstGeom>
          <a:noFill/>
        </p:spPr>
        <p:txBody>
          <a:bodyPr wrap="square" lIns="64008" rIns="64008" anchor="t">
            <a:spAutoFit/>
          </a:bodyPr>
          <a:lstStyle/>
          <a:p>
            <a:pPr algn="l"/>
            <a:r>
              <a:rPr sz="1100" b="0">
                <a:solidFill>
                  <a:srgbClr val="A6B7CC"/>
                </a:solidFill>
                <a:latin typeface="Aptos"/>
              </a:rPr>
              <a:t>New interfaces feed the same security and policy engines instead of creating parallel logic.</a:t>
            </a:r>
          </a:p>
        </p:txBody>
      </p:sp>
      <p:sp>
        <p:nvSpPr>
          <p:cNvPr id="6" name="Rounded Rectangle 5"/>
          <p:cNvSpPr/>
          <p:nvPr/>
        </p:nvSpPr>
        <p:spPr>
          <a:xfrm>
            <a:off x="502920" y="2057400"/>
            <a:ext cx="1554480" cy="1600200"/>
          </a:xfrm>
          <a:prstGeom prst="roundRect">
            <a:avLst/>
          </a:prstGeom>
          <a:solidFill>
            <a:srgbClr val="141F34"/>
          </a:solidFill>
          <a:ln w="12700">
            <a:solidFill>
              <a:srgbClr val="529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313432"/>
            <a:ext cx="1280160" cy="228600"/>
          </a:xfrm>
          <a:prstGeom prst="rect">
            <a:avLst/>
          </a:prstGeom>
          <a:noFill/>
        </p:spPr>
        <p:txBody>
          <a:bodyPr wrap="square" lIns="64008" rIns="64008" anchor="t">
            <a:spAutoFit/>
          </a:bodyPr>
          <a:lstStyle/>
          <a:p>
            <a:pPr algn="ctr"/>
            <a:r>
              <a:rPr sz="1000" b="1">
                <a:solidFill>
                  <a:srgbClr val="529CFF"/>
                </a:solidFill>
                <a:latin typeface="Aptos"/>
              </a:rPr>
              <a:t>INPUT</a:t>
            </a:r>
          </a:p>
        </p:txBody>
      </p:sp>
      <p:sp>
        <p:nvSpPr>
          <p:cNvPr id="8" name="TextBox 7"/>
          <p:cNvSpPr txBox="1"/>
          <p:nvPr/>
        </p:nvSpPr>
        <p:spPr>
          <a:xfrm>
            <a:off x="612648" y="2743200"/>
            <a:ext cx="1335024" cy="594360"/>
          </a:xfrm>
          <a:prstGeom prst="rect">
            <a:avLst/>
          </a:prstGeom>
          <a:noFill/>
        </p:spPr>
        <p:txBody>
          <a:bodyPr wrap="square" lIns="64008" rIns="64008" anchor="t">
            <a:spAutoFit/>
          </a:bodyPr>
          <a:lstStyle/>
          <a:p>
            <a:pPr algn="ctr"/>
            <a:r>
              <a:rPr sz="1300" b="1">
                <a:solidFill>
                  <a:srgbClr val="F1F6FC"/>
                </a:solidFill>
                <a:latin typeface="Aptos"/>
              </a:rPr>
              <a:t>Developer request
Voice or text</a:t>
            </a:r>
          </a:p>
        </p:txBody>
      </p:sp>
      <p:sp>
        <p:nvSpPr>
          <p:cNvPr id="9" name="TextBox 8"/>
          <p:cNvSpPr txBox="1"/>
          <p:nvPr/>
        </p:nvSpPr>
        <p:spPr>
          <a:xfrm>
            <a:off x="2121408" y="2651760"/>
            <a:ext cx="274320" cy="365760"/>
          </a:xfrm>
          <a:prstGeom prst="rect">
            <a:avLst/>
          </a:prstGeom>
          <a:noFill/>
        </p:spPr>
        <p:txBody>
          <a:bodyPr wrap="square" lIns="64008" rIns="64008" anchor="t">
            <a:spAutoFit/>
          </a:bodyPr>
          <a:lstStyle/>
          <a:p>
            <a:pPr algn="ctr"/>
            <a:r>
              <a:rPr sz="1800" b="1">
                <a:solidFill>
                  <a:srgbClr val="A6B7CC"/>
                </a:solidFill>
                <a:latin typeface="Aptos"/>
              </a:rPr>
              <a:t>→</a:t>
            </a:r>
          </a:p>
        </p:txBody>
      </p:sp>
      <p:sp>
        <p:nvSpPr>
          <p:cNvPr id="10" name="Rounded Rectangle 9"/>
          <p:cNvSpPr/>
          <p:nvPr/>
        </p:nvSpPr>
        <p:spPr>
          <a:xfrm>
            <a:off x="2404872" y="2057400"/>
            <a:ext cx="1554480" cy="1600200"/>
          </a:xfrm>
          <a:prstGeom prst="roundRect">
            <a:avLst/>
          </a:prstGeom>
          <a:solidFill>
            <a:srgbClr val="141F34"/>
          </a:solidFill>
          <a:ln w="12700">
            <a:solidFill>
              <a:srgbClr val="4FD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42032" y="2313432"/>
            <a:ext cx="1280160" cy="228600"/>
          </a:xfrm>
          <a:prstGeom prst="rect">
            <a:avLst/>
          </a:prstGeom>
          <a:noFill/>
        </p:spPr>
        <p:txBody>
          <a:bodyPr wrap="square" lIns="64008" rIns="64008" anchor="t">
            <a:spAutoFit/>
          </a:bodyPr>
          <a:lstStyle/>
          <a:p>
            <a:pPr algn="ctr"/>
            <a:r>
              <a:rPr sz="1000" b="1">
                <a:solidFill>
                  <a:srgbClr val="4FD6CF"/>
                </a:solidFill>
                <a:latin typeface="Aptos"/>
              </a:rPr>
              <a:t>CONNECT</a:t>
            </a:r>
          </a:p>
        </p:txBody>
      </p:sp>
      <p:sp>
        <p:nvSpPr>
          <p:cNvPr id="12" name="TextBox 11"/>
          <p:cNvSpPr txBox="1"/>
          <p:nvPr/>
        </p:nvSpPr>
        <p:spPr>
          <a:xfrm>
            <a:off x="2514600" y="2743200"/>
            <a:ext cx="1335024" cy="594360"/>
          </a:xfrm>
          <a:prstGeom prst="rect">
            <a:avLst/>
          </a:prstGeom>
          <a:noFill/>
        </p:spPr>
        <p:txBody>
          <a:bodyPr wrap="square" lIns="64008" rIns="64008" anchor="t">
            <a:spAutoFit/>
          </a:bodyPr>
          <a:lstStyle/>
          <a:p>
            <a:pPr algn="ctr"/>
            <a:r>
              <a:rPr sz="1300" b="1">
                <a:solidFill>
                  <a:srgbClr val="F1F6FC"/>
                </a:solidFill>
                <a:latin typeface="Aptos"/>
              </a:rPr>
              <a:t>Local path or
public GitHub</a:t>
            </a:r>
          </a:p>
        </p:txBody>
      </p:sp>
      <p:sp>
        <p:nvSpPr>
          <p:cNvPr id="13" name="TextBox 12"/>
          <p:cNvSpPr txBox="1"/>
          <p:nvPr/>
        </p:nvSpPr>
        <p:spPr>
          <a:xfrm>
            <a:off x="4023360" y="2651760"/>
            <a:ext cx="274320" cy="365760"/>
          </a:xfrm>
          <a:prstGeom prst="rect">
            <a:avLst/>
          </a:prstGeom>
          <a:noFill/>
        </p:spPr>
        <p:txBody>
          <a:bodyPr wrap="square" lIns="64008" rIns="64008" anchor="t">
            <a:spAutoFit/>
          </a:bodyPr>
          <a:lstStyle/>
          <a:p>
            <a:pPr algn="ctr"/>
            <a:r>
              <a:rPr sz="1800" b="1">
                <a:solidFill>
                  <a:srgbClr val="A6B7CC"/>
                </a:solidFill>
                <a:latin typeface="Aptos"/>
              </a:rPr>
              <a:t>→</a:t>
            </a:r>
          </a:p>
        </p:txBody>
      </p:sp>
      <p:sp>
        <p:nvSpPr>
          <p:cNvPr id="14" name="Rounded Rectangle 13"/>
          <p:cNvSpPr/>
          <p:nvPr/>
        </p:nvSpPr>
        <p:spPr>
          <a:xfrm>
            <a:off x="4306824" y="2057400"/>
            <a:ext cx="1554480" cy="1600200"/>
          </a:xfrm>
          <a:prstGeom prst="roundRect">
            <a:avLst/>
          </a:prstGeom>
          <a:solidFill>
            <a:srgbClr val="141F34"/>
          </a:solidFill>
          <a:ln w="12700">
            <a:solidFill>
              <a:srgbClr val="F6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3984" y="2313432"/>
            <a:ext cx="1280160" cy="228600"/>
          </a:xfrm>
          <a:prstGeom prst="rect">
            <a:avLst/>
          </a:prstGeom>
          <a:noFill/>
        </p:spPr>
        <p:txBody>
          <a:bodyPr wrap="square" lIns="64008" rIns="64008" anchor="t">
            <a:spAutoFit/>
          </a:bodyPr>
          <a:lstStyle/>
          <a:p>
            <a:pPr algn="ctr"/>
            <a:r>
              <a:rPr sz="1000" b="1">
                <a:solidFill>
                  <a:srgbClr val="F6B54A"/>
                </a:solidFill>
                <a:latin typeface="Aptos"/>
              </a:rPr>
              <a:t>SCAN</a:t>
            </a:r>
          </a:p>
        </p:txBody>
      </p:sp>
      <p:sp>
        <p:nvSpPr>
          <p:cNvPr id="16" name="TextBox 15"/>
          <p:cNvSpPr txBox="1"/>
          <p:nvPr/>
        </p:nvSpPr>
        <p:spPr>
          <a:xfrm>
            <a:off x="4416552" y="2743200"/>
            <a:ext cx="1335024" cy="594360"/>
          </a:xfrm>
          <a:prstGeom prst="rect">
            <a:avLst/>
          </a:prstGeom>
          <a:noFill/>
        </p:spPr>
        <p:txBody>
          <a:bodyPr wrap="square" lIns="64008" rIns="64008" anchor="t">
            <a:spAutoFit/>
          </a:bodyPr>
          <a:lstStyle/>
          <a:p>
            <a:pPr algn="ctr"/>
            <a:r>
              <a:rPr sz="1300" b="1">
                <a:solidFill>
                  <a:srgbClr val="F1F6FC"/>
                </a:solidFill>
                <a:latin typeface="Aptos"/>
              </a:rPr>
              <a:t>PII + secrets
+ policy</a:t>
            </a:r>
          </a:p>
        </p:txBody>
      </p:sp>
      <p:sp>
        <p:nvSpPr>
          <p:cNvPr id="17" name="TextBox 16"/>
          <p:cNvSpPr txBox="1"/>
          <p:nvPr/>
        </p:nvSpPr>
        <p:spPr>
          <a:xfrm>
            <a:off x="5925312" y="2651760"/>
            <a:ext cx="274320" cy="365760"/>
          </a:xfrm>
          <a:prstGeom prst="rect">
            <a:avLst/>
          </a:prstGeom>
          <a:noFill/>
        </p:spPr>
        <p:txBody>
          <a:bodyPr wrap="square" lIns="64008" rIns="64008" anchor="t">
            <a:spAutoFit/>
          </a:bodyPr>
          <a:lstStyle/>
          <a:p>
            <a:pPr algn="ctr"/>
            <a:r>
              <a:rPr sz="1800" b="1">
                <a:solidFill>
                  <a:srgbClr val="A6B7CC"/>
                </a:solidFill>
                <a:latin typeface="Aptos"/>
              </a:rPr>
              <a:t>→</a:t>
            </a:r>
          </a:p>
        </p:txBody>
      </p:sp>
      <p:sp>
        <p:nvSpPr>
          <p:cNvPr id="18" name="Rounded Rectangle 17"/>
          <p:cNvSpPr/>
          <p:nvPr/>
        </p:nvSpPr>
        <p:spPr>
          <a:xfrm>
            <a:off x="6208776" y="2057400"/>
            <a:ext cx="1554480" cy="1600200"/>
          </a:xfrm>
          <a:prstGeom prst="roundRect">
            <a:avLst/>
          </a:prstGeom>
          <a:solidFill>
            <a:srgbClr val="141F34"/>
          </a:solidFill>
          <a:ln w="12700">
            <a:solidFill>
              <a:srgbClr val="529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2313432"/>
            <a:ext cx="1280160" cy="228600"/>
          </a:xfrm>
          <a:prstGeom prst="rect">
            <a:avLst/>
          </a:prstGeom>
          <a:noFill/>
        </p:spPr>
        <p:txBody>
          <a:bodyPr wrap="square" lIns="64008" rIns="64008" anchor="t">
            <a:spAutoFit/>
          </a:bodyPr>
          <a:lstStyle/>
          <a:p>
            <a:pPr algn="ctr"/>
            <a:r>
              <a:rPr sz="1000" b="1">
                <a:solidFill>
                  <a:srgbClr val="529CFF"/>
                </a:solidFill>
                <a:latin typeface="Aptos"/>
              </a:rPr>
              <a:t>GROUND</a:t>
            </a:r>
          </a:p>
        </p:txBody>
      </p:sp>
      <p:sp>
        <p:nvSpPr>
          <p:cNvPr id="20" name="TextBox 19"/>
          <p:cNvSpPr txBox="1"/>
          <p:nvPr/>
        </p:nvSpPr>
        <p:spPr>
          <a:xfrm>
            <a:off x="6318504" y="2743200"/>
            <a:ext cx="1335024" cy="594360"/>
          </a:xfrm>
          <a:prstGeom prst="rect">
            <a:avLst/>
          </a:prstGeom>
          <a:noFill/>
        </p:spPr>
        <p:txBody>
          <a:bodyPr wrap="square" lIns="64008" rIns="64008" anchor="t">
            <a:spAutoFit/>
          </a:bodyPr>
          <a:lstStyle/>
          <a:p>
            <a:pPr algn="ctr"/>
            <a:r>
              <a:rPr sz="1300" b="1">
                <a:solidFill>
                  <a:srgbClr val="F1F6FC"/>
                </a:solidFill>
                <a:latin typeface="Aptos"/>
              </a:rPr>
              <a:t>Qdrant evidence
+ impact ranking</a:t>
            </a:r>
          </a:p>
        </p:txBody>
      </p:sp>
      <p:sp>
        <p:nvSpPr>
          <p:cNvPr id="21" name="TextBox 20"/>
          <p:cNvSpPr txBox="1"/>
          <p:nvPr/>
        </p:nvSpPr>
        <p:spPr>
          <a:xfrm>
            <a:off x="7827264" y="2651760"/>
            <a:ext cx="274320" cy="365760"/>
          </a:xfrm>
          <a:prstGeom prst="rect">
            <a:avLst/>
          </a:prstGeom>
          <a:noFill/>
        </p:spPr>
        <p:txBody>
          <a:bodyPr wrap="square" lIns="64008" rIns="64008" anchor="t">
            <a:spAutoFit/>
          </a:bodyPr>
          <a:lstStyle/>
          <a:p>
            <a:pPr algn="ctr"/>
            <a:r>
              <a:rPr sz="1800" b="1">
                <a:solidFill>
                  <a:srgbClr val="A6B7CC"/>
                </a:solidFill>
                <a:latin typeface="Aptos"/>
              </a:rPr>
              <a:t>→</a:t>
            </a:r>
          </a:p>
        </p:txBody>
      </p:sp>
      <p:sp>
        <p:nvSpPr>
          <p:cNvPr id="22" name="Rounded Rectangle 21"/>
          <p:cNvSpPr/>
          <p:nvPr/>
        </p:nvSpPr>
        <p:spPr>
          <a:xfrm>
            <a:off x="8110728" y="2057400"/>
            <a:ext cx="1554480" cy="1600200"/>
          </a:xfrm>
          <a:prstGeom prst="roundRect">
            <a:avLst/>
          </a:prstGeom>
          <a:solidFill>
            <a:srgbClr val="141F34"/>
          </a:solidFill>
          <a:ln w="12700">
            <a:solidFill>
              <a:srgbClr val="4FD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47888" y="2313432"/>
            <a:ext cx="1280160" cy="228600"/>
          </a:xfrm>
          <a:prstGeom prst="rect">
            <a:avLst/>
          </a:prstGeom>
          <a:noFill/>
        </p:spPr>
        <p:txBody>
          <a:bodyPr wrap="square" lIns="64008" rIns="64008" anchor="t">
            <a:spAutoFit/>
          </a:bodyPr>
          <a:lstStyle/>
          <a:p>
            <a:pPr algn="ctr"/>
            <a:r>
              <a:rPr sz="1000" b="1">
                <a:solidFill>
                  <a:srgbClr val="4FD6CF"/>
                </a:solidFill>
                <a:latin typeface="Aptos"/>
              </a:rPr>
              <a:t>GENERATE</a:t>
            </a:r>
          </a:p>
        </p:txBody>
      </p:sp>
      <p:sp>
        <p:nvSpPr>
          <p:cNvPr id="24" name="TextBox 23"/>
          <p:cNvSpPr txBox="1"/>
          <p:nvPr/>
        </p:nvSpPr>
        <p:spPr>
          <a:xfrm>
            <a:off x="8220456" y="2743200"/>
            <a:ext cx="1335024" cy="594360"/>
          </a:xfrm>
          <a:prstGeom prst="rect">
            <a:avLst/>
          </a:prstGeom>
          <a:noFill/>
        </p:spPr>
        <p:txBody>
          <a:bodyPr wrap="square" lIns="64008" rIns="64008" anchor="t">
            <a:spAutoFit/>
          </a:bodyPr>
          <a:lstStyle/>
          <a:p>
            <a:pPr algn="ctr"/>
            <a:r>
              <a:rPr sz="1300" b="1">
                <a:solidFill>
                  <a:srgbClr val="F1F6FC"/>
                </a:solidFill>
                <a:latin typeface="Aptos"/>
              </a:rPr>
              <a:t>Gemini or
standalone review</a:t>
            </a:r>
          </a:p>
        </p:txBody>
      </p:sp>
      <p:sp>
        <p:nvSpPr>
          <p:cNvPr id="25" name="TextBox 24"/>
          <p:cNvSpPr txBox="1"/>
          <p:nvPr/>
        </p:nvSpPr>
        <p:spPr>
          <a:xfrm>
            <a:off x="9729216" y="2651760"/>
            <a:ext cx="274320" cy="365760"/>
          </a:xfrm>
          <a:prstGeom prst="rect">
            <a:avLst/>
          </a:prstGeom>
          <a:noFill/>
        </p:spPr>
        <p:txBody>
          <a:bodyPr wrap="square" lIns="64008" rIns="64008" anchor="t">
            <a:spAutoFit/>
          </a:bodyPr>
          <a:lstStyle/>
          <a:p>
            <a:pPr algn="ctr"/>
            <a:r>
              <a:rPr sz="1800" b="1">
                <a:solidFill>
                  <a:srgbClr val="A6B7CC"/>
                </a:solidFill>
                <a:latin typeface="Aptos"/>
              </a:rPr>
              <a:t>→</a:t>
            </a:r>
          </a:p>
        </p:txBody>
      </p:sp>
      <p:sp>
        <p:nvSpPr>
          <p:cNvPr id="26" name="Rounded Rectangle 25"/>
          <p:cNvSpPr/>
          <p:nvPr/>
        </p:nvSpPr>
        <p:spPr>
          <a:xfrm>
            <a:off x="10012680" y="2057400"/>
            <a:ext cx="1554480" cy="1600200"/>
          </a:xfrm>
          <a:prstGeom prst="roundRect">
            <a:avLst/>
          </a:prstGeom>
          <a:solidFill>
            <a:srgbClr val="141F34"/>
          </a:solidFill>
          <a:ln w="12700">
            <a:solidFill>
              <a:srgbClr val="47C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49840" y="2313432"/>
            <a:ext cx="1280160" cy="228600"/>
          </a:xfrm>
          <a:prstGeom prst="rect">
            <a:avLst/>
          </a:prstGeom>
          <a:noFill/>
        </p:spPr>
        <p:txBody>
          <a:bodyPr wrap="square" lIns="64008" rIns="64008" anchor="t">
            <a:spAutoFit/>
          </a:bodyPr>
          <a:lstStyle/>
          <a:p>
            <a:pPr algn="ctr"/>
            <a:r>
              <a:rPr sz="1000" b="1">
                <a:solidFill>
                  <a:srgbClr val="47CF89"/>
                </a:solidFill>
                <a:latin typeface="Aptos"/>
              </a:rPr>
              <a:t>AUDIT</a:t>
            </a:r>
          </a:p>
        </p:txBody>
      </p:sp>
      <p:sp>
        <p:nvSpPr>
          <p:cNvPr id="28" name="TextBox 27"/>
          <p:cNvSpPr txBox="1"/>
          <p:nvPr/>
        </p:nvSpPr>
        <p:spPr>
          <a:xfrm>
            <a:off x="10122408" y="2743200"/>
            <a:ext cx="1335024" cy="594360"/>
          </a:xfrm>
          <a:prstGeom prst="rect">
            <a:avLst/>
          </a:prstGeom>
          <a:noFill/>
        </p:spPr>
        <p:txBody>
          <a:bodyPr wrap="square" lIns="64008" rIns="64008" anchor="t">
            <a:spAutoFit/>
          </a:bodyPr>
          <a:lstStyle/>
          <a:p>
            <a:pPr algn="ctr"/>
            <a:r>
              <a:rPr sz="1300" b="1">
                <a:solidFill>
                  <a:srgbClr val="F1F6FC"/>
                </a:solidFill>
                <a:latin typeface="Aptos"/>
              </a:rPr>
              <a:t>Validation, trace
+ decision</a:t>
            </a:r>
          </a:p>
        </p:txBody>
      </p:sp>
      <p:sp>
        <p:nvSpPr>
          <p:cNvPr id="29" name="TextBox 28"/>
          <p:cNvSpPr txBox="1"/>
          <p:nvPr/>
        </p:nvSpPr>
        <p:spPr>
          <a:xfrm>
            <a:off x="914400" y="4251960"/>
            <a:ext cx="10424160" cy="411480"/>
          </a:xfrm>
          <a:prstGeom prst="rect">
            <a:avLst/>
          </a:prstGeom>
          <a:noFill/>
        </p:spPr>
        <p:txBody>
          <a:bodyPr wrap="square" lIns="64008" rIns="64008" anchor="t">
            <a:spAutoFit/>
          </a:bodyPr>
          <a:lstStyle/>
          <a:p>
            <a:pPr algn="ctr"/>
            <a:r>
              <a:rPr sz="1500" b="1">
                <a:solidFill>
                  <a:srgbClr val="F1F6FC"/>
                </a:solidFill>
                <a:latin typeface="Aptos"/>
              </a:rPr>
              <a:t>The new GitHub and code-review paths strengthen the front door; the governed workflow remains the control plane.</a:t>
            </a:r>
          </a:p>
        </p:txBody>
      </p:sp>
      <p:sp>
        <p:nvSpPr>
          <p:cNvPr id="30" name="Rounded Rectangle 29"/>
          <p:cNvSpPr/>
          <p:nvPr/>
        </p:nvSpPr>
        <p:spPr>
          <a:xfrm>
            <a:off x="914400" y="4983480"/>
            <a:ext cx="10149840" cy="713232"/>
          </a:xfrm>
          <a:prstGeom prst="roundRect">
            <a:avLst/>
          </a:prstGeom>
          <a:solidFill>
            <a:srgbClr val="182234"/>
          </a:solidFill>
          <a:ln w="12700">
            <a:solidFill>
              <a:srgbClr val="365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70432" y="5184648"/>
            <a:ext cx="1371600" cy="219456"/>
          </a:xfrm>
          <a:prstGeom prst="rect">
            <a:avLst/>
          </a:prstGeom>
          <a:noFill/>
        </p:spPr>
        <p:txBody>
          <a:bodyPr wrap="square" lIns="64008" rIns="64008" anchor="t">
            <a:spAutoFit/>
          </a:bodyPr>
          <a:lstStyle/>
          <a:p>
            <a:pPr algn="l"/>
            <a:r>
              <a:rPr sz="1100" b="1">
                <a:solidFill>
                  <a:srgbClr val="4FD6CF"/>
                </a:solidFill>
                <a:latin typeface="Aptos"/>
              </a:rPr>
              <a:t>Design decision</a:t>
            </a:r>
          </a:p>
        </p:txBody>
      </p:sp>
      <p:sp>
        <p:nvSpPr>
          <p:cNvPr id="32" name="TextBox 31"/>
          <p:cNvSpPr txBox="1"/>
          <p:nvPr/>
        </p:nvSpPr>
        <p:spPr>
          <a:xfrm>
            <a:off x="2651760" y="5138928"/>
            <a:ext cx="7955279" cy="274320"/>
          </a:xfrm>
          <a:prstGeom prst="rect">
            <a:avLst/>
          </a:prstGeom>
          <a:noFill/>
        </p:spPr>
        <p:txBody>
          <a:bodyPr wrap="square" lIns="64008" rIns="64008" anchor="t">
            <a:spAutoFit/>
          </a:bodyPr>
          <a:lstStyle/>
          <a:p>
            <a:pPr algn="l"/>
            <a:r>
              <a:rPr sz="1300" b="0">
                <a:solidFill>
                  <a:srgbClr val="A6B7CC"/>
                </a:solidFill>
                <a:latin typeface="Aptos"/>
              </a:rPr>
              <a:t>Reuse one detection and policy layer everywhere so a finding is treated consistently across the product.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56032"/>
            <a:ext cx="7315200" cy="219456"/>
          </a:xfrm>
          <a:prstGeom prst="rect">
            <a:avLst/>
          </a:prstGeom>
          <a:noFill/>
        </p:spPr>
        <p:txBody>
          <a:bodyPr wrap="square" lIns="64008" rIns="64008" anchor="t">
            <a:spAutoFit/>
          </a:bodyPr>
          <a:lstStyle/>
          <a:p>
            <a:pPr algn="l"/>
            <a:r>
              <a:rPr sz="900" b="1">
                <a:solidFill>
                  <a:srgbClr val="4FD6CF"/>
                </a:solidFill>
                <a:latin typeface="Aptos"/>
              </a:rPr>
              <a:t>KAVACH  /  NEW ADDITIONS</a:t>
            </a:r>
          </a:p>
        </p:txBody>
      </p:sp>
      <p:sp>
        <p:nvSpPr>
          <p:cNvPr id="3" name="TextBox 2"/>
          <p:cNvSpPr txBox="1"/>
          <p:nvPr/>
        </p:nvSpPr>
        <p:spPr>
          <a:xfrm>
            <a:off x="11201400" y="6583680"/>
            <a:ext cx="365760" cy="201168"/>
          </a:xfrm>
          <a:prstGeom prst="rect">
            <a:avLst/>
          </a:prstGeom>
          <a:noFill/>
        </p:spPr>
        <p:txBody>
          <a:bodyPr wrap="square" lIns="64008" rIns="64008" anchor="t">
            <a:spAutoFit/>
          </a:bodyPr>
          <a:lstStyle/>
          <a:p>
            <a:pPr algn="r"/>
            <a:r>
              <a:rPr sz="900" b="1">
                <a:solidFill>
                  <a:srgbClr val="A6B7CC"/>
                </a:solidFill>
                <a:latin typeface="Aptos"/>
              </a:rPr>
              <a:t>28</a:t>
            </a:r>
          </a:p>
        </p:txBody>
      </p:sp>
      <p:sp>
        <p:nvSpPr>
          <p:cNvPr id="4" name="TextBox 3"/>
          <p:cNvSpPr txBox="1"/>
          <p:nvPr/>
        </p:nvSpPr>
        <p:spPr>
          <a:xfrm>
            <a:off x="502920" y="658368"/>
            <a:ext cx="10972800" cy="475488"/>
          </a:xfrm>
          <a:prstGeom prst="rect">
            <a:avLst/>
          </a:prstGeom>
          <a:noFill/>
        </p:spPr>
        <p:txBody>
          <a:bodyPr wrap="square" lIns="64008" rIns="64008" anchor="t">
            <a:spAutoFit/>
          </a:bodyPr>
          <a:lstStyle/>
          <a:p>
            <a:pPr algn="l"/>
            <a:r>
              <a:rPr sz="2500" b="1">
                <a:solidFill>
                  <a:srgbClr val="F1F6FC"/>
                </a:solidFill>
                <a:latin typeface="Aptos"/>
              </a:rPr>
              <a:t>Next-level proposal: KAVACH PR Guardian</a:t>
            </a:r>
          </a:p>
        </p:txBody>
      </p:sp>
      <p:sp>
        <p:nvSpPr>
          <p:cNvPr id="5" name="TextBox 4"/>
          <p:cNvSpPr txBox="1"/>
          <p:nvPr/>
        </p:nvSpPr>
        <p:spPr>
          <a:xfrm>
            <a:off x="502920" y="1207008"/>
            <a:ext cx="10789920" cy="292608"/>
          </a:xfrm>
          <a:prstGeom prst="rect">
            <a:avLst/>
          </a:prstGeom>
          <a:noFill/>
        </p:spPr>
        <p:txBody>
          <a:bodyPr wrap="square" lIns="64008" rIns="64008" anchor="t">
            <a:spAutoFit/>
          </a:bodyPr>
          <a:lstStyle/>
          <a:p>
            <a:pPr algn="l"/>
            <a:r>
              <a:rPr sz="1100" b="0">
                <a:solidFill>
                  <a:srgbClr val="A6B7CC"/>
                </a:solidFill>
                <a:latin typeface="Aptos"/>
              </a:rPr>
              <a:t>The clearest path from a local workspace to a production-relevant engineering control.</a:t>
            </a:r>
          </a:p>
        </p:txBody>
      </p:sp>
      <p:sp>
        <p:nvSpPr>
          <p:cNvPr id="6" name="Rounded Rectangle 5"/>
          <p:cNvSpPr/>
          <p:nvPr/>
        </p:nvSpPr>
        <p:spPr>
          <a:xfrm>
            <a:off x="566928" y="1691640"/>
            <a:ext cx="3657600" cy="4434840"/>
          </a:xfrm>
          <a:prstGeom prst="roundRect">
            <a:avLst/>
          </a:prstGeom>
          <a:solidFill>
            <a:srgbClr val="123039"/>
          </a:solidFill>
          <a:ln w="12700">
            <a:solidFill>
              <a:srgbClr val="4FD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828800" cy="228600"/>
          </a:xfrm>
          <a:prstGeom prst="rect">
            <a:avLst/>
          </a:prstGeom>
          <a:noFill/>
        </p:spPr>
        <p:txBody>
          <a:bodyPr wrap="square" lIns="64008" rIns="64008" anchor="t">
            <a:spAutoFit/>
          </a:bodyPr>
          <a:lstStyle/>
          <a:p>
            <a:pPr algn="l"/>
            <a:r>
              <a:rPr sz="1000" b="1">
                <a:solidFill>
                  <a:srgbClr val="4FD6CF"/>
                </a:solidFill>
                <a:latin typeface="Aptos"/>
              </a:rPr>
              <a:t>THE PROBLEM</a:t>
            </a:r>
          </a:p>
        </p:txBody>
      </p:sp>
      <p:sp>
        <p:nvSpPr>
          <p:cNvPr id="8" name="TextBox 7"/>
          <p:cNvSpPr txBox="1"/>
          <p:nvPr/>
        </p:nvSpPr>
        <p:spPr>
          <a:xfrm>
            <a:off x="868680" y="2395728"/>
            <a:ext cx="2926080" cy="1005840"/>
          </a:xfrm>
          <a:prstGeom prst="rect">
            <a:avLst/>
          </a:prstGeom>
          <a:noFill/>
        </p:spPr>
        <p:txBody>
          <a:bodyPr wrap="square" lIns="64008" rIns="64008" anchor="t">
            <a:spAutoFit/>
          </a:bodyPr>
          <a:lstStyle/>
          <a:p>
            <a:pPr algn="l"/>
            <a:r>
              <a:rPr sz="1900" b="1">
                <a:solidFill>
                  <a:srgbClr val="F1F6FC"/>
                </a:solidFill>
                <a:latin typeface="Aptos"/>
              </a:rPr>
              <a:t>AI-generated changes can reach a pull request before anyone understands their data risk, blast radius, or validation status.</a:t>
            </a:r>
          </a:p>
        </p:txBody>
      </p:sp>
      <p:sp>
        <p:nvSpPr>
          <p:cNvPr id="9" name="TextBox 8"/>
          <p:cNvSpPr txBox="1"/>
          <p:nvPr/>
        </p:nvSpPr>
        <p:spPr>
          <a:xfrm>
            <a:off x="868680" y="4069080"/>
            <a:ext cx="2834640" cy="457200"/>
          </a:xfrm>
          <a:prstGeom prst="rect">
            <a:avLst/>
          </a:prstGeom>
          <a:noFill/>
        </p:spPr>
        <p:txBody>
          <a:bodyPr wrap="square" lIns="64008" rIns="64008" anchor="t">
            <a:spAutoFit/>
          </a:bodyPr>
          <a:lstStyle/>
          <a:p>
            <a:pPr algn="l"/>
            <a:r>
              <a:rPr sz="1400" b="1">
                <a:solidFill>
                  <a:srgbClr val="47CF89"/>
                </a:solidFill>
                <a:latin typeface="Aptos"/>
              </a:rPr>
              <a:t>The missing control point is before merge.</a:t>
            </a:r>
          </a:p>
        </p:txBody>
      </p:sp>
      <p:sp>
        <p:nvSpPr>
          <p:cNvPr id="10" name="TextBox 9"/>
          <p:cNvSpPr txBox="1"/>
          <p:nvPr/>
        </p:nvSpPr>
        <p:spPr>
          <a:xfrm>
            <a:off x="868680" y="4983480"/>
            <a:ext cx="2880360" cy="411480"/>
          </a:xfrm>
          <a:prstGeom prst="rect">
            <a:avLst/>
          </a:prstGeom>
          <a:noFill/>
        </p:spPr>
        <p:txBody>
          <a:bodyPr wrap="square" lIns="64008" rIns="64008" anchor="t">
            <a:spAutoFit/>
          </a:bodyPr>
          <a:lstStyle/>
          <a:p>
            <a:pPr algn="l"/>
            <a:r>
              <a:rPr sz="1400" b="1">
                <a:solidFill>
                  <a:srgbClr val="F1F6FC"/>
                </a:solidFill>
                <a:latin typeface="Aptos"/>
              </a:rPr>
              <a:t>KAVACH can become that control point.</a:t>
            </a:r>
          </a:p>
        </p:txBody>
      </p:sp>
      <p:sp>
        <p:nvSpPr>
          <p:cNvPr id="11" name="Rounded Rectangle 10"/>
          <p:cNvSpPr/>
          <p:nvPr/>
        </p:nvSpPr>
        <p:spPr>
          <a:xfrm>
            <a:off x="4526280" y="1691640"/>
            <a:ext cx="7086600" cy="4434840"/>
          </a:xfrm>
          <a:prstGeom prst="roundRect">
            <a:avLst/>
          </a:prstGeom>
          <a:solidFill>
            <a:srgbClr val="141F34"/>
          </a:solidFill>
          <a:ln w="12700">
            <a:solidFill>
              <a:srgbClr val="365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0" y="1993392"/>
            <a:ext cx="2194560" cy="228600"/>
          </a:xfrm>
          <a:prstGeom prst="rect">
            <a:avLst/>
          </a:prstGeom>
          <a:noFill/>
        </p:spPr>
        <p:txBody>
          <a:bodyPr wrap="square" lIns="64008" rIns="64008" anchor="t">
            <a:spAutoFit/>
          </a:bodyPr>
          <a:lstStyle/>
          <a:p>
            <a:pPr algn="l"/>
            <a:r>
              <a:rPr sz="1000" b="1">
                <a:solidFill>
                  <a:srgbClr val="F6B54A"/>
                </a:solidFill>
                <a:latin typeface="Aptos"/>
              </a:rPr>
              <a:t>PROPOSED PR FLOW</a:t>
            </a:r>
          </a:p>
        </p:txBody>
      </p:sp>
      <p:sp>
        <p:nvSpPr>
          <p:cNvPr id="13" name="TextBox 12"/>
          <p:cNvSpPr txBox="1"/>
          <p:nvPr/>
        </p:nvSpPr>
        <p:spPr>
          <a:xfrm>
            <a:off x="4846320" y="2432304"/>
            <a:ext cx="6217920" cy="3063240"/>
          </a:xfrm>
          <a:prstGeom prst="rect">
            <a:avLst/>
          </a:prstGeom>
          <a:noFill/>
        </p:spPr>
        <p:txBody>
          <a:bodyPr wrap="square" lIns="64008" rIns="64008" anchor="t">
            <a:spAutoFit/>
          </a:bodyPr>
          <a:lstStyle/>
          <a:p>
            <a:pPr algn="l"/>
            <a:r>
              <a:rPr sz="1400" b="0">
                <a:solidFill>
                  <a:srgbClr val="F1F6FC"/>
                </a:solidFill>
                <a:latin typeface="Aptos"/>
              </a:rPr>
              <a:t>•  1. GitHub App receives pull-request webhook
•  2. KAVACH scans the diff for secrets, PII, injection, and dangerous commands
•  3. Repository RAG retrieves surrounding evidence
•  4. Impact engine ranks affected components
•  5. Policy engine returns Allow, Review, Redact, or Block
•  6. KAVACH posts an explainable check to the pull request
•  7. Human approval is required for high-impact changes</a:t>
            </a:r>
          </a:p>
        </p:txBody>
      </p:sp>
      <p:sp>
        <p:nvSpPr>
          <p:cNvPr id="14" name="TextBox 13"/>
          <p:cNvSpPr txBox="1"/>
          <p:nvPr/>
        </p:nvSpPr>
        <p:spPr>
          <a:xfrm>
            <a:off x="4846320" y="5669280"/>
            <a:ext cx="6217920" cy="274320"/>
          </a:xfrm>
          <a:prstGeom prst="rect">
            <a:avLst/>
          </a:prstGeom>
          <a:noFill/>
        </p:spPr>
        <p:txBody>
          <a:bodyPr wrap="square" lIns="64008" rIns="64008" anchor="t">
            <a:spAutoFit/>
          </a:bodyPr>
          <a:lstStyle/>
          <a:p>
            <a:pPr algn="l"/>
            <a:r>
              <a:rPr sz="1300" b="1">
                <a:solidFill>
                  <a:srgbClr val="47CF89"/>
                </a:solidFill>
                <a:latin typeface="Aptos"/>
              </a:rPr>
              <a:t>Outcome: safer merges without removing developer velocity.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56032"/>
            <a:ext cx="7315200" cy="219456"/>
          </a:xfrm>
          <a:prstGeom prst="rect">
            <a:avLst/>
          </a:prstGeom>
          <a:noFill/>
        </p:spPr>
        <p:txBody>
          <a:bodyPr wrap="square" lIns="64008" rIns="64008" anchor="t">
            <a:spAutoFit/>
          </a:bodyPr>
          <a:lstStyle/>
          <a:p>
            <a:pPr algn="l"/>
            <a:r>
              <a:rPr sz="900" b="1">
                <a:solidFill>
                  <a:srgbClr val="4FD6CF"/>
                </a:solidFill>
                <a:latin typeface="Aptos"/>
              </a:rPr>
              <a:t>KAVACH  /  NEW ADDITIONS</a:t>
            </a:r>
          </a:p>
        </p:txBody>
      </p:sp>
      <p:sp>
        <p:nvSpPr>
          <p:cNvPr id="3" name="TextBox 2"/>
          <p:cNvSpPr txBox="1"/>
          <p:nvPr/>
        </p:nvSpPr>
        <p:spPr>
          <a:xfrm>
            <a:off x="11201400" y="6583680"/>
            <a:ext cx="365760" cy="201168"/>
          </a:xfrm>
          <a:prstGeom prst="rect">
            <a:avLst/>
          </a:prstGeom>
          <a:noFill/>
        </p:spPr>
        <p:txBody>
          <a:bodyPr wrap="square" lIns="64008" rIns="64008" anchor="t">
            <a:spAutoFit/>
          </a:bodyPr>
          <a:lstStyle/>
          <a:p>
            <a:pPr algn="r"/>
            <a:r>
              <a:rPr sz="900" b="1">
                <a:solidFill>
                  <a:srgbClr val="A6B7CC"/>
                </a:solidFill>
                <a:latin typeface="Aptos"/>
              </a:rPr>
              <a:t>29</a:t>
            </a:r>
          </a:p>
        </p:txBody>
      </p:sp>
      <p:sp>
        <p:nvSpPr>
          <p:cNvPr id="4" name="TextBox 3"/>
          <p:cNvSpPr txBox="1"/>
          <p:nvPr/>
        </p:nvSpPr>
        <p:spPr>
          <a:xfrm>
            <a:off x="502920" y="658368"/>
            <a:ext cx="10972800" cy="475488"/>
          </a:xfrm>
          <a:prstGeom prst="rect">
            <a:avLst/>
          </a:prstGeom>
          <a:noFill/>
        </p:spPr>
        <p:txBody>
          <a:bodyPr wrap="square" lIns="64008" rIns="64008" anchor="t">
            <a:spAutoFit/>
          </a:bodyPr>
          <a:lstStyle/>
          <a:p>
            <a:pPr algn="l"/>
            <a:r>
              <a:rPr sz="2500" b="1">
                <a:solidFill>
                  <a:srgbClr val="F1F6FC"/>
                </a:solidFill>
                <a:latin typeface="Aptos"/>
              </a:rPr>
              <a:t>Roadmap to a production-grade platform</a:t>
            </a:r>
          </a:p>
        </p:txBody>
      </p:sp>
      <p:sp>
        <p:nvSpPr>
          <p:cNvPr id="5" name="TextBox 4"/>
          <p:cNvSpPr txBox="1"/>
          <p:nvPr/>
        </p:nvSpPr>
        <p:spPr>
          <a:xfrm>
            <a:off x="502920" y="1207008"/>
            <a:ext cx="10789920" cy="292608"/>
          </a:xfrm>
          <a:prstGeom prst="rect">
            <a:avLst/>
          </a:prstGeom>
          <a:noFill/>
        </p:spPr>
        <p:txBody>
          <a:bodyPr wrap="square" lIns="64008" rIns="64008" anchor="t">
            <a:spAutoFit/>
          </a:bodyPr>
          <a:lstStyle/>
          <a:p>
            <a:pPr algn="l"/>
            <a:r>
              <a:rPr sz="1100" b="0">
                <a:solidFill>
                  <a:srgbClr val="A6B7CC"/>
                </a:solidFill>
                <a:latin typeface="Aptos"/>
              </a:rPr>
              <a:t>The recommended sequence turns today's working surfaces into durable organizational controls.</a:t>
            </a:r>
          </a:p>
        </p:txBody>
      </p:sp>
      <p:sp>
        <p:nvSpPr>
          <p:cNvPr id="6" name="Rounded Rectangle 5"/>
          <p:cNvSpPr/>
          <p:nvPr/>
        </p:nvSpPr>
        <p:spPr>
          <a:xfrm>
            <a:off x="566928" y="1783080"/>
            <a:ext cx="5166360" cy="1691640"/>
          </a:xfrm>
          <a:prstGeom prst="roundRect">
            <a:avLst/>
          </a:prstGeom>
          <a:solidFill>
            <a:srgbClr val="141F34"/>
          </a:solidFill>
          <a:ln w="12700">
            <a:solidFill>
              <a:srgbClr val="529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84248"/>
            <a:ext cx="1188720" cy="201168"/>
          </a:xfrm>
          <a:prstGeom prst="rect">
            <a:avLst/>
          </a:prstGeom>
          <a:noFill/>
        </p:spPr>
        <p:txBody>
          <a:bodyPr wrap="square" lIns="64008" rIns="64008" anchor="t">
            <a:spAutoFit/>
          </a:bodyPr>
          <a:lstStyle/>
          <a:p>
            <a:pPr algn="l"/>
            <a:r>
              <a:rPr sz="1000" b="1">
                <a:solidFill>
                  <a:srgbClr val="529CFF"/>
                </a:solidFill>
                <a:latin typeface="Aptos"/>
              </a:rPr>
              <a:t>PHASE A</a:t>
            </a:r>
          </a:p>
        </p:txBody>
      </p:sp>
      <p:sp>
        <p:nvSpPr>
          <p:cNvPr id="8" name="TextBox 7"/>
          <p:cNvSpPr txBox="1"/>
          <p:nvPr/>
        </p:nvSpPr>
        <p:spPr>
          <a:xfrm>
            <a:off x="822960" y="2258568"/>
            <a:ext cx="4389120" cy="274320"/>
          </a:xfrm>
          <a:prstGeom prst="rect">
            <a:avLst/>
          </a:prstGeom>
          <a:noFill/>
        </p:spPr>
        <p:txBody>
          <a:bodyPr wrap="square" lIns="64008" rIns="64008" anchor="t">
            <a:spAutoFit/>
          </a:bodyPr>
          <a:lstStyle/>
          <a:p>
            <a:pPr algn="l"/>
            <a:r>
              <a:rPr sz="1800" b="1">
                <a:solidFill>
                  <a:srgbClr val="F1F6FC"/>
                </a:solidFill>
                <a:latin typeface="Aptos"/>
              </a:rPr>
              <a:t>Trustworthy state</a:t>
            </a:r>
          </a:p>
        </p:txBody>
      </p:sp>
      <p:sp>
        <p:nvSpPr>
          <p:cNvPr id="9" name="TextBox 8"/>
          <p:cNvSpPr txBox="1"/>
          <p:nvPr/>
        </p:nvSpPr>
        <p:spPr>
          <a:xfrm>
            <a:off x="822960" y="2660904"/>
            <a:ext cx="4526280" cy="594360"/>
          </a:xfrm>
          <a:prstGeom prst="rect">
            <a:avLst/>
          </a:prstGeom>
          <a:noFill/>
        </p:spPr>
        <p:txBody>
          <a:bodyPr wrap="square" lIns="64008" rIns="64008" anchor="t">
            <a:spAutoFit/>
          </a:bodyPr>
          <a:lstStyle/>
          <a:p>
            <a:pPr algn="l"/>
            <a:r>
              <a:rPr sz="1200" b="0">
                <a:solidFill>
                  <a:srgbClr val="A6B7CC"/>
                </a:solidFill>
                <a:latin typeface="Aptos"/>
              </a:rPr>
              <a:t>PostgreSQL persistence
Authentication + RBAC
Redacted audit retention</a:t>
            </a:r>
          </a:p>
        </p:txBody>
      </p:sp>
      <p:sp>
        <p:nvSpPr>
          <p:cNvPr id="10" name="Rounded Rectangle 9"/>
          <p:cNvSpPr/>
          <p:nvPr/>
        </p:nvSpPr>
        <p:spPr>
          <a:xfrm>
            <a:off x="6217920" y="1783080"/>
            <a:ext cx="5166360" cy="1691640"/>
          </a:xfrm>
          <a:prstGeom prst="roundRect">
            <a:avLst/>
          </a:prstGeom>
          <a:solidFill>
            <a:srgbClr val="123039"/>
          </a:solidFill>
          <a:ln w="12700">
            <a:solidFill>
              <a:srgbClr val="4FD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984248"/>
            <a:ext cx="1188720" cy="201168"/>
          </a:xfrm>
          <a:prstGeom prst="rect">
            <a:avLst/>
          </a:prstGeom>
          <a:noFill/>
        </p:spPr>
        <p:txBody>
          <a:bodyPr wrap="square" lIns="64008" rIns="64008" anchor="t">
            <a:spAutoFit/>
          </a:bodyPr>
          <a:lstStyle/>
          <a:p>
            <a:pPr algn="l"/>
            <a:r>
              <a:rPr sz="1000" b="1">
                <a:solidFill>
                  <a:srgbClr val="4FD6CF"/>
                </a:solidFill>
                <a:latin typeface="Aptos"/>
              </a:rPr>
              <a:t>PHASE B</a:t>
            </a:r>
          </a:p>
        </p:txBody>
      </p:sp>
      <p:sp>
        <p:nvSpPr>
          <p:cNvPr id="12" name="TextBox 11"/>
          <p:cNvSpPr txBox="1"/>
          <p:nvPr/>
        </p:nvSpPr>
        <p:spPr>
          <a:xfrm>
            <a:off x="6473952" y="2258568"/>
            <a:ext cx="4389120" cy="274320"/>
          </a:xfrm>
          <a:prstGeom prst="rect">
            <a:avLst/>
          </a:prstGeom>
          <a:noFill/>
        </p:spPr>
        <p:txBody>
          <a:bodyPr wrap="square" lIns="64008" rIns="64008" anchor="t">
            <a:spAutoFit/>
          </a:bodyPr>
          <a:lstStyle/>
          <a:p>
            <a:pPr algn="l"/>
            <a:r>
              <a:rPr sz="1800" b="1">
                <a:solidFill>
                  <a:srgbClr val="F1F6FC"/>
                </a:solidFill>
                <a:latin typeface="Aptos"/>
              </a:rPr>
              <a:t>Change governance</a:t>
            </a:r>
          </a:p>
        </p:txBody>
      </p:sp>
      <p:sp>
        <p:nvSpPr>
          <p:cNvPr id="13" name="TextBox 12"/>
          <p:cNvSpPr txBox="1"/>
          <p:nvPr/>
        </p:nvSpPr>
        <p:spPr>
          <a:xfrm>
            <a:off x="6473952" y="2660904"/>
            <a:ext cx="4526280" cy="594360"/>
          </a:xfrm>
          <a:prstGeom prst="rect">
            <a:avLst/>
          </a:prstGeom>
          <a:noFill/>
        </p:spPr>
        <p:txBody>
          <a:bodyPr wrap="square" lIns="64008" rIns="64008" anchor="t">
            <a:spAutoFit/>
          </a:bodyPr>
          <a:lstStyle/>
          <a:p>
            <a:pPr algn="l"/>
            <a:r>
              <a:rPr sz="1200" b="0">
                <a:solidFill>
                  <a:srgbClr val="F1F6FC"/>
                </a:solidFill>
                <a:latin typeface="Aptos"/>
              </a:rPr>
              <a:t>GitHub App / OAuth
PR webhooks
Diff-based scanning
Human approvals</a:t>
            </a:r>
          </a:p>
        </p:txBody>
      </p:sp>
      <p:sp>
        <p:nvSpPr>
          <p:cNvPr id="14" name="Rounded Rectangle 13"/>
          <p:cNvSpPr/>
          <p:nvPr/>
        </p:nvSpPr>
        <p:spPr>
          <a:xfrm>
            <a:off x="566928" y="3931920"/>
            <a:ext cx="5166360" cy="1691640"/>
          </a:xfrm>
          <a:prstGeom prst="roundRect">
            <a:avLst/>
          </a:prstGeom>
          <a:solidFill>
            <a:srgbClr val="141F34"/>
          </a:solidFill>
          <a:ln w="12700">
            <a:solidFill>
              <a:srgbClr val="F6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133087"/>
            <a:ext cx="1188720" cy="201168"/>
          </a:xfrm>
          <a:prstGeom prst="rect">
            <a:avLst/>
          </a:prstGeom>
          <a:noFill/>
        </p:spPr>
        <p:txBody>
          <a:bodyPr wrap="square" lIns="64008" rIns="64008" anchor="t">
            <a:spAutoFit/>
          </a:bodyPr>
          <a:lstStyle/>
          <a:p>
            <a:pPr algn="l"/>
            <a:r>
              <a:rPr sz="1000" b="1">
                <a:solidFill>
                  <a:srgbClr val="F6B54A"/>
                </a:solidFill>
                <a:latin typeface="Aptos"/>
              </a:rPr>
              <a:t>PHASE C</a:t>
            </a:r>
          </a:p>
        </p:txBody>
      </p:sp>
      <p:sp>
        <p:nvSpPr>
          <p:cNvPr id="16" name="TextBox 15"/>
          <p:cNvSpPr txBox="1"/>
          <p:nvPr/>
        </p:nvSpPr>
        <p:spPr>
          <a:xfrm>
            <a:off x="822960" y="4407408"/>
            <a:ext cx="4389120" cy="274320"/>
          </a:xfrm>
          <a:prstGeom prst="rect">
            <a:avLst/>
          </a:prstGeom>
          <a:noFill/>
        </p:spPr>
        <p:txBody>
          <a:bodyPr wrap="square" lIns="64008" rIns="64008" anchor="t">
            <a:spAutoFit/>
          </a:bodyPr>
          <a:lstStyle/>
          <a:p>
            <a:pPr algn="l"/>
            <a:r>
              <a:rPr sz="1800" b="1">
                <a:solidFill>
                  <a:srgbClr val="F1F6FC"/>
                </a:solidFill>
                <a:latin typeface="Aptos"/>
              </a:rPr>
              <a:t>Safe delivery</a:t>
            </a:r>
          </a:p>
        </p:txBody>
      </p:sp>
      <p:sp>
        <p:nvSpPr>
          <p:cNvPr id="17" name="TextBox 16"/>
          <p:cNvSpPr txBox="1"/>
          <p:nvPr/>
        </p:nvSpPr>
        <p:spPr>
          <a:xfrm>
            <a:off x="822960" y="4809744"/>
            <a:ext cx="4526280" cy="594360"/>
          </a:xfrm>
          <a:prstGeom prst="rect">
            <a:avLst/>
          </a:prstGeom>
          <a:noFill/>
        </p:spPr>
        <p:txBody>
          <a:bodyPr wrap="square" lIns="64008" rIns="64008" anchor="t">
            <a:spAutoFit/>
          </a:bodyPr>
          <a:lstStyle/>
          <a:p>
            <a:pPr algn="l"/>
            <a:r>
              <a:rPr sz="1200" b="0">
                <a:solidFill>
                  <a:srgbClr val="A6B7CC"/>
                </a:solidFill>
                <a:latin typeface="Aptos"/>
              </a:rPr>
              <a:t>Proposed patch view
Isolated test execution
Dependency + static analysis
Branch/export after approval</a:t>
            </a:r>
          </a:p>
        </p:txBody>
      </p:sp>
      <p:sp>
        <p:nvSpPr>
          <p:cNvPr id="18" name="Rounded Rectangle 17"/>
          <p:cNvSpPr/>
          <p:nvPr/>
        </p:nvSpPr>
        <p:spPr>
          <a:xfrm>
            <a:off x="6217920" y="3931920"/>
            <a:ext cx="5166360" cy="1691640"/>
          </a:xfrm>
          <a:prstGeom prst="roundRect">
            <a:avLst/>
          </a:prstGeom>
          <a:solidFill>
            <a:srgbClr val="141F34"/>
          </a:solidFill>
          <a:ln w="12700">
            <a:solidFill>
              <a:srgbClr val="47CF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4133087"/>
            <a:ext cx="1188720" cy="201168"/>
          </a:xfrm>
          <a:prstGeom prst="rect">
            <a:avLst/>
          </a:prstGeom>
          <a:noFill/>
        </p:spPr>
        <p:txBody>
          <a:bodyPr wrap="square" lIns="64008" rIns="64008" anchor="t">
            <a:spAutoFit/>
          </a:bodyPr>
          <a:lstStyle/>
          <a:p>
            <a:pPr algn="l"/>
            <a:r>
              <a:rPr sz="1000" b="1">
                <a:solidFill>
                  <a:srgbClr val="47CF89"/>
                </a:solidFill>
                <a:latin typeface="Aptos"/>
              </a:rPr>
              <a:t>PHASE D</a:t>
            </a:r>
          </a:p>
        </p:txBody>
      </p:sp>
      <p:sp>
        <p:nvSpPr>
          <p:cNvPr id="20" name="TextBox 19"/>
          <p:cNvSpPr txBox="1"/>
          <p:nvPr/>
        </p:nvSpPr>
        <p:spPr>
          <a:xfrm>
            <a:off x="6473952" y="4407408"/>
            <a:ext cx="4389120" cy="274320"/>
          </a:xfrm>
          <a:prstGeom prst="rect">
            <a:avLst/>
          </a:prstGeom>
          <a:noFill/>
        </p:spPr>
        <p:txBody>
          <a:bodyPr wrap="square" lIns="64008" rIns="64008" anchor="t">
            <a:spAutoFit/>
          </a:bodyPr>
          <a:lstStyle/>
          <a:p>
            <a:pPr algn="l"/>
            <a:r>
              <a:rPr sz="1800" b="1">
                <a:solidFill>
                  <a:srgbClr val="F1F6FC"/>
                </a:solidFill>
                <a:latin typeface="Aptos"/>
              </a:rPr>
              <a:t>Enterprise visibility</a:t>
            </a:r>
          </a:p>
        </p:txBody>
      </p:sp>
      <p:sp>
        <p:nvSpPr>
          <p:cNvPr id="21" name="TextBox 20"/>
          <p:cNvSpPr txBox="1"/>
          <p:nvPr/>
        </p:nvSpPr>
        <p:spPr>
          <a:xfrm>
            <a:off x="6473952" y="4809744"/>
            <a:ext cx="4526280" cy="594360"/>
          </a:xfrm>
          <a:prstGeom prst="rect">
            <a:avLst/>
          </a:prstGeom>
          <a:noFill/>
        </p:spPr>
        <p:txBody>
          <a:bodyPr wrap="square" lIns="64008" rIns="64008" anchor="t">
            <a:spAutoFit/>
          </a:bodyPr>
          <a:lstStyle/>
          <a:p>
            <a:pPr algn="l"/>
            <a:r>
              <a:rPr sz="1200" b="0">
                <a:solidFill>
                  <a:srgbClr val="A6B7CC"/>
                </a:solidFill>
                <a:latin typeface="Aptos"/>
              </a:rPr>
              <a:t>Security score trends
PDF/JSON reports
Policy packs
Docker + observability</a:t>
            </a:r>
          </a:p>
        </p:txBody>
      </p:sp>
      <p:sp>
        <p:nvSpPr>
          <p:cNvPr id="22" name="TextBox 21"/>
          <p:cNvSpPr txBox="1"/>
          <p:nvPr/>
        </p:nvSpPr>
        <p:spPr>
          <a:xfrm>
            <a:off x="731520" y="6272784"/>
            <a:ext cx="10515600" cy="320040"/>
          </a:xfrm>
          <a:prstGeom prst="rect">
            <a:avLst/>
          </a:prstGeom>
          <a:noFill/>
        </p:spPr>
        <p:txBody>
          <a:bodyPr wrap="square" lIns="64008" rIns="64008" anchor="t">
            <a:spAutoFit/>
          </a:bodyPr>
          <a:lstStyle/>
          <a:p>
            <a:pPr algn="ctr"/>
            <a:r>
              <a:rPr sz="1500" b="1">
                <a:solidFill>
                  <a:srgbClr val="F1F6FC"/>
                </a:solidFill>
                <a:latin typeface="Aptos"/>
              </a:rPr>
              <a:t>Recommended flagship milestone: KAVACH PR Guardian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02920" y="256032"/>
            <a:ext cx="7315200" cy="219456"/>
          </a:xfrm>
          <a:prstGeom prst="rect">
            <a:avLst/>
          </a:prstGeom>
          <a:noFill/>
        </p:spPr>
        <p:txBody>
          <a:bodyPr wrap="square" lIns="64008" rIns="64008" anchor="t">
            <a:spAutoFit/>
          </a:bodyPr>
          <a:lstStyle/>
          <a:p>
            <a:pPr algn="l"/>
            <a:r>
              <a:rPr sz="900" b="1">
                <a:solidFill>
                  <a:srgbClr val="4FD6CF"/>
                </a:solidFill>
                <a:latin typeface="Aptos"/>
              </a:rPr>
              <a:t>KAVACH  /  NEW ADDITIONS</a:t>
            </a:r>
          </a:p>
        </p:txBody>
      </p:sp>
      <p:sp>
        <p:nvSpPr>
          <p:cNvPr id="3" name="TextBox 2"/>
          <p:cNvSpPr txBox="1"/>
          <p:nvPr/>
        </p:nvSpPr>
        <p:spPr>
          <a:xfrm>
            <a:off x="11201400" y="6583680"/>
            <a:ext cx="365760" cy="201168"/>
          </a:xfrm>
          <a:prstGeom prst="rect">
            <a:avLst/>
          </a:prstGeom>
          <a:noFill/>
        </p:spPr>
        <p:txBody>
          <a:bodyPr wrap="square" lIns="64008" rIns="64008" anchor="t">
            <a:spAutoFit/>
          </a:bodyPr>
          <a:lstStyle/>
          <a:p>
            <a:pPr algn="r"/>
            <a:r>
              <a:rPr sz="900" b="1">
                <a:solidFill>
                  <a:srgbClr val="A6B7CC"/>
                </a:solidFill>
                <a:latin typeface="Aptos"/>
              </a:rPr>
              <a:t>30</a:t>
            </a:r>
          </a:p>
        </p:txBody>
      </p:sp>
      <p:sp>
        <p:nvSpPr>
          <p:cNvPr id="4" name="TextBox 3"/>
          <p:cNvSpPr txBox="1"/>
          <p:nvPr/>
        </p:nvSpPr>
        <p:spPr>
          <a:xfrm>
            <a:off x="502920" y="658368"/>
            <a:ext cx="10972800" cy="475488"/>
          </a:xfrm>
          <a:prstGeom prst="rect">
            <a:avLst/>
          </a:prstGeom>
          <a:noFill/>
        </p:spPr>
        <p:txBody>
          <a:bodyPr wrap="square" lIns="64008" rIns="64008" anchor="t">
            <a:spAutoFit/>
          </a:bodyPr>
          <a:lstStyle/>
          <a:p>
            <a:pPr algn="l"/>
            <a:r>
              <a:rPr sz="2500" b="1">
                <a:solidFill>
                  <a:srgbClr val="F1F6FC"/>
                </a:solidFill>
                <a:latin typeface="Aptos"/>
              </a:rPr>
              <a:t>Why this becomes a real problem-solving product</a:t>
            </a:r>
          </a:p>
        </p:txBody>
      </p:sp>
      <p:sp>
        <p:nvSpPr>
          <p:cNvPr id="5" name="TextBox 4"/>
          <p:cNvSpPr txBox="1"/>
          <p:nvPr/>
        </p:nvSpPr>
        <p:spPr>
          <a:xfrm>
            <a:off x="502920" y="1207008"/>
            <a:ext cx="10789920" cy="292608"/>
          </a:xfrm>
          <a:prstGeom prst="rect">
            <a:avLst/>
          </a:prstGeom>
          <a:noFill/>
        </p:spPr>
        <p:txBody>
          <a:bodyPr wrap="square" lIns="64008" rIns="64008" anchor="t">
            <a:spAutoFit/>
          </a:bodyPr>
          <a:lstStyle/>
          <a:p>
            <a:pPr algn="l"/>
            <a:r>
              <a:rPr sz="1100" b="0">
                <a:solidFill>
                  <a:srgbClr val="A6B7CC"/>
                </a:solidFill>
                <a:latin typeface="Aptos"/>
              </a:rPr>
              <a:t>KAVACH is strongest when positioned as a governance layer for AI-assisted software engineering.</a:t>
            </a:r>
          </a:p>
        </p:txBody>
      </p:sp>
      <p:sp>
        <p:nvSpPr>
          <p:cNvPr id="6" name="Rounded Rectangle 5"/>
          <p:cNvSpPr/>
          <p:nvPr/>
        </p:nvSpPr>
        <p:spPr>
          <a:xfrm>
            <a:off x="713232" y="1737360"/>
            <a:ext cx="10927080" cy="713232"/>
          </a:xfrm>
          <a:prstGeom prst="roundRect">
            <a:avLst/>
          </a:prstGeom>
          <a:solidFill>
            <a:srgbClr val="141F34"/>
          </a:solidFill>
          <a:ln w="12700">
            <a:solidFill>
              <a:srgbClr val="365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920240"/>
            <a:ext cx="2423160" cy="256032"/>
          </a:xfrm>
          <a:prstGeom prst="rect">
            <a:avLst/>
          </a:prstGeom>
          <a:noFill/>
        </p:spPr>
        <p:txBody>
          <a:bodyPr wrap="square" lIns="64008" rIns="64008" anchor="t">
            <a:spAutoFit/>
          </a:bodyPr>
          <a:lstStyle/>
          <a:p>
            <a:pPr algn="l"/>
            <a:r>
              <a:rPr sz="1400" b="1">
                <a:solidFill>
                  <a:srgbClr val="F1F6FC"/>
                </a:solidFill>
                <a:latin typeface="Aptos"/>
              </a:rPr>
              <a:t>For regulated teams</a:t>
            </a:r>
          </a:p>
        </p:txBody>
      </p:sp>
      <p:sp>
        <p:nvSpPr>
          <p:cNvPr id="8" name="TextBox 7"/>
          <p:cNvSpPr txBox="1"/>
          <p:nvPr/>
        </p:nvSpPr>
        <p:spPr>
          <a:xfrm>
            <a:off x="3520440" y="1892807"/>
            <a:ext cx="7543800" cy="365760"/>
          </a:xfrm>
          <a:prstGeom prst="rect">
            <a:avLst/>
          </a:prstGeom>
          <a:noFill/>
        </p:spPr>
        <p:txBody>
          <a:bodyPr wrap="square" lIns="64008" rIns="64008" anchor="t">
            <a:spAutoFit/>
          </a:bodyPr>
          <a:lstStyle/>
          <a:p>
            <a:pPr algn="l"/>
            <a:r>
              <a:rPr sz="1200" b="0">
                <a:solidFill>
                  <a:srgbClr val="A6B7CC"/>
                </a:solidFill>
                <a:latin typeface="Aptos"/>
              </a:rPr>
              <a:t>Reduce the chance that customer identifiers, credentials, or sensitive repository context reach an unsafe downstream action.</a:t>
            </a:r>
          </a:p>
        </p:txBody>
      </p:sp>
      <p:sp>
        <p:nvSpPr>
          <p:cNvPr id="9" name="Rounded Rectangle 8"/>
          <p:cNvSpPr/>
          <p:nvPr/>
        </p:nvSpPr>
        <p:spPr>
          <a:xfrm>
            <a:off x="713232" y="2697480"/>
            <a:ext cx="10927080" cy="713232"/>
          </a:xfrm>
          <a:prstGeom prst="roundRect">
            <a:avLst/>
          </a:prstGeom>
          <a:solidFill>
            <a:srgbClr val="123039"/>
          </a:solidFill>
          <a:ln w="12700">
            <a:solidFill>
              <a:srgbClr val="4FD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880360"/>
            <a:ext cx="2423160" cy="256032"/>
          </a:xfrm>
          <a:prstGeom prst="rect">
            <a:avLst/>
          </a:prstGeom>
          <a:noFill/>
        </p:spPr>
        <p:txBody>
          <a:bodyPr wrap="square" lIns="64008" rIns="64008" anchor="t">
            <a:spAutoFit/>
          </a:bodyPr>
          <a:lstStyle/>
          <a:p>
            <a:pPr algn="l"/>
            <a:r>
              <a:rPr sz="1400" b="1">
                <a:solidFill>
                  <a:srgbClr val="F1F6FC"/>
                </a:solidFill>
                <a:latin typeface="Aptos"/>
              </a:rPr>
              <a:t>For developers</a:t>
            </a:r>
          </a:p>
        </p:txBody>
      </p:sp>
      <p:sp>
        <p:nvSpPr>
          <p:cNvPr id="11" name="TextBox 10"/>
          <p:cNvSpPr txBox="1"/>
          <p:nvPr/>
        </p:nvSpPr>
        <p:spPr>
          <a:xfrm>
            <a:off x="3520440" y="2852928"/>
            <a:ext cx="7543800" cy="365760"/>
          </a:xfrm>
          <a:prstGeom prst="rect">
            <a:avLst/>
          </a:prstGeom>
          <a:noFill/>
        </p:spPr>
        <p:txBody>
          <a:bodyPr wrap="square" lIns="64008" rIns="64008" anchor="t">
            <a:spAutoFit/>
          </a:bodyPr>
          <a:lstStyle/>
          <a:p>
            <a:pPr algn="l"/>
            <a:r>
              <a:rPr sz="1200" b="0">
                <a:solidFill>
                  <a:srgbClr val="F1F6FC"/>
                </a:solidFill>
                <a:latin typeface="Aptos"/>
              </a:rPr>
              <a:t>Keep the speed of AI assistance while making evidence, risk, impact, and validation visible in one place.</a:t>
            </a:r>
          </a:p>
        </p:txBody>
      </p:sp>
      <p:sp>
        <p:nvSpPr>
          <p:cNvPr id="12" name="Rounded Rectangle 11"/>
          <p:cNvSpPr/>
          <p:nvPr/>
        </p:nvSpPr>
        <p:spPr>
          <a:xfrm>
            <a:off x="713232" y="3657600"/>
            <a:ext cx="10927080" cy="713232"/>
          </a:xfrm>
          <a:prstGeom prst="roundRect">
            <a:avLst/>
          </a:prstGeom>
          <a:solidFill>
            <a:srgbClr val="141F34"/>
          </a:solidFill>
          <a:ln w="12700">
            <a:solidFill>
              <a:srgbClr val="365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3840480"/>
            <a:ext cx="2423160" cy="256032"/>
          </a:xfrm>
          <a:prstGeom prst="rect">
            <a:avLst/>
          </a:prstGeom>
          <a:noFill/>
        </p:spPr>
        <p:txBody>
          <a:bodyPr wrap="square" lIns="64008" rIns="64008" anchor="t">
            <a:spAutoFit/>
          </a:bodyPr>
          <a:lstStyle/>
          <a:p>
            <a:pPr algn="l"/>
            <a:r>
              <a:rPr sz="1400" b="1">
                <a:solidFill>
                  <a:srgbClr val="F1F6FC"/>
                </a:solidFill>
                <a:latin typeface="Aptos"/>
              </a:rPr>
              <a:t>For reviewers</a:t>
            </a:r>
          </a:p>
        </p:txBody>
      </p:sp>
      <p:sp>
        <p:nvSpPr>
          <p:cNvPr id="14" name="TextBox 13"/>
          <p:cNvSpPr txBox="1"/>
          <p:nvPr/>
        </p:nvSpPr>
        <p:spPr>
          <a:xfrm>
            <a:off x="3520440" y="3813048"/>
            <a:ext cx="7543800" cy="365760"/>
          </a:xfrm>
          <a:prstGeom prst="rect">
            <a:avLst/>
          </a:prstGeom>
          <a:noFill/>
        </p:spPr>
        <p:txBody>
          <a:bodyPr wrap="square" lIns="64008" rIns="64008" anchor="t">
            <a:spAutoFit/>
          </a:bodyPr>
          <a:lstStyle/>
          <a:p>
            <a:pPr algn="l"/>
            <a:r>
              <a:rPr sz="1200" b="0">
                <a:solidFill>
                  <a:srgbClr val="A6B7CC"/>
                </a:solidFill>
                <a:latin typeface="Aptos"/>
              </a:rPr>
              <a:t>Replace opaque AI output with explainable decisions, approval points, and a durable audit history.</a:t>
            </a:r>
          </a:p>
        </p:txBody>
      </p:sp>
      <p:sp>
        <p:nvSpPr>
          <p:cNvPr id="15" name="Rounded Rectangle 14"/>
          <p:cNvSpPr/>
          <p:nvPr/>
        </p:nvSpPr>
        <p:spPr>
          <a:xfrm>
            <a:off x="713232" y="4617720"/>
            <a:ext cx="10927080" cy="713232"/>
          </a:xfrm>
          <a:prstGeom prst="roundRect">
            <a:avLst/>
          </a:prstGeom>
          <a:solidFill>
            <a:srgbClr val="141F34"/>
          </a:solidFill>
          <a:ln w="12700">
            <a:solidFill>
              <a:srgbClr val="365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4800600"/>
            <a:ext cx="2423160" cy="256032"/>
          </a:xfrm>
          <a:prstGeom prst="rect">
            <a:avLst/>
          </a:prstGeom>
          <a:noFill/>
        </p:spPr>
        <p:txBody>
          <a:bodyPr wrap="square" lIns="64008" rIns="64008" anchor="t">
            <a:spAutoFit/>
          </a:bodyPr>
          <a:lstStyle/>
          <a:p>
            <a:pPr algn="l"/>
            <a:r>
              <a:rPr sz="1400" b="1">
                <a:solidFill>
                  <a:srgbClr val="F1F6FC"/>
                </a:solidFill>
                <a:latin typeface="Aptos"/>
              </a:rPr>
              <a:t>For engineering leadership</a:t>
            </a:r>
          </a:p>
        </p:txBody>
      </p:sp>
      <p:sp>
        <p:nvSpPr>
          <p:cNvPr id="17" name="TextBox 16"/>
          <p:cNvSpPr txBox="1"/>
          <p:nvPr/>
        </p:nvSpPr>
        <p:spPr>
          <a:xfrm>
            <a:off x="3520440" y="4773168"/>
            <a:ext cx="7543800" cy="365760"/>
          </a:xfrm>
          <a:prstGeom prst="rect">
            <a:avLst/>
          </a:prstGeom>
          <a:noFill/>
        </p:spPr>
        <p:txBody>
          <a:bodyPr wrap="square" lIns="64008" rIns="64008" anchor="t">
            <a:spAutoFit/>
          </a:bodyPr>
          <a:lstStyle/>
          <a:p>
            <a:pPr algn="l"/>
            <a:r>
              <a:rPr sz="1200" b="0">
                <a:solidFill>
                  <a:srgbClr val="A6B7CC"/>
                </a:solidFill>
                <a:latin typeface="Aptos"/>
              </a:rPr>
              <a:t>Turn AI coding governance into a measurable control with reports, trends, and policy packs.</a:t>
            </a:r>
          </a:p>
        </p:txBody>
      </p:sp>
      <p:sp>
        <p:nvSpPr>
          <p:cNvPr id="18" name="TextBox 17"/>
          <p:cNvSpPr txBox="1"/>
          <p:nvPr/>
        </p:nvSpPr>
        <p:spPr>
          <a:xfrm>
            <a:off x="914400" y="5897880"/>
            <a:ext cx="1280160" cy="228600"/>
          </a:xfrm>
          <a:prstGeom prst="rect">
            <a:avLst/>
          </a:prstGeom>
          <a:noFill/>
        </p:spPr>
        <p:txBody>
          <a:bodyPr wrap="square" lIns="64008" rIns="64008" anchor="t">
            <a:spAutoFit/>
          </a:bodyPr>
          <a:lstStyle/>
          <a:p>
            <a:pPr algn="l"/>
            <a:r>
              <a:rPr sz="1000" b="1">
                <a:solidFill>
                  <a:srgbClr val="F6B54A"/>
                </a:solidFill>
                <a:latin typeface="Aptos"/>
              </a:rPr>
              <a:t>Honest scope</a:t>
            </a:r>
          </a:p>
        </p:txBody>
      </p:sp>
      <p:sp>
        <p:nvSpPr>
          <p:cNvPr id="19" name="TextBox 18"/>
          <p:cNvSpPr txBox="1"/>
          <p:nvPr/>
        </p:nvSpPr>
        <p:spPr>
          <a:xfrm>
            <a:off x="2331720" y="5824728"/>
            <a:ext cx="8961120" cy="384048"/>
          </a:xfrm>
          <a:prstGeom prst="rect">
            <a:avLst/>
          </a:prstGeom>
          <a:noFill/>
        </p:spPr>
        <p:txBody>
          <a:bodyPr wrap="square" lIns="64008" rIns="64008" anchor="t">
            <a:spAutoFit/>
          </a:bodyPr>
          <a:lstStyle/>
          <a:p>
            <a:pPr algn="l"/>
            <a:r>
              <a:rPr sz="1200" b="0">
                <a:solidFill>
                  <a:srgbClr val="A6B7CC"/>
                </a:solidFill>
                <a:latin typeface="Aptos"/>
              </a:rPr>
              <a:t>Today's additions are shipped and testable. PR Guardian, persistence, authentication, isolated execution, and enterprise deployment are the next roadmap, not current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4027</Words>
  <Application>Microsoft Office PowerPoint</Application>
  <PresentationFormat>Widescreen</PresentationFormat>
  <Paragraphs>533</Paragraphs>
  <Slides>24</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KAVACH - Project Review</dc:title>
  <dc:subject>PptxGenJS Presentation</dc:subject>
  <dc:creator>PptxGenJS</dc:creator>
  <cp:lastModifiedBy>Dhruv Jain</cp:lastModifiedBy>
  <cp:revision>3</cp:revision>
  <dcterms:created xsi:type="dcterms:W3CDTF">2026-09-21T06:00:46Z</dcterms:created>
  <dcterms:modified xsi:type="dcterms:W3CDTF">2026-09-22T05:51:07Z</dcterms:modified>
</cp:coreProperties>
</file>