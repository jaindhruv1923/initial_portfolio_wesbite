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respected Professor Anusha Chhabra, Dr. Soharab Hossain Shaikh, and evaluators. We are presenting our 7th-semester Capstone and Agentic AI project titled KAVACH: A Security-Governed Multi-Agent AI DevOps and Observability Platform. Our team consists of Dhruv Jain, Dev Garg, Ansh Rohilla, and Ansh Adhikari. Today we present an exhaustive 24-slide defense covering our theoretical foundations, identified research gaps, mathematical proofs, architectural flowcharts, empirical benchmarks, and working production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sets the foundation. Autonomous coding agents represent a quantum leap from simple code completion to autonomous terminal-driven engineering. However, because LLMs are probabilistic next-token predictors, trusting them with raw terminal tools and repository access creates catastrophic enterprise vulnerabilities. System prompt safety instructions are stochastic and easily bypassed. KAVACH provides deterministic governance enforced outside the LLM context.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detail our formal Threat Model encompassing 5 fatal enterprise vulnerabilities. First, Package Slopsquatting: LLMs hallucinate non-existent imports with an average 24.3% error rate. Adversaries register these on PyPI to achieve zero-click code execution. Second, Credential and PII Exfiltration violating statutory laws like the Indian DPDP Act. Third, SCA Blindness: tools like Snyk only inspect static lockfiles after commit, missing runtime imports. Fourth, Unbounded Blast Radius. And fifth, Infinite Token-Burning Oscillations.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initiates our comprehensive literature review covering over 12 landmark publications across six domains. In Domain 1, SWE-agent and Devin prove agent capability but reveal complete absence of runtime safety gates. In Domain 2, Bar-Zik, Lazaar, and Ladisa establish the empirical reality of package hallucinations and supply-chain slopsquatting. In Domain 3, OWASP 2025 and Greshake prove indirect prompt injections in code comments hijack agent reasoning, proving that prompt-based security is fundamentally flawed.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continues our literature review into Code RAG, Static Analysis, and Legal Compliance. Lewis and Feng introduced dense vector retrieval, yet standard chunkers shatter AST syntactic boundaries and index sensitive credentials. In static analysis, Aho and Ren proved caller-callee graphs quantify change impact, but agents operate without this awareness. Finally, under the Indian DPDP Act 2023, cloud transmission of Aadhaar or PAN incurs statutory penalties. Western PII models fail on code-mixed Hinglish. KAVACH bridges every single one of these academic and practical gaps.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maps our 5 explicitly identified Research Gaps against State-of-the-Art tooling. Gap 1: Prompt-based guardrails fail against jailbreaks; KAVACH enforces Shannon entropy and deterministic regex pre-tokenization. Gap 2: Snyk/Dependabot only check static files; KAVACH builds an AST Package Firewall querying PyPI live in under 5ms. Gap 3: Agents edit code blindly; KAVACH computes AST call graph reachability. Gap 4: Agents crash or loop on runtime bugs; KAVACH adds a ReAct self-healing sandbox. Gap 5: Proprietary silos; KAVACH implements the open Anthropic Model Context Protocol.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7, we present our four concrete research objectives paired with measurable quantitative targets. We mandate 100% catch rate on hallucinated packages with zero false negatives, 100% interception of production cloud credentials, and an F1 score of 0.990 on Indian identity cards. Most importantly, our security overhead is bounded under 20 milliseconds, representing less than 2% of the end-to-end execution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provides our Master Mind Map structuring KAVACH into 5 cohesive engineering pillars: Pillar 1: Pre-Execution Governance (Shannon entropy, regex, DPDP token vault). Pillar 2: Code Intelligence and RAG (AST-aware chunking, Qdrant vector database, blast radius). Pillar 3: Dual-Engine Inference (air-gapped router separating Gemini Flash and local Ollama). Pillar 4: Verification and Sandbox (AST package firewall and ReAct self-healer). Pillar 5: Interoperability and Telemetry (MCP JSON-RPC server, Mission Control dashboard, Whisper speech).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outlines our 5-Tier Governed Stack. Requests enter via Tier 1 (CLI, Web UI, or Cursor IDE over MCP). Tier 2 Governance Gateway intercepts requests before tokenization. Tier 3 extracts codebase context from Qdrant and evaluates the AST blast radius. Tier 4 Dual-Engine router directs requests to Gemini or local Ollama. Finally, Tier 5 validates synthesized AST imports against PyPI and verifies execution in a sandboxed ReAct subprocess.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6-Stage Execution Lifecycle implemented as a formal Finite State Machine. Stage 1: Sentinel Screening filters high-entropy secrets and destructive commands. Stage 2: Qdrant RAG retrieves semantic code chunks. Stage 3: AST engine quantifies change impact. Stage 4: Dual-engine LLM synthesizes the patch. Stage 5: AST Package Firewall queries PyPI. Stage 6: ReAct sandbox executes unittests with iterative traceback reflection.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provides the mathematical rigor of KAVACH anchored in information theory and discrete graph algorithms. For credentials, we compute Shannon Entropy H(X) over character distributions, identifying high-entropy tokens with H &gt; 4.5. Our Risk Matrix computes a normalized weighted index mapping actions to ALLOW, REDACT, REVIEW, or BLOCK. Vector RAG computes cosine similarity over 384-dimensional space, and Blast Radius calculates matrix powers R = (I | A)^k over the AST call graph.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dives into our Sentinel Pre-Execution Guardrail. By evaluating inputs before tokenization, KAVACH renders prompt injection attacks impotent. Our Shannon entropy scanner detects API keys with 100% precision in under 1.8 milliseconds, halting destructive database or filesystem commands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details our Multilingual Zero-Knowledge Token Vault designed for Indian DPDP Act 2023 compliance. Standard tools like Microsoft Presidio fail on code-mixed Hinglish text. KAVACH detects Indian Aadhaar and PAN numbers, replaces them with opaque placeholders, sends sanitized prompts to Gemini, and rehydrates original values locally. Cloud logs never see raw PII.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explains our Agentic RAG implementation. Rather than blind line-window chunking which shatters syntax, KAVACH uses AST-aware chunking preserving function and class boundaries. Chunks are scrubbed for secrets and indexed into Qdrant vector storage. The agent dynamically decides if codebase context is needed, retrieving grounded evidence in under 45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covers AST Blast Radius and Change Impact Analysis. By constructing bidirectional caller-callee graphs and calculating matrix reachability, KAVACH calculates the percentage of the repository affected before a single line of code is written. If blast radius exceeds 40%, the system flags high regression risk and alerts the developer.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details our AST Package Firewall. When models hallucinate imports, attackers register them on PyPI for slopsquatting attacks. KAVACH inspects candidate code AST, extracts all imports, checks Python stdlib and local modules, and verifies external packages against live PyPI JSON endpoints in under 5 milliseconds. If PyPI returns 404, the pipeline halts immediately. We scored 100% precision and recall on our 100-package hallucination corpus.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covers our Closed-Loop ReAct Self-Healing Sandbox. When candidate code fails unit assertions, KAVACH captures the stderr traceback inside an isolated ephemeral subprocess (3.0s timeout) and reflects it back to the repair engine. With a strict upper bound of 3 iterations, KAVACH achieves a 90% autonomous recovery rate, eliminating infinite loops and debugging token exhaustion.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details our Dual-Engine LLM Router. Confidential intellectual property is routed to a local, air-gapped Ollama instance running Qwen2.5-Coder on localhost, while sanitized public tasks are routed to Google Gemini 2.5 Flash. If completely offline, a deterministic synthesizer guarantees zero-failure delivery.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highlights our Model Context Protocol (MCP) server. By adopting Anthropic's open standard, KAVACH exposes its security tools over JSON-RPC 2.0. Developers using Cursor IDE or Claude Desktop can inspect code security, calculate blast radius, and check PyPI package validity directly inside their editor.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showcases our Mission Control Dashboard and Multimodal Voice capabilities. The dark-mode dashboard provides real-time telemetry, stage progression graphs, and standalone live code review. Our voice engine uses Groq Whisper v3 for sub-800ms speech transcription with graceful Web Speech API fallback.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presents our quantitative empirical benchmarks across four specialized corpora: 100% precision and recall on our 100-package hallucination corpus; 0.990 F1 on multilingual Hinglish PII; average latency of 1,370 ms with security overhead under 20 ms in our 42-run operational benchmark; and 220 automated unit and integration tests passing with 100% CI coverage.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equips our team for the viva defense with bulletproof answers to the top 4 examiner questions: why prompt engineering fails for security, how Agentic RAG surpasses static RAG, how our AST firewall halts slopsquatting before install, and how our ReAct sandbox guarantees infinite loop immunity through bounded mathematical state limits.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presents our production roadmap. Phase 2 introduces our GitHub PR Guardian webhook, PostgreSQL persistence, and eBPF kernel security. Phase 3 scales KAVACH to polyglot codebases via Tree-sitter, Merkle tree cryptographic audit ledgers, and automated SLSA Level 3 SBOM generation.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KAVACH proves that enterprises can harness the transformative productivity of autonomous coding agents without sacrificing supply chain integrity, credential privacy, or regression stability. All 220 automated tests are passing with 100% coverage. We thank our mentors Prof. Anusha Chhabra and Dr. Soharab Hossain Shaikh, and we are now delighted to conduct our live demonstration and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640080"/>
            <a:ext cx="10728655" cy="3291840"/>
          </a:xfrm>
          <a:prstGeom prst="rect">
            <a:avLst/>
          </a:prstGeom>
          <a:noFill/>
        </p:spPr>
        <p:txBody>
          <a:bodyPr wrap="square">
            <a:spAutoFit/>
          </a:bodyPr>
          <a:lstStyle/>
          <a:p>
            <a:pPr>
              <a:spcAft>
                <a:spcPts val="1000"/>
              </a:spcAft>
              <a:defRPr sz="1100" b="1">
                <a:solidFill>
                  <a:srgbClr val="00D2FF"/>
                </a:solidFill>
              </a:defRPr>
            </a:pPr>
            <a:r>
              <a:t>BML MUNJAL UNIVERSITY | SCHOOL OF ENGINEERING &amp; TECHNOLOGY</a:t>
            </a:r>
          </a:p>
          <a:p>
            <a:pPr>
              <a:spcAft>
                <a:spcPts val="400"/>
              </a:spcAft>
              <a:defRPr sz="4400" b="1">
                <a:solidFill>
                  <a:srgbClr val="FFFFFF"/>
                </a:solidFill>
              </a:defRPr>
            </a:pPr>
            <a:r>
              <a:t>KAVACH (कवच)</a:t>
            </a:r>
          </a:p>
          <a:p>
            <a:pPr>
              <a:spcAft>
                <a:spcPts val="800"/>
              </a:spcAft>
              <a:defRPr sz="1900" b="1">
                <a:solidFill>
                  <a:srgbClr val="10B981"/>
                </a:solidFill>
              </a:defRPr>
            </a:pPr>
            <a:r>
              <a:t>A Security-Governed Multi-Agent AI DevOps &amp; Observability Platform</a:t>
            </a:r>
          </a:p>
          <a:p>
            <a:pPr>
              <a:defRPr sz="1250">
                <a:solidFill>
                  <a:srgbClr val="CBD5E1"/>
                </a:solidFill>
              </a:defRPr>
            </a:pPr>
            <a:r>
              <a:t>PRJ-IV Capstone Project &amp; CSE3101 Agentic AI (7th Semester B.Tech CSE, Academic Year 2026–27)</a:t>
            </a:r>
          </a:p>
        </p:txBody>
      </p:sp>
      <p:sp>
        <p:nvSpPr>
          <p:cNvPr id="3" name="Rounded Rectangle 2"/>
          <p:cNvSpPr/>
          <p:nvPr/>
        </p:nvSpPr>
        <p:spPr>
          <a:xfrm>
            <a:off x="731520" y="4114800"/>
            <a:ext cx="5212080" cy="21945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4242816"/>
            <a:ext cx="4882896" cy="1938528"/>
          </a:xfrm>
          <a:prstGeom prst="rect">
            <a:avLst/>
          </a:prstGeom>
          <a:noFill/>
        </p:spPr>
        <p:txBody>
          <a:bodyPr wrap="square" lIns="0" tIns="0" rIns="0" bIns="0">
            <a:spAutoFit/>
          </a:bodyPr>
          <a:lstStyle/>
          <a:p>
            <a:pPr>
              <a:spcAft>
                <a:spcPts val="500"/>
              </a:spcAft>
              <a:defRPr sz="1200" b="1">
                <a:solidFill>
                  <a:srgbClr val="FBBF24"/>
                </a:solidFill>
              </a:defRPr>
            </a:pPr>
            <a:r>
              <a:t>Academic Engineering Team</a:t>
            </a:r>
          </a:p>
          <a:p>
            <a:pPr>
              <a:spcAft>
                <a:spcPts val="300"/>
              </a:spcAft>
            </a:pPr>
            <a:r>
              <a:rPr b="1" sz="950">
                <a:solidFill>
                  <a:srgbClr val="FFFFFF"/>
                </a:solidFill>
              </a:rPr>
              <a:t>• Lead Architect: </a:t>
            </a:r>
            <a:r>
              <a:rPr sz="919">
                <a:solidFill>
                  <a:srgbClr val="CBD5E1"/>
                </a:solidFill>
              </a:rPr>
              <a:t>Dhruv Jain (Roll No. 230532) — Core Orchestration &amp; State Machine</a:t>
            </a:r>
          </a:p>
          <a:p>
            <a:pPr>
              <a:spcAft>
                <a:spcPts val="300"/>
              </a:spcAft>
            </a:pPr>
            <a:r>
              <a:rPr b="1" sz="950">
                <a:solidFill>
                  <a:srgbClr val="FFFFFF"/>
                </a:solidFill>
              </a:rPr>
              <a:t>• Security Lead: </a:t>
            </a:r>
            <a:r>
              <a:rPr sz="919">
                <a:solidFill>
                  <a:srgbClr val="CBD5E1"/>
                </a:solidFill>
              </a:rPr>
              <a:t>Dev Garg (Roll No. 230487) — Shannon Entropy &amp; Secret Screening</a:t>
            </a:r>
          </a:p>
          <a:p>
            <a:pPr>
              <a:spcAft>
                <a:spcPts val="300"/>
              </a:spcAft>
            </a:pPr>
            <a:r>
              <a:rPr b="1" sz="950">
                <a:solidFill>
                  <a:srgbClr val="FFFFFF"/>
                </a:solidFill>
              </a:rPr>
              <a:t>• Intelligence Lead: </a:t>
            </a:r>
            <a:r>
              <a:rPr sz="919">
                <a:solidFill>
                  <a:srgbClr val="CBD5E1"/>
                </a:solidFill>
              </a:rPr>
              <a:t>Ansh Rohilla (Roll No. 230794) — Qdrant Vector RAG &amp; AST Graph</a:t>
            </a:r>
          </a:p>
          <a:p>
            <a:pPr>
              <a:spcAft>
                <a:spcPts val="300"/>
              </a:spcAft>
            </a:pPr>
            <a:r>
              <a:rPr b="1" sz="950">
                <a:solidFill>
                  <a:srgbClr val="FFFFFF"/>
                </a:solidFill>
              </a:rPr>
              <a:t>• Systems Lead: </a:t>
            </a:r>
            <a:r>
              <a:rPr sz="919">
                <a:solidFill>
                  <a:srgbClr val="CBD5E1"/>
                </a:solidFill>
              </a:rPr>
              <a:t>Ansh Adhikari (Roll No. 230822) — ReAct Sandbox &amp; PyPI Firewall</a:t>
            </a:r>
          </a:p>
        </p:txBody>
      </p:sp>
      <p:sp>
        <p:nvSpPr>
          <p:cNvPr id="5" name="Rounded Rectangle 4"/>
          <p:cNvSpPr/>
          <p:nvPr/>
        </p:nvSpPr>
        <p:spPr>
          <a:xfrm>
            <a:off x="6217920" y="4114800"/>
            <a:ext cx="5212080" cy="21945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82512" y="4242816"/>
            <a:ext cx="4882896" cy="1938528"/>
          </a:xfrm>
          <a:prstGeom prst="rect">
            <a:avLst/>
          </a:prstGeom>
          <a:noFill/>
        </p:spPr>
        <p:txBody>
          <a:bodyPr wrap="square" lIns="0" tIns="0" rIns="0" bIns="0">
            <a:spAutoFit/>
          </a:bodyPr>
          <a:lstStyle/>
          <a:p>
            <a:pPr>
              <a:spcAft>
                <a:spcPts val="500"/>
              </a:spcAft>
              <a:defRPr sz="1200" b="1">
                <a:solidFill>
                  <a:srgbClr val="00D2FF"/>
                </a:solidFill>
              </a:defRPr>
            </a:pPr>
            <a:r>
              <a:t>Faculty Governance &amp; Live Operational Status</a:t>
            </a:r>
          </a:p>
          <a:p>
            <a:pPr>
              <a:spcAft>
                <a:spcPts val="300"/>
              </a:spcAft>
            </a:pPr>
            <a:r>
              <a:rPr b="1" sz="950">
                <a:solidFill>
                  <a:srgbClr val="FFFFFF"/>
                </a:solidFill>
              </a:rPr>
              <a:t>• Faculty Evaluator: </a:t>
            </a:r>
            <a:r>
              <a:rPr sz="919">
                <a:solidFill>
                  <a:srgbClr val="CBD5E1"/>
                </a:solidFill>
              </a:rPr>
              <a:t>Prof. Anusha Chhabra &amp; Dr. Soharab Hossain Shaikh</a:t>
            </a:r>
          </a:p>
          <a:p>
            <a:pPr>
              <a:spcAft>
                <a:spcPts val="300"/>
              </a:spcAft>
            </a:pPr>
            <a:r>
              <a:rPr b="1" sz="950">
                <a:solidFill>
                  <a:srgbClr val="FFFFFF"/>
                </a:solidFill>
              </a:rPr>
              <a:t>• Evaluation Rubrics: </a:t>
            </a:r>
            <a:r>
              <a:rPr sz="919">
                <a:solidFill>
                  <a:srgbClr val="CBD5E1"/>
                </a:solidFill>
              </a:rPr>
              <a:t>Lit. Review (10M) + Research Gap (5M) + Problem Def. (5M) + Methodology (5M) = 25M</a:t>
            </a:r>
          </a:p>
          <a:p>
            <a:pPr>
              <a:spcAft>
                <a:spcPts val="300"/>
              </a:spcAft>
            </a:pPr>
            <a:r>
              <a:rPr b="1" sz="950">
                <a:solidFill>
                  <a:srgbClr val="FFFFFF"/>
                </a:solidFill>
              </a:rPr>
              <a:t>• Operational Baseline: </a:t>
            </a:r>
            <a:r>
              <a:rPr sz="919">
                <a:solidFill>
                  <a:srgbClr val="CBD5E1"/>
                </a:solidFill>
              </a:rPr>
              <a:t>18 FastAPI Endpoints Live | Anthropic Model Context Protocol (MCP) Server Active</a:t>
            </a:r>
          </a:p>
          <a:p>
            <a:pPr>
              <a:spcAft>
                <a:spcPts val="300"/>
              </a:spcAft>
            </a:pPr>
            <a:r>
              <a:rPr b="1" sz="950">
                <a:solidFill>
                  <a:srgbClr val="FFFFFF"/>
                </a:solidFill>
              </a:rPr>
              <a:t>• Verification Rigor: </a:t>
            </a:r>
            <a:r>
              <a:rPr sz="919">
                <a:solidFill>
                  <a:srgbClr val="CBD5E1"/>
                </a:solidFill>
              </a:rPr>
              <a:t>220+ Automated Unit &amp; Integration Tests Passing (100% CI/CD Coverage)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PROBLEM DEFINITION &amp; CONTEXT</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2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Executive Summary: The Autonomous Coding Agent Revolution</a:t>
            </a:r>
          </a:p>
        </p:txBody>
      </p:sp>
      <p:sp>
        <p:nvSpPr>
          <p:cNvPr id="5" name="Rounded Rectangle 4"/>
          <p:cNvSpPr/>
          <p:nvPr/>
        </p:nvSpPr>
        <p:spPr>
          <a:xfrm>
            <a:off x="731520" y="1371600"/>
            <a:ext cx="512064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791456" cy="4681728"/>
          </a:xfrm>
          <a:prstGeom prst="rect">
            <a:avLst/>
          </a:prstGeom>
          <a:noFill/>
        </p:spPr>
        <p:txBody>
          <a:bodyPr wrap="square" lIns="0" tIns="0" rIns="0" bIns="0">
            <a:spAutoFit/>
          </a:bodyPr>
          <a:lstStyle/>
          <a:p>
            <a:pPr>
              <a:spcAft>
                <a:spcPts val="500"/>
              </a:spcAft>
              <a:defRPr sz="1200" b="1">
                <a:solidFill>
                  <a:srgbClr val="00D2FF"/>
                </a:solidFill>
              </a:defRPr>
            </a:pPr>
            <a:r>
              <a:t>The Engineering Paradigm Shift</a:t>
            </a:r>
          </a:p>
          <a:p>
            <a:pPr>
              <a:spcAft>
                <a:spcPts val="300"/>
              </a:spcAft>
            </a:pPr>
            <a:r>
              <a:rPr b="1" sz="950">
                <a:solidFill>
                  <a:srgbClr val="FFFFFF"/>
                </a:solidFill>
              </a:rPr>
              <a:t>• From Autocomplete to Autonomy: </a:t>
            </a:r>
            <a:r>
              <a:rPr sz="919">
                <a:solidFill>
                  <a:srgbClr val="CBD5E1"/>
                </a:solidFill>
              </a:rPr>
              <a:t>Software engineering has evolved from passive inline suggestions (GitHub Copilot) to full-lifecycle autonomous coding agents (Devin, SWE-agent, AutoPR) capable of multi-file modifications and terminal tool execution.</a:t>
            </a:r>
          </a:p>
          <a:p>
            <a:pPr>
              <a:spcAft>
                <a:spcPts val="300"/>
              </a:spcAft>
            </a:pPr>
            <a:r>
              <a:rPr b="1" sz="950">
                <a:solidFill>
                  <a:srgbClr val="FFFFFF"/>
                </a:solidFill>
              </a:rPr>
              <a:t>• The 10x Velocity Promise: </a:t>
            </a:r>
            <a:r>
              <a:rPr sz="919">
                <a:solidFill>
                  <a:srgbClr val="CBD5E1"/>
                </a:solidFill>
              </a:rPr>
              <a:t>Agents read Jira issues, clone git repositories, construct execution plans, write code, run unittests, and open Pull Requests autonomously.</a:t>
            </a:r>
          </a:p>
          <a:p>
            <a:pPr>
              <a:spcAft>
                <a:spcPts val="300"/>
              </a:spcAft>
            </a:pPr>
            <a:r>
              <a:rPr b="1" sz="950">
                <a:solidFill>
                  <a:srgbClr val="FFFFFF"/>
                </a:solidFill>
              </a:rPr>
              <a:t>• The Unsupervised Terminal Hazard: </a:t>
            </a:r>
            <a:r>
              <a:rPr sz="919">
                <a:solidFill>
                  <a:srgbClr val="CBD5E1"/>
                </a:solidFill>
              </a:rPr>
              <a:t>Unlike passive LLMs, agentic systems possess unconstrained shell execution privileges inside developer environments, allowing them to invoke arbitrary bash commands and compile third-party code.</a:t>
            </a:r>
          </a:p>
          <a:p>
            <a:pPr>
              <a:spcAft>
                <a:spcPts val="300"/>
              </a:spcAft>
            </a:pPr>
            <a:r>
              <a:rPr b="1" sz="950">
                <a:solidFill>
                  <a:srgbClr val="FFFFFF"/>
                </a:solidFill>
              </a:rPr>
              <a:t>• The Core Enterprise Dilemma: </a:t>
            </a:r>
            <a:r>
              <a:rPr sz="919">
                <a:solidFill>
                  <a:srgbClr val="CBD5E1"/>
                </a:solidFill>
              </a:rPr>
              <a:t>How can software organizations harness agentic developer velocity without surrendering intellectual property, exposing production credentials, or deploying poisoned software supply chains?</a:t>
            </a:r>
          </a:p>
          <a:p>
            <a:pPr>
              <a:spcAft>
                <a:spcPts val="300"/>
              </a:spcAft>
            </a:pPr>
            <a:r>
              <a:rPr b="1" sz="950">
                <a:solidFill>
                  <a:srgbClr val="FFFFFF"/>
                </a:solidFill>
              </a:rPr>
              <a:t>• The KAVACH Mission: </a:t>
            </a:r>
            <a:r>
              <a:rPr sz="919">
                <a:solidFill>
                  <a:srgbClr val="CBD5E1"/>
                </a:solidFill>
              </a:rPr>
              <a:t>To provide a deterministic, mathematically grounded security governance gateway that intercepts vulnerabilities BEFORE tokenization and sandboxes code post-synthesis.</a:t>
            </a:r>
          </a:p>
        </p:txBody>
      </p:sp>
      <p:sp>
        <p:nvSpPr>
          <p:cNvPr id="7" name="Rounded Rectangle 6"/>
          <p:cNvSpPr/>
          <p:nvPr/>
        </p:nvSpPr>
        <p:spPr>
          <a:xfrm>
            <a:off x="6217920" y="1371600"/>
            <a:ext cx="52120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4681728"/>
          </a:xfrm>
          <a:prstGeom prst="rect">
            <a:avLst/>
          </a:prstGeom>
          <a:noFill/>
        </p:spPr>
        <p:txBody>
          <a:bodyPr wrap="square" lIns="0" tIns="0" rIns="0" bIns="0">
            <a:spAutoFit/>
          </a:bodyPr>
          <a:lstStyle/>
          <a:p>
            <a:pPr>
              <a:spcAft>
                <a:spcPts val="500"/>
              </a:spcAft>
              <a:defRPr sz="1200" b="1">
                <a:solidFill>
                  <a:srgbClr val="F59E0B"/>
                </a:solidFill>
              </a:defRPr>
            </a:pPr>
            <a:r>
              <a:t>The Probabilistic Flaw of Generative LLMs</a:t>
            </a:r>
          </a:p>
          <a:p>
            <a:pPr>
              <a:spcAft>
                <a:spcPts val="300"/>
              </a:spcAft>
            </a:pPr>
            <a:r>
              <a:rPr b="1" sz="950">
                <a:solidFill>
                  <a:srgbClr val="FFFFFF"/>
                </a:solidFill>
              </a:rPr>
              <a:t>• Statistical Next-Token Predictors: </a:t>
            </a:r>
            <a:r>
              <a:rPr sz="919">
                <a:solidFill>
                  <a:srgbClr val="CBD5E1"/>
                </a:solidFill>
              </a:rPr>
              <a:t>LLMs (GPT-4o, Claude 3.5, Gemini 2.5) are probabilistic token generators. They possess zero innate understanding of operational blast radius, legal privacy frameworks, or supply chain validity.</a:t>
            </a:r>
          </a:p>
          <a:p>
            <a:pPr>
              <a:spcAft>
                <a:spcPts val="300"/>
              </a:spcAft>
            </a:pPr>
            <a:r>
              <a:rPr b="1" sz="950">
                <a:solidFill>
                  <a:srgbClr val="FFFFFF"/>
                </a:solidFill>
              </a:rPr>
              <a:t>• Fragility of Prompt-Based Safety: </a:t>
            </a:r>
            <a:r>
              <a:rPr sz="919">
                <a:solidFill>
                  <a:srgbClr val="CBD5E1"/>
                </a:solidFill>
              </a:rPr>
              <a:t>Traditional defenses rely on system prompts: 'You are a safe assistant; never leak keys or invent packages.' Adversarial prompts, jailbreaks, and indirect prompt injections easily bypass these instructions.</a:t>
            </a:r>
          </a:p>
          <a:p>
            <a:pPr>
              <a:spcAft>
                <a:spcPts val="300"/>
              </a:spcAft>
            </a:pPr>
            <a:r>
              <a:rPr b="1" sz="950">
                <a:solidFill>
                  <a:srgbClr val="FFFFFF"/>
                </a:solidFill>
              </a:rPr>
              <a:t>• Unaware of Downstream Regressions: </a:t>
            </a:r>
            <a:r>
              <a:rPr sz="919">
                <a:solidFill>
                  <a:srgbClr val="CBD5E1"/>
                </a:solidFill>
              </a:rPr>
              <a:t>Agents edit target functions in isolation without analyzing the transitive reachability matrix across the repository call graph, causing silent cascading production outages.</a:t>
            </a:r>
          </a:p>
          <a:p>
            <a:pPr>
              <a:spcAft>
                <a:spcPts val="300"/>
              </a:spcAft>
            </a:pPr>
            <a:r>
              <a:rPr b="1" sz="950">
                <a:solidFill>
                  <a:srgbClr val="FFFFFF"/>
                </a:solidFill>
              </a:rPr>
              <a:t>• The Governance Imperative: </a:t>
            </a:r>
            <a:r>
              <a:rPr sz="919">
                <a:solidFill>
                  <a:srgbClr val="CBD5E1"/>
                </a:solidFill>
              </a:rPr>
              <a:t>Security must be deterministically enforced OUTSIDE the LLM inference layer through compiled abstract syntax trees, information entropy, and isolated sandboxes.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RUBRIC 1: PROBLEM DEFINITION &amp; OBJECTIVE (5 MARKS)</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3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Threat Modeling: The 5 Fatal Vulnerabilities of AI Coding Agents</a:t>
            </a:r>
          </a:p>
        </p:txBody>
      </p:sp>
      <p:sp>
        <p:nvSpPr>
          <p:cNvPr id="5" name="Rounded Rectangle 4"/>
          <p:cNvSpPr/>
          <p:nvPr/>
        </p:nvSpPr>
        <p:spPr>
          <a:xfrm>
            <a:off x="731520" y="1325880"/>
            <a:ext cx="10728655" cy="914400"/>
          </a:xfrm>
          <a:prstGeom prst="roundRect">
            <a:avLst/>
          </a:prstGeom>
          <a:solidFill>
            <a:srgbClr val="12151D"/>
          </a:solidFill>
          <a:ln w="1651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99032"/>
            <a:ext cx="10362895" cy="768096"/>
          </a:xfrm>
          <a:prstGeom prst="rect">
            <a:avLst/>
          </a:prstGeom>
          <a:noFill/>
        </p:spPr>
        <p:txBody>
          <a:bodyPr wrap="square" lIns="0" tIns="0" rIns="0" bIns="0">
            <a:spAutoFit/>
          </a:bodyPr>
          <a:lstStyle/>
          <a:p>
            <a:r>
              <a:rPr b="1" sz="1100">
                <a:solidFill>
                  <a:srgbClr val="EF4444"/>
                </a:solidFill>
              </a:rPr>
              <a:t>1. AI Package Hallucination &amp; Slopsquatting
</a:t>
            </a:r>
          </a:p>
          <a:p>
            <a:r>
              <a:rPr sz="930">
                <a:solidFill>
                  <a:srgbClr val="CBD5E1"/>
                </a:solidFill>
              </a:rPr>
              <a:t>Generative LLMs hallucinate non-existent package dependencies (e.g. 'import fastapi_jwt_vault'). Attackers monitor these hallucinations, register the names on PyPI/npm, and execute malicious install-time hooks.</a:t>
            </a:r>
          </a:p>
        </p:txBody>
      </p:sp>
      <p:sp>
        <p:nvSpPr>
          <p:cNvPr id="7" name="Rounded Rectangle 6"/>
          <p:cNvSpPr/>
          <p:nvPr/>
        </p:nvSpPr>
        <p:spPr>
          <a:xfrm>
            <a:off x="731520" y="2350008"/>
            <a:ext cx="10728655" cy="914400"/>
          </a:xfrm>
          <a:prstGeom prst="roundRect">
            <a:avLst/>
          </a:prstGeom>
          <a:solidFill>
            <a:srgbClr val="12151D"/>
          </a:solidFill>
          <a:ln w="1651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23160"/>
            <a:ext cx="10362895" cy="768096"/>
          </a:xfrm>
          <a:prstGeom prst="rect">
            <a:avLst/>
          </a:prstGeom>
          <a:noFill/>
        </p:spPr>
        <p:txBody>
          <a:bodyPr wrap="square" lIns="0" tIns="0" rIns="0" bIns="0">
            <a:spAutoFit/>
          </a:bodyPr>
          <a:lstStyle/>
          <a:p>
            <a:r>
              <a:rPr b="1" sz="1100">
                <a:solidFill>
                  <a:srgbClr val="F59E0B"/>
                </a:solidFill>
              </a:rPr>
              <a:t>2. Cloud Credential &amp; National ID (PII) Exfiltration
</a:t>
            </a:r>
          </a:p>
          <a:p>
            <a:r>
              <a:rPr sz="930">
                <a:solidFill>
                  <a:srgbClr val="CBD5E1"/>
                </a:solidFill>
              </a:rPr>
              <a:t>Developers paste production AWS keys, GitHub PATs, and Indian PII (Aadhaar, PAN) into agent prompts. These are transmitted to third-party cloud LLM logs, violating the Indian DPDP Act 2023.</a:t>
            </a:r>
          </a:p>
        </p:txBody>
      </p:sp>
      <p:sp>
        <p:nvSpPr>
          <p:cNvPr id="9" name="Rounded Rectangle 8"/>
          <p:cNvSpPr/>
          <p:nvPr/>
        </p:nvSpPr>
        <p:spPr>
          <a:xfrm>
            <a:off x="731520" y="3374136"/>
            <a:ext cx="10728655" cy="914400"/>
          </a:xfrm>
          <a:prstGeom prst="roundRect">
            <a:avLst/>
          </a:prstGeom>
          <a:solidFill>
            <a:srgbClr val="12151D"/>
          </a:solidFill>
          <a:ln w="1651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447288"/>
            <a:ext cx="10362895" cy="768096"/>
          </a:xfrm>
          <a:prstGeom prst="rect">
            <a:avLst/>
          </a:prstGeom>
          <a:noFill/>
        </p:spPr>
        <p:txBody>
          <a:bodyPr wrap="square" lIns="0" tIns="0" rIns="0" bIns="0">
            <a:spAutoFit/>
          </a:bodyPr>
          <a:lstStyle/>
          <a:p>
            <a:r>
              <a:rPr b="1" sz="1100">
                <a:solidFill>
                  <a:srgbClr val="00D2FF"/>
                </a:solidFill>
              </a:rPr>
              <a:t>3. Post-Facto SCA Blindness (Snyk / Dependabot Gap)
</a:t>
            </a:r>
          </a:p>
          <a:p>
            <a:r>
              <a:rPr sz="930">
                <a:solidFill>
                  <a:srgbClr val="CBD5E1"/>
                </a:solidFill>
              </a:rPr>
              <a:t>Static Software Composition Analysis tools only scan requirements.txt or lockfiles post-commit. They are completely blind to runtime packages synthesized dynamically in agent memory.</a:t>
            </a:r>
          </a:p>
        </p:txBody>
      </p:sp>
      <p:sp>
        <p:nvSpPr>
          <p:cNvPr id="11" name="Rounded Rectangle 10"/>
          <p:cNvSpPr/>
          <p:nvPr/>
        </p:nvSpPr>
        <p:spPr>
          <a:xfrm>
            <a:off x="731520" y="4398264"/>
            <a:ext cx="10728655" cy="914400"/>
          </a:xfrm>
          <a:prstGeom prst="roundRect">
            <a:avLst/>
          </a:prstGeom>
          <a:solidFill>
            <a:srgbClr val="12151D"/>
          </a:solidFill>
          <a:ln w="1651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71416"/>
            <a:ext cx="10362895" cy="768096"/>
          </a:xfrm>
          <a:prstGeom prst="rect">
            <a:avLst/>
          </a:prstGeom>
          <a:noFill/>
        </p:spPr>
        <p:txBody>
          <a:bodyPr wrap="square" lIns="0" tIns="0" rIns="0" bIns="0">
            <a:spAutoFit/>
          </a:bodyPr>
          <a:lstStyle/>
          <a:p>
            <a:r>
              <a:rPr b="1" sz="1100">
                <a:solidFill>
                  <a:srgbClr val="FBBF24"/>
                </a:solidFill>
              </a:rPr>
              <a:t>4. Unbounded Blast Radius &amp; Cascading Regressions
</a:t>
            </a:r>
          </a:p>
          <a:p>
            <a:r>
              <a:rPr sz="930">
                <a:solidFill>
                  <a:srgbClr val="CBD5E1"/>
                </a:solidFill>
              </a:rPr>
              <a:t>Agents modify core functions without awareness of upstream callers or downstream dependents, triggering silent regression breaks across distributed microservices.</a:t>
            </a:r>
          </a:p>
        </p:txBody>
      </p:sp>
      <p:sp>
        <p:nvSpPr>
          <p:cNvPr id="13" name="Rounded Rectangle 12"/>
          <p:cNvSpPr/>
          <p:nvPr/>
        </p:nvSpPr>
        <p:spPr>
          <a:xfrm>
            <a:off x="731520" y="5422392"/>
            <a:ext cx="10728655" cy="914400"/>
          </a:xfrm>
          <a:prstGeom prst="roundRect">
            <a:avLst/>
          </a:prstGeom>
          <a:solidFill>
            <a:srgbClr val="12151D"/>
          </a:solidFill>
          <a:ln w="1651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95544"/>
            <a:ext cx="10362895" cy="768096"/>
          </a:xfrm>
          <a:prstGeom prst="rect">
            <a:avLst/>
          </a:prstGeom>
          <a:noFill/>
        </p:spPr>
        <p:txBody>
          <a:bodyPr wrap="square" lIns="0" tIns="0" rIns="0" bIns="0">
            <a:spAutoFit/>
          </a:bodyPr>
          <a:lstStyle/>
          <a:p>
            <a:r>
              <a:rPr b="1" sz="1100">
                <a:solidFill>
                  <a:srgbClr val="A855F7"/>
                </a:solidFill>
              </a:rPr>
              <a:t>5. Infinite Debugging Oscillations &amp; Token Burning
</a:t>
            </a:r>
          </a:p>
          <a:p>
            <a:r>
              <a:rPr sz="930">
                <a:solidFill>
                  <a:srgbClr val="CBD5E1"/>
                </a:solidFill>
              </a:rPr>
              <a:t>When generated patches fail unit tests, agents enter non-convergent, infinite trial-and-error loops, exhausting API rate limits and burning enterprise compute budgets.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RUBRIC 2: COMPREHENSIVENESS OF LITERATURE REVIEW (PART 1 / 2 — 10 MARKS)</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4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Literature Review: Autonomous Agents, Supply Chain &amp; Injection Attacks</a:t>
            </a:r>
          </a:p>
        </p:txBody>
      </p:sp>
      <p:sp>
        <p:nvSpPr>
          <p:cNvPr id="5" name="Rounded Rectangle 4"/>
          <p:cNvSpPr/>
          <p:nvPr/>
        </p:nvSpPr>
        <p:spPr>
          <a:xfrm>
            <a:off x="731520" y="1371600"/>
            <a:ext cx="33832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3054096" cy="4681728"/>
          </a:xfrm>
          <a:prstGeom prst="rect">
            <a:avLst/>
          </a:prstGeom>
          <a:noFill/>
        </p:spPr>
        <p:txBody>
          <a:bodyPr wrap="square" lIns="0" tIns="0" rIns="0" bIns="0">
            <a:spAutoFit/>
          </a:bodyPr>
          <a:lstStyle/>
          <a:p>
            <a:pPr>
              <a:spcAft>
                <a:spcPts val="500"/>
              </a:spcAft>
              <a:defRPr sz="1200" b="1">
                <a:solidFill>
                  <a:srgbClr val="00D2FF"/>
                </a:solidFill>
              </a:defRPr>
            </a:pPr>
            <a:r>
              <a:t>1. Autonomous Coding Agents</a:t>
            </a:r>
          </a:p>
          <a:p>
            <a:pPr>
              <a:spcAft>
                <a:spcPts val="300"/>
              </a:spcAft>
            </a:pPr>
            <a:r>
              <a:rPr b="1" sz="950">
                <a:solidFill>
                  <a:srgbClr val="FFFFFF"/>
                </a:solidFill>
              </a:rPr>
              <a:t>• SWE-agent (Yang et al., 2024): </a:t>
            </a:r>
            <a:r>
              <a:rPr sz="919">
                <a:solidFill>
                  <a:srgbClr val="CBD5E1"/>
                </a:solidFill>
              </a:rPr>
              <a:t>Pioneered agentic terminal interaction using ReAct loops to solve real-world GitHub issues; established benchmarking on SWE-bench.</a:t>
            </a:r>
          </a:p>
          <a:p>
            <a:pPr>
              <a:spcAft>
                <a:spcPts val="300"/>
              </a:spcAft>
            </a:pPr>
            <a:r>
              <a:rPr b="1" sz="950">
                <a:solidFill>
                  <a:srgbClr val="FFFFFF"/>
                </a:solidFill>
              </a:rPr>
              <a:t>• Critical Vulnerability: </a:t>
            </a:r>
            <a:r>
              <a:rPr sz="919">
                <a:solidFill>
                  <a:srgbClr val="CBD5E1"/>
                </a:solidFill>
              </a:rPr>
              <a:t>Lacks runtime safety gates; permits arbitrary destructive shell commands ('rm -rf', 'DROP TABLE') without interception.</a:t>
            </a:r>
          </a:p>
          <a:p>
            <a:pPr>
              <a:spcAft>
                <a:spcPts val="300"/>
              </a:spcAft>
            </a:pPr>
            <a:r>
              <a:rPr b="1" sz="950">
                <a:solidFill>
                  <a:srgbClr val="FFFFFF"/>
                </a:solidFill>
              </a:rPr>
              <a:t>• Devin (Cognition AI, 2024): </a:t>
            </a:r>
            <a:r>
              <a:rPr sz="919">
                <a:solidFill>
                  <a:srgbClr val="CBD5E1"/>
                </a:solidFill>
              </a:rPr>
              <a:t>Demonstrated multi-file reasoning and terminal compilation but suffers from non-convergent debugging loops.</a:t>
            </a:r>
          </a:p>
          <a:p>
            <a:pPr>
              <a:spcAft>
                <a:spcPts val="300"/>
              </a:spcAft>
            </a:pPr>
            <a:r>
              <a:rPr b="1" sz="950">
                <a:solidFill>
                  <a:srgbClr val="FFFFFF"/>
                </a:solidFill>
              </a:rPr>
              <a:t>• ReAct (Yao et al., 2023): </a:t>
            </a:r>
            <a:r>
              <a:rPr sz="919">
                <a:solidFill>
                  <a:srgbClr val="CBD5E1"/>
                </a:solidFill>
              </a:rPr>
              <a:t>Synergized reasoning traces and task-specific actions; foundational to agent planning.</a:t>
            </a:r>
          </a:p>
          <a:p>
            <a:pPr>
              <a:spcAft>
                <a:spcPts val="300"/>
              </a:spcAft>
            </a:pPr>
            <a:r>
              <a:rPr b="1" sz="950">
                <a:solidFill>
                  <a:srgbClr val="FFFFFF"/>
                </a:solidFill>
              </a:rPr>
              <a:t>• Reflexion (Shinn et al., 2023): </a:t>
            </a:r>
            <a:r>
              <a:rPr sz="919">
                <a:solidFill>
                  <a:srgbClr val="CBD5E1"/>
                </a:solidFill>
              </a:rPr>
              <a:t>Demonstrated verbal reinforcement learning for code self-repair, which KAVACH formalizes into bounded sandboxes.</a:t>
            </a:r>
          </a:p>
        </p:txBody>
      </p:sp>
      <p:sp>
        <p:nvSpPr>
          <p:cNvPr id="7" name="Rounded Rectangle 6"/>
          <p:cNvSpPr/>
          <p:nvPr/>
        </p:nvSpPr>
        <p:spPr>
          <a:xfrm>
            <a:off x="4389120" y="1371600"/>
            <a:ext cx="33832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53712" y="1499616"/>
            <a:ext cx="3054096" cy="4681728"/>
          </a:xfrm>
          <a:prstGeom prst="rect">
            <a:avLst/>
          </a:prstGeom>
          <a:noFill/>
        </p:spPr>
        <p:txBody>
          <a:bodyPr wrap="square" lIns="0" tIns="0" rIns="0" bIns="0">
            <a:spAutoFit/>
          </a:bodyPr>
          <a:lstStyle/>
          <a:p>
            <a:pPr>
              <a:spcAft>
                <a:spcPts val="500"/>
              </a:spcAft>
              <a:defRPr sz="1200" b="1">
                <a:solidFill>
                  <a:srgbClr val="FBBF24"/>
                </a:solidFill>
              </a:defRPr>
            </a:pPr>
            <a:r>
              <a:t>2. AI Package Hallucinations</a:t>
            </a:r>
          </a:p>
          <a:p>
            <a:pPr>
              <a:spcAft>
                <a:spcPts val="300"/>
              </a:spcAft>
            </a:pPr>
            <a:r>
              <a:rPr b="1" sz="950">
                <a:solidFill>
                  <a:srgbClr val="FFFFFF"/>
                </a:solidFill>
              </a:rPr>
              <a:t>• Bar-Zik (2024): </a:t>
            </a:r>
            <a:r>
              <a:rPr sz="919">
                <a:solidFill>
                  <a:srgbClr val="CBD5E1"/>
                </a:solidFill>
              </a:rPr>
              <a:t>First documented that LLMs frequently invent non-existent package dependencies when queried about niche technical domains.</a:t>
            </a:r>
          </a:p>
          <a:p>
            <a:pPr>
              <a:spcAft>
                <a:spcPts val="300"/>
              </a:spcAft>
            </a:pPr>
            <a:r>
              <a:rPr b="1" sz="950">
                <a:solidFill>
                  <a:srgbClr val="FFFFFF"/>
                </a:solidFill>
              </a:rPr>
              <a:t>• Lazaar et al. (2024): </a:t>
            </a:r>
            <a:r>
              <a:rPr sz="919">
                <a:solidFill>
                  <a:srgbClr val="CBD5E1"/>
                </a:solidFill>
              </a:rPr>
              <a:t>Empirically proved commercial LLMs exhibit an average 24.3% hallucination rate on external software package names.</a:t>
            </a:r>
          </a:p>
          <a:p>
            <a:pPr>
              <a:spcAft>
                <a:spcPts val="300"/>
              </a:spcAft>
            </a:pPr>
            <a:r>
              <a:rPr b="1" sz="950">
                <a:solidFill>
                  <a:srgbClr val="FFFFFF"/>
                </a:solidFill>
              </a:rPr>
              <a:t>• Ladisa et al. (2023): </a:t>
            </a:r>
            <a:r>
              <a:rPr sz="919">
                <a:solidFill>
                  <a:srgbClr val="CBD5E1"/>
                </a:solidFill>
              </a:rPr>
              <a:t>Taxonomy of software supply chain attacks; proved traditional lockfile scanners cannot detect dynamically synthesized imports.</a:t>
            </a:r>
          </a:p>
          <a:p>
            <a:pPr>
              <a:spcAft>
                <a:spcPts val="300"/>
              </a:spcAft>
            </a:pPr>
            <a:r>
              <a:rPr b="1" sz="950">
                <a:solidFill>
                  <a:srgbClr val="FFFFFF"/>
                </a:solidFill>
              </a:rPr>
              <a:t>• Slopsquatting Attack Vector: </a:t>
            </a:r>
            <a:r>
              <a:rPr sz="919">
                <a:solidFill>
                  <a:srgbClr val="CBD5E1"/>
                </a:solidFill>
              </a:rPr>
              <a:t>Adversaries monitor LLM hallucination patterns and preemptively register malicious packages on PyPI/npm registries.</a:t>
            </a:r>
          </a:p>
        </p:txBody>
      </p:sp>
      <p:sp>
        <p:nvSpPr>
          <p:cNvPr id="9" name="Rounded Rectangle 8"/>
          <p:cNvSpPr/>
          <p:nvPr/>
        </p:nvSpPr>
        <p:spPr>
          <a:xfrm>
            <a:off x="8046720" y="1371600"/>
            <a:ext cx="33832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499616"/>
            <a:ext cx="3054096" cy="4681728"/>
          </a:xfrm>
          <a:prstGeom prst="rect">
            <a:avLst/>
          </a:prstGeom>
          <a:noFill/>
        </p:spPr>
        <p:txBody>
          <a:bodyPr wrap="square" lIns="0" tIns="0" rIns="0" bIns="0">
            <a:spAutoFit/>
          </a:bodyPr>
          <a:lstStyle/>
          <a:p>
            <a:pPr>
              <a:spcAft>
                <a:spcPts val="500"/>
              </a:spcAft>
              <a:defRPr sz="1200" b="1">
                <a:solidFill>
                  <a:srgbClr val="EF4444"/>
                </a:solidFill>
              </a:defRPr>
            </a:pPr>
            <a:r>
              <a:t>3. Prompt Injection &amp; LLM Security</a:t>
            </a:r>
          </a:p>
          <a:p>
            <a:pPr>
              <a:spcAft>
                <a:spcPts val="300"/>
              </a:spcAft>
            </a:pPr>
            <a:r>
              <a:rPr b="1" sz="950">
                <a:solidFill>
                  <a:srgbClr val="FFFFFF"/>
                </a:solidFill>
              </a:rPr>
              <a:t>• OWASP Top 10 for LLMs (2025): </a:t>
            </a:r>
            <a:r>
              <a:rPr sz="919">
                <a:solidFill>
                  <a:srgbClr val="CBD5E1"/>
                </a:solidFill>
              </a:rPr>
              <a:t>Classifies Prompt Injection (LLM01) and Sensitive Information Disclosure (LLM06) as apex enterprise threats.</a:t>
            </a:r>
          </a:p>
          <a:p>
            <a:pPr>
              <a:spcAft>
                <a:spcPts val="300"/>
              </a:spcAft>
            </a:pPr>
            <a:r>
              <a:rPr b="1" sz="950">
                <a:solidFill>
                  <a:srgbClr val="FFFFFF"/>
                </a:solidFill>
              </a:rPr>
              <a:t>• Greshake et al. (2023): </a:t>
            </a:r>
            <a:r>
              <a:rPr sz="919">
                <a:solidFill>
                  <a:srgbClr val="CBD5E1"/>
                </a:solidFill>
              </a:rPr>
              <a:t>Demonstrated indirect prompt injections embedded in repository code comments can hijack agent reasoning layers.</a:t>
            </a:r>
          </a:p>
          <a:p>
            <a:pPr>
              <a:spcAft>
                <a:spcPts val="300"/>
              </a:spcAft>
            </a:pPr>
            <a:r>
              <a:rPr b="1" sz="950">
                <a:solidFill>
                  <a:srgbClr val="FFFFFF"/>
                </a:solidFill>
              </a:rPr>
              <a:t>• Perez &amp; Ribeiro (2022): </a:t>
            </a:r>
            <a:r>
              <a:rPr sz="919">
                <a:solidFill>
                  <a:srgbClr val="CBD5E1"/>
                </a:solidFill>
              </a:rPr>
              <a:t>Analyzed jailbreak robustness; proved instructions inside prompts cannot reliably constrain output.</a:t>
            </a:r>
          </a:p>
          <a:p>
            <a:pPr>
              <a:spcAft>
                <a:spcPts val="300"/>
              </a:spcAft>
            </a:pPr>
            <a:r>
              <a:rPr b="1" sz="950">
                <a:solidFill>
                  <a:srgbClr val="FFFFFF"/>
                </a:solidFill>
              </a:rPr>
              <a:t>• KAVACH Architectural Conclusion: </a:t>
            </a:r>
            <a:r>
              <a:rPr sz="919">
                <a:solidFill>
                  <a:srgbClr val="CBD5E1"/>
                </a:solidFill>
              </a:rPr>
              <a:t>Security cannot rely on system prompts. It must be deterministically enforced OUTSIDE the LLM inference context.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RUBRIC 2: COMPREHENSIVENESS OF LITERATURE REVIEW (PART 2 / 2 — 10 MARKS)</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5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Literature Review: Code RAG, Static Analysis &amp; Regulatory Compliance</a:t>
            </a:r>
          </a:p>
        </p:txBody>
      </p:sp>
      <p:sp>
        <p:nvSpPr>
          <p:cNvPr id="5" name="Rounded Rectangle 4"/>
          <p:cNvSpPr/>
          <p:nvPr/>
        </p:nvSpPr>
        <p:spPr>
          <a:xfrm>
            <a:off x="731520" y="1371600"/>
            <a:ext cx="33832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3054096" cy="4681728"/>
          </a:xfrm>
          <a:prstGeom prst="rect">
            <a:avLst/>
          </a:prstGeom>
          <a:noFill/>
        </p:spPr>
        <p:txBody>
          <a:bodyPr wrap="square" lIns="0" tIns="0" rIns="0" bIns="0">
            <a:spAutoFit/>
          </a:bodyPr>
          <a:lstStyle/>
          <a:p>
            <a:pPr>
              <a:spcAft>
                <a:spcPts val="500"/>
              </a:spcAft>
              <a:defRPr sz="1200" b="1">
                <a:solidFill>
                  <a:srgbClr val="00D2FF"/>
                </a:solidFill>
              </a:defRPr>
            </a:pPr>
            <a:r>
              <a:t>4. Code RAG &amp; Embeddings</a:t>
            </a:r>
          </a:p>
          <a:p>
            <a:pPr>
              <a:spcAft>
                <a:spcPts val="300"/>
              </a:spcAft>
            </a:pPr>
            <a:r>
              <a:rPr b="1" sz="950">
                <a:solidFill>
                  <a:srgbClr val="FFFFFF"/>
                </a:solidFill>
              </a:rPr>
              <a:t>• Dense Code Retrieval: </a:t>
            </a:r>
            <a:r>
              <a:rPr sz="919">
                <a:solidFill>
                  <a:srgbClr val="CBD5E1"/>
                </a:solidFill>
              </a:rPr>
              <a:t>Lewis et al. (2020) established dense vector retrieval for grounding generative LLMs with external evidence.</a:t>
            </a:r>
          </a:p>
          <a:p>
            <a:pPr>
              <a:spcAft>
                <a:spcPts val="300"/>
              </a:spcAft>
            </a:pPr>
            <a:r>
              <a:rPr b="1" sz="950">
                <a:solidFill>
                  <a:srgbClr val="FFFFFF"/>
                </a:solidFill>
              </a:rPr>
              <a:t>• CodeBERT (Feng et al., 2020): </a:t>
            </a:r>
            <a:r>
              <a:rPr sz="919">
                <a:solidFill>
                  <a:srgbClr val="CBD5E1"/>
                </a:solidFill>
              </a:rPr>
              <a:t>Bimodal pre-trained models for programming languages; UniXcoder (Guo et al., 2022).</a:t>
            </a:r>
          </a:p>
          <a:p>
            <a:pPr>
              <a:spcAft>
                <a:spcPts val="300"/>
              </a:spcAft>
            </a:pPr>
            <a:r>
              <a:rPr b="1" sz="950">
                <a:solidFill>
                  <a:srgbClr val="FFFFFF"/>
                </a:solidFill>
              </a:rPr>
              <a:t>• Current Technical Gap: </a:t>
            </a:r>
            <a:r>
              <a:rPr sz="919">
                <a:solidFill>
                  <a:srgbClr val="CBD5E1"/>
                </a:solidFill>
              </a:rPr>
              <a:t>Naive line/character chunking shatters AST syntactic boundaries (functions/classes) and indexes raw credentials without entropy pre-screening.</a:t>
            </a:r>
          </a:p>
          <a:p>
            <a:pPr>
              <a:spcAft>
                <a:spcPts val="300"/>
              </a:spcAft>
            </a:pPr>
            <a:r>
              <a:rPr b="1" sz="950">
                <a:solidFill>
                  <a:srgbClr val="FFFFFF"/>
                </a:solidFill>
              </a:rPr>
              <a:t>• KAVACH Innovation: </a:t>
            </a:r>
            <a:r>
              <a:rPr sz="919">
                <a:solidFill>
                  <a:srgbClr val="CBD5E1"/>
                </a:solidFill>
              </a:rPr>
              <a:t>AST-aware semantic code chunking paired with Qdrant vector database storage and in-flight secret scrubbing.</a:t>
            </a:r>
          </a:p>
        </p:txBody>
      </p:sp>
      <p:sp>
        <p:nvSpPr>
          <p:cNvPr id="7" name="Rounded Rectangle 6"/>
          <p:cNvSpPr/>
          <p:nvPr/>
        </p:nvSpPr>
        <p:spPr>
          <a:xfrm>
            <a:off x="4389120" y="1371600"/>
            <a:ext cx="33832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53712" y="1499616"/>
            <a:ext cx="3054096" cy="4681728"/>
          </a:xfrm>
          <a:prstGeom prst="rect">
            <a:avLst/>
          </a:prstGeom>
          <a:noFill/>
        </p:spPr>
        <p:txBody>
          <a:bodyPr wrap="square" lIns="0" tIns="0" rIns="0" bIns="0">
            <a:spAutoFit/>
          </a:bodyPr>
          <a:lstStyle/>
          <a:p>
            <a:pPr>
              <a:spcAft>
                <a:spcPts val="500"/>
              </a:spcAft>
              <a:defRPr sz="1200" b="1">
                <a:solidFill>
                  <a:srgbClr val="10B981"/>
                </a:solidFill>
              </a:defRPr>
            </a:pPr>
            <a:r>
              <a:t>5. AST &amp; Change Impact</a:t>
            </a:r>
          </a:p>
          <a:p>
            <a:pPr>
              <a:spcAft>
                <a:spcPts val="300"/>
              </a:spcAft>
            </a:pPr>
            <a:r>
              <a:rPr b="1" sz="950">
                <a:solidFill>
                  <a:srgbClr val="FFFFFF"/>
                </a:solidFill>
              </a:rPr>
              <a:t>• Compiler Principles (Aho, 2006): </a:t>
            </a:r>
            <a:r>
              <a:rPr sz="919">
                <a:solidFill>
                  <a:srgbClr val="CBD5E1"/>
                </a:solidFill>
              </a:rPr>
              <a:t>Abstract Syntax Trees provide unambiguous mathematical representations of program syntax and call semantics.</a:t>
            </a:r>
          </a:p>
          <a:p>
            <a:pPr>
              <a:spcAft>
                <a:spcPts val="300"/>
              </a:spcAft>
            </a:pPr>
            <a:r>
              <a:rPr b="1" sz="950">
                <a:solidFill>
                  <a:srgbClr val="FFFFFF"/>
                </a:solidFill>
              </a:rPr>
              <a:t>• Chianti (Ren et al., 2004): </a:t>
            </a:r>
            <a:r>
              <a:rPr sz="919">
                <a:solidFill>
                  <a:srgbClr val="CBD5E1"/>
                </a:solidFill>
              </a:rPr>
              <a:t>Proved that constructing caller-callee call graphs identifies atomic change impact before deployment.</a:t>
            </a:r>
          </a:p>
          <a:p>
            <a:pPr>
              <a:spcAft>
                <a:spcPts val="300"/>
              </a:spcAft>
            </a:pPr>
            <a:r>
              <a:rPr b="1" sz="950">
                <a:solidFill>
                  <a:srgbClr val="FFFFFF"/>
                </a:solidFill>
              </a:rPr>
              <a:t>• Lehnert (2011): </a:t>
            </a:r>
            <a:r>
              <a:rPr sz="919">
                <a:solidFill>
                  <a:srgbClr val="CBD5E1"/>
                </a:solidFill>
              </a:rPr>
              <a:t>Surveyed software change impact analysis; confirmed transitive closure over AST graphs predicts regression risks.</a:t>
            </a:r>
          </a:p>
          <a:p>
            <a:pPr>
              <a:spcAft>
                <a:spcPts val="300"/>
              </a:spcAft>
            </a:pPr>
            <a:r>
              <a:rPr b="1" sz="950">
                <a:solidFill>
                  <a:srgbClr val="FFFFFF"/>
                </a:solidFill>
              </a:rPr>
              <a:t>• Current Technical Gap: </a:t>
            </a:r>
            <a:r>
              <a:rPr sz="919">
                <a:solidFill>
                  <a:srgbClr val="CBD5E1"/>
                </a:solidFill>
              </a:rPr>
              <a:t>Zero existing AI coding agents compute AST dependency trees before synthesizing multi-file patches.</a:t>
            </a:r>
          </a:p>
        </p:txBody>
      </p:sp>
      <p:sp>
        <p:nvSpPr>
          <p:cNvPr id="9" name="Rounded Rectangle 8"/>
          <p:cNvSpPr/>
          <p:nvPr/>
        </p:nvSpPr>
        <p:spPr>
          <a:xfrm>
            <a:off x="8046720" y="1371600"/>
            <a:ext cx="33832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499616"/>
            <a:ext cx="3054096" cy="4681728"/>
          </a:xfrm>
          <a:prstGeom prst="rect">
            <a:avLst/>
          </a:prstGeom>
          <a:noFill/>
        </p:spPr>
        <p:txBody>
          <a:bodyPr wrap="square" lIns="0" tIns="0" rIns="0" bIns="0">
            <a:spAutoFit/>
          </a:bodyPr>
          <a:lstStyle/>
          <a:p>
            <a:pPr>
              <a:spcAft>
                <a:spcPts val="500"/>
              </a:spcAft>
              <a:defRPr sz="1200" b="1">
                <a:solidFill>
                  <a:srgbClr val="FBBF24"/>
                </a:solidFill>
              </a:defRPr>
            </a:pPr>
            <a:r>
              <a:t>6. Statutory Privacy Laws</a:t>
            </a:r>
          </a:p>
          <a:p>
            <a:pPr>
              <a:spcAft>
                <a:spcPts val="300"/>
              </a:spcAft>
            </a:pPr>
            <a:r>
              <a:rPr b="1" sz="950">
                <a:solidFill>
                  <a:srgbClr val="FFFFFF"/>
                </a:solidFill>
              </a:rPr>
              <a:t>• Indian DPDP Act (2023): </a:t>
            </a:r>
            <a:r>
              <a:rPr sz="919">
                <a:solidFill>
                  <a:srgbClr val="CBD5E1"/>
                </a:solidFill>
              </a:rPr>
              <a:t>Imposes severe statutory financial penalties for unauthorized cloud transmission of Indian national identifiers.</a:t>
            </a:r>
          </a:p>
          <a:p>
            <a:pPr>
              <a:spcAft>
                <a:spcPts val="300"/>
              </a:spcAft>
            </a:pPr>
            <a:r>
              <a:rPr b="1" sz="950">
                <a:solidFill>
                  <a:srgbClr val="FFFFFF"/>
                </a:solidFill>
              </a:rPr>
              <a:t>• EU AI Act (2024): </a:t>
            </a:r>
            <a:r>
              <a:rPr sz="919">
                <a:solidFill>
                  <a:srgbClr val="CBD5E1"/>
                </a:solidFill>
              </a:rPr>
              <a:t>Mandates transparent audit logs and risk management systems for high-risk autonomous AI systems.</a:t>
            </a:r>
          </a:p>
          <a:p>
            <a:pPr>
              <a:spcAft>
                <a:spcPts val="300"/>
              </a:spcAft>
            </a:pPr>
            <a:r>
              <a:rPr b="1" sz="950">
                <a:solidFill>
                  <a:srgbClr val="FFFFFF"/>
                </a:solidFill>
              </a:rPr>
              <a:t>• Jain et al. (2023): </a:t>
            </a:r>
            <a:r>
              <a:rPr sz="919">
                <a:solidFill>
                  <a:srgbClr val="CBD5E1"/>
                </a:solidFill>
              </a:rPr>
              <a:t>Demonstrated that Western English-only PII models (e.g. spaCy/Presidio) fail on code-mixed Hinglish developer text.</a:t>
            </a:r>
          </a:p>
          <a:p>
            <a:pPr>
              <a:spcAft>
                <a:spcPts val="300"/>
              </a:spcAft>
            </a:pPr>
            <a:r>
              <a:rPr b="1" sz="950">
                <a:solidFill>
                  <a:srgbClr val="FFFFFF"/>
                </a:solidFill>
              </a:rPr>
              <a:t>• KAVACH Innovation: </a:t>
            </a:r>
            <a:r>
              <a:rPr sz="919">
                <a:solidFill>
                  <a:srgbClr val="CBD5E1"/>
                </a:solidFill>
              </a:rPr>
              <a:t>Multilingual Zero-Knowledge Token Vault with reversible pseudonymization.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RUBRIC 3: RESEARCH GAP (5 MARKS)</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6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Critical Research Gaps in State-of-the-Art Tooling vs. KAVACH</a:t>
            </a:r>
          </a:p>
        </p:txBody>
      </p:sp>
      <p:sp>
        <p:nvSpPr>
          <p:cNvPr id="5" name="Rounded Rectangle 4"/>
          <p:cNvSpPr/>
          <p:nvPr/>
        </p:nvSpPr>
        <p:spPr>
          <a:xfrm>
            <a:off x="731520" y="1371600"/>
            <a:ext cx="10728655" cy="896112"/>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44752"/>
            <a:ext cx="10362895" cy="749808"/>
          </a:xfrm>
          <a:prstGeom prst="rect">
            <a:avLst/>
          </a:prstGeom>
          <a:noFill/>
        </p:spPr>
        <p:txBody>
          <a:bodyPr wrap="square" lIns="0" tIns="0" rIns="0" bIns="0">
            <a:spAutoFit/>
          </a:bodyPr>
          <a:lstStyle/>
          <a:p>
            <a:r>
              <a:rPr b="1" sz="1100">
                <a:solidFill>
                  <a:srgbClr val="00D2FF"/>
                </a:solidFill>
              </a:rPr>
              <a:t>Gap 1: Pre-Execution Guardrails
</a:t>
            </a:r>
          </a:p>
          <a:p>
            <a:r>
              <a:rPr sz="950">
                <a:solidFill>
                  <a:srgbClr val="CBD5E1"/>
                </a:solidFill>
              </a:rPr>
              <a:t>SOTA Baseline: Stochastic system prompts ('Do not leak keys').  |  </a:t>
            </a:r>
            <a:r>
              <a:rPr sz="950">
                <a:solidFill>
                  <a:srgbClr val="EF4444"/>
                </a:solidFill>
              </a:rPr>
              <a:t>Vulnerability: Vulnerable to direct jailbreaks, indirect injections, and stochastic drift.
</a:t>
            </a:r>
          </a:p>
          <a:p>
            <a:r>
              <a:rPr sz="950" b="1">
                <a:solidFill>
                  <a:srgbClr val="10B981"/>
                </a:solidFill>
              </a:rPr>
              <a:t>KAVACH Solution: Deterministic Shannon entropy (H &gt; 4.5) &amp; regex filters halting execution pre-tokenization.</a:t>
            </a:r>
          </a:p>
        </p:txBody>
      </p:sp>
      <p:sp>
        <p:nvSpPr>
          <p:cNvPr id="7" name="Rounded Rectangle 6"/>
          <p:cNvSpPr/>
          <p:nvPr/>
        </p:nvSpPr>
        <p:spPr>
          <a:xfrm>
            <a:off x="731520" y="2377440"/>
            <a:ext cx="10728655" cy="896112"/>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50592"/>
            <a:ext cx="10362895" cy="749808"/>
          </a:xfrm>
          <a:prstGeom prst="rect">
            <a:avLst/>
          </a:prstGeom>
          <a:noFill/>
        </p:spPr>
        <p:txBody>
          <a:bodyPr wrap="square" lIns="0" tIns="0" rIns="0" bIns="0">
            <a:spAutoFit/>
          </a:bodyPr>
          <a:lstStyle/>
          <a:p>
            <a:r>
              <a:rPr b="1" sz="1100">
                <a:solidFill>
                  <a:srgbClr val="00D2FF"/>
                </a:solidFill>
              </a:rPr>
              <a:t>Gap 2: Supply-Chain Slopsquatting
</a:t>
            </a:r>
          </a:p>
          <a:p>
            <a:r>
              <a:rPr sz="950">
                <a:solidFill>
                  <a:srgbClr val="CBD5E1"/>
                </a:solidFill>
              </a:rPr>
              <a:t>SOTA Baseline: SCA tools (Snyk, Dependabot) scan static lockfiles post-commit.  |  </a:t>
            </a:r>
            <a:r>
              <a:rPr sz="950">
                <a:solidFill>
                  <a:srgbClr val="EF4444"/>
                </a:solidFill>
              </a:rPr>
              <a:t>Vulnerability: Zero visibility into dynamically synthesized imports in agent memory.
</a:t>
            </a:r>
          </a:p>
          <a:p>
            <a:r>
              <a:rPr sz="950" b="1">
                <a:solidFill>
                  <a:srgbClr val="10B981"/>
                </a:solidFill>
              </a:rPr>
              <a:t>KAVACH Solution: In-memory AST Package Firewall querying live PyPI registry (&lt;5ms) with LRU caching.</a:t>
            </a:r>
          </a:p>
        </p:txBody>
      </p:sp>
      <p:sp>
        <p:nvSpPr>
          <p:cNvPr id="9" name="Rounded Rectangle 8"/>
          <p:cNvSpPr/>
          <p:nvPr/>
        </p:nvSpPr>
        <p:spPr>
          <a:xfrm>
            <a:off x="731520" y="3383280"/>
            <a:ext cx="10728655" cy="896112"/>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456432"/>
            <a:ext cx="10362895" cy="749808"/>
          </a:xfrm>
          <a:prstGeom prst="rect">
            <a:avLst/>
          </a:prstGeom>
          <a:noFill/>
        </p:spPr>
        <p:txBody>
          <a:bodyPr wrap="square" lIns="0" tIns="0" rIns="0" bIns="0">
            <a:spAutoFit/>
          </a:bodyPr>
          <a:lstStyle/>
          <a:p>
            <a:r>
              <a:rPr b="1" sz="1100">
                <a:solidFill>
                  <a:srgbClr val="00D2FF"/>
                </a:solidFill>
              </a:rPr>
              <a:t>Gap 3: Change-Impact Awareness
</a:t>
            </a:r>
          </a:p>
          <a:p>
            <a:r>
              <a:rPr sz="950">
                <a:solidFill>
                  <a:srgbClr val="CBD5E1"/>
                </a:solidFill>
              </a:rPr>
              <a:t>SOTA Baseline: Agents modify target files blindly without dependency context.  |  </a:t>
            </a:r>
            <a:r>
              <a:rPr sz="950">
                <a:solidFill>
                  <a:srgbClr val="EF4444"/>
                </a:solidFill>
              </a:rPr>
              <a:t>Vulnerability: Causes silent regression breaks in downstream dependent modules.
</a:t>
            </a:r>
          </a:p>
          <a:p>
            <a:r>
              <a:rPr sz="950" b="1">
                <a:solidFill>
                  <a:srgbClr val="10B981"/>
                </a:solidFill>
              </a:rPr>
              <a:t>KAVACH Solution: Static AST caller-callee dependency graph computing transitive reachability matrix R=(I|A)^k.</a:t>
            </a:r>
          </a:p>
        </p:txBody>
      </p:sp>
      <p:sp>
        <p:nvSpPr>
          <p:cNvPr id="11" name="Rounded Rectangle 10"/>
          <p:cNvSpPr/>
          <p:nvPr/>
        </p:nvSpPr>
        <p:spPr>
          <a:xfrm>
            <a:off x="731520" y="4389120"/>
            <a:ext cx="10728655" cy="896112"/>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62272"/>
            <a:ext cx="10362895" cy="749808"/>
          </a:xfrm>
          <a:prstGeom prst="rect">
            <a:avLst/>
          </a:prstGeom>
          <a:noFill/>
        </p:spPr>
        <p:txBody>
          <a:bodyPr wrap="square" lIns="0" tIns="0" rIns="0" bIns="0">
            <a:spAutoFit/>
          </a:bodyPr>
          <a:lstStyle/>
          <a:p>
            <a:r>
              <a:rPr b="1" sz="1100">
                <a:solidFill>
                  <a:srgbClr val="00D2FF"/>
                </a:solidFill>
              </a:rPr>
              <a:t>Gap 4: Autonomous Self-Healing
</a:t>
            </a:r>
          </a:p>
          <a:p>
            <a:r>
              <a:rPr sz="950">
                <a:solidFill>
                  <a:srgbClr val="CBD5E1"/>
                </a:solidFill>
              </a:rPr>
              <a:t>SOTA Baseline: Agents enter infinite loops or crash when code fails runtime tests.  |  </a:t>
            </a:r>
            <a:r>
              <a:rPr sz="950">
                <a:solidFill>
                  <a:srgbClr val="EF4444"/>
                </a:solidFill>
              </a:rPr>
              <a:t>Vulnerability: Developers suffer debugging fatigue; agents oscillate between invalid states.
</a:t>
            </a:r>
          </a:p>
          <a:p>
            <a:r>
              <a:rPr sz="950" b="1">
                <a:solidFill>
                  <a:srgbClr val="10B981"/>
                </a:solidFill>
              </a:rPr>
              <a:t>KAVACH Solution: Closed-loop ReAct sandbox running ephemeral pytest with stderr reflection (max 3 cycles).</a:t>
            </a:r>
          </a:p>
        </p:txBody>
      </p:sp>
      <p:sp>
        <p:nvSpPr>
          <p:cNvPr id="13" name="Rounded Rectangle 12"/>
          <p:cNvSpPr/>
          <p:nvPr/>
        </p:nvSpPr>
        <p:spPr>
          <a:xfrm>
            <a:off x="731520" y="5394960"/>
            <a:ext cx="10728655" cy="896112"/>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68112"/>
            <a:ext cx="10362895" cy="749808"/>
          </a:xfrm>
          <a:prstGeom prst="rect">
            <a:avLst/>
          </a:prstGeom>
          <a:noFill/>
        </p:spPr>
        <p:txBody>
          <a:bodyPr wrap="square" lIns="0" tIns="0" rIns="0" bIns="0">
            <a:spAutoFit/>
          </a:bodyPr>
          <a:lstStyle/>
          <a:p>
            <a:r>
              <a:rPr b="1" sz="1100">
                <a:solidFill>
                  <a:srgbClr val="00D2FF"/>
                </a:solidFill>
              </a:rPr>
              <a:t>Gap 5: Tool Interoperability
</a:t>
            </a:r>
          </a:p>
          <a:p>
            <a:r>
              <a:rPr sz="950">
                <a:solidFill>
                  <a:srgbClr val="CBD5E1"/>
                </a:solidFill>
              </a:rPr>
              <a:t>SOTA Baseline: Closed proprietary silos requiring manual copy-pasting into web UIs.  |  </a:t>
            </a:r>
            <a:r>
              <a:rPr sz="950">
                <a:solidFill>
                  <a:srgbClr val="EF4444"/>
                </a:solidFill>
              </a:rPr>
              <a:t>Vulnerability: Developers cannot leverage security gates inside their daily IDE workflow.
</a:t>
            </a:r>
          </a:p>
          <a:p>
            <a:r>
              <a:rPr sz="950" b="1">
                <a:solidFill>
                  <a:srgbClr val="10B981"/>
                </a:solidFill>
              </a:rPr>
              <a:t>KAVACH Solution: Native Model Context Protocol (MCP) server exposing tools over JSON-RPC 2.0 to Cursor &amp; Claude.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RUBRIC 1: OBJECTIVE &amp; PROBLEM DEFINITION (5 MARKS)</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7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Concrete Research Objectives &amp; Measurable Quantitative Targets</a:t>
            </a:r>
          </a:p>
        </p:txBody>
      </p:sp>
      <p:sp>
        <p:nvSpPr>
          <p:cNvPr id="5" name="Rounded Rectangle 4"/>
          <p:cNvSpPr/>
          <p:nvPr/>
        </p:nvSpPr>
        <p:spPr>
          <a:xfrm>
            <a:off x="731520" y="1371600"/>
            <a:ext cx="2542032" cy="1645920"/>
          </a:xfrm>
          <a:prstGeom prst="roundRect">
            <a:avLst/>
          </a:prstGeom>
          <a:solidFill>
            <a:srgbClr val="12151D"/>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81328"/>
            <a:ext cx="2267712" cy="1426464"/>
          </a:xfrm>
          <a:prstGeom prst="rect">
            <a:avLst/>
          </a:prstGeom>
          <a:noFill/>
        </p:spPr>
        <p:txBody>
          <a:bodyPr wrap="square" lIns="0" tIns="0" rIns="0" bIns="0">
            <a:spAutoFit/>
          </a:bodyPr>
          <a:lstStyle/>
          <a:p>
            <a:pPr>
              <a:defRPr sz="2800" b="1">
                <a:solidFill>
                  <a:srgbClr val="10B981"/>
                </a:solidFill>
              </a:defRPr>
            </a:pPr>
            <a:r>
              <a:t>100.0%</a:t>
            </a:r>
          </a:p>
          <a:p>
            <a:pPr>
              <a:spcAft>
                <a:spcPts val="200"/>
              </a:spcAft>
              <a:defRPr sz="950" b="1">
                <a:solidFill>
                  <a:srgbClr val="FFFFFF"/>
                </a:solidFill>
              </a:defRPr>
            </a:pPr>
            <a:r>
              <a:t>Package Slopsquatting Catch Rate</a:t>
            </a:r>
          </a:p>
          <a:p>
            <a:pPr>
              <a:defRPr sz="850">
                <a:solidFill>
                  <a:srgbClr val="CBD5E1"/>
                </a:solidFill>
              </a:defRPr>
            </a:pPr>
            <a:r>
              <a:t>Zero false negatives on 100-package hallucination corpus</a:t>
            </a:r>
          </a:p>
        </p:txBody>
      </p:sp>
      <p:sp>
        <p:nvSpPr>
          <p:cNvPr id="7" name="Rounded Rectangle 6"/>
          <p:cNvSpPr/>
          <p:nvPr/>
        </p:nvSpPr>
        <p:spPr>
          <a:xfrm>
            <a:off x="3456432" y="1371600"/>
            <a:ext cx="2542032" cy="1645920"/>
          </a:xfrm>
          <a:prstGeom prst="roundRect">
            <a:avLst/>
          </a:prstGeom>
          <a:solidFill>
            <a:srgbClr val="12151D"/>
          </a:solidFill>
          <a:ln w="1778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481328"/>
            <a:ext cx="2267712" cy="1426464"/>
          </a:xfrm>
          <a:prstGeom prst="rect">
            <a:avLst/>
          </a:prstGeom>
          <a:noFill/>
        </p:spPr>
        <p:txBody>
          <a:bodyPr wrap="square" lIns="0" tIns="0" rIns="0" bIns="0">
            <a:spAutoFit/>
          </a:bodyPr>
          <a:lstStyle/>
          <a:p>
            <a:pPr>
              <a:defRPr sz="2800" b="1">
                <a:solidFill>
                  <a:srgbClr val="00D2FF"/>
                </a:solidFill>
              </a:defRPr>
            </a:pPr>
            <a:r>
              <a:t>100.0%</a:t>
            </a:r>
          </a:p>
          <a:p>
            <a:pPr>
              <a:spcAft>
                <a:spcPts val="200"/>
              </a:spcAft>
              <a:defRPr sz="950" b="1">
                <a:solidFill>
                  <a:srgbClr val="FFFFFF"/>
                </a:solidFill>
              </a:defRPr>
            </a:pPr>
            <a:r>
              <a:t>Credential Interception</a:t>
            </a:r>
          </a:p>
          <a:p>
            <a:pPr>
              <a:defRPr sz="850">
                <a:solidFill>
                  <a:srgbClr val="CBD5E1"/>
                </a:solidFill>
              </a:defRPr>
            </a:pPr>
            <a:r>
              <a:t>100% detection of AWS, GitHub &amp; Stripe API tokens</a:t>
            </a:r>
          </a:p>
        </p:txBody>
      </p:sp>
      <p:sp>
        <p:nvSpPr>
          <p:cNvPr id="9" name="Rounded Rectangle 8"/>
          <p:cNvSpPr/>
          <p:nvPr/>
        </p:nvSpPr>
        <p:spPr>
          <a:xfrm>
            <a:off x="6181344" y="1371600"/>
            <a:ext cx="2542032" cy="1645920"/>
          </a:xfrm>
          <a:prstGeom prst="roundRect">
            <a:avLst/>
          </a:prstGeom>
          <a:solidFill>
            <a:srgbClr val="12151D"/>
          </a:solidFill>
          <a:ln w="1778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481328"/>
            <a:ext cx="2267712" cy="1426464"/>
          </a:xfrm>
          <a:prstGeom prst="rect">
            <a:avLst/>
          </a:prstGeom>
          <a:noFill/>
        </p:spPr>
        <p:txBody>
          <a:bodyPr wrap="square" lIns="0" tIns="0" rIns="0" bIns="0">
            <a:spAutoFit/>
          </a:bodyPr>
          <a:lstStyle/>
          <a:p>
            <a:pPr>
              <a:defRPr sz="2800" b="1">
                <a:solidFill>
                  <a:srgbClr val="FBBF24"/>
                </a:solidFill>
              </a:defRPr>
            </a:pPr>
            <a:r>
              <a:t>0.990</a:t>
            </a:r>
          </a:p>
          <a:p>
            <a:pPr>
              <a:spcAft>
                <a:spcPts val="200"/>
              </a:spcAft>
              <a:defRPr sz="950" b="1">
                <a:solidFill>
                  <a:srgbClr val="FFFFFF"/>
                </a:solidFill>
              </a:defRPr>
            </a:pPr>
            <a:r>
              <a:t>Multilingual PII F1 Score</a:t>
            </a:r>
          </a:p>
          <a:p>
            <a:pPr>
              <a:defRPr sz="850">
                <a:solidFill>
                  <a:srgbClr val="CBD5E1"/>
                </a:solidFill>
              </a:defRPr>
            </a:pPr>
            <a:r>
              <a:t>Outperforms standard English regex by 139% on Hinglish PII</a:t>
            </a:r>
          </a:p>
        </p:txBody>
      </p:sp>
      <p:sp>
        <p:nvSpPr>
          <p:cNvPr id="11" name="Rounded Rectangle 10"/>
          <p:cNvSpPr/>
          <p:nvPr/>
        </p:nvSpPr>
        <p:spPr>
          <a:xfrm>
            <a:off x="8906256" y="1371600"/>
            <a:ext cx="2542032" cy="1645920"/>
          </a:xfrm>
          <a:prstGeom prst="roundRect">
            <a:avLst/>
          </a:prstGeom>
          <a:solidFill>
            <a:srgbClr val="12151D"/>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481328"/>
            <a:ext cx="2267712" cy="1426464"/>
          </a:xfrm>
          <a:prstGeom prst="rect">
            <a:avLst/>
          </a:prstGeom>
          <a:noFill/>
        </p:spPr>
        <p:txBody>
          <a:bodyPr wrap="square" lIns="0" tIns="0" rIns="0" bIns="0">
            <a:spAutoFit/>
          </a:bodyPr>
          <a:lstStyle/>
          <a:p>
            <a:pPr>
              <a:defRPr sz="2800" b="1">
                <a:solidFill>
                  <a:srgbClr val="10B981"/>
                </a:solidFill>
              </a:defRPr>
            </a:pPr>
            <a:r>
              <a:t>&lt;20 ms</a:t>
            </a:r>
          </a:p>
          <a:p>
            <a:pPr>
              <a:spcAft>
                <a:spcPts val="200"/>
              </a:spcAft>
              <a:defRPr sz="950" b="1">
                <a:solidFill>
                  <a:srgbClr val="FFFFFF"/>
                </a:solidFill>
              </a:defRPr>
            </a:pPr>
            <a:r>
              <a:t>Deterministic Security Overhead</a:t>
            </a:r>
          </a:p>
          <a:p>
            <a:pPr>
              <a:defRPr sz="850">
                <a:solidFill>
                  <a:srgbClr val="CBD5E1"/>
                </a:solidFill>
              </a:defRPr>
            </a:pPr>
            <a:r>
              <a:t>&lt;2% of total pipeline latency (1,370ms avg)</a:t>
            </a:r>
          </a:p>
        </p:txBody>
      </p:sp>
      <p:sp>
        <p:nvSpPr>
          <p:cNvPr id="13" name="Rounded Rectangle 12"/>
          <p:cNvSpPr/>
          <p:nvPr/>
        </p:nvSpPr>
        <p:spPr>
          <a:xfrm>
            <a:off x="731520" y="3200400"/>
            <a:ext cx="5212080" cy="320040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328416"/>
            <a:ext cx="4882896" cy="2944368"/>
          </a:xfrm>
          <a:prstGeom prst="rect">
            <a:avLst/>
          </a:prstGeom>
          <a:noFill/>
        </p:spPr>
        <p:txBody>
          <a:bodyPr wrap="square" lIns="0" tIns="0" rIns="0" bIns="0">
            <a:spAutoFit/>
          </a:bodyPr>
          <a:lstStyle/>
          <a:p>
            <a:pPr>
              <a:spcAft>
                <a:spcPts val="500"/>
              </a:spcAft>
              <a:defRPr sz="1200" b="1">
                <a:solidFill>
                  <a:srgbClr val="00D2FF"/>
                </a:solidFill>
              </a:defRPr>
            </a:pPr>
            <a:r>
              <a:t>Primary Research Objectives</a:t>
            </a:r>
          </a:p>
          <a:p>
            <a:pPr>
              <a:spcAft>
                <a:spcPts val="300"/>
              </a:spcAft>
            </a:pPr>
            <a:r>
              <a:rPr b="1" sz="950">
                <a:solidFill>
                  <a:srgbClr val="FFFFFF"/>
                </a:solidFill>
              </a:rPr>
              <a:t>• Obj 1: Deterministic Pre-Execution Gate: </a:t>
            </a:r>
            <a:r>
              <a:rPr sz="919">
                <a:solidFill>
                  <a:srgbClr val="CBD5E1"/>
                </a:solidFill>
              </a:rPr>
              <a:t>Intercept high-entropy credentials (H &gt; 4.5) and national IDs (Aadhaar/PAN) before any LLM API invocation.</a:t>
            </a:r>
          </a:p>
          <a:p>
            <a:pPr>
              <a:spcAft>
                <a:spcPts val="300"/>
              </a:spcAft>
            </a:pPr>
            <a:r>
              <a:rPr b="1" sz="950">
                <a:solidFill>
                  <a:srgbClr val="FFFFFF"/>
                </a:solidFill>
              </a:rPr>
              <a:t>• Obj 2: Supply-Chain Package Firewall: </a:t>
            </a:r>
            <a:r>
              <a:rPr sz="919">
                <a:solidFill>
                  <a:srgbClr val="CBD5E1"/>
                </a:solidFill>
              </a:rPr>
              <a:t>Parse all Python AST imports and validate existence on official PyPI index (&lt;5ms) to defeat slopsquatting.</a:t>
            </a:r>
          </a:p>
          <a:p>
            <a:pPr>
              <a:spcAft>
                <a:spcPts val="300"/>
              </a:spcAft>
            </a:pPr>
            <a:r>
              <a:rPr b="1" sz="950">
                <a:solidFill>
                  <a:srgbClr val="FFFFFF"/>
                </a:solidFill>
              </a:rPr>
              <a:t>• Obj 3: AST Blast-Radius Quantification: </a:t>
            </a:r>
            <a:r>
              <a:rPr sz="919">
                <a:solidFill>
                  <a:srgbClr val="CBD5E1"/>
                </a:solidFill>
              </a:rPr>
              <a:t>Construct static caller-callee call graphs to calculate regression impact before modifying files.</a:t>
            </a:r>
          </a:p>
          <a:p>
            <a:pPr>
              <a:spcAft>
                <a:spcPts val="300"/>
              </a:spcAft>
            </a:pPr>
            <a:r>
              <a:rPr b="1" sz="950">
                <a:solidFill>
                  <a:srgbClr val="FFFFFF"/>
                </a:solidFill>
              </a:rPr>
              <a:t>• Obj 4: Bounded ReAct Self-Healing: </a:t>
            </a:r>
            <a:r>
              <a:rPr sz="919">
                <a:solidFill>
                  <a:srgbClr val="CBD5E1"/>
                </a:solidFill>
              </a:rPr>
              <a:t>Achieve &gt;90% autonomous recovery on runtime test failures inside an isolated sandbox (N &lt;= 3 cycles).</a:t>
            </a:r>
          </a:p>
        </p:txBody>
      </p:sp>
      <p:sp>
        <p:nvSpPr>
          <p:cNvPr id="15" name="Rounded Rectangle 14"/>
          <p:cNvSpPr/>
          <p:nvPr/>
        </p:nvSpPr>
        <p:spPr>
          <a:xfrm>
            <a:off x="6217920" y="3200400"/>
            <a:ext cx="5212080" cy="320040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3328416"/>
            <a:ext cx="4882896" cy="2944368"/>
          </a:xfrm>
          <a:prstGeom prst="rect">
            <a:avLst/>
          </a:prstGeom>
          <a:noFill/>
        </p:spPr>
        <p:txBody>
          <a:bodyPr wrap="square" lIns="0" tIns="0" rIns="0" bIns="0">
            <a:spAutoFit/>
          </a:bodyPr>
          <a:lstStyle/>
          <a:p>
            <a:pPr>
              <a:spcAft>
                <a:spcPts val="500"/>
              </a:spcAft>
              <a:defRPr sz="1200" b="1">
                <a:solidFill>
                  <a:srgbClr val="FBBF24"/>
                </a:solidFill>
              </a:defRPr>
            </a:pPr>
            <a:r>
              <a:t>Empirical Deliverables &amp; Test Guarantees</a:t>
            </a:r>
          </a:p>
          <a:p>
            <a:pPr>
              <a:spcAft>
                <a:spcPts val="300"/>
              </a:spcAft>
            </a:pPr>
            <a:r>
              <a:rPr b="1" sz="950">
                <a:solidFill>
                  <a:srgbClr val="FFFFFF"/>
                </a:solidFill>
              </a:rPr>
              <a:t>• Automated Test Suite: </a:t>
            </a:r>
            <a:r>
              <a:rPr sz="919">
                <a:solidFill>
                  <a:srgbClr val="CBD5E1"/>
                </a:solidFill>
              </a:rPr>
              <a:t>Comprehensive suite of 220+ unit and integration tests passing with 100% CI/CD validation.</a:t>
            </a:r>
          </a:p>
          <a:p>
            <a:pPr>
              <a:spcAft>
                <a:spcPts val="300"/>
              </a:spcAft>
            </a:pPr>
            <a:r>
              <a:rPr b="1" sz="950">
                <a:solidFill>
                  <a:srgbClr val="FFFFFF"/>
                </a:solidFill>
              </a:rPr>
              <a:t>• Economic Efficiency: </a:t>
            </a:r>
            <a:r>
              <a:rPr sz="919">
                <a:solidFill>
                  <a:srgbClr val="CBD5E1"/>
                </a:solidFill>
              </a:rPr>
              <a:t>Maintains average inference cost &lt;= $0.0005 USD per governed run via intelligent local/cloud routing.</a:t>
            </a:r>
          </a:p>
          <a:p>
            <a:pPr>
              <a:spcAft>
                <a:spcPts val="300"/>
              </a:spcAft>
            </a:pPr>
            <a:r>
              <a:rPr b="1" sz="950">
                <a:solidFill>
                  <a:srgbClr val="FFFFFF"/>
                </a:solidFill>
              </a:rPr>
              <a:t>• Zero Cloud Leakage: </a:t>
            </a:r>
            <a:r>
              <a:rPr sz="919">
                <a:solidFill>
                  <a:srgbClr val="CBD5E1"/>
                </a:solidFill>
              </a:rPr>
              <a:t>Guarantees zero plain-text Indian PII transmission to cloud LLM logs under Indian DPDP Act 2023 mandates.</a:t>
            </a:r>
          </a:p>
          <a:p>
            <a:pPr>
              <a:spcAft>
                <a:spcPts val="300"/>
              </a:spcAft>
            </a:pPr>
            <a:r>
              <a:rPr b="1" sz="950">
                <a:solidFill>
                  <a:srgbClr val="FFFFFF"/>
                </a:solidFill>
              </a:rPr>
              <a:t>• Open Tool Interoperability: </a:t>
            </a:r>
            <a:r>
              <a:rPr sz="919">
                <a:solidFill>
                  <a:srgbClr val="CBD5E1"/>
                </a:solidFill>
              </a:rPr>
              <a:t>Exposes all guardrails over Anthropic Model Context Protocol (MCP) for Cursor IDE and Claude.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METHODOLOGY: SYSTEM ARCHITECTURE &amp; TAXONOMY (5 MARKS)</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8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Master Mind Map: KAVACH High-Level Architectural Taxonomy</a:t>
            </a:r>
          </a:p>
        </p:txBody>
      </p:sp>
      <p:sp>
        <p:nvSpPr>
          <p:cNvPr id="5" name="Rounded Rectangle 4"/>
          <p:cNvSpPr/>
          <p:nvPr/>
        </p:nvSpPr>
        <p:spPr>
          <a:xfrm>
            <a:off x="731520" y="1371600"/>
            <a:ext cx="2066543"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1737359" cy="4681728"/>
          </a:xfrm>
          <a:prstGeom prst="rect">
            <a:avLst/>
          </a:prstGeom>
          <a:noFill/>
        </p:spPr>
        <p:txBody>
          <a:bodyPr wrap="square" lIns="0" tIns="0" rIns="0" bIns="0">
            <a:spAutoFit/>
          </a:bodyPr>
          <a:lstStyle/>
          <a:p>
            <a:pPr>
              <a:spcAft>
                <a:spcPts val="500"/>
              </a:spcAft>
              <a:defRPr sz="1150" b="1">
                <a:solidFill>
                  <a:srgbClr val="00D2FF"/>
                </a:solidFill>
              </a:defRPr>
            </a:pPr>
            <a:r>
              <a:t>1. Pre-Execution Governance</a:t>
            </a:r>
          </a:p>
          <a:p>
            <a:pPr>
              <a:spcAft>
                <a:spcPts val="300"/>
              </a:spcAft>
            </a:pPr>
            <a:r>
              <a:rPr b="1" sz="910">
                <a:solidFill>
                  <a:srgbClr val="FFFFFF"/>
                </a:solidFill>
              </a:rPr>
              <a:t>• Shannon Entropy Scanner: </a:t>
            </a:r>
            <a:r>
              <a:rPr sz="880">
                <a:solidFill>
                  <a:srgbClr val="CBD5E1"/>
                </a:solidFill>
              </a:rPr>
              <a:t>Calculates character bit entropy H &gt; 4.5 to detect API keys</a:t>
            </a:r>
          </a:p>
          <a:p>
            <a:pPr>
              <a:spcAft>
                <a:spcPts val="300"/>
              </a:spcAft>
            </a:pPr>
            <a:r>
              <a:rPr b="1" sz="910">
                <a:solidFill>
                  <a:srgbClr val="FFFFFF"/>
                </a:solidFill>
              </a:rPr>
              <a:t>• Destructive Filter: </a:t>
            </a:r>
            <a:r>
              <a:rPr sz="880">
                <a:solidFill>
                  <a:srgbClr val="CBD5E1"/>
                </a:solidFill>
              </a:rPr>
              <a:t>Deterministic regex halting 'DROP TABLE', 'rm -rf'</a:t>
            </a:r>
          </a:p>
          <a:p>
            <a:pPr>
              <a:spcAft>
                <a:spcPts val="300"/>
              </a:spcAft>
            </a:pPr>
            <a:r>
              <a:rPr b="1" sz="910">
                <a:solidFill>
                  <a:srgbClr val="FFFFFF"/>
                </a:solidFill>
              </a:rPr>
              <a:t>• DPDP Token Vault: </a:t>
            </a:r>
            <a:r>
              <a:rPr sz="880">
                <a:solidFill>
                  <a:srgbClr val="CBD5E1"/>
                </a:solidFill>
              </a:rPr>
              <a:t>Reversible pseudonymization of Aadhaar (12-d) &amp; PAN (10-c)</a:t>
            </a:r>
          </a:p>
          <a:p>
            <a:pPr>
              <a:spcAft>
                <a:spcPts val="300"/>
              </a:spcAft>
            </a:pPr>
            <a:r>
              <a:rPr b="1" sz="910">
                <a:solidFill>
                  <a:srgbClr val="FFFFFF"/>
                </a:solidFill>
              </a:rPr>
              <a:t>• Risk Policy Engine: </a:t>
            </a:r>
            <a:r>
              <a:rPr sz="880">
                <a:solidFill>
                  <a:srgbClr val="CBD5E1"/>
                </a:solidFill>
              </a:rPr>
              <a:t>Adaptive weighted risk score emitting ALLOW, REVIEW, BLOCK</a:t>
            </a:r>
          </a:p>
        </p:txBody>
      </p:sp>
      <p:sp>
        <p:nvSpPr>
          <p:cNvPr id="7" name="Rounded Rectangle 6"/>
          <p:cNvSpPr/>
          <p:nvPr/>
        </p:nvSpPr>
        <p:spPr>
          <a:xfrm>
            <a:off x="2898648" y="1371600"/>
            <a:ext cx="2066543"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3240" y="1499616"/>
            <a:ext cx="1737359" cy="4681728"/>
          </a:xfrm>
          <a:prstGeom prst="rect">
            <a:avLst/>
          </a:prstGeom>
          <a:noFill/>
        </p:spPr>
        <p:txBody>
          <a:bodyPr wrap="square" lIns="0" tIns="0" rIns="0" bIns="0">
            <a:spAutoFit/>
          </a:bodyPr>
          <a:lstStyle/>
          <a:p>
            <a:pPr>
              <a:spcAft>
                <a:spcPts val="500"/>
              </a:spcAft>
              <a:defRPr sz="1150" b="1">
                <a:solidFill>
                  <a:srgbClr val="10B981"/>
                </a:solidFill>
              </a:defRPr>
            </a:pPr>
            <a:r>
              <a:t>2. Code Intelligence &amp; RAG</a:t>
            </a:r>
          </a:p>
          <a:p>
            <a:pPr>
              <a:spcAft>
                <a:spcPts val="300"/>
              </a:spcAft>
            </a:pPr>
            <a:r>
              <a:rPr b="1" sz="910">
                <a:solidFill>
                  <a:srgbClr val="FFFFFF"/>
                </a:solidFill>
              </a:rPr>
              <a:t>• AST-Aware Chunking: </a:t>
            </a:r>
            <a:r>
              <a:rPr sz="880">
                <a:solidFill>
                  <a:srgbClr val="CBD5E1"/>
                </a:solidFill>
              </a:rPr>
              <a:t>Preserves function and class syntactic boundaries</a:t>
            </a:r>
          </a:p>
          <a:p>
            <a:pPr>
              <a:spcAft>
                <a:spcPts val="300"/>
              </a:spcAft>
            </a:pPr>
            <a:r>
              <a:rPr b="1" sz="910">
                <a:solidFill>
                  <a:srgbClr val="FFFFFF"/>
                </a:solidFill>
              </a:rPr>
              <a:t>• Qdrant Vector DB: </a:t>
            </a:r>
            <a:r>
              <a:rPr sz="880">
                <a:solidFill>
                  <a:srgbClr val="CBD5E1"/>
                </a:solidFill>
              </a:rPr>
              <a:t>Stores 384-dimensional dense vector embeddings</a:t>
            </a:r>
          </a:p>
          <a:p>
            <a:pPr>
              <a:spcAft>
                <a:spcPts val="300"/>
              </a:spcAft>
            </a:pPr>
            <a:r>
              <a:rPr b="1" sz="910">
                <a:solidFill>
                  <a:srgbClr val="FFFFFF"/>
                </a:solidFill>
              </a:rPr>
              <a:t>• Semantic Retrieval: </a:t>
            </a:r>
            <a:r>
              <a:rPr sz="880">
                <a:solidFill>
                  <a:srgbClr val="CBD5E1"/>
                </a:solidFill>
              </a:rPr>
              <a:t>Cosine similarity scoring with adaptive top-k evidence</a:t>
            </a:r>
          </a:p>
          <a:p>
            <a:pPr>
              <a:spcAft>
                <a:spcPts val="300"/>
              </a:spcAft>
            </a:pPr>
            <a:r>
              <a:rPr b="1" sz="910">
                <a:solidFill>
                  <a:srgbClr val="FFFFFF"/>
                </a:solidFill>
              </a:rPr>
              <a:t>• AST Blast Radius: </a:t>
            </a:r>
            <a:r>
              <a:rPr sz="880">
                <a:solidFill>
                  <a:srgbClr val="CBD5E1"/>
                </a:solidFill>
              </a:rPr>
              <a:t>Static caller-callee graph computing regression impact</a:t>
            </a:r>
          </a:p>
        </p:txBody>
      </p:sp>
      <p:sp>
        <p:nvSpPr>
          <p:cNvPr id="9" name="Rounded Rectangle 8"/>
          <p:cNvSpPr/>
          <p:nvPr/>
        </p:nvSpPr>
        <p:spPr>
          <a:xfrm>
            <a:off x="5065776" y="1371600"/>
            <a:ext cx="2066543"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30368" y="1499616"/>
            <a:ext cx="1737359" cy="4681728"/>
          </a:xfrm>
          <a:prstGeom prst="rect">
            <a:avLst/>
          </a:prstGeom>
          <a:noFill/>
        </p:spPr>
        <p:txBody>
          <a:bodyPr wrap="square" lIns="0" tIns="0" rIns="0" bIns="0">
            <a:spAutoFit/>
          </a:bodyPr>
          <a:lstStyle/>
          <a:p>
            <a:pPr>
              <a:spcAft>
                <a:spcPts val="500"/>
              </a:spcAft>
              <a:defRPr sz="1150" b="1">
                <a:solidFill>
                  <a:srgbClr val="FBBF24"/>
                </a:solidFill>
              </a:defRPr>
            </a:pPr>
            <a:r>
              <a:t>3. Dual-Engine Inference</a:t>
            </a:r>
          </a:p>
          <a:p>
            <a:pPr>
              <a:spcAft>
                <a:spcPts val="300"/>
              </a:spcAft>
            </a:pPr>
            <a:r>
              <a:rPr b="1" sz="910">
                <a:solidFill>
                  <a:srgbClr val="FFFFFF"/>
                </a:solidFill>
              </a:rPr>
              <a:t>• Air-Gapped Router: </a:t>
            </a:r>
            <a:r>
              <a:rPr sz="880">
                <a:solidFill>
                  <a:srgbClr val="CBD5E1"/>
                </a:solidFill>
              </a:rPr>
              <a:t>Sensitivity classifier inspecting prompt context</a:t>
            </a:r>
          </a:p>
          <a:p>
            <a:pPr>
              <a:spcAft>
                <a:spcPts val="300"/>
              </a:spcAft>
            </a:pPr>
            <a:r>
              <a:rPr b="1" sz="910">
                <a:solidFill>
                  <a:srgbClr val="FFFFFF"/>
                </a:solidFill>
              </a:rPr>
              <a:t>• Cloud Engine: </a:t>
            </a:r>
            <a:r>
              <a:rPr sz="880">
                <a:solidFill>
                  <a:srgbClr val="CBD5E1"/>
                </a:solidFill>
              </a:rPr>
              <a:t>Google Gemini 2.5 Flash / Groq for public sanitized code</a:t>
            </a:r>
          </a:p>
          <a:p>
            <a:pPr>
              <a:spcAft>
                <a:spcPts val="300"/>
              </a:spcAft>
            </a:pPr>
            <a:r>
              <a:rPr b="1" sz="910">
                <a:solidFill>
                  <a:srgbClr val="FFFFFF"/>
                </a:solidFill>
              </a:rPr>
              <a:t>• Local Privacy Engine: </a:t>
            </a:r>
            <a:r>
              <a:rPr sz="880">
                <a:solidFill>
                  <a:srgbClr val="CBD5E1"/>
                </a:solidFill>
              </a:rPr>
              <a:t>Ollama localhost:11434 (Qwen2.5-Coder:7b / Llama3.2)</a:t>
            </a:r>
          </a:p>
          <a:p>
            <a:pPr>
              <a:spcAft>
                <a:spcPts val="300"/>
              </a:spcAft>
            </a:pPr>
            <a:r>
              <a:rPr b="1" sz="910">
                <a:solidFill>
                  <a:srgbClr val="FFFFFF"/>
                </a:solidFill>
              </a:rPr>
              <a:t>• Deterministic Fallback: </a:t>
            </a:r>
            <a:r>
              <a:rPr sz="880">
                <a:solidFill>
                  <a:srgbClr val="CBD5E1"/>
                </a:solidFill>
              </a:rPr>
              <a:t>Offline synthesizer guaranteeing zero-failure delivery</a:t>
            </a:r>
          </a:p>
        </p:txBody>
      </p:sp>
      <p:sp>
        <p:nvSpPr>
          <p:cNvPr id="11" name="Rounded Rectangle 10"/>
          <p:cNvSpPr/>
          <p:nvPr/>
        </p:nvSpPr>
        <p:spPr>
          <a:xfrm>
            <a:off x="7232904" y="1371600"/>
            <a:ext cx="2066543"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97496" y="1499616"/>
            <a:ext cx="1737359" cy="4681728"/>
          </a:xfrm>
          <a:prstGeom prst="rect">
            <a:avLst/>
          </a:prstGeom>
          <a:noFill/>
        </p:spPr>
        <p:txBody>
          <a:bodyPr wrap="square" lIns="0" tIns="0" rIns="0" bIns="0">
            <a:spAutoFit/>
          </a:bodyPr>
          <a:lstStyle/>
          <a:p>
            <a:pPr>
              <a:spcAft>
                <a:spcPts val="500"/>
              </a:spcAft>
              <a:defRPr sz="1150" b="1">
                <a:solidFill>
                  <a:srgbClr val="EF4444"/>
                </a:solidFill>
              </a:defRPr>
            </a:pPr>
            <a:r>
              <a:t>4. Verification &amp; Sandbox</a:t>
            </a:r>
          </a:p>
          <a:p>
            <a:pPr>
              <a:spcAft>
                <a:spcPts val="300"/>
              </a:spcAft>
            </a:pPr>
            <a:r>
              <a:rPr b="1" sz="910">
                <a:solidFill>
                  <a:srgbClr val="FFFFFF"/>
                </a:solidFill>
              </a:rPr>
              <a:t>• AST Package Firewall: </a:t>
            </a:r>
            <a:r>
              <a:rPr sz="880">
                <a:solidFill>
                  <a:srgbClr val="CBD5E1"/>
                </a:solidFill>
              </a:rPr>
              <a:t>Traverses Import nodes &amp; queries live PyPI registry (&lt;5ms)</a:t>
            </a:r>
          </a:p>
          <a:p>
            <a:pPr>
              <a:spcAft>
                <a:spcPts val="300"/>
              </a:spcAft>
            </a:pPr>
            <a:r>
              <a:rPr b="1" sz="910">
                <a:solidFill>
                  <a:srgbClr val="FFFFFF"/>
                </a:solidFill>
              </a:rPr>
              <a:t>• Slopsquatting Quarantine: </a:t>
            </a:r>
            <a:r>
              <a:rPr sz="880">
                <a:solidFill>
                  <a:srgbClr val="CBD5E1"/>
                </a:solidFill>
              </a:rPr>
              <a:t>Immediate pipeline halt upon HTTP 404 fake package</a:t>
            </a:r>
          </a:p>
          <a:p>
            <a:pPr>
              <a:spcAft>
                <a:spcPts val="300"/>
              </a:spcAft>
            </a:pPr>
            <a:r>
              <a:rPr b="1" sz="910">
                <a:solidFill>
                  <a:srgbClr val="FFFFFF"/>
                </a:solidFill>
              </a:rPr>
              <a:t>• ReAct Sandbox: </a:t>
            </a:r>
            <a:r>
              <a:rPr sz="880">
                <a:solidFill>
                  <a:srgbClr val="CBD5E1"/>
                </a:solidFill>
              </a:rPr>
              <a:t>Subprocess pytest execution with strict 3.0s timeout</a:t>
            </a:r>
          </a:p>
          <a:p>
            <a:pPr>
              <a:spcAft>
                <a:spcPts val="300"/>
              </a:spcAft>
            </a:pPr>
            <a:r>
              <a:rPr b="1" sz="910">
                <a:solidFill>
                  <a:srgbClr val="FFFFFF"/>
                </a:solidFill>
              </a:rPr>
              <a:t>• Self-Healing Engine: </a:t>
            </a:r>
            <a:r>
              <a:rPr sz="880">
                <a:solidFill>
                  <a:srgbClr val="CBD5E1"/>
                </a:solidFill>
              </a:rPr>
              <a:t>Extracts stderr tracebacks; auto-repairs code (N &lt;= 3)</a:t>
            </a:r>
          </a:p>
        </p:txBody>
      </p:sp>
      <p:sp>
        <p:nvSpPr>
          <p:cNvPr id="13" name="Rounded Rectangle 12"/>
          <p:cNvSpPr/>
          <p:nvPr/>
        </p:nvSpPr>
        <p:spPr>
          <a:xfrm>
            <a:off x="9400032" y="1371600"/>
            <a:ext cx="2066543"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64624" y="1499616"/>
            <a:ext cx="1737359" cy="4681728"/>
          </a:xfrm>
          <a:prstGeom prst="rect">
            <a:avLst/>
          </a:prstGeom>
          <a:noFill/>
        </p:spPr>
        <p:txBody>
          <a:bodyPr wrap="square" lIns="0" tIns="0" rIns="0" bIns="0">
            <a:spAutoFit/>
          </a:bodyPr>
          <a:lstStyle/>
          <a:p>
            <a:pPr>
              <a:spcAft>
                <a:spcPts val="500"/>
              </a:spcAft>
              <a:defRPr sz="1150" b="1">
                <a:solidFill>
                  <a:srgbClr val="A855F7"/>
                </a:solidFill>
              </a:defRPr>
            </a:pPr>
            <a:r>
              <a:t>5. Interoperability &amp; Telemetry</a:t>
            </a:r>
          </a:p>
          <a:p>
            <a:pPr>
              <a:spcAft>
                <a:spcPts val="300"/>
              </a:spcAft>
            </a:pPr>
            <a:r>
              <a:rPr b="1" sz="910">
                <a:solidFill>
                  <a:srgbClr val="FFFFFF"/>
                </a:solidFill>
              </a:rPr>
              <a:t>• MCP JSON-RPC Server: </a:t>
            </a:r>
            <a:r>
              <a:rPr sz="880">
                <a:solidFill>
                  <a:srgbClr val="CBD5E1"/>
                </a:solidFill>
              </a:rPr>
              <a:t>Exposes tools directly to Cursor IDE &amp; Claude Desktop</a:t>
            </a:r>
          </a:p>
          <a:p>
            <a:pPr>
              <a:spcAft>
                <a:spcPts val="300"/>
              </a:spcAft>
            </a:pPr>
            <a:r>
              <a:rPr b="1" sz="910">
                <a:solidFill>
                  <a:srgbClr val="FFFFFF"/>
                </a:solidFill>
              </a:rPr>
              <a:t>• Mission Control Dashboard: </a:t>
            </a:r>
            <a:r>
              <a:rPr sz="880">
                <a:solidFill>
                  <a:srgbClr val="CBD5E1"/>
                </a:solidFill>
              </a:rPr>
              <a:t>Dark-mode SaaS UI with live SSE telemetry streaming</a:t>
            </a:r>
          </a:p>
          <a:p>
            <a:pPr>
              <a:spcAft>
                <a:spcPts val="300"/>
              </a:spcAft>
            </a:pPr>
            <a:r>
              <a:rPr b="1" sz="910">
                <a:solidFill>
                  <a:srgbClr val="FFFFFF"/>
                </a:solidFill>
              </a:rPr>
              <a:t>• Groq Whisper Speech-to-Text: </a:t>
            </a:r>
            <a:r>
              <a:rPr sz="880">
                <a:solidFill>
                  <a:srgbClr val="CBD5E1"/>
                </a:solidFill>
              </a:rPr>
              <a:t>Voice-driven DevOps prompts with Web Speech fallback</a:t>
            </a:r>
          </a:p>
          <a:p>
            <a:pPr>
              <a:spcAft>
                <a:spcPts val="300"/>
              </a:spcAft>
            </a:pPr>
            <a:r>
              <a:rPr b="1" sz="910">
                <a:solidFill>
                  <a:srgbClr val="FFFFFF"/>
                </a:solidFill>
              </a:rPr>
              <a:t>• Cryptographic SBOM: </a:t>
            </a:r>
            <a:r>
              <a:rPr sz="880">
                <a:solidFill>
                  <a:srgbClr val="CBD5E1"/>
                </a:solidFill>
              </a:rPr>
              <a:t>CycloneDX v1.5 JSON generator meeting SLSA Level 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METHODOLOGY: CONCRETE IMPLEMENTATION ARCHITECTURE (5 MARKS)</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9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End-to-End System Architecture: The 5-Tier Governed Stack</a:t>
            </a:r>
          </a:p>
        </p:txBody>
      </p:sp>
      <p:sp>
        <p:nvSpPr>
          <p:cNvPr id="5" name="Rounded Rectangle 4"/>
          <p:cNvSpPr/>
          <p:nvPr/>
        </p:nvSpPr>
        <p:spPr>
          <a:xfrm>
            <a:off x="731520" y="1371600"/>
            <a:ext cx="10728655" cy="896112"/>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44752"/>
            <a:ext cx="10362895" cy="749808"/>
          </a:xfrm>
          <a:prstGeom prst="rect">
            <a:avLst/>
          </a:prstGeom>
          <a:noFill/>
        </p:spPr>
        <p:txBody>
          <a:bodyPr wrap="square" lIns="0" tIns="0" rIns="0" bIns="0">
            <a:spAutoFit/>
          </a:bodyPr>
          <a:lstStyle/>
          <a:p>
            <a:r>
              <a:rPr b="1" sz="1100">
                <a:solidFill>
                  <a:srgbClr val="FBBF24"/>
                </a:solidFill>
              </a:rPr>
              <a:t>Tier 1: Client &amp; IDE Layer — </a:t>
            </a:r>
            <a:r>
              <a:rPr sz="950" b="1">
                <a:solidFill>
                  <a:srgbClr val="10B981"/>
                </a:solidFill>
              </a:rPr>
              <a:t>Stack: CLI Terminal (main.py) | Mission Control Web UI (:8765) | Cursor IDE / Claude Desktop (via MCP)
</a:t>
            </a:r>
          </a:p>
          <a:p>
            <a:r>
              <a:rPr sz="900">
                <a:solidFill>
                  <a:srgbClr val="CBD5E1"/>
                </a:solidFill>
              </a:rPr>
              <a:t>Operational Flow: Developers interact via terminal CLI, dark-mode browser dashboard, or native IDE tools. Voice input transcribed via Groq Whisper API.</a:t>
            </a:r>
          </a:p>
        </p:txBody>
      </p:sp>
      <p:sp>
        <p:nvSpPr>
          <p:cNvPr id="7" name="Rounded Rectangle 6"/>
          <p:cNvSpPr/>
          <p:nvPr/>
        </p:nvSpPr>
        <p:spPr>
          <a:xfrm>
            <a:off x="731520" y="2377440"/>
            <a:ext cx="10728655" cy="896112"/>
          </a:xfrm>
          <a:prstGeom prst="roundRect">
            <a:avLst/>
          </a:prstGeom>
          <a:solidFill>
            <a:srgbClr val="12151D"/>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50592"/>
            <a:ext cx="10362895" cy="749808"/>
          </a:xfrm>
          <a:prstGeom prst="rect">
            <a:avLst/>
          </a:prstGeom>
          <a:noFill/>
        </p:spPr>
        <p:txBody>
          <a:bodyPr wrap="square" lIns="0" tIns="0" rIns="0" bIns="0">
            <a:spAutoFit/>
          </a:bodyPr>
          <a:lstStyle/>
          <a:p>
            <a:r>
              <a:rPr b="1" sz="1100">
                <a:solidFill>
                  <a:srgbClr val="FBBF24"/>
                </a:solidFill>
              </a:rPr>
              <a:t>Tier 2: Governance Gateway — </a:t>
            </a:r>
            <a:r>
              <a:rPr sz="950" b="1">
                <a:solidFill>
                  <a:srgbClr val="10B981"/>
                </a:solidFill>
              </a:rPr>
              <a:t>Stack: MCP Server (JSON-RPC 2.0) | AST Ingestion | Shannon Entropy Scanner (H &gt; 4.5) | DPDP Token Vault
</a:t>
            </a:r>
          </a:p>
          <a:p>
            <a:r>
              <a:rPr sz="900">
                <a:solidFill>
                  <a:srgbClr val="CBD5E1"/>
                </a:solidFill>
              </a:rPr>
              <a:t>Operational Flow: Intercepts prompts BEFORE tokenization. Flags destructive commands ('DROP TABLE'), scrubs Indian PII into reversible tokens, halts high-entropy secrets.</a:t>
            </a:r>
          </a:p>
        </p:txBody>
      </p:sp>
      <p:sp>
        <p:nvSpPr>
          <p:cNvPr id="9" name="Rounded Rectangle 8"/>
          <p:cNvSpPr/>
          <p:nvPr/>
        </p:nvSpPr>
        <p:spPr>
          <a:xfrm>
            <a:off x="731520" y="3383280"/>
            <a:ext cx="10728655" cy="896112"/>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456432"/>
            <a:ext cx="10362895" cy="749808"/>
          </a:xfrm>
          <a:prstGeom prst="rect">
            <a:avLst/>
          </a:prstGeom>
          <a:noFill/>
        </p:spPr>
        <p:txBody>
          <a:bodyPr wrap="square" lIns="0" tIns="0" rIns="0" bIns="0">
            <a:spAutoFit/>
          </a:bodyPr>
          <a:lstStyle/>
          <a:p>
            <a:r>
              <a:rPr b="1" sz="1100">
                <a:solidFill>
                  <a:srgbClr val="FBBF24"/>
                </a:solidFill>
              </a:rPr>
              <a:t>Tier 3: Repository Intelligence — </a:t>
            </a:r>
            <a:r>
              <a:rPr sz="950" b="1">
                <a:solidFill>
                  <a:srgbClr val="10B981"/>
                </a:solidFill>
              </a:rPr>
              <a:t>Stack: Qdrant Vector Database | 384-d MiniLM Embeddings | AST Blast-Radius Engine | Sensitivity Router
</a:t>
            </a:r>
          </a:p>
          <a:p>
            <a:r>
              <a:rPr sz="900">
                <a:solidFill>
                  <a:srgbClr val="CBD5E1"/>
                </a:solidFill>
              </a:rPr>
              <a:t>Operational Flow: Retrieves AST-aware code chunks via cosine similarity. Parses repository AST into caller-callee call graphs to predict downstream regressions.</a:t>
            </a:r>
          </a:p>
        </p:txBody>
      </p:sp>
      <p:sp>
        <p:nvSpPr>
          <p:cNvPr id="11" name="Rounded Rectangle 10"/>
          <p:cNvSpPr/>
          <p:nvPr/>
        </p:nvSpPr>
        <p:spPr>
          <a:xfrm>
            <a:off x="731520" y="4389120"/>
            <a:ext cx="10728655" cy="896112"/>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62272"/>
            <a:ext cx="10362895" cy="749808"/>
          </a:xfrm>
          <a:prstGeom prst="rect">
            <a:avLst/>
          </a:prstGeom>
          <a:noFill/>
        </p:spPr>
        <p:txBody>
          <a:bodyPr wrap="square" lIns="0" tIns="0" rIns="0" bIns="0">
            <a:spAutoFit/>
          </a:bodyPr>
          <a:lstStyle/>
          <a:p>
            <a:r>
              <a:rPr b="1" sz="1100">
                <a:solidFill>
                  <a:srgbClr val="FBBF24"/>
                </a:solidFill>
              </a:rPr>
              <a:t>Tier 4: Synthesis &amp; Inference — </a:t>
            </a:r>
            <a:r>
              <a:rPr sz="950" b="1">
                <a:solidFill>
                  <a:srgbClr val="10B981"/>
                </a:solidFill>
              </a:rPr>
              <a:t>Stack: Cloud Engine: Google Gemini 2.5 Flash / Groq | Local Engine: Ollama Qwen2.5-Coder:7b | Fallback Engine
</a:t>
            </a:r>
          </a:p>
          <a:p>
            <a:r>
              <a:rPr sz="900">
                <a:solidFill>
                  <a:srgbClr val="CBD5E1"/>
                </a:solidFill>
              </a:rPr>
              <a:t>Operational Flow: Sensitivity router directs sanitized public code to Gemini 2.5 Flash, and confidential proprietary IP to local air-gapped Ollama instance.</a:t>
            </a:r>
          </a:p>
        </p:txBody>
      </p:sp>
      <p:sp>
        <p:nvSpPr>
          <p:cNvPr id="13" name="Rounded Rectangle 12"/>
          <p:cNvSpPr/>
          <p:nvPr/>
        </p:nvSpPr>
        <p:spPr>
          <a:xfrm>
            <a:off x="731520" y="5394960"/>
            <a:ext cx="10728655" cy="896112"/>
          </a:xfrm>
          <a:prstGeom prst="roundRect">
            <a:avLst/>
          </a:prstGeom>
          <a:solidFill>
            <a:srgbClr val="12151D"/>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68112"/>
            <a:ext cx="10362895" cy="749808"/>
          </a:xfrm>
          <a:prstGeom prst="rect">
            <a:avLst/>
          </a:prstGeom>
          <a:noFill/>
        </p:spPr>
        <p:txBody>
          <a:bodyPr wrap="square" lIns="0" tIns="0" rIns="0" bIns="0">
            <a:spAutoFit/>
          </a:bodyPr>
          <a:lstStyle/>
          <a:p>
            <a:r>
              <a:rPr b="1" sz="1100">
                <a:solidFill>
                  <a:srgbClr val="FBBF24"/>
                </a:solidFill>
              </a:rPr>
              <a:t>Tier 5: Verification &amp; Sandbox — </a:t>
            </a:r>
            <a:r>
              <a:rPr sz="950" b="1">
                <a:solidFill>
                  <a:srgbClr val="10B981"/>
                </a:solidFill>
              </a:rPr>
              <a:t>Stack: AST Package Firewall (PyPI Registry) | Ephemeral Subprocess Sandbox | ReAct Self-Healer | CycloneDX SBOM
</a:t>
            </a:r>
          </a:p>
          <a:p>
            <a:r>
              <a:rPr sz="900">
                <a:solidFill>
                  <a:srgbClr val="CBD5E1"/>
                </a:solidFill>
              </a:rPr>
              <a:t>Operational Flow: Inspects imports against PyPI to stop slopsquatting. Executes tests in sandboxed subprocess; auto-repairs tracebacks (max 3x); generates SBOM.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METHODOLOGY: FORMAL WORKFLOW STATES &amp; GUARDRAILS (5 MARKS)</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10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The 6-Stage Governed Execution Lifecycle (Finite State Machine)</a:t>
            </a:r>
          </a:p>
        </p:txBody>
      </p:sp>
      <p:sp>
        <p:nvSpPr>
          <p:cNvPr id="5" name="Rounded Rectangle 4"/>
          <p:cNvSpPr/>
          <p:nvPr/>
        </p:nvSpPr>
        <p:spPr>
          <a:xfrm>
            <a:off x="731520" y="1371600"/>
            <a:ext cx="3383280" cy="233172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3054096" cy="2075688"/>
          </a:xfrm>
          <a:prstGeom prst="rect">
            <a:avLst/>
          </a:prstGeom>
          <a:noFill/>
        </p:spPr>
        <p:txBody>
          <a:bodyPr wrap="square" lIns="0" tIns="0" rIns="0" bIns="0">
            <a:spAutoFit/>
          </a:bodyPr>
          <a:lstStyle/>
          <a:p>
            <a:pPr>
              <a:spcAft>
                <a:spcPts val="500"/>
              </a:spcAft>
              <a:defRPr sz="1200" b="1">
                <a:solidFill>
                  <a:srgbClr val="00D2FF"/>
                </a:solidFill>
              </a:defRPr>
            </a:pPr>
            <a:r>
              <a:t>Stage 1: Sentinel Screening</a:t>
            </a:r>
          </a:p>
          <a:p>
            <a:pPr>
              <a:spcAft>
                <a:spcPts val="300"/>
              </a:spcAft>
            </a:pPr>
            <a:r>
              <a:rPr b="1" sz="950">
                <a:solidFill>
                  <a:srgbClr val="FFFFFF"/>
                </a:solidFill>
              </a:rPr>
              <a:t>• Role: </a:t>
            </a:r>
            <a:r>
              <a:rPr sz="919">
                <a:solidFill>
                  <a:srgbClr val="CBD5E1"/>
                </a:solidFill>
              </a:rPr>
              <a:t>Pre-Execution Guard</a:t>
            </a:r>
          </a:p>
          <a:p>
            <a:pPr>
              <a:spcAft>
                <a:spcPts val="300"/>
              </a:spcAft>
            </a:pPr>
            <a:r>
              <a:rPr b="1" sz="950">
                <a:solidFill>
                  <a:srgbClr val="FFFFFF"/>
                </a:solidFill>
              </a:rPr>
              <a:t>• Mechanism: </a:t>
            </a:r>
            <a:r>
              <a:rPr sz="919">
                <a:solidFill>
                  <a:srgbClr val="CBD5E1"/>
                </a:solidFill>
              </a:rPr>
              <a:t>Shannon Entropy + Regex Heuristics</a:t>
            </a:r>
          </a:p>
          <a:p>
            <a:pPr>
              <a:spcAft>
                <a:spcPts val="300"/>
              </a:spcAft>
            </a:pPr>
            <a:r>
              <a:rPr b="1" sz="950">
                <a:solidFill>
                  <a:srgbClr val="FFFFFF"/>
                </a:solidFill>
              </a:rPr>
              <a:t>• Governance Flow: </a:t>
            </a:r>
            <a:r>
              <a:rPr sz="919">
                <a:solidFill>
                  <a:srgbClr val="CBD5E1"/>
                </a:solidFill>
              </a:rPr>
              <a:t>Calculates entropy H(X) over prompt tokens. Detects AWS/GitHub keys and Indian Aadhaar/PAN. If destructive SQL/shell command detected -&gt; Emits BLOCKED and halts pipeline immediately.</a:t>
            </a:r>
          </a:p>
        </p:txBody>
      </p:sp>
      <p:sp>
        <p:nvSpPr>
          <p:cNvPr id="7" name="Rounded Rectangle 6"/>
          <p:cNvSpPr/>
          <p:nvPr/>
        </p:nvSpPr>
        <p:spPr>
          <a:xfrm>
            <a:off x="4389120" y="1371600"/>
            <a:ext cx="3383280" cy="233172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53712" y="1499616"/>
            <a:ext cx="3054096" cy="2075688"/>
          </a:xfrm>
          <a:prstGeom prst="rect">
            <a:avLst/>
          </a:prstGeom>
          <a:noFill/>
        </p:spPr>
        <p:txBody>
          <a:bodyPr wrap="square" lIns="0" tIns="0" rIns="0" bIns="0">
            <a:spAutoFit/>
          </a:bodyPr>
          <a:lstStyle/>
          <a:p>
            <a:pPr>
              <a:spcAft>
                <a:spcPts val="500"/>
              </a:spcAft>
              <a:defRPr sz="1200" b="1">
                <a:solidFill>
                  <a:srgbClr val="00D2FF"/>
                </a:solidFill>
              </a:defRPr>
            </a:pPr>
            <a:r>
              <a:t>Stage 2: Qdrant Context Retrieval</a:t>
            </a:r>
          </a:p>
          <a:p>
            <a:pPr>
              <a:spcAft>
                <a:spcPts val="300"/>
              </a:spcAft>
            </a:pPr>
            <a:r>
              <a:rPr b="1" sz="950">
                <a:solidFill>
                  <a:srgbClr val="FFFFFF"/>
                </a:solidFill>
              </a:rPr>
              <a:t>• Role: </a:t>
            </a:r>
            <a:r>
              <a:rPr sz="919">
                <a:solidFill>
                  <a:srgbClr val="CBD5E1"/>
                </a:solidFill>
              </a:rPr>
              <a:t>Semantic RAG</a:t>
            </a:r>
          </a:p>
          <a:p>
            <a:pPr>
              <a:spcAft>
                <a:spcPts val="300"/>
              </a:spcAft>
            </a:pPr>
            <a:r>
              <a:rPr b="1" sz="950">
                <a:solidFill>
                  <a:srgbClr val="FFFFFF"/>
                </a:solidFill>
              </a:rPr>
              <a:t>• Mechanism: </a:t>
            </a:r>
            <a:r>
              <a:rPr sz="919">
                <a:solidFill>
                  <a:srgbClr val="CBD5E1"/>
                </a:solidFill>
              </a:rPr>
              <a:t>Dense Vector Cosine Similarity</a:t>
            </a:r>
          </a:p>
          <a:p>
            <a:pPr>
              <a:spcAft>
                <a:spcPts val="300"/>
              </a:spcAft>
            </a:pPr>
            <a:r>
              <a:rPr b="1" sz="950">
                <a:solidFill>
                  <a:srgbClr val="FFFFFF"/>
                </a:solidFill>
              </a:rPr>
              <a:t>• Governance Flow: </a:t>
            </a:r>
            <a:r>
              <a:rPr sz="919">
                <a:solidFill>
                  <a:srgbClr val="CBD5E1"/>
                </a:solidFill>
              </a:rPr>
              <a:t>Dynamically evaluates if codebase context is needed. Embeds prompt using all-MiniLM-L6-v2 (384-d) and queries Qdrant vector database for AST-aware code chunks (cosine sim &gt; 0.70).</a:t>
            </a:r>
          </a:p>
        </p:txBody>
      </p:sp>
      <p:sp>
        <p:nvSpPr>
          <p:cNvPr id="9" name="Rounded Rectangle 8"/>
          <p:cNvSpPr/>
          <p:nvPr/>
        </p:nvSpPr>
        <p:spPr>
          <a:xfrm>
            <a:off x="8046720" y="1371600"/>
            <a:ext cx="3383280" cy="233172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499616"/>
            <a:ext cx="3054096" cy="2075688"/>
          </a:xfrm>
          <a:prstGeom prst="rect">
            <a:avLst/>
          </a:prstGeom>
          <a:noFill/>
        </p:spPr>
        <p:txBody>
          <a:bodyPr wrap="square" lIns="0" tIns="0" rIns="0" bIns="0">
            <a:spAutoFit/>
          </a:bodyPr>
          <a:lstStyle/>
          <a:p>
            <a:pPr>
              <a:spcAft>
                <a:spcPts val="500"/>
              </a:spcAft>
              <a:defRPr sz="1200" b="1">
                <a:solidFill>
                  <a:srgbClr val="00D2FF"/>
                </a:solidFill>
              </a:defRPr>
            </a:pPr>
            <a:r>
              <a:t>Stage 3: AST Blast Radius Analysis</a:t>
            </a:r>
          </a:p>
          <a:p>
            <a:pPr>
              <a:spcAft>
                <a:spcPts val="300"/>
              </a:spcAft>
            </a:pPr>
            <a:r>
              <a:rPr b="1" sz="950">
                <a:solidFill>
                  <a:srgbClr val="FFFFFF"/>
                </a:solidFill>
              </a:rPr>
              <a:t>• Role: </a:t>
            </a:r>
            <a:r>
              <a:rPr sz="919">
                <a:solidFill>
                  <a:srgbClr val="CBD5E1"/>
                </a:solidFill>
              </a:rPr>
              <a:t>Regression Guard</a:t>
            </a:r>
          </a:p>
          <a:p>
            <a:pPr>
              <a:spcAft>
                <a:spcPts val="300"/>
              </a:spcAft>
            </a:pPr>
            <a:r>
              <a:rPr b="1" sz="950">
                <a:solidFill>
                  <a:srgbClr val="FFFFFF"/>
                </a:solidFill>
              </a:rPr>
              <a:t>• Mechanism: </a:t>
            </a:r>
            <a:r>
              <a:rPr sz="919">
                <a:solidFill>
                  <a:srgbClr val="CBD5E1"/>
                </a:solidFill>
              </a:rPr>
              <a:t>Static Caller-Callee Call Graph</a:t>
            </a:r>
          </a:p>
          <a:p>
            <a:pPr>
              <a:spcAft>
                <a:spcPts val="300"/>
              </a:spcAft>
            </a:pPr>
            <a:r>
              <a:rPr b="1" sz="950">
                <a:solidFill>
                  <a:srgbClr val="FFFFFF"/>
                </a:solidFill>
              </a:rPr>
              <a:t>• Governance Flow: </a:t>
            </a:r>
            <a:r>
              <a:rPr sz="919">
                <a:solidFill>
                  <a:srgbClr val="CBD5E1"/>
                </a:solidFill>
              </a:rPr>
              <a:t>Parses target files with Python 'ast' module. Constructs adjacency matrix representing function calls and imports. Calculates percentage of repository affected by proposed patch.</a:t>
            </a:r>
          </a:p>
        </p:txBody>
      </p:sp>
      <p:sp>
        <p:nvSpPr>
          <p:cNvPr id="11" name="Rounded Rectangle 10"/>
          <p:cNvSpPr/>
          <p:nvPr/>
        </p:nvSpPr>
        <p:spPr>
          <a:xfrm>
            <a:off x="731520" y="3840480"/>
            <a:ext cx="3383280" cy="233172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968496"/>
            <a:ext cx="3054096" cy="2075688"/>
          </a:xfrm>
          <a:prstGeom prst="rect">
            <a:avLst/>
          </a:prstGeom>
          <a:noFill/>
        </p:spPr>
        <p:txBody>
          <a:bodyPr wrap="square" lIns="0" tIns="0" rIns="0" bIns="0">
            <a:spAutoFit/>
          </a:bodyPr>
          <a:lstStyle/>
          <a:p>
            <a:pPr>
              <a:spcAft>
                <a:spcPts val="500"/>
              </a:spcAft>
              <a:defRPr sz="1200" b="1">
                <a:solidFill>
                  <a:srgbClr val="10B981"/>
                </a:solidFill>
              </a:defRPr>
            </a:pPr>
            <a:r>
              <a:t>Stage 4: Dual-Engine LLM Generation</a:t>
            </a:r>
          </a:p>
          <a:p>
            <a:pPr>
              <a:spcAft>
                <a:spcPts val="300"/>
              </a:spcAft>
            </a:pPr>
            <a:r>
              <a:rPr b="1" sz="950">
                <a:solidFill>
                  <a:srgbClr val="FFFFFF"/>
                </a:solidFill>
              </a:rPr>
              <a:t>• Role: </a:t>
            </a:r>
            <a:r>
              <a:rPr sz="919">
                <a:solidFill>
                  <a:srgbClr val="CBD5E1"/>
                </a:solidFill>
              </a:rPr>
              <a:t>Inference Router</a:t>
            </a:r>
          </a:p>
          <a:p>
            <a:pPr>
              <a:spcAft>
                <a:spcPts val="300"/>
              </a:spcAft>
            </a:pPr>
            <a:r>
              <a:rPr b="1" sz="950">
                <a:solidFill>
                  <a:srgbClr val="FFFFFF"/>
                </a:solidFill>
              </a:rPr>
              <a:t>• Mechanism: </a:t>
            </a:r>
            <a:r>
              <a:rPr sz="919">
                <a:solidFill>
                  <a:srgbClr val="CBD5E1"/>
                </a:solidFill>
              </a:rPr>
              <a:t>Air-Gapped Privacy Router</a:t>
            </a:r>
          </a:p>
          <a:p>
            <a:pPr>
              <a:spcAft>
                <a:spcPts val="300"/>
              </a:spcAft>
            </a:pPr>
            <a:r>
              <a:rPr b="1" sz="950">
                <a:solidFill>
                  <a:srgbClr val="FFFFFF"/>
                </a:solidFill>
              </a:rPr>
              <a:t>• Governance Flow: </a:t>
            </a:r>
            <a:r>
              <a:rPr sz="919">
                <a:solidFill>
                  <a:srgbClr val="CBD5E1"/>
                </a:solidFill>
              </a:rPr>
              <a:t>Checks prompt data sensitivity. Routes public sanitized requests to Google Gemini 2.5 Flash; routes confidential IP to local Ollama (Qwen2.5-Coder:7b). Synthesizes candidate patch.</a:t>
            </a:r>
          </a:p>
        </p:txBody>
      </p:sp>
      <p:sp>
        <p:nvSpPr>
          <p:cNvPr id="13" name="Rounded Rectangle 12"/>
          <p:cNvSpPr/>
          <p:nvPr/>
        </p:nvSpPr>
        <p:spPr>
          <a:xfrm>
            <a:off x="4389120" y="3840480"/>
            <a:ext cx="3383280" cy="233172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3968496"/>
            <a:ext cx="3054096" cy="2075688"/>
          </a:xfrm>
          <a:prstGeom prst="rect">
            <a:avLst/>
          </a:prstGeom>
          <a:noFill/>
        </p:spPr>
        <p:txBody>
          <a:bodyPr wrap="square" lIns="0" tIns="0" rIns="0" bIns="0">
            <a:spAutoFit/>
          </a:bodyPr>
          <a:lstStyle/>
          <a:p>
            <a:pPr>
              <a:spcAft>
                <a:spcPts val="500"/>
              </a:spcAft>
              <a:defRPr sz="1200" b="1">
                <a:solidFill>
                  <a:srgbClr val="10B981"/>
                </a:solidFill>
              </a:defRPr>
            </a:pPr>
            <a:r>
              <a:t>Stage 5: AST Package Firewall</a:t>
            </a:r>
          </a:p>
          <a:p>
            <a:pPr>
              <a:spcAft>
                <a:spcPts val="300"/>
              </a:spcAft>
            </a:pPr>
            <a:r>
              <a:rPr b="1" sz="950">
                <a:solidFill>
                  <a:srgbClr val="FFFFFF"/>
                </a:solidFill>
              </a:rPr>
              <a:t>• Role: </a:t>
            </a:r>
            <a:r>
              <a:rPr sz="919">
                <a:solidFill>
                  <a:srgbClr val="CBD5E1"/>
                </a:solidFill>
              </a:rPr>
              <a:t>Supply-Chain Guard</a:t>
            </a:r>
          </a:p>
          <a:p>
            <a:pPr>
              <a:spcAft>
                <a:spcPts val="300"/>
              </a:spcAft>
            </a:pPr>
            <a:r>
              <a:rPr b="1" sz="950">
                <a:solidFill>
                  <a:srgbClr val="FFFFFF"/>
                </a:solidFill>
              </a:rPr>
              <a:t>• Mechanism: </a:t>
            </a:r>
            <a:r>
              <a:rPr sz="919">
                <a:solidFill>
                  <a:srgbClr val="CBD5E1"/>
                </a:solidFill>
              </a:rPr>
              <a:t>AST ImportVisitor + Live PyPI JSON API</a:t>
            </a:r>
          </a:p>
          <a:p>
            <a:pPr>
              <a:spcAft>
                <a:spcPts val="300"/>
              </a:spcAft>
            </a:pPr>
            <a:r>
              <a:rPr b="1" sz="950">
                <a:solidFill>
                  <a:srgbClr val="FFFFFF"/>
                </a:solidFill>
              </a:rPr>
              <a:t>• Governance Flow: </a:t>
            </a:r>
            <a:r>
              <a:rPr sz="919">
                <a:solidFill>
                  <a:srgbClr val="CBD5E1"/>
                </a:solidFill>
              </a:rPr>
              <a:t>Extracts all 'Import' and 'ImportFrom' nodes. Checks against standard library, local files, LRU cache, and live PyPI API (&lt;5ms). If HTTP 404 -&gt; Halts pipeline to prevent slopsquatting.</a:t>
            </a:r>
          </a:p>
        </p:txBody>
      </p:sp>
      <p:sp>
        <p:nvSpPr>
          <p:cNvPr id="15" name="Rounded Rectangle 14"/>
          <p:cNvSpPr/>
          <p:nvPr/>
        </p:nvSpPr>
        <p:spPr>
          <a:xfrm>
            <a:off x="8046720" y="3840480"/>
            <a:ext cx="3383280" cy="233172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3968496"/>
            <a:ext cx="3054096" cy="2075688"/>
          </a:xfrm>
          <a:prstGeom prst="rect">
            <a:avLst/>
          </a:prstGeom>
          <a:noFill/>
        </p:spPr>
        <p:txBody>
          <a:bodyPr wrap="square" lIns="0" tIns="0" rIns="0" bIns="0">
            <a:spAutoFit/>
          </a:bodyPr>
          <a:lstStyle/>
          <a:p>
            <a:pPr>
              <a:spcAft>
                <a:spcPts val="500"/>
              </a:spcAft>
              <a:defRPr sz="1200" b="1">
                <a:solidFill>
                  <a:srgbClr val="10B981"/>
                </a:solidFill>
              </a:defRPr>
            </a:pPr>
            <a:r>
              <a:t>Stage 6: ReAct Ephemeral Sandbox</a:t>
            </a:r>
          </a:p>
          <a:p>
            <a:pPr>
              <a:spcAft>
                <a:spcPts val="300"/>
              </a:spcAft>
            </a:pPr>
            <a:r>
              <a:rPr b="1" sz="950">
                <a:solidFill>
                  <a:srgbClr val="FFFFFF"/>
                </a:solidFill>
              </a:rPr>
              <a:t>• Role: </a:t>
            </a:r>
            <a:r>
              <a:rPr sz="919">
                <a:solidFill>
                  <a:srgbClr val="CBD5E1"/>
                </a:solidFill>
              </a:rPr>
              <a:t>Self-Healing Loop</a:t>
            </a:r>
          </a:p>
          <a:p>
            <a:pPr>
              <a:spcAft>
                <a:spcPts val="300"/>
              </a:spcAft>
            </a:pPr>
            <a:r>
              <a:rPr b="1" sz="950">
                <a:solidFill>
                  <a:srgbClr val="FFFFFF"/>
                </a:solidFill>
              </a:rPr>
              <a:t>• Mechanism: </a:t>
            </a:r>
            <a:r>
              <a:rPr sz="919">
                <a:solidFill>
                  <a:srgbClr val="CBD5E1"/>
                </a:solidFill>
              </a:rPr>
              <a:t>Subprocess Pytest Execution + Reflection</a:t>
            </a:r>
          </a:p>
          <a:p>
            <a:pPr>
              <a:spcAft>
                <a:spcPts val="300"/>
              </a:spcAft>
            </a:pPr>
            <a:r>
              <a:rPr b="1" sz="950">
                <a:solidFill>
                  <a:srgbClr val="FFFFFF"/>
                </a:solidFill>
              </a:rPr>
              <a:t>• Governance Flow: </a:t>
            </a:r>
            <a:r>
              <a:rPr sz="919">
                <a:solidFill>
                  <a:srgbClr val="CBD5E1"/>
                </a:solidFill>
              </a:rPr>
              <a:t>Executes unit tests in an isolated ephemeral subprocess (3.0s timeout). If assertions fail, captures stderr traceback and feeds to ReAct repair prompt (max 3 iterations; 90% auto-recovery).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METHODOLOGY: MATHEMATICAL RIGOR &amp; FORMAL ALGORITHMIC FORMULATIONS (5 MARKS)</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11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Mathematical Foundations: Information Theory, Policy Logic &amp; Graphs</a:t>
            </a:r>
          </a:p>
        </p:txBody>
      </p:sp>
      <p:sp>
        <p:nvSpPr>
          <p:cNvPr id="5" name="Rounded Rectangle 4"/>
          <p:cNvSpPr/>
          <p:nvPr/>
        </p:nvSpPr>
        <p:spPr>
          <a:xfrm>
            <a:off x="731520" y="1371600"/>
            <a:ext cx="5120640" cy="237744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791456" cy="2121408"/>
          </a:xfrm>
          <a:prstGeom prst="rect">
            <a:avLst/>
          </a:prstGeom>
          <a:noFill/>
        </p:spPr>
        <p:txBody>
          <a:bodyPr wrap="square" lIns="0" tIns="0" rIns="0" bIns="0">
            <a:spAutoFit/>
          </a:bodyPr>
          <a:lstStyle/>
          <a:p>
            <a:pPr>
              <a:spcAft>
                <a:spcPts val="500"/>
              </a:spcAft>
              <a:defRPr sz="1200" b="1">
                <a:solidFill>
                  <a:srgbClr val="00D2FF"/>
                </a:solidFill>
              </a:defRPr>
            </a:pPr>
            <a:r>
              <a:t>1. Shannon Entropy for Credential Detection</a:t>
            </a:r>
          </a:p>
          <a:p>
            <a:pPr>
              <a:spcAft>
                <a:spcPts val="300"/>
              </a:spcAft>
            </a:pPr>
            <a:r>
              <a:rPr b="1" sz="950">
                <a:solidFill>
                  <a:srgbClr val="FFFFFF"/>
                </a:solidFill>
              </a:rPr>
              <a:t>• Mathematical Formulation: </a:t>
            </a:r>
            <a:r>
              <a:rPr sz="919">
                <a:solidFill>
                  <a:srgbClr val="CBD5E1"/>
                </a:solidFill>
              </a:rPr>
              <a:t>H(X) = -sum(p(x_i) * log2(p(x_i))) over character frequency distribution p(x_i).</a:t>
            </a:r>
          </a:p>
          <a:p>
            <a:pPr>
              <a:spcAft>
                <a:spcPts val="300"/>
              </a:spcAft>
            </a:pPr>
            <a:r>
              <a:rPr b="1" sz="950">
                <a:solidFill>
                  <a:srgbClr val="FFFFFF"/>
                </a:solidFill>
              </a:rPr>
              <a:t>• Information Theory Grounding: </a:t>
            </a:r>
            <a:r>
              <a:rPr sz="919">
                <a:solidFill>
                  <a:srgbClr val="CBD5E1"/>
                </a:solidFill>
              </a:rPr>
              <a:t>Measures bit randomness. Natural language code has low entropy (H = 1.5 - 3.2). Cryptographically random secrets (AWS AKIA, GitHub PAT, JWT) exhibit H &gt; 4.5.</a:t>
            </a:r>
          </a:p>
          <a:p>
            <a:pPr>
              <a:spcAft>
                <a:spcPts val="300"/>
              </a:spcAft>
            </a:pPr>
            <a:r>
              <a:rPr b="1" sz="950">
                <a:solidFill>
                  <a:srgbClr val="FFFFFF"/>
                </a:solidFill>
              </a:rPr>
              <a:t>• Deterministic Action: </a:t>
            </a:r>
            <a:r>
              <a:rPr sz="919">
                <a:solidFill>
                  <a:srgbClr val="CBD5E1"/>
                </a:solidFill>
              </a:rPr>
              <a:t>If token length &gt;= 20 and H(X) &gt; 4.5 -&gt; Instant quarantine; halts execution before LLM invocation.</a:t>
            </a:r>
          </a:p>
        </p:txBody>
      </p:sp>
      <p:sp>
        <p:nvSpPr>
          <p:cNvPr id="7" name="Rounded Rectangle 6"/>
          <p:cNvSpPr/>
          <p:nvPr/>
        </p:nvSpPr>
        <p:spPr>
          <a:xfrm>
            <a:off x="6217920" y="1371600"/>
            <a:ext cx="5212080" cy="237744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2121408"/>
          </a:xfrm>
          <a:prstGeom prst="rect">
            <a:avLst/>
          </a:prstGeom>
          <a:noFill/>
        </p:spPr>
        <p:txBody>
          <a:bodyPr wrap="square" lIns="0" tIns="0" rIns="0" bIns="0">
            <a:spAutoFit/>
          </a:bodyPr>
          <a:lstStyle/>
          <a:p>
            <a:pPr>
              <a:spcAft>
                <a:spcPts val="500"/>
              </a:spcAft>
              <a:defRPr sz="1200" b="1">
                <a:solidFill>
                  <a:srgbClr val="FBBF24"/>
                </a:solidFill>
              </a:defRPr>
            </a:pPr>
            <a:r>
              <a:t>2. Risk-Adaptive Policy Decision Matrix</a:t>
            </a:r>
          </a:p>
          <a:p>
            <a:pPr>
              <a:spcAft>
                <a:spcPts val="300"/>
              </a:spcAft>
            </a:pPr>
            <a:r>
              <a:rPr b="1" sz="950">
                <a:solidFill>
                  <a:srgbClr val="FFFFFF"/>
                </a:solidFill>
              </a:rPr>
              <a:t>• Mathematical Formulation: </a:t>
            </a:r>
            <a:r>
              <a:rPr sz="919">
                <a:solidFill>
                  <a:srgbClr val="CBD5E1"/>
                </a:solidFill>
              </a:rPr>
              <a:t>Risk Score = w1*ActionRisk + w2*FindingSeverity + w3*ExposureLevel (w1=0.35, w2=0.45, w3=0.20).</a:t>
            </a:r>
          </a:p>
          <a:p>
            <a:pPr>
              <a:spcAft>
                <a:spcPts val="300"/>
              </a:spcAft>
            </a:pPr>
            <a:r>
              <a:rPr b="1" sz="950">
                <a:solidFill>
                  <a:srgbClr val="FFFFFF"/>
                </a:solidFill>
              </a:rPr>
              <a:t>• State Thresholds: </a:t>
            </a:r>
            <a:r>
              <a:rPr sz="919">
                <a:solidFill>
                  <a:srgbClr val="CBD5E1"/>
                </a:solidFill>
              </a:rPr>
              <a:t>Score in [0.0, 0.30) -&gt; ALLOW (Proceed unhindered)</a:t>
            </a:r>
          </a:p>
          <a:p>
            <a:pPr>
              <a:spcAft>
                <a:spcPts val="300"/>
              </a:spcAft>
            </a:pPr>
            <a:r>
              <a:rPr b="1" sz="950">
                <a:solidFill>
                  <a:srgbClr val="FFFFFF"/>
                </a:solidFill>
              </a:rPr>
              <a:t>• Review &amp; Block States: </a:t>
            </a:r>
            <a:r>
              <a:rPr sz="919">
                <a:solidFill>
                  <a:srgbClr val="CBD5E1"/>
                </a:solidFill>
              </a:rPr>
              <a:t>Score in [0.30, 0.60) -&gt; REDACT; [0.60, 0.85) -&gt; REVIEW (Human gatekeeper); Score &gt;= 0.85 -&gt; BLOCK (Hard pipeline abort).</a:t>
            </a:r>
          </a:p>
        </p:txBody>
      </p:sp>
      <p:sp>
        <p:nvSpPr>
          <p:cNvPr id="9" name="Rounded Rectangle 8"/>
          <p:cNvSpPr/>
          <p:nvPr/>
        </p:nvSpPr>
        <p:spPr>
          <a:xfrm>
            <a:off x="731520" y="3931920"/>
            <a:ext cx="5120640" cy="237744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4059936"/>
            <a:ext cx="4791456" cy="2121408"/>
          </a:xfrm>
          <a:prstGeom prst="rect">
            <a:avLst/>
          </a:prstGeom>
          <a:noFill/>
        </p:spPr>
        <p:txBody>
          <a:bodyPr wrap="square" lIns="0" tIns="0" rIns="0" bIns="0">
            <a:spAutoFit/>
          </a:bodyPr>
          <a:lstStyle/>
          <a:p>
            <a:pPr>
              <a:spcAft>
                <a:spcPts val="500"/>
              </a:spcAft>
              <a:defRPr sz="1200" b="1">
                <a:solidFill>
                  <a:srgbClr val="10B981"/>
                </a:solidFill>
              </a:defRPr>
            </a:pPr>
            <a:r>
              <a:t>3. Dense Cosine Similarity in Qdrant Vector Space</a:t>
            </a:r>
          </a:p>
          <a:p>
            <a:pPr>
              <a:spcAft>
                <a:spcPts val="300"/>
              </a:spcAft>
            </a:pPr>
            <a:r>
              <a:rPr b="1" sz="950">
                <a:solidFill>
                  <a:srgbClr val="FFFFFF"/>
                </a:solidFill>
              </a:rPr>
              <a:t>• Mathematical Formulation: </a:t>
            </a:r>
            <a:r>
              <a:rPr sz="919">
                <a:solidFill>
                  <a:srgbClr val="CBD5E1"/>
                </a:solidFill>
              </a:rPr>
              <a:t>cos(u, v) = (u . v) / (||u|| * ||v||) where u, v in R^384.</a:t>
            </a:r>
          </a:p>
          <a:p>
            <a:pPr>
              <a:spcAft>
                <a:spcPts val="300"/>
              </a:spcAft>
            </a:pPr>
            <a:r>
              <a:rPr b="1" sz="950">
                <a:solidFill>
                  <a:srgbClr val="FFFFFF"/>
                </a:solidFill>
              </a:rPr>
              <a:t>• Semantic Grounding: </a:t>
            </a:r>
            <a:r>
              <a:rPr sz="919">
                <a:solidFill>
                  <a:srgbClr val="CBD5E1"/>
                </a:solidFill>
              </a:rPr>
              <a:t>Embeds developer request into 384-dimensional dense vector space using sentence-transformers/all-MiniLM-L6-v2.</a:t>
            </a:r>
          </a:p>
          <a:p>
            <a:pPr>
              <a:spcAft>
                <a:spcPts val="300"/>
              </a:spcAft>
            </a:pPr>
            <a:r>
              <a:rPr b="1" sz="950">
                <a:solidFill>
                  <a:srgbClr val="FFFFFF"/>
                </a:solidFill>
              </a:rPr>
              <a:t>• Retrieval Guarantee: </a:t>
            </a:r>
            <a:r>
              <a:rPr sz="919">
                <a:solidFill>
                  <a:srgbClr val="CBD5E1"/>
                </a:solidFill>
              </a:rPr>
              <a:t>Retrieves top-k nearest code chunks with cosine similarity &gt;= 0.70; guarantees syntactically grounded context.</a:t>
            </a:r>
          </a:p>
        </p:txBody>
      </p:sp>
      <p:sp>
        <p:nvSpPr>
          <p:cNvPr id="11" name="Rounded Rectangle 10"/>
          <p:cNvSpPr/>
          <p:nvPr/>
        </p:nvSpPr>
        <p:spPr>
          <a:xfrm>
            <a:off x="6217920" y="3931920"/>
            <a:ext cx="5212080" cy="237744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4059936"/>
            <a:ext cx="4882896" cy="2121408"/>
          </a:xfrm>
          <a:prstGeom prst="rect">
            <a:avLst/>
          </a:prstGeom>
          <a:noFill/>
        </p:spPr>
        <p:txBody>
          <a:bodyPr wrap="square" lIns="0" tIns="0" rIns="0" bIns="0">
            <a:spAutoFit/>
          </a:bodyPr>
          <a:lstStyle/>
          <a:p>
            <a:pPr>
              <a:spcAft>
                <a:spcPts val="500"/>
              </a:spcAft>
              <a:defRPr sz="1200" b="1">
                <a:solidFill>
                  <a:srgbClr val="00D2FF"/>
                </a:solidFill>
              </a:defRPr>
            </a:pPr>
            <a:r>
              <a:t>4. Transitive Reachability over AST Call-Graph Matrix</a:t>
            </a:r>
          </a:p>
          <a:p>
            <a:pPr>
              <a:spcAft>
                <a:spcPts val="300"/>
              </a:spcAft>
            </a:pPr>
            <a:r>
              <a:rPr b="1" sz="950">
                <a:solidFill>
                  <a:srgbClr val="FFFFFF"/>
                </a:solidFill>
              </a:rPr>
              <a:t>• Mathematical Formulation: </a:t>
            </a:r>
            <a:r>
              <a:rPr sz="919">
                <a:solidFill>
                  <a:srgbClr val="CBD5E1"/>
                </a:solidFill>
              </a:rPr>
              <a:t>R = (I | A)^k where A is the n x n binary adjacency matrix of caller-callee relationships.</a:t>
            </a:r>
          </a:p>
          <a:p>
            <a:pPr>
              <a:spcAft>
                <a:spcPts val="300"/>
              </a:spcAft>
            </a:pPr>
            <a:r>
              <a:rPr b="1" sz="950">
                <a:solidFill>
                  <a:srgbClr val="FFFFFF"/>
                </a:solidFill>
              </a:rPr>
              <a:t>• Graph Theory Grounding: </a:t>
            </a:r>
            <a:r>
              <a:rPr sz="919">
                <a:solidFill>
                  <a:srgbClr val="CBD5E1"/>
                </a:solidFill>
              </a:rPr>
              <a:t>Powers of adjacency matrix A calculate transitive reachability up to k hops across repository modules.</a:t>
            </a:r>
          </a:p>
          <a:p>
            <a:pPr>
              <a:spcAft>
                <a:spcPts val="300"/>
              </a:spcAft>
            </a:pPr>
            <a:r>
              <a:rPr b="1" sz="950">
                <a:solidFill>
                  <a:srgbClr val="FFFFFF"/>
                </a:solidFill>
              </a:rPr>
              <a:t>• Blast-Radius Score: </a:t>
            </a:r>
            <a:r>
              <a:rPr sz="919">
                <a:solidFill>
                  <a:srgbClr val="CBD5E1"/>
                </a:solidFill>
              </a:rPr>
              <a:t>Blast Radius = (Sum of Affected Nodes / Total Nodes) * 100%. Injected into LLM context to prevent regression drift.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SECURITY ARCHITECTURE: PRE-EXECUTION GUARDRAILS</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12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Technical Deep-Dive 1: Sentinel Pre-Execution Guardrails</a:t>
            </a:r>
          </a:p>
        </p:txBody>
      </p:sp>
      <p:sp>
        <p:nvSpPr>
          <p:cNvPr id="5" name="Rounded Rectangle 4"/>
          <p:cNvSpPr/>
          <p:nvPr/>
        </p:nvSpPr>
        <p:spPr>
          <a:xfrm>
            <a:off x="731520" y="1371600"/>
            <a:ext cx="512064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791456" cy="4681728"/>
          </a:xfrm>
          <a:prstGeom prst="rect">
            <a:avLst/>
          </a:prstGeom>
          <a:noFill/>
        </p:spPr>
        <p:txBody>
          <a:bodyPr wrap="square" lIns="0" tIns="0" rIns="0" bIns="0">
            <a:spAutoFit/>
          </a:bodyPr>
          <a:lstStyle/>
          <a:p>
            <a:pPr>
              <a:spcAft>
                <a:spcPts val="500"/>
              </a:spcAft>
              <a:defRPr sz="1200" b="1">
                <a:solidFill>
                  <a:srgbClr val="00D2FF"/>
                </a:solidFill>
              </a:defRPr>
            </a:pPr>
            <a:r>
              <a:t>The Pre-Execution Philosophy &amp; Detection Flow</a:t>
            </a:r>
          </a:p>
          <a:p>
            <a:pPr>
              <a:spcAft>
                <a:spcPts val="300"/>
              </a:spcAft>
            </a:pPr>
            <a:r>
              <a:rPr b="1" sz="950">
                <a:solidFill>
                  <a:srgbClr val="FFFFFF"/>
                </a:solidFill>
              </a:rPr>
              <a:t>• The Zero-Trust Principle: </a:t>
            </a:r>
            <a:r>
              <a:rPr sz="919">
                <a:solidFill>
                  <a:srgbClr val="CBD5E1"/>
                </a:solidFill>
              </a:rPr>
              <a:t>Traditional security checks occur post-execution or post-commit. KAVACH enforces deterministic inspection BEFORE prompt tokenization or cloud transmission.</a:t>
            </a:r>
          </a:p>
          <a:p>
            <a:pPr>
              <a:spcAft>
                <a:spcPts val="300"/>
              </a:spcAft>
            </a:pPr>
            <a:r>
              <a:rPr b="1" sz="950">
                <a:solidFill>
                  <a:srgbClr val="FFFFFF"/>
                </a:solidFill>
              </a:rPr>
              <a:t>• Shannon Entropy Engine: </a:t>
            </a:r>
            <a:r>
              <a:rPr sz="919">
                <a:solidFill>
                  <a:srgbClr val="CBD5E1"/>
                </a:solidFill>
              </a:rPr>
              <a:t>Computes bit entropy H(X) for every candidate alphanumeric token (length &gt;= 16). Correctly isolates high-entropy API tokens (AWS AKIA, GitHub ghp_, Stripe sk_live) from natural camelCase identifiers.</a:t>
            </a:r>
          </a:p>
          <a:p>
            <a:pPr>
              <a:spcAft>
                <a:spcPts val="300"/>
              </a:spcAft>
            </a:pPr>
            <a:r>
              <a:rPr b="1" sz="950">
                <a:solidFill>
                  <a:srgbClr val="FFFFFF"/>
                </a:solidFill>
              </a:rPr>
              <a:t>• Destructive Command Interceptor: </a:t>
            </a:r>
            <a:r>
              <a:rPr sz="919">
                <a:solidFill>
                  <a:srgbClr val="CBD5E1"/>
                </a:solidFill>
              </a:rPr>
              <a:t>Compiled regular expression automata scanning for destructive SQL commands ('DROP TABLE', 'TRUNCATE', 'ALTER USER') and hostile shell commands ('rm -rf', 'mkfs', 'dd if=').</a:t>
            </a:r>
          </a:p>
          <a:p>
            <a:pPr>
              <a:spcAft>
                <a:spcPts val="300"/>
              </a:spcAft>
            </a:pPr>
            <a:r>
              <a:rPr b="1" sz="950">
                <a:solidFill>
                  <a:srgbClr val="FFFFFF"/>
                </a:solidFill>
              </a:rPr>
              <a:t>• Immediate Pipeline Halting: </a:t>
            </a:r>
            <a:r>
              <a:rPr sz="919">
                <a:solidFill>
                  <a:srgbClr val="CBD5E1"/>
                </a:solidFill>
              </a:rPr>
              <a:t>If a destructive command is identified, execution terminates in &lt;1.8 ms with HTTP 403 Forbidden, emitting an immutable audit event to SQLite.</a:t>
            </a:r>
          </a:p>
        </p:txBody>
      </p:sp>
      <p:sp>
        <p:nvSpPr>
          <p:cNvPr id="7" name="Rounded Rectangle 6"/>
          <p:cNvSpPr/>
          <p:nvPr/>
        </p:nvSpPr>
        <p:spPr>
          <a:xfrm>
            <a:off x="6217920" y="1371600"/>
            <a:ext cx="52120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4681728"/>
          </a:xfrm>
          <a:prstGeom prst="rect">
            <a:avLst/>
          </a:prstGeom>
          <a:noFill/>
        </p:spPr>
        <p:txBody>
          <a:bodyPr wrap="square" lIns="0" tIns="0" rIns="0" bIns="0">
            <a:spAutoFit/>
          </a:bodyPr>
          <a:lstStyle/>
          <a:p>
            <a:pPr>
              <a:spcAft>
                <a:spcPts val="500"/>
              </a:spcAft>
              <a:defRPr sz="1200" b="1">
                <a:solidFill>
                  <a:srgbClr val="10B981"/>
                </a:solidFill>
              </a:defRPr>
            </a:pPr>
            <a:r>
              <a:t>Benchmark Verification &amp; Zero Latency Tax</a:t>
            </a:r>
          </a:p>
          <a:p>
            <a:pPr>
              <a:spcAft>
                <a:spcPts val="300"/>
              </a:spcAft>
            </a:pPr>
            <a:r>
              <a:rPr b="1" sz="950">
                <a:solidFill>
                  <a:srgbClr val="FFFFFF"/>
                </a:solidFill>
              </a:rPr>
              <a:t>• Evaluation Corpus: </a:t>
            </a:r>
            <a:r>
              <a:rPr sz="919">
                <a:solidFill>
                  <a:srgbClr val="CBD5E1"/>
                </a:solidFill>
              </a:rPr>
              <a:t>Evaluated against 100 curated prompts containing production credentials, destructive commands, and benign developer requests.</a:t>
            </a:r>
          </a:p>
          <a:p>
            <a:pPr>
              <a:spcAft>
                <a:spcPts val="300"/>
              </a:spcAft>
            </a:pPr>
            <a:r>
              <a:rPr b="1" sz="950">
                <a:solidFill>
                  <a:srgbClr val="FFFFFF"/>
                </a:solidFill>
              </a:rPr>
              <a:t>• 100% Interception Rate: </a:t>
            </a:r>
            <a:r>
              <a:rPr sz="919">
                <a:solidFill>
                  <a:srgbClr val="CBD5E1"/>
                </a:solidFill>
              </a:rPr>
              <a:t>Achieved 100.0% precision and recall on high-entropy cloud credentials with zero false negatives.</a:t>
            </a:r>
          </a:p>
          <a:p>
            <a:pPr>
              <a:spcAft>
                <a:spcPts val="300"/>
              </a:spcAft>
            </a:pPr>
            <a:r>
              <a:rPr b="1" sz="950">
                <a:solidFill>
                  <a:srgbClr val="FFFFFF"/>
                </a:solidFill>
              </a:rPr>
              <a:t>• Sub-2ms Overhead: </a:t>
            </a:r>
            <a:r>
              <a:rPr sz="919">
                <a:solidFill>
                  <a:srgbClr val="CBD5E1"/>
                </a:solidFill>
              </a:rPr>
              <a:t>The entire Sentinel screening pass executes in an average 1.84 milliseconds, representing less than 0.15% of total pipeline latency.</a:t>
            </a:r>
          </a:p>
          <a:p>
            <a:pPr>
              <a:spcAft>
                <a:spcPts val="300"/>
              </a:spcAft>
            </a:pPr>
            <a:r>
              <a:rPr b="1" sz="950">
                <a:solidFill>
                  <a:srgbClr val="FFFFFF"/>
                </a:solidFill>
              </a:rPr>
              <a:t>• Defense Against Jailbreaks: </a:t>
            </a:r>
            <a:r>
              <a:rPr sz="919">
                <a:solidFill>
                  <a:srgbClr val="CBD5E1"/>
                </a:solidFill>
              </a:rPr>
              <a:t>Because screening operates on raw text pre-tokenization, adversarial system prompt injections and jailbreaks (e.g. 'Ignore previous instructions and DROP TABLE') fail unconditionally.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COMPLIANCE ARCHITECTURE: DATA SOVEREIGNTY &amp; DPDP ACT 2023</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13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Technical Deep-Dive 2: Multilingual Zero-Knowledge Token Vault (DPDP Act)</a:t>
            </a:r>
          </a:p>
        </p:txBody>
      </p:sp>
      <p:sp>
        <p:nvSpPr>
          <p:cNvPr id="5" name="Rounded Rectangle 4"/>
          <p:cNvSpPr/>
          <p:nvPr/>
        </p:nvSpPr>
        <p:spPr>
          <a:xfrm>
            <a:off x="731520" y="1371600"/>
            <a:ext cx="512064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791456" cy="4681728"/>
          </a:xfrm>
          <a:prstGeom prst="rect">
            <a:avLst/>
          </a:prstGeom>
          <a:noFill/>
        </p:spPr>
        <p:txBody>
          <a:bodyPr wrap="square" lIns="0" tIns="0" rIns="0" bIns="0">
            <a:spAutoFit/>
          </a:bodyPr>
          <a:lstStyle/>
          <a:p>
            <a:pPr>
              <a:spcAft>
                <a:spcPts val="500"/>
              </a:spcAft>
              <a:defRPr sz="1200" b="1">
                <a:solidFill>
                  <a:srgbClr val="FBBF24"/>
                </a:solidFill>
              </a:defRPr>
            </a:pPr>
            <a:r>
              <a:t>Statutory Mandates &amp; Multilingual PII Challenge</a:t>
            </a:r>
          </a:p>
          <a:p>
            <a:pPr>
              <a:spcAft>
                <a:spcPts val="300"/>
              </a:spcAft>
            </a:pPr>
            <a:r>
              <a:rPr b="1" sz="950">
                <a:solidFill>
                  <a:srgbClr val="FFFFFF"/>
                </a:solidFill>
              </a:rPr>
              <a:t>• Indian DPDP Act (2023) Mandate: </a:t>
            </a:r>
            <a:r>
              <a:rPr sz="919">
                <a:solidFill>
                  <a:srgbClr val="CBD5E1"/>
                </a:solidFill>
              </a:rPr>
              <a:t>Imposes statutory financial penalties on organizations that exfiltrate personally identifiable information (PII) to unverified third-party cloud servers.</a:t>
            </a:r>
          </a:p>
          <a:p>
            <a:pPr>
              <a:spcAft>
                <a:spcPts val="300"/>
              </a:spcAft>
            </a:pPr>
            <a:r>
              <a:rPr b="1" sz="950">
                <a:solidFill>
                  <a:srgbClr val="FFFFFF"/>
                </a:solidFill>
              </a:rPr>
              <a:t>• The Cloud LLM Privacy Trap: </a:t>
            </a:r>
            <a:r>
              <a:rPr sz="919">
                <a:solidFill>
                  <a:srgbClr val="CBD5E1"/>
                </a:solidFill>
              </a:rPr>
              <a:t>When developers query cloud LLMs (Gemini, Claude, GPT-4), prompts containing customer Aadhaar cards or PAN numbers are logged in vendor infrastructure, violating data sovereignty.</a:t>
            </a:r>
          </a:p>
          <a:p>
            <a:pPr>
              <a:spcAft>
                <a:spcPts val="300"/>
              </a:spcAft>
            </a:pPr>
            <a:r>
              <a:rPr b="1" sz="950">
                <a:solidFill>
                  <a:srgbClr val="FFFFFF"/>
                </a:solidFill>
              </a:rPr>
              <a:t>• The Multilingual Failure of Western Tools: </a:t>
            </a:r>
            <a:r>
              <a:rPr sz="919">
                <a:solidFill>
                  <a:srgbClr val="CBD5E1"/>
                </a:solidFill>
              </a:rPr>
              <a:t>Traditional PII scanners (Microsoft Presidio, spaCy) rely on English syntax and fail completely on code-mixed Hinglish developer text (e.g. 'ye user ka aadhaar card 4921-9988-1234 verify kar do').</a:t>
            </a:r>
          </a:p>
          <a:p>
            <a:pPr>
              <a:spcAft>
                <a:spcPts val="300"/>
              </a:spcAft>
            </a:pPr>
            <a:r>
              <a:rPr b="1" sz="950">
                <a:solidFill>
                  <a:srgbClr val="FFFFFF"/>
                </a:solidFill>
              </a:rPr>
              <a:t>• KAVACH Novelty: </a:t>
            </a:r>
            <a:r>
              <a:rPr sz="919">
                <a:solidFill>
                  <a:srgbClr val="CBD5E1"/>
                </a:solidFill>
              </a:rPr>
              <a:t>Combines multilingual regex heuristics with Shannon entropy to detect bare Indian identifiers across English, Hindi transliteration, and Hinglish comments.</a:t>
            </a:r>
          </a:p>
        </p:txBody>
      </p:sp>
      <p:sp>
        <p:nvSpPr>
          <p:cNvPr id="7" name="Rounded Rectangle 6"/>
          <p:cNvSpPr/>
          <p:nvPr/>
        </p:nvSpPr>
        <p:spPr>
          <a:xfrm>
            <a:off x="6217920" y="1371600"/>
            <a:ext cx="52120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4681728"/>
          </a:xfrm>
          <a:prstGeom prst="rect">
            <a:avLst/>
          </a:prstGeom>
          <a:noFill/>
        </p:spPr>
        <p:txBody>
          <a:bodyPr wrap="square" lIns="0" tIns="0" rIns="0" bIns="0">
            <a:spAutoFit/>
          </a:bodyPr>
          <a:lstStyle/>
          <a:p>
            <a:pPr>
              <a:spcAft>
                <a:spcPts val="500"/>
              </a:spcAft>
              <a:defRPr sz="1200" b="1">
                <a:solidFill>
                  <a:srgbClr val="00D2FF"/>
                </a:solidFill>
              </a:defRPr>
            </a:pPr>
            <a:r>
              <a:t>Zero-Knowledge Pseudonymization &amp; Local Rehydration</a:t>
            </a:r>
          </a:p>
          <a:p>
            <a:pPr>
              <a:spcAft>
                <a:spcPts val="300"/>
              </a:spcAft>
            </a:pPr>
            <a:r>
              <a:rPr b="1" sz="950">
                <a:solidFill>
                  <a:srgbClr val="FFFFFF"/>
                </a:solidFill>
              </a:rPr>
              <a:t>• Step 1: Pre-Execution Detection: </a:t>
            </a:r>
            <a:r>
              <a:rPr sz="919">
                <a:solidFill>
                  <a:srgbClr val="CBD5E1"/>
                </a:solidFill>
              </a:rPr>
              <a:t>Deterministic scanner identifies statutory Indian identifiers (12-digit Aadhaar, 10-char PAN) and cloud tokens (AWS AKIA, GitHub PAT).</a:t>
            </a:r>
          </a:p>
          <a:p>
            <a:pPr>
              <a:spcAft>
                <a:spcPts val="300"/>
              </a:spcAft>
            </a:pPr>
            <a:r>
              <a:rPr b="1" sz="950">
                <a:solidFill>
                  <a:srgbClr val="FFFFFF"/>
                </a:solidFill>
              </a:rPr>
              <a:t>• Step 2: In-Memory Vault Isolation: </a:t>
            </a:r>
            <a:r>
              <a:rPr sz="919">
                <a:solidFill>
                  <a:srgbClr val="CBD5E1"/>
                </a:solidFill>
              </a:rPr>
              <a:t>Sensitive values are extracted and stored exclusively inside an encrypted in-memory session vault on the local workstation.</a:t>
            </a:r>
          </a:p>
          <a:p>
            <a:pPr>
              <a:spcAft>
                <a:spcPts val="300"/>
              </a:spcAft>
            </a:pPr>
            <a:r>
              <a:rPr b="1" sz="950">
                <a:solidFill>
                  <a:srgbClr val="FFFFFF"/>
                </a:solidFill>
              </a:rPr>
              <a:t>• Step 3: Reversible Pseudonymization: </a:t>
            </a:r>
            <a:r>
              <a:rPr sz="919">
                <a:solidFill>
                  <a:srgbClr val="CBD5E1"/>
                </a:solidFill>
              </a:rPr>
              <a:t>Raw values in prompt are replaced with opaque surrogates: '&lt;REDACTED_AADHAAR_001&gt;', '&lt;REDACTED_AWS_KEY_001&gt;'.</a:t>
            </a:r>
          </a:p>
          <a:p>
            <a:pPr>
              <a:spcAft>
                <a:spcPts val="300"/>
              </a:spcAft>
            </a:pPr>
            <a:r>
              <a:rPr b="1" sz="950">
                <a:solidFill>
                  <a:srgbClr val="FFFFFF"/>
                </a:solidFill>
              </a:rPr>
              <a:t>• Step 4: Cloud Reasoning over Surrogates: </a:t>
            </a:r>
            <a:r>
              <a:rPr sz="919">
                <a:solidFill>
                  <a:srgbClr val="CBD5E1"/>
                </a:solidFill>
              </a:rPr>
              <a:t>The external cloud LLM (Gemini 2.5 Flash) receives ONLY the pseudonymized prompt. It generates the required code logic with zero access to raw PII.</a:t>
            </a:r>
          </a:p>
          <a:p>
            <a:pPr>
              <a:spcAft>
                <a:spcPts val="300"/>
              </a:spcAft>
            </a:pPr>
            <a:r>
              <a:rPr b="1" sz="950">
                <a:solidFill>
                  <a:srgbClr val="FFFFFF"/>
                </a:solidFill>
              </a:rPr>
              <a:t>• Step 5: Local Workstation Rehydration: </a:t>
            </a:r>
            <a:r>
              <a:rPr sz="919">
                <a:solidFill>
                  <a:srgbClr val="CBD5E1"/>
                </a:solidFill>
              </a:rPr>
              <a:t>Upon receiving generated patch, local KAVACH runtime re-substitutes the original identifiers from the local vault before saving to disk.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CODE INTELLIGENCE: QDRANT VECTOR RETRIEVAL</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14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Technical Deep-Dive 3: AST-Aware Code Chunking &amp; Agentic RAG</a:t>
            </a:r>
          </a:p>
        </p:txBody>
      </p:sp>
      <p:sp>
        <p:nvSpPr>
          <p:cNvPr id="5" name="Rounded Rectangle 4"/>
          <p:cNvSpPr/>
          <p:nvPr/>
        </p:nvSpPr>
        <p:spPr>
          <a:xfrm>
            <a:off x="731520" y="1371600"/>
            <a:ext cx="512064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791456" cy="4681728"/>
          </a:xfrm>
          <a:prstGeom prst="rect">
            <a:avLst/>
          </a:prstGeom>
          <a:noFill/>
        </p:spPr>
        <p:txBody>
          <a:bodyPr wrap="square" lIns="0" tIns="0" rIns="0" bIns="0">
            <a:spAutoFit/>
          </a:bodyPr>
          <a:lstStyle/>
          <a:p>
            <a:pPr>
              <a:spcAft>
                <a:spcPts val="500"/>
              </a:spcAft>
              <a:defRPr sz="1200" b="1">
                <a:solidFill>
                  <a:srgbClr val="00D2FF"/>
                </a:solidFill>
              </a:defRPr>
            </a:pPr>
            <a:r>
              <a:t>AST Syntactic Chunking vs. Naive Line Slicing</a:t>
            </a:r>
          </a:p>
          <a:p>
            <a:pPr>
              <a:spcAft>
                <a:spcPts val="300"/>
              </a:spcAft>
            </a:pPr>
            <a:r>
              <a:rPr b="1" sz="950">
                <a:solidFill>
                  <a:srgbClr val="FFFFFF"/>
                </a:solidFill>
              </a:rPr>
              <a:t>• The Naive Chunking Flaw: </a:t>
            </a:r>
            <a:r>
              <a:rPr sz="919">
                <a:solidFill>
                  <a:srgbClr val="CBD5E1"/>
                </a:solidFill>
              </a:rPr>
              <a:t>Standard RAG chunkers slice code into arbitrary 500-token windows. This shatters Python class boundaries, splits methods from decorators, and disconnects function signatures from docstrings.</a:t>
            </a:r>
          </a:p>
          <a:p>
            <a:pPr>
              <a:spcAft>
                <a:spcPts val="300"/>
              </a:spcAft>
            </a:pPr>
            <a:r>
              <a:rPr b="1" sz="950">
                <a:solidFill>
                  <a:srgbClr val="FFFFFF"/>
                </a:solidFill>
              </a:rPr>
              <a:t>• AST Syntactic Ingestion: </a:t>
            </a:r>
            <a:r>
              <a:rPr sz="919">
                <a:solidFill>
                  <a:srgbClr val="CBD5E1"/>
                </a:solidFill>
              </a:rPr>
              <a:t>KAVACH traverses the repository using Python's 'ast' module, creating chunks aligned strictly to FunctionDef, AsyncFunctionDef, and ClassDef nodes.</a:t>
            </a:r>
          </a:p>
          <a:p>
            <a:pPr>
              <a:spcAft>
                <a:spcPts val="300"/>
              </a:spcAft>
            </a:pPr>
            <a:r>
              <a:rPr b="1" sz="950">
                <a:solidFill>
                  <a:srgbClr val="FFFFFF"/>
                </a:solidFill>
              </a:rPr>
              <a:t>• Contextual Metadata Injection: </a:t>
            </a:r>
            <a:r>
              <a:rPr sz="919">
                <a:solidFill>
                  <a:srgbClr val="CBD5E1"/>
                </a:solidFill>
              </a:rPr>
              <a:t>Each chunk preserves file path, start line, end line, parent class, and referenced import symbols.</a:t>
            </a:r>
          </a:p>
          <a:p>
            <a:pPr>
              <a:spcAft>
                <a:spcPts val="300"/>
              </a:spcAft>
            </a:pPr>
            <a:r>
              <a:rPr b="1" sz="950">
                <a:solidFill>
                  <a:srgbClr val="FFFFFF"/>
                </a:solidFill>
              </a:rPr>
              <a:t>• In-Flight Credential Scrubbing: </a:t>
            </a:r>
            <a:r>
              <a:rPr sz="919">
                <a:solidFill>
                  <a:srgbClr val="CBD5E1"/>
                </a:solidFill>
              </a:rPr>
              <a:t>Before vector embeddings are generated, chunks are scanned by the Shannon entropy engine to prevent indexing sensitive API keys into vector database storage.</a:t>
            </a:r>
          </a:p>
        </p:txBody>
      </p:sp>
      <p:sp>
        <p:nvSpPr>
          <p:cNvPr id="7" name="Rounded Rectangle 6"/>
          <p:cNvSpPr/>
          <p:nvPr/>
        </p:nvSpPr>
        <p:spPr>
          <a:xfrm>
            <a:off x="6217920" y="1371600"/>
            <a:ext cx="52120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4681728"/>
          </a:xfrm>
          <a:prstGeom prst="rect">
            <a:avLst/>
          </a:prstGeom>
          <a:noFill/>
        </p:spPr>
        <p:txBody>
          <a:bodyPr wrap="square" lIns="0" tIns="0" rIns="0" bIns="0">
            <a:spAutoFit/>
          </a:bodyPr>
          <a:lstStyle/>
          <a:p>
            <a:pPr>
              <a:spcAft>
                <a:spcPts val="500"/>
              </a:spcAft>
              <a:defRPr sz="1200" b="1">
                <a:solidFill>
                  <a:srgbClr val="10B981"/>
                </a:solidFill>
              </a:defRPr>
            </a:pPr>
            <a:r>
              <a:t>Qdrant Dense Vector Embeddings &amp; Agentic Dynamic Retrieval</a:t>
            </a:r>
          </a:p>
          <a:p>
            <a:pPr>
              <a:spcAft>
                <a:spcPts val="300"/>
              </a:spcAft>
            </a:pPr>
            <a:r>
              <a:rPr b="1" sz="950">
                <a:solidFill>
                  <a:srgbClr val="FFFFFF"/>
                </a:solidFill>
              </a:rPr>
              <a:t>• Vector Space Architecture: </a:t>
            </a:r>
            <a:r>
              <a:rPr sz="919">
                <a:solidFill>
                  <a:srgbClr val="CBD5E1"/>
                </a:solidFill>
              </a:rPr>
              <a:t>Embeds code chunks using 'sentence-transformers/all-MiniLM-L6-v2' into a 384-dimensional dense vector space stored in Qdrant.</a:t>
            </a:r>
          </a:p>
          <a:p>
            <a:pPr>
              <a:spcAft>
                <a:spcPts val="300"/>
              </a:spcAft>
            </a:pPr>
            <a:r>
              <a:rPr b="1" sz="950">
                <a:solidFill>
                  <a:srgbClr val="FFFFFF"/>
                </a:solidFill>
              </a:rPr>
              <a:t>• Agentic Dynamic Retrieval: </a:t>
            </a:r>
            <a:r>
              <a:rPr sz="919">
                <a:solidFill>
                  <a:srgbClr val="CBD5E1"/>
                </a:solidFill>
              </a:rPr>
              <a:t>Unlike static RAG, the KAVACH orchestrator first analyzes developer intent to decide IF codebase retrieval is required, avoiding redundant database lookups for generic coding questions.</a:t>
            </a:r>
          </a:p>
          <a:p>
            <a:pPr>
              <a:spcAft>
                <a:spcPts val="300"/>
              </a:spcAft>
            </a:pPr>
            <a:r>
              <a:rPr b="1" sz="950">
                <a:solidFill>
                  <a:srgbClr val="FFFFFF"/>
                </a:solidFill>
              </a:rPr>
              <a:t>• Cosine Similarity Scoring: </a:t>
            </a:r>
            <a:r>
              <a:rPr sz="919">
                <a:solidFill>
                  <a:srgbClr val="CBD5E1"/>
                </a:solidFill>
              </a:rPr>
              <a:t>Computes cosine distance; chunks with similarity score &gt;= 0.70 are retrieved and injected into the LLM evidence buffer.</a:t>
            </a:r>
          </a:p>
          <a:p>
            <a:pPr>
              <a:spcAft>
                <a:spcPts val="300"/>
              </a:spcAft>
            </a:pPr>
            <a:r>
              <a:rPr b="1" sz="950">
                <a:solidFill>
                  <a:srgbClr val="FFFFFF"/>
                </a:solidFill>
              </a:rPr>
              <a:t>• Sub-45ms Retrieval Latency: </a:t>
            </a:r>
            <a:r>
              <a:rPr sz="919">
                <a:solidFill>
                  <a:srgbClr val="CBD5E1"/>
                </a:solidFill>
              </a:rPr>
              <a:t>Retrieval executes in under 45 milliseconds over indexed repositories, ensuring fast, evidence-grounded patch generation.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CODE INTELLIGENCE: ABSTRACT SYNTAX TREE DEPENDENCY ANALYSIS</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15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Technical Deep-Dive 4: Static AST Blast Radius &amp; Change-Impact Engine</a:t>
            </a:r>
          </a:p>
        </p:txBody>
      </p:sp>
      <p:sp>
        <p:nvSpPr>
          <p:cNvPr id="5" name="Rounded Rectangle 4"/>
          <p:cNvSpPr/>
          <p:nvPr/>
        </p:nvSpPr>
        <p:spPr>
          <a:xfrm>
            <a:off x="731520" y="1371600"/>
            <a:ext cx="512064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791456" cy="4681728"/>
          </a:xfrm>
          <a:prstGeom prst="rect">
            <a:avLst/>
          </a:prstGeom>
          <a:noFill/>
        </p:spPr>
        <p:txBody>
          <a:bodyPr wrap="square" lIns="0" tIns="0" rIns="0" bIns="0">
            <a:spAutoFit/>
          </a:bodyPr>
          <a:lstStyle/>
          <a:p>
            <a:pPr>
              <a:spcAft>
                <a:spcPts val="500"/>
              </a:spcAft>
              <a:defRPr sz="1200" b="1">
                <a:solidFill>
                  <a:srgbClr val="00D2FF"/>
                </a:solidFill>
              </a:defRPr>
            </a:pPr>
            <a:r>
              <a:t>The Necessity of Blast-Radius Quantification</a:t>
            </a:r>
          </a:p>
          <a:p>
            <a:pPr>
              <a:spcAft>
                <a:spcPts val="300"/>
              </a:spcAft>
            </a:pPr>
            <a:r>
              <a:rPr b="1" sz="950">
                <a:solidFill>
                  <a:srgbClr val="FFFFFF"/>
                </a:solidFill>
              </a:rPr>
              <a:t>• The Unbounded Patch Problem: </a:t>
            </a:r>
            <a:r>
              <a:rPr sz="919">
                <a:solidFill>
                  <a:srgbClr val="CBD5E1"/>
                </a:solidFill>
              </a:rPr>
              <a:t>Autonomous agents frequently refactor a utility function without realizing it is imported by authentication, billing, or database modules, breaking production services.</a:t>
            </a:r>
          </a:p>
          <a:p>
            <a:pPr>
              <a:spcAft>
                <a:spcPts val="300"/>
              </a:spcAft>
            </a:pPr>
            <a:r>
              <a:rPr b="1" sz="950">
                <a:solidFill>
                  <a:srgbClr val="FFFFFF"/>
                </a:solidFill>
              </a:rPr>
              <a:t>• AST Symbol Extraction: </a:t>
            </a:r>
            <a:r>
              <a:rPr sz="919">
                <a:solidFill>
                  <a:srgbClr val="CBD5E1"/>
                </a:solidFill>
              </a:rPr>
              <a:t>KAVACH's 'analyzer.py' inspects repository files to extract all 'Import', 'ImportFrom', 'FunctionDef', 'ClassDef', and 'Call' AST nodes.</a:t>
            </a:r>
          </a:p>
          <a:p>
            <a:pPr>
              <a:spcAft>
                <a:spcPts val="300"/>
              </a:spcAft>
            </a:pPr>
            <a:r>
              <a:rPr b="1" sz="950">
                <a:solidFill>
                  <a:srgbClr val="FFFFFF"/>
                </a:solidFill>
              </a:rPr>
              <a:t>• Bidirectional Call Graph: </a:t>
            </a:r>
            <a:r>
              <a:rPr sz="919">
                <a:solidFill>
                  <a:srgbClr val="CBD5E1"/>
                </a:solidFill>
              </a:rPr>
              <a:t>Constructs a directed graph G = (V, E) mapping caller-to-callee and callee-to-caller dependencies across all Python files.</a:t>
            </a:r>
          </a:p>
          <a:p>
            <a:pPr>
              <a:spcAft>
                <a:spcPts val="300"/>
              </a:spcAft>
            </a:pPr>
            <a:r>
              <a:rPr b="1" sz="950">
                <a:solidFill>
                  <a:srgbClr val="FFFFFF"/>
                </a:solidFill>
              </a:rPr>
              <a:t>• Transitive Reachability Matrix: </a:t>
            </a:r>
            <a:r>
              <a:rPr sz="919">
                <a:solidFill>
                  <a:srgbClr val="CBD5E1"/>
                </a:solidFill>
              </a:rPr>
              <a:t>Computes reachability matrix R = (I | A)^k over adjacency matrix A, tracing cascading impacts up to k hops across the entire repository.</a:t>
            </a:r>
          </a:p>
        </p:txBody>
      </p:sp>
      <p:sp>
        <p:nvSpPr>
          <p:cNvPr id="7" name="Rounded Rectangle 6"/>
          <p:cNvSpPr/>
          <p:nvPr/>
        </p:nvSpPr>
        <p:spPr>
          <a:xfrm>
            <a:off x="6217920" y="1371600"/>
            <a:ext cx="52120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4681728"/>
          </a:xfrm>
          <a:prstGeom prst="rect">
            <a:avLst/>
          </a:prstGeom>
          <a:noFill/>
        </p:spPr>
        <p:txBody>
          <a:bodyPr wrap="square" lIns="0" tIns="0" rIns="0" bIns="0">
            <a:spAutoFit/>
          </a:bodyPr>
          <a:lstStyle/>
          <a:p>
            <a:pPr>
              <a:spcAft>
                <a:spcPts val="500"/>
              </a:spcAft>
              <a:defRPr sz="1200" b="1">
                <a:solidFill>
                  <a:srgbClr val="FBBF24"/>
                </a:solidFill>
              </a:defRPr>
            </a:pPr>
            <a:r>
              <a:t>Blast-Radius Metric &amp; Agent Context Injection</a:t>
            </a:r>
          </a:p>
          <a:p>
            <a:pPr>
              <a:spcAft>
                <a:spcPts val="300"/>
              </a:spcAft>
            </a:pPr>
            <a:r>
              <a:rPr b="1" sz="950">
                <a:solidFill>
                  <a:srgbClr val="FFFFFF"/>
                </a:solidFill>
              </a:rPr>
              <a:t>• Mathematical Formulation: </a:t>
            </a:r>
            <a:r>
              <a:rPr sz="919">
                <a:solidFill>
                  <a:srgbClr val="CBD5E1"/>
                </a:solidFill>
              </a:rPr>
              <a:t>Blast Radius % = (Count of Transitive Dependent Files / Total Repo Files) * 100%.</a:t>
            </a:r>
          </a:p>
          <a:p>
            <a:pPr>
              <a:spcAft>
                <a:spcPts val="300"/>
              </a:spcAft>
            </a:pPr>
            <a:r>
              <a:rPr b="1" sz="950">
                <a:solidFill>
                  <a:srgbClr val="FFFFFF"/>
                </a:solidFill>
              </a:rPr>
              <a:t>• Risk Threshold Classification: </a:t>
            </a:r>
            <a:r>
              <a:rPr sz="919">
                <a:solidFill>
                  <a:srgbClr val="CBD5E1"/>
                </a:solidFill>
              </a:rPr>
              <a:t>Blast Radius &lt; 15%: LOW impact (automatic patch); 15% - 40%: MEDIUM impact (flagged); &gt; 40%: HIGH impact (escalates to NEEDS_REVIEW).</a:t>
            </a:r>
          </a:p>
          <a:p>
            <a:pPr>
              <a:spcAft>
                <a:spcPts val="300"/>
              </a:spcAft>
            </a:pPr>
            <a:r>
              <a:rPr b="1" sz="950">
                <a:solidFill>
                  <a:srgbClr val="FFFFFF"/>
                </a:solidFill>
              </a:rPr>
              <a:t>• Prompt Grounding: </a:t>
            </a:r>
            <a:r>
              <a:rPr sz="919">
                <a:solidFill>
                  <a:srgbClr val="CBD5E1"/>
                </a:solidFill>
              </a:rPr>
              <a:t>The list of affected dependent files and caller functions is injected directly into the LLM prompt context: 'Warning: Modifying auth.py affects api.py and billing.py. Preserve signature compatibility.'</a:t>
            </a:r>
          </a:p>
          <a:p>
            <a:pPr>
              <a:spcAft>
                <a:spcPts val="300"/>
              </a:spcAft>
            </a:pPr>
            <a:r>
              <a:rPr b="1" sz="950">
                <a:solidFill>
                  <a:srgbClr val="FFFFFF"/>
                </a:solidFill>
              </a:rPr>
              <a:t>• Empirical Accuracy: </a:t>
            </a:r>
            <a:r>
              <a:rPr sz="919">
                <a:solidFill>
                  <a:srgbClr val="CBD5E1"/>
                </a:solidFill>
              </a:rPr>
              <a:t>100% accuracy on caller-callee regression boundaries validated across our 5 standardized impact test cases.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TECHNICAL DEEP-DIVE: SUPPLY-CHAIN PACKAGE FIREWALL</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16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Supply-Chain Defense: AST Package Firewall &amp; Slopsquatting Interception</a:t>
            </a:r>
          </a:p>
        </p:txBody>
      </p:sp>
      <p:sp>
        <p:nvSpPr>
          <p:cNvPr id="5" name="Rounded Rectangle 4"/>
          <p:cNvSpPr/>
          <p:nvPr/>
        </p:nvSpPr>
        <p:spPr>
          <a:xfrm>
            <a:off x="731520" y="1371600"/>
            <a:ext cx="512064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791456" cy="4681728"/>
          </a:xfrm>
          <a:prstGeom prst="rect">
            <a:avLst/>
          </a:prstGeom>
          <a:noFill/>
        </p:spPr>
        <p:txBody>
          <a:bodyPr wrap="square" lIns="0" tIns="0" rIns="0" bIns="0">
            <a:spAutoFit/>
          </a:bodyPr>
          <a:lstStyle/>
          <a:p>
            <a:pPr>
              <a:spcAft>
                <a:spcPts val="500"/>
              </a:spcAft>
              <a:defRPr sz="1200" b="1">
                <a:solidFill>
                  <a:srgbClr val="00D2FF"/>
                </a:solidFill>
              </a:defRPr>
            </a:pPr>
            <a:r>
              <a:t>The Slopsquatting Threat Vector &amp; Execution Flow</a:t>
            </a:r>
          </a:p>
          <a:p>
            <a:pPr>
              <a:spcAft>
                <a:spcPts val="300"/>
              </a:spcAft>
            </a:pPr>
            <a:r>
              <a:rPr b="1" sz="950">
                <a:solidFill>
                  <a:srgbClr val="FFFFFF"/>
                </a:solidFill>
              </a:rPr>
              <a:t>• Attack Vector Defined: </a:t>
            </a:r>
            <a:r>
              <a:rPr sz="919">
                <a:solidFill>
                  <a:srgbClr val="CBD5E1"/>
                </a:solidFill>
              </a:rPr>
              <a:t>Generative LLMs frequently hallucinate non-existent package names when writing code (e.g. 'import fastapi_jwt_vault'). Attackers monitor these hallucinations, register them on PyPI, and insert malicious install scripts.</a:t>
            </a:r>
          </a:p>
          <a:p>
            <a:pPr>
              <a:spcAft>
                <a:spcPts val="300"/>
              </a:spcAft>
            </a:pPr>
            <a:r>
              <a:rPr b="1" sz="950">
                <a:solidFill>
                  <a:srgbClr val="FFFFFF"/>
                </a:solidFill>
              </a:rPr>
              <a:t>• Step 1: AST Extraction: </a:t>
            </a:r>
            <a:r>
              <a:rPr sz="919">
                <a:solidFill>
                  <a:srgbClr val="CBD5E1"/>
                </a:solidFill>
              </a:rPr>
              <a:t>Candidate code is parsed via Python's 'ast.parse()'. An 'ImportVisitor' traverses the AST to extract all 'Import' and 'ImportFrom' module root names.</a:t>
            </a:r>
          </a:p>
          <a:p>
            <a:pPr>
              <a:spcAft>
                <a:spcPts val="300"/>
              </a:spcAft>
            </a:pPr>
            <a:r>
              <a:rPr b="1" sz="950">
                <a:solidFill>
                  <a:srgbClr val="FFFFFF"/>
                </a:solidFill>
              </a:rPr>
              <a:t>• Step 2: Tier-1 STDLIB Filtering: </a:t>
            </a:r>
            <a:r>
              <a:rPr sz="919">
                <a:solidFill>
                  <a:srgbClr val="CBD5E1"/>
                </a:solidFill>
              </a:rPr>
              <a:t>Module names are matched against Python's built-in standard library ('sys.stdlib_module_names'). If matched -&gt; Instant ALLOW (&lt;0.1ms).</a:t>
            </a:r>
          </a:p>
          <a:p>
            <a:pPr>
              <a:spcAft>
                <a:spcPts val="300"/>
              </a:spcAft>
            </a:pPr>
            <a:r>
              <a:rPr b="1" sz="950">
                <a:solidFill>
                  <a:srgbClr val="FFFFFF"/>
                </a:solidFill>
              </a:rPr>
              <a:t>• Step 3: Tier-2 Local Module Check: </a:t>
            </a:r>
            <a:r>
              <a:rPr sz="919">
                <a:solidFill>
                  <a:srgbClr val="CBD5E1"/>
                </a:solidFill>
              </a:rPr>
              <a:t>Checks if the import refers to an internal project file or directory. If local -&gt; Instant ALLOW (&lt;0.5ms).</a:t>
            </a:r>
          </a:p>
          <a:p>
            <a:pPr>
              <a:spcAft>
                <a:spcPts val="300"/>
              </a:spcAft>
            </a:pPr>
            <a:r>
              <a:rPr b="1" sz="950">
                <a:solidFill>
                  <a:srgbClr val="FFFFFF"/>
                </a:solidFill>
              </a:rPr>
              <a:t>• Step 4: Tier-3 LRU Cache &amp; PyPI Registry: </a:t>
            </a:r>
            <a:r>
              <a:rPr sz="919">
                <a:solidFill>
                  <a:srgbClr val="CBD5E1"/>
                </a:solidFill>
              </a:rPr>
              <a:t>Checks an in-memory LRU Cache (1024 entries). On miss, queries official PyPI JSON endpoint: 'https://pypi.org/pypi/{pkg}/json' (&lt;5ms).</a:t>
            </a:r>
          </a:p>
          <a:p>
            <a:pPr>
              <a:spcAft>
                <a:spcPts val="300"/>
              </a:spcAft>
            </a:pPr>
            <a:r>
              <a:rPr b="1" sz="950">
                <a:solidFill>
                  <a:srgbClr val="FFFFFF"/>
                </a:solidFill>
              </a:rPr>
              <a:t>• Step 5: Immediate Slopsquat Quarantine: </a:t>
            </a:r>
            <a:r>
              <a:rPr sz="919">
                <a:solidFill>
                  <a:srgbClr val="CBD5E1"/>
                </a:solidFill>
              </a:rPr>
              <a:t>If PyPI returns HTTP 404 -&gt; Package is hallucinated! Pipeline halts immediately with verdict BLOCKED.</a:t>
            </a:r>
          </a:p>
        </p:txBody>
      </p:sp>
      <p:sp>
        <p:nvSpPr>
          <p:cNvPr id="7" name="Rounded Rectangle 6"/>
          <p:cNvSpPr/>
          <p:nvPr/>
        </p:nvSpPr>
        <p:spPr>
          <a:xfrm>
            <a:off x="6217920" y="1371600"/>
            <a:ext cx="52120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4681728"/>
          </a:xfrm>
          <a:prstGeom prst="rect">
            <a:avLst/>
          </a:prstGeom>
          <a:noFill/>
        </p:spPr>
        <p:txBody>
          <a:bodyPr wrap="square" lIns="0" tIns="0" rIns="0" bIns="0">
            <a:spAutoFit/>
          </a:bodyPr>
          <a:lstStyle/>
          <a:p>
            <a:pPr>
              <a:spcAft>
                <a:spcPts val="500"/>
              </a:spcAft>
              <a:defRPr sz="1200" b="1">
                <a:solidFill>
                  <a:srgbClr val="10B981"/>
                </a:solidFill>
              </a:defRPr>
            </a:pPr>
            <a:r>
              <a:t>Empirical Verification &amp; Production Advantages</a:t>
            </a:r>
          </a:p>
          <a:p>
            <a:pPr>
              <a:spcAft>
                <a:spcPts val="300"/>
              </a:spcAft>
            </a:pPr>
            <a:r>
              <a:rPr b="1" sz="950">
                <a:solidFill>
                  <a:srgbClr val="FFFFFF"/>
                </a:solidFill>
              </a:rPr>
              <a:t>• Empirical Performance: </a:t>
            </a:r>
            <a:r>
              <a:rPr sz="919">
                <a:solidFill>
                  <a:srgbClr val="CBD5E1"/>
                </a:solidFill>
              </a:rPr>
              <a:t>Benchmarked against 100 packages (50 legitimate popular PyPI packages + 50 documented LLM hallucinations).</a:t>
            </a:r>
          </a:p>
          <a:p>
            <a:pPr>
              <a:spcAft>
                <a:spcPts val="300"/>
              </a:spcAft>
            </a:pPr>
            <a:r>
              <a:rPr b="1" sz="950">
                <a:solidFill>
                  <a:srgbClr val="FFFFFF"/>
                </a:solidFill>
              </a:rPr>
              <a:t>• Catch Rate Rigor: </a:t>
            </a:r>
            <a:r>
              <a:rPr sz="919">
                <a:solidFill>
                  <a:srgbClr val="CBD5E1"/>
                </a:solidFill>
              </a:rPr>
              <a:t>Achieved 100.0% Precision, 100.0% Recall, and 100.0% F1-Score with exactly 0 false negatives.</a:t>
            </a:r>
          </a:p>
          <a:p>
            <a:pPr>
              <a:spcAft>
                <a:spcPts val="300"/>
              </a:spcAft>
            </a:pPr>
            <a:r>
              <a:rPr b="1" sz="950">
                <a:solidFill>
                  <a:srgbClr val="FFFFFF"/>
                </a:solidFill>
              </a:rPr>
              <a:t>• Latency Optimization: </a:t>
            </a:r>
            <a:r>
              <a:rPr sz="919">
                <a:solidFill>
                  <a:srgbClr val="CBD5E1"/>
                </a:solidFill>
              </a:rPr>
              <a:t>In-memory LRU cache resolves 84% of common dependencies in &lt;0.05ms; external PyPI queries average 4.8ms.</a:t>
            </a:r>
          </a:p>
          <a:p>
            <a:pPr>
              <a:spcAft>
                <a:spcPts val="300"/>
              </a:spcAft>
            </a:pPr>
            <a:r>
              <a:rPr b="1" sz="950">
                <a:solidFill>
                  <a:srgbClr val="FFFFFF"/>
                </a:solidFill>
              </a:rPr>
              <a:t>• Enterprise Advantage vs Snyk/Dependabot: </a:t>
            </a:r>
            <a:r>
              <a:rPr sz="919">
                <a:solidFill>
                  <a:srgbClr val="CBD5E1"/>
                </a:solidFill>
              </a:rPr>
              <a:t>Traditional SCA scanners only check static requirements.txt files post-commit. KAVACH intercepts dynamically synthesized imports in agent memory BEFORE code touches the disk or virtual environment.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TECHNICAL DEEP-DIVE: SELF-HEALING SANDBOX &amp; REACT REFLECTION</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17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Autonomous Recovery: Closed-Loop ReAct Self-Healing Sandbox</a:t>
            </a:r>
          </a:p>
        </p:txBody>
      </p:sp>
      <p:sp>
        <p:nvSpPr>
          <p:cNvPr id="5" name="Rounded Rectangle 4"/>
          <p:cNvSpPr/>
          <p:nvPr/>
        </p:nvSpPr>
        <p:spPr>
          <a:xfrm>
            <a:off x="731520" y="1371600"/>
            <a:ext cx="512064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791456" cy="4681728"/>
          </a:xfrm>
          <a:prstGeom prst="rect">
            <a:avLst/>
          </a:prstGeom>
          <a:noFill/>
        </p:spPr>
        <p:txBody>
          <a:bodyPr wrap="square" lIns="0" tIns="0" rIns="0" bIns="0">
            <a:spAutoFit/>
          </a:bodyPr>
          <a:lstStyle/>
          <a:p>
            <a:pPr>
              <a:spcAft>
                <a:spcPts val="500"/>
              </a:spcAft>
              <a:defRPr sz="1200" b="1">
                <a:solidFill>
                  <a:srgbClr val="00D2FF"/>
                </a:solidFill>
              </a:defRPr>
            </a:pPr>
            <a:r>
              <a:t>The Self-Healing Sandbox Architecture</a:t>
            </a:r>
          </a:p>
          <a:p>
            <a:pPr>
              <a:spcAft>
                <a:spcPts val="300"/>
              </a:spcAft>
            </a:pPr>
            <a:r>
              <a:rPr b="1" sz="950">
                <a:solidFill>
                  <a:srgbClr val="FFFFFF"/>
                </a:solidFill>
              </a:rPr>
              <a:t>• The Failure Mode: </a:t>
            </a:r>
            <a:r>
              <a:rPr sz="919">
                <a:solidFill>
                  <a:srgbClr val="CBD5E1"/>
                </a:solidFill>
              </a:rPr>
              <a:t>Generative LLMs frequently synthesize code that compiles syntactically but fails runtime unit assertions due to off-by-one errors, missing imports, or type mismatches.</a:t>
            </a:r>
          </a:p>
          <a:p>
            <a:pPr>
              <a:spcAft>
                <a:spcPts val="300"/>
              </a:spcAft>
            </a:pPr>
            <a:r>
              <a:rPr b="1" sz="950">
                <a:solidFill>
                  <a:srgbClr val="FFFFFF"/>
                </a:solidFill>
              </a:rPr>
              <a:t>• Step 1: Ephemeral Sandbox Provisioning: </a:t>
            </a:r>
            <a:r>
              <a:rPr sz="919">
                <a:solidFill>
                  <a:srgbClr val="CBD5E1"/>
                </a:solidFill>
              </a:rPr>
              <a:t>Candidate code and generated unit tests are written to an isolated, ephemeral temporary directory with a clean Python virtual environment structure.</a:t>
            </a:r>
          </a:p>
          <a:p>
            <a:pPr>
              <a:spcAft>
                <a:spcPts val="300"/>
              </a:spcAft>
            </a:pPr>
            <a:r>
              <a:rPr b="1" sz="950">
                <a:solidFill>
                  <a:srgbClr val="FFFFFF"/>
                </a:solidFill>
              </a:rPr>
              <a:t>• Step 2: Subprocess Execution with Hard Limits: </a:t>
            </a:r>
            <a:r>
              <a:rPr sz="919">
                <a:solidFill>
                  <a:srgbClr val="CBD5E1"/>
                </a:solidFill>
              </a:rPr>
              <a:t>Executes 'pytest' inside sandbox with strict resource limits: CPU timeout = 3.0 seconds, stripped environment variables (blocking credential inheritance), and disabled network access.</a:t>
            </a:r>
          </a:p>
          <a:p>
            <a:pPr>
              <a:spcAft>
                <a:spcPts val="300"/>
              </a:spcAft>
            </a:pPr>
            <a:r>
              <a:rPr b="1" sz="950">
                <a:solidFill>
                  <a:srgbClr val="FFFFFF"/>
                </a:solidFill>
              </a:rPr>
              <a:t>• Step 3: Stderr &amp; Traceback Capture: </a:t>
            </a:r>
            <a:r>
              <a:rPr sz="919">
                <a:solidFill>
                  <a:srgbClr val="CBD5E1"/>
                </a:solidFill>
              </a:rPr>
              <a:t>If exit code != 0, KAVACH captures the exact traceback, failing assertion line, and runtime exception.</a:t>
            </a:r>
          </a:p>
          <a:p>
            <a:pPr>
              <a:spcAft>
                <a:spcPts val="300"/>
              </a:spcAft>
            </a:pPr>
            <a:r>
              <a:rPr b="1" sz="950">
                <a:solidFill>
                  <a:srgbClr val="FFFFFF"/>
                </a:solidFill>
              </a:rPr>
              <a:t>• Step 4: ReAct Reflection Formulation: </a:t>
            </a:r>
            <a:r>
              <a:rPr sz="919">
                <a:solidFill>
                  <a:srgbClr val="CBD5E1"/>
                </a:solidFill>
              </a:rPr>
              <a:t>Constructs a structured reflection prompt: Prompt_(k+1) = Prompt_k + Traceback_k. Instructs LLM: 'Analyze the assertion failure in 2 sentences and output corrected patch.'</a:t>
            </a:r>
          </a:p>
          <a:p>
            <a:pPr>
              <a:spcAft>
                <a:spcPts val="300"/>
              </a:spcAft>
            </a:pPr>
            <a:r>
              <a:rPr b="1" sz="950">
                <a:solidFill>
                  <a:srgbClr val="FFFFFF"/>
                </a:solidFill>
              </a:rPr>
              <a:t>• Step 5: Iteration Cap &amp; Convergence: </a:t>
            </a:r>
            <a:r>
              <a:rPr sz="919">
                <a:solidFill>
                  <a:srgbClr val="CBD5E1"/>
                </a:solidFill>
              </a:rPr>
              <a:t>Repeats repair cycle up to N = 3 iterations. If iteration 3 fails, escalates trace to human gatekeeper via NEEDS_REVIEW state.</a:t>
            </a:r>
          </a:p>
        </p:txBody>
      </p:sp>
      <p:sp>
        <p:nvSpPr>
          <p:cNvPr id="7" name="Rounded Rectangle 6"/>
          <p:cNvSpPr/>
          <p:nvPr/>
        </p:nvSpPr>
        <p:spPr>
          <a:xfrm>
            <a:off x="6217920" y="1371600"/>
            <a:ext cx="52120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4681728"/>
          </a:xfrm>
          <a:prstGeom prst="rect">
            <a:avLst/>
          </a:prstGeom>
          <a:noFill/>
        </p:spPr>
        <p:txBody>
          <a:bodyPr wrap="square" lIns="0" tIns="0" rIns="0" bIns="0">
            <a:spAutoFit/>
          </a:bodyPr>
          <a:lstStyle/>
          <a:p>
            <a:pPr>
              <a:spcAft>
                <a:spcPts val="500"/>
              </a:spcAft>
              <a:defRPr sz="1200" b="1">
                <a:solidFill>
                  <a:srgbClr val="10B981"/>
                </a:solidFill>
              </a:defRPr>
            </a:pPr>
            <a:r>
              <a:t>Empirical Self-Healing Results &amp; Safety Guarantees</a:t>
            </a:r>
          </a:p>
          <a:p>
            <a:pPr>
              <a:spcAft>
                <a:spcPts val="300"/>
              </a:spcAft>
            </a:pPr>
            <a:r>
              <a:rPr b="1" sz="950">
                <a:solidFill>
                  <a:srgbClr val="FFFFFF"/>
                </a:solidFill>
              </a:rPr>
              <a:t>• Autonomous Recovery Rate: </a:t>
            </a:r>
            <a:r>
              <a:rPr sz="919">
                <a:solidFill>
                  <a:srgbClr val="CBD5E1"/>
                </a:solidFill>
              </a:rPr>
              <a:t>Achieved 90.0% autonomous test recovery rate across 42 evaluated workflow runs.</a:t>
            </a:r>
          </a:p>
          <a:p>
            <a:pPr>
              <a:spcAft>
                <a:spcPts val="300"/>
              </a:spcAft>
            </a:pPr>
            <a:r>
              <a:rPr b="1" sz="950">
                <a:solidFill>
                  <a:srgbClr val="FFFFFF"/>
                </a:solidFill>
              </a:rPr>
              <a:t>• Cycle Convergence: </a:t>
            </a:r>
            <a:r>
              <a:rPr sz="919">
                <a:solidFill>
                  <a:srgbClr val="CBD5E1"/>
                </a:solidFill>
              </a:rPr>
              <a:t>78% of runtime failures repaired on Cycle 1 (e.g., injecting missing 'import math' or fixing NameError); 12% repaired on Cycle 2.</a:t>
            </a:r>
          </a:p>
          <a:p>
            <a:pPr>
              <a:spcAft>
                <a:spcPts val="300"/>
              </a:spcAft>
            </a:pPr>
            <a:r>
              <a:rPr b="1" sz="950">
                <a:solidFill>
                  <a:srgbClr val="FFFFFF"/>
                </a:solidFill>
              </a:rPr>
              <a:t>• Infinite Loop Immunity: </a:t>
            </a:r>
            <a:r>
              <a:rPr sz="919">
                <a:solidFill>
                  <a:srgbClr val="CBD5E1"/>
                </a:solidFill>
              </a:rPr>
              <a:t>Enforcing a hard mathematical upper bound of N = 3 cycles eliminates non-convergent token-burning oscillations.</a:t>
            </a:r>
          </a:p>
          <a:p>
            <a:pPr>
              <a:spcAft>
                <a:spcPts val="300"/>
              </a:spcAft>
            </a:pPr>
            <a:r>
              <a:rPr b="1" sz="950">
                <a:solidFill>
                  <a:srgbClr val="FFFFFF"/>
                </a:solidFill>
              </a:rPr>
              <a:t>• Security Hardening: </a:t>
            </a:r>
            <a:r>
              <a:rPr sz="919">
                <a:solidFill>
                  <a:srgbClr val="CBD5E1"/>
                </a:solidFill>
              </a:rPr>
              <a:t>Subprocess runs with 'shell=False' and sanitized environment variables, preventing generated code from executing fork-bombs or reverse shells.</a:t>
            </a:r>
          </a:p>
          <a:p>
            <a:pPr>
              <a:spcAft>
                <a:spcPts val="300"/>
              </a:spcAft>
            </a:pPr>
            <a:r>
              <a:rPr b="1" sz="950">
                <a:solidFill>
                  <a:srgbClr val="FFFFFF"/>
                </a:solidFill>
              </a:rPr>
              <a:t>• Cryptographic Audit Provenance: </a:t>
            </a:r>
            <a:r>
              <a:rPr sz="919">
                <a:solidFill>
                  <a:srgbClr val="CBD5E1"/>
                </a:solidFill>
              </a:rPr>
              <a:t>All execution iterations, test stdout/stderr, and patch diffs are written to CycloneDX v1.5 JSON SBOM meeting SLSA Level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INFERENCE ARCHITECTURE: PRIVACY-PRESERVING AI ROUTING</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18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Dual-Engine LLM Router: Cloud Inference vs. Air-Gapped Local Ollama</a:t>
            </a:r>
          </a:p>
        </p:txBody>
      </p:sp>
      <p:sp>
        <p:nvSpPr>
          <p:cNvPr id="5" name="Rounded Rectangle 4"/>
          <p:cNvSpPr/>
          <p:nvPr/>
        </p:nvSpPr>
        <p:spPr>
          <a:xfrm>
            <a:off x="731520" y="1371600"/>
            <a:ext cx="512064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791456" cy="4681728"/>
          </a:xfrm>
          <a:prstGeom prst="rect">
            <a:avLst/>
          </a:prstGeom>
          <a:noFill/>
        </p:spPr>
        <p:txBody>
          <a:bodyPr wrap="square" lIns="0" tIns="0" rIns="0" bIns="0">
            <a:spAutoFit/>
          </a:bodyPr>
          <a:lstStyle/>
          <a:p>
            <a:pPr>
              <a:spcAft>
                <a:spcPts val="500"/>
              </a:spcAft>
              <a:defRPr sz="1200" b="1">
                <a:solidFill>
                  <a:srgbClr val="00D2FF"/>
                </a:solidFill>
              </a:defRPr>
            </a:pPr>
            <a:r>
              <a:t>Air-Gapped Privacy Routing Architecture</a:t>
            </a:r>
          </a:p>
          <a:p>
            <a:pPr>
              <a:spcAft>
                <a:spcPts val="300"/>
              </a:spcAft>
            </a:pPr>
            <a:r>
              <a:rPr b="1" sz="950">
                <a:solidFill>
                  <a:srgbClr val="FFFFFF"/>
                </a:solidFill>
              </a:rPr>
              <a:t>• The Enterprise Dilemma: </a:t>
            </a:r>
            <a:r>
              <a:rPr sz="919">
                <a:solidFill>
                  <a:srgbClr val="CBD5E1"/>
                </a:solidFill>
              </a:rPr>
              <a:t>Commercial cloud LLMs (Gemini, Claude) offer high reasoning capability but require transmitting code over the public internet, violating strict corporate intellectual property (IP) policies.</a:t>
            </a:r>
          </a:p>
          <a:p>
            <a:pPr>
              <a:spcAft>
                <a:spcPts val="300"/>
              </a:spcAft>
            </a:pPr>
            <a:r>
              <a:rPr b="1" sz="950">
                <a:solidFill>
                  <a:srgbClr val="FFFFFF"/>
                </a:solidFill>
              </a:rPr>
              <a:t>• Sensitivity Classifier: </a:t>
            </a:r>
            <a:r>
              <a:rPr sz="919">
                <a:solidFill>
                  <a:srgbClr val="CBD5E1"/>
                </a:solidFill>
              </a:rPr>
              <a:t>KAVACH's orchestrator analyzes incoming developer prompts and indexed file paths for proprietary signatures (e.g. database schemas, proprietary algorithms, internal tokens).</a:t>
            </a:r>
          </a:p>
          <a:p>
            <a:pPr>
              <a:spcAft>
                <a:spcPts val="300"/>
              </a:spcAft>
            </a:pPr>
            <a:r>
              <a:rPr b="1" sz="950">
                <a:solidFill>
                  <a:srgbClr val="FFFFFF"/>
                </a:solidFill>
              </a:rPr>
              <a:t>• Public / Cloud Route: </a:t>
            </a:r>
            <a:r>
              <a:rPr sz="919">
                <a:solidFill>
                  <a:srgbClr val="CBD5E1"/>
                </a:solidFill>
              </a:rPr>
              <a:t>Sanitized, public requests are dispatched via high-speed API to Google Gemini 2.5 Flash or Groq Cloud (`llama-3.3-70b-versatile`).</a:t>
            </a:r>
          </a:p>
          <a:p>
            <a:pPr>
              <a:spcAft>
                <a:spcPts val="300"/>
              </a:spcAft>
            </a:pPr>
            <a:r>
              <a:rPr b="1" sz="950">
                <a:solidFill>
                  <a:srgbClr val="FFFFFF"/>
                </a:solidFill>
              </a:rPr>
              <a:t>• Air-Gapped Local Route: </a:t>
            </a:r>
            <a:r>
              <a:rPr sz="919">
                <a:solidFill>
                  <a:srgbClr val="CBD5E1"/>
                </a:solidFill>
              </a:rPr>
              <a:t>Confidential enterprise code is automatically routed to local Ollama runtime (`localhost:11434`) running `qwen2.5-coder:7b` or `llama3.2`, ensuring zero external network egress.</a:t>
            </a:r>
          </a:p>
        </p:txBody>
      </p:sp>
      <p:sp>
        <p:nvSpPr>
          <p:cNvPr id="7" name="Rounded Rectangle 6"/>
          <p:cNvSpPr/>
          <p:nvPr/>
        </p:nvSpPr>
        <p:spPr>
          <a:xfrm>
            <a:off x="6217920" y="1371600"/>
            <a:ext cx="52120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4681728"/>
          </a:xfrm>
          <a:prstGeom prst="rect">
            <a:avLst/>
          </a:prstGeom>
          <a:noFill/>
        </p:spPr>
        <p:txBody>
          <a:bodyPr wrap="square" lIns="0" tIns="0" rIns="0" bIns="0">
            <a:spAutoFit/>
          </a:bodyPr>
          <a:lstStyle/>
          <a:p>
            <a:pPr>
              <a:spcAft>
                <a:spcPts val="500"/>
              </a:spcAft>
              <a:defRPr sz="1200" b="1">
                <a:solidFill>
                  <a:srgbClr val="10B981"/>
                </a:solidFill>
              </a:defRPr>
            </a:pPr>
            <a:r>
              <a:t>Zero-Failure Deterministic Synthesizer &amp; Cost Optimization</a:t>
            </a:r>
          </a:p>
          <a:p>
            <a:pPr>
              <a:spcAft>
                <a:spcPts val="300"/>
              </a:spcAft>
            </a:pPr>
            <a:r>
              <a:rPr b="1" sz="950">
                <a:solidFill>
                  <a:srgbClr val="FFFFFF"/>
                </a:solidFill>
              </a:rPr>
              <a:t>• Zero-Failure Fallback Engine: </a:t>
            </a:r>
            <a:r>
              <a:rPr sz="919">
                <a:solidFill>
                  <a:srgbClr val="CBD5E1"/>
                </a:solidFill>
              </a:rPr>
              <a:t>If both external cloud APIs and local Ollama daemons are offline, KAVACH engages its built-in deterministic synthesizer, ensuring uninterrupted CI/CD operation.</a:t>
            </a:r>
          </a:p>
          <a:p>
            <a:pPr>
              <a:spcAft>
                <a:spcPts val="300"/>
              </a:spcAft>
            </a:pPr>
            <a:r>
              <a:rPr b="1" sz="950">
                <a:solidFill>
                  <a:srgbClr val="FFFFFF"/>
                </a:solidFill>
              </a:rPr>
              <a:t>• Inference Cost Optimization: </a:t>
            </a:r>
            <a:r>
              <a:rPr sz="919">
                <a:solidFill>
                  <a:srgbClr val="CBD5E1"/>
                </a:solidFill>
              </a:rPr>
              <a:t>By routing repetitive or local tasks to Ollama and using Gemini 2.5 Flash for complex reasoning, average execution cost is kept below $0.0005 USD per run.</a:t>
            </a:r>
          </a:p>
          <a:p>
            <a:pPr>
              <a:spcAft>
                <a:spcPts val="300"/>
              </a:spcAft>
            </a:pPr>
            <a:r>
              <a:rPr b="1" sz="950">
                <a:solidFill>
                  <a:srgbClr val="FFFFFF"/>
                </a:solidFill>
              </a:rPr>
              <a:t>• Universal Multi-Provider Abstraction: </a:t>
            </a:r>
            <a:r>
              <a:rPr sz="919">
                <a:solidFill>
                  <a:srgbClr val="CBD5E1"/>
                </a:solidFill>
              </a:rPr>
              <a:t>Unified `llm_client.py` interface abstracts Gemini, Groq, Ollama, and Fallback behind a standard polymorphic API.</a:t>
            </a:r>
          </a:p>
          <a:p>
            <a:pPr>
              <a:spcAft>
                <a:spcPts val="300"/>
              </a:spcAft>
            </a:pPr>
            <a:r>
              <a:rPr b="1" sz="950">
                <a:solidFill>
                  <a:srgbClr val="FFFFFF"/>
                </a:solidFill>
              </a:rPr>
              <a:t>• Air-Gapped Deployment Ready: </a:t>
            </a:r>
            <a:r>
              <a:rPr sz="919">
                <a:solidFill>
                  <a:srgbClr val="CBD5E1"/>
                </a:solidFill>
              </a:rPr>
              <a:t>Entire KAVACH platform can run completely disconnected from the public internet in defense and financial environments.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TOOL INTEROPERABILITY: OPEN PROTOCOL ARCHITECTURE</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19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Interoperability: Anthropic Model Context Protocol (MCP) Server</a:t>
            </a:r>
          </a:p>
        </p:txBody>
      </p:sp>
      <p:sp>
        <p:nvSpPr>
          <p:cNvPr id="5" name="Rounded Rectangle 4"/>
          <p:cNvSpPr/>
          <p:nvPr/>
        </p:nvSpPr>
        <p:spPr>
          <a:xfrm>
            <a:off x="731520" y="1371600"/>
            <a:ext cx="512064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791456" cy="4681728"/>
          </a:xfrm>
          <a:prstGeom prst="rect">
            <a:avLst/>
          </a:prstGeom>
          <a:noFill/>
        </p:spPr>
        <p:txBody>
          <a:bodyPr wrap="square" lIns="0" tIns="0" rIns="0" bIns="0">
            <a:spAutoFit/>
          </a:bodyPr>
          <a:lstStyle/>
          <a:p>
            <a:pPr>
              <a:spcAft>
                <a:spcPts val="500"/>
              </a:spcAft>
              <a:defRPr sz="1200" b="1">
                <a:solidFill>
                  <a:srgbClr val="A855F7"/>
                </a:solidFill>
              </a:defRPr>
            </a:pPr>
            <a:r>
              <a:t>The Model Context Protocol (MCP) Standard</a:t>
            </a:r>
          </a:p>
          <a:p>
            <a:pPr>
              <a:spcAft>
                <a:spcPts val="300"/>
              </a:spcAft>
            </a:pPr>
            <a:r>
              <a:rPr b="1" sz="950">
                <a:solidFill>
                  <a:srgbClr val="FFFFFF"/>
                </a:solidFill>
              </a:rPr>
              <a:t>• The Proprietary Silo Problem: </a:t>
            </a:r>
            <a:r>
              <a:rPr sz="919">
                <a:solidFill>
                  <a:srgbClr val="CBD5E1"/>
                </a:solidFill>
              </a:rPr>
              <a:t>Security tools fail when they force developers to leave their daily IDE to copy-paste code into clunky third-party web portals.</a:t>
            </a:r>
          </a:p>
          <a:p>
            <a:pPr>
              <a:spcAft>
                <a:spcPts val="300"/>
              </a:spcAft>
            </a:pPr>
            <a:r>
              <a:rPr b="1" sz="950">
                <a:solidFill>
                  <a:srgbClr val="FFFFFF"/>
                </a:solidFill>
              </a:rPr>
              <a:t>• Open Protocol Adoption: </a:t>
            </a:r>
            <a:r>
              <a:rPr sz="919">
                <a:solidFill>
                  <a:srgbClr val="CBD5E1"/>
                </a:solidFill>
              </a:rPr>
              <a:t>KAVACH implements Anthropic's open Model Context Protocol (Protocol Version 2024-11-05), exposing its governance engine as standardized JSON-RPC 2.0 tools.</a:t>
            </a:r>
          </a:p>
          <a:p>
            <a:pPr>
              <a:spcAft>
                <a:spcPts val="300"/>
              </a:spcAft>
            </a:pPr>
            <a:r>
              <a:rPr b="1" sz="950">
                <a:solidFill>
                  <a:srgbClr val="FFFFFF"/>
                </a:solidFill>
              </a:rPr>
              <a:t>• Native IDE Support: </a:t>
            </a:r>
            <a:r>
              <a:rPr sz="919">
                <a:solidFill>
                  <a:srgbClr val="CBD5E1"/>
                </a:solidFill>
              </a:rPr>
              <a:t>Connects natively into Cursor IDE, Claude Desktop, and VS Code MCP clients via standard `stdio` or SSE transports.</a:t>
            </a:r>
          </a:p>
          <a:p>
            <a:pPr>
              <a:spcAft>
                <a:spcPts val="300"/>
              </a:spcAft>
            </a:pPr>
            <a:r>
              <a:rPr b="1" sz="950">
                <a:solidFill>
                  <a:srgbClr val="FFFFFF"/>
                </a:solidFill>
              </a:rPr>
              <a:t>• Direct In-Editor Governance: </a:t>
            </a:r>
            <a:r>
              <a:rPr sz="919">
                <a:solidFill>
                  <a:srgbClr val="CBD5E1"/>
                </a:solidFill>
              </a:rPr>
              <a:t>Developers get instant security checks, blast-radius graphs, and PyPI verification directly inside their Cursor AI chat window without switching context.</a:t>
            </a:r>
          </a:p>
        </p:txBody>
      </p:sp>
      <p:sp>
        <p:nvSpPr>
          <p:cNvPr id="7" name="Rounded Rectangle 6"/>
          <p:cNvSpPr/>
          <p:nvPr/>
        </p:nvSpPr>
        <p:spPr>
          <a:xfrm>
            <a:off x="6217920" y="1371600"/>
            <a:ext cx="52120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4681728"/>
          </a:xfrm>
          <a:prstGeom prst="rect">
            <a:avLst/>
          </a:prstGeom>
          <a:noFill/>
        </p:spPr>
        <p:txBody>
          <a:bodyPr wrap="square" lIns="0" tIns="0" rIns="0" bIns="0">
            <a:spAutoFit/>
          </a:bodyPr>
          <a:lstStyle/>
          <a:p>
            <a:pPr>
              <a:spcAft>
                <a:spcPts val="500"/>
              </a:spcAft>
              <a:defRPr sz="1200" b="1">
                <a:solidFill>
                  <a:srgbClr val="00D2FF"/>
                </a:solidFill>
              </a:defRPr>
            </a:pPr>
            <a:r>
              <a:t>Exposed MCP Tool Suite &amp; JSON-RPC Schemas</a:t>
            </a:r>
          </a:p>
          <a:p>
            <a:pPr>
              <a:spcAft>
                <a:spcPts val="300"/>
              </a:spcAft>
            </a:pPr>
            <a:r>
              <a:rPr b="1" sz="950">
                <a:solidFill>
                  <a:srgbClr val="FFFFFF"/>
                </a:solidFill>
              </a:rPr>
              <a:t>• Tool 1: inspect_code_security: </a:t>
            </a:r>
            <a:r>
              <a:rPr sz="919">
                <a:solidFill>
                  <a:srgbClr val="CBD5E1"/>
                </a:solidFill>
              </a:rPr>
              <a:t>Scans code for Shannon entropy secrets, PII, and destructive patterns; returns structured verdict (ALLOW/REVIEW/BLOCK).</a:t>
            </a:r>
          </a:p>
          <a:p>
            <a:pPr>
              <a:spcAft>
                <a:spcPts val="300"/>
              </a:spcAft>
            </a:pPr>
            <a:r>
              <a:rPr b="1" sz="950">
                <a:solidFill>
                  <a:srgbClr val="FFFFFF"/>
                </a:solidFill>
              </a:rPr>
              <a:t>• Tool 2: calculate_blast_radius: </a:t>
            </a:r>
            <a:r>
              <a:rPr sz="919">
                <a:solidFill>
                  <a:srgbClr val="CBD5E1"/>
                </a:solidFill>
              </a:rPr>
              <a:t>Computes AST call graph and returns affected downstream files and regression percentages.</a:t>
            </a:r>
          </a:p>
          <a:p>
            <a:pPr>
              <a:spcAft>
                <a:spcPts val="300"/>
              </a:spcAft>
            </a:pPr>
            <a:r>
              <a:rPr b="1" sz="950">
                <a:solidFill>
                  <a:srgbClr val="FFFFFF"/>
                </a:solidFill>
              </a:rPr>
              <a:t>• Tool 3: verify_package_imports: </a:t>
            </a:r>
            <a:r>
              <a:rPr sz="919">
                <a:solidFill>
                  <a:srgbClr val="CBD5E1"/>
                </a:solidFill>
              </a:rPr>
              <a:t>Extracts AST imports and queries PyPI live registry to flag package hallucinations and slopsquats.</a:t>
            </a:r>
          </a:p>
          <a:p>
            <a:pPr>
              <a:spcAft>
                <a:spcPts val="300"/>
              </a:spcAft>
            </a:pPr>
            <a:r>
              <a:rPr b="1" sz="950">
                <a:solidFill>
                  <a:srgbClr val="FFFFFF"/>
                </a:solidFill>
              </a:rPr>
              <a:t>• Tool 4: query_code_rag: </a:t>
            </a:r>
            <a:r>
              <a:rPr sz="919">
                <a:solidFill>
                  <a:srgbClr val="CBD5E1"/>
                </a:solidFill>
              </a:rPr>
              <a:t>Queries Qdrant vector database for AST-aware code chunks matching natural language intent.</a:t>
            </a:r>
          </a:p>
          <a:p>
            <a:pPr>
              <a:spcAft>
                <a:spcPts val="300"/>
              </a:spcAft>
            </a:pPr>
            <a:r>
              <a:rPr b="1" sz="950">
                <a:solidFill>
                  <a:srgbClr val="FFFFFF"/>
                </a:solidFill>
              </a:rPr>
              <a:t>• Seamless Enterprise Extensibility: </a:t>
            </a:r>
            <a:r>
              <a:rPr sz="919">
                <a:solidFill>
                  <a:srgbClr val="CBD5E1"/>
                </a:solidFill>
              </a:rPr>
              <a:t>Any external AI agent or CI workflow can invoke KAVACH tools over standardized JSON-RPC.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FRONTEND ARCHITECTURE &amp; TELEMETRY TELEMETRY</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20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Mission Control Dashboard &amp; Multimodal Voice Observability</a:t>
            </a:r>
          </a:p>
        </p:txBody>
      </p:sp>
      <p:sp>
        <p:nvSpPr>
          <p:cNvPr id="5" name="Rounded Rectangle 4"/>
          <p:cNvSpPr/>
          <p:nvPr/>
        </p:nvSpPr>
        <p:spPr>
          <a:xfrm>
            <a:off x="731520" y="1371600"/>
            <a:ext cx="512064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791456" cy="4681728"/>
          </a:xfrm>
          <a:prstGeom prst="rect">
            <a:avLst/>
          </a:prstGeom>
          <a:noFill/>
        </p:spPr>
        <p:txBody>
          <a:bodyPr wrap="square" lIns="0" tIns="0" rIns="0" bIns="0">
            <a:spAutoFit/>
          </a:bodyPr>
          <a:lstStyle/>
          <a:p>
            <a:pPr>
              <a:spcAft>
                <a:spcPts val="500"/>
              </a:spcAft>
              <a:defRPr sz="1200" b="1">
                <a:solidFill>
                  <a:srgbClr val="00D2FF"/>
                </a:solidFill>
              </a:defRPr>
            </a:pPr>
            <a:r>
              <a:t>Dark-Mode SaaS Observability System</a:t>
            </a:r>
          </a:p>
          <a:p>
            <a:pPr>
              <a:spcAft>
                <a:spcPts val="300"/>
              </a:spcAft>
            </a:pPr>
            <a:r>
              <a:rPr b="1" sz="950">
                <a:solidFill>
                  <a:srgbClr val="FFFFFF"/>
                </a:solidFill>
              </a:rPr>
              <a:t>• Design Aesthetics: </a:t>
            </a:r>
            <a:r>
              <a:rPr sz="919">
                <a:solidFill>
                  <a:srgbClr val="CBD5E1"/>
                </a:solidFill>
              </a:rPr>
              <a:t>Built with Datadog/Grafana cyber-observability aesthetics: `#08090D` canvas, `#12151D` glass cards, and `#00D2FF` electric cyan accents.</a:t>
            </a:r>
          </a:p>
          <a:p>
            <a:pPr>
              <a:spcAft>
                <a:spcPts val="300"/>
              </a:spcAft>
            </a:pPr>
            <a:r>
              <a:rPr b="1" sz="950">
                <a:solidFill>
                  <a:srgbClr val="FFFFFF"/>
                </a:solidFill>
              </a:rPr>
              <a:t>• Real-Time Telemetry Counters: </a:t>
            </a:r>
            <a:r>
              <a:rPr sz="919">
                <a:solidFill>
                  <a:srgbClr val="CBD5E1"/>
                </a:solidFill>
              </a:rPr>
              <a:t>Animated cubic counters tracking live operational metrics: total runs, reviews held, and security blocks enforced.</a:t>
            </a:r>
          </a:p>
          <a:p>
            <a:pPr>
              <a:spcAft>
                <a:spcPts val="300"/>
              </a:spcAft>
            </a:pPr>
            <a:r>
              <a:rPr b="1" sz="950">
                <a:solidFill>
                  <a:srgbClr val="FFFFFF"/>
                </a:solidFill>
              </a:rPr>
              <a:t>• Visual Execution Stage Graph: </a:t>
            </a:r>
            <a:r>
              <a:rPr sz="919">
                <a:solidFill>
                  <a:srgbClr val="CBD5E1"/>
                </a:solidFill>
              </a:rPr>
              <a:t>Dynamic multi-stage node graph visualizing transitions across Planning, Security, Context Retrieval, Impact, and Sandbox.</a:t>
            </a:r>
          </a:p>
          <a:p>
            <a:pPr>
              <a:spcAft>
                <a:spcPts val="300"/>
              </a:spcAft>
            </a:pPr>
            <a:r>
              <a:rPr b="1" sz="950">
                <a:solidFill>
                  <a:srgbClr val="FFFFFF"/>
                </a:solidFill>
              </a:rPr>
              <a:t>• Interactive Code Review Surface: </a:t>
            </a:r>
            <a:r>
              <a:rPr sz="919">
                <a:solidFill>
                  <a:srgbClr val="CBD5E1"/>
                </a:solidFill>
              </a:rPr>
              <a:t>Dedicated `/review` tab allowing ad-hoc security scanning of arbitrary code snippets with instant AST feedback.</a:t>
            </a:r>
          </a:p>
          <a:p>
            <a:pPr>
              <a:spcAft>
                <a:spcPts val="300"/>
              </a:spcAft>
            </a:pPr>
            <a:r>
              <a:rPr b="1" sz="950">
                <a:solidFill>
                  <a:srgbClr val="FFFFFF"/>
                </a:solidFill>
              </a:rPr>
              <a:t>• GitHub Repository Ingestion: </a:t>
            </a:r>
            <a:r>
              <a:rPr sz="919">
                <a:solidFill>
                  <a:srgbClr val="CBD5E1"/>
                </a:solidFill>
              </a:rPr>
              <a:t>One-click cloning and AST indexing of any public GitHub repository directly into Qdrant vector storage.</a:t>
            </a:r>
          </a:p>
        </p:txBody>
      </p:sp>
      <p:sp>
        <p:nvSpPr>
          <p:cNvPr id="7" name="Rounded Rectangle 6"/>
          <p:cNvSpPr/>
          <p:nvPr/>
        </p:nvSpPr>
        <p:spPr>
          <a:xfrm>
            <a:off x="6217920" y="1371600"/>
            <a:ext cx="52120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4681728"/>
          </a:xfrm>
          <a:prstGeom prst="rect">
            <a:avLst/>
          </a:prstGeom>
          <a:noFill/>
        </p:spPr>
        <p:txBody>
          <a:bodyPr wrap="square" lIns="0" tIns="0" rIns="0" bIns="0">
            <a:spAutoFit/>
          </a:bodyPr>
          <a:lstStyle/>
          <a:p>
            <a:pPr>
              <a:spcAft>
                <a:spcPts val="500"/>
              </a:spcAft>
              <a:defRPr sz="1200" b="1">
                <a:solidFill>
                  <a:srgbClr val="10B981"/>
                </a:solidFill>
              </a:defRPr>
            </a:pPr>
            <a:r>
              <a:t>Multimodal Speech-to-Text via Groq Whisper v3</a:t>
            </a:r>
          </a:p>
          <a:p>
            <a:pPr>
              <a:spcAft>
                <a:spcPts val="300"/>
              </a:spcAft>
            </a:pPr>
            <a:r>
              <a:rPr b="1" sz="950">
                <a:solidFill>
                  <a:srgbClr val="FFFFFF"/>
                </a:solidFill>
              </a:rPr>
              <a:t>• Voice-Driven DevOps: </a:t>
            </a:r>
            <a:r>
              <a:rPr sz="919">
                <a:solidFill>
                  <a:srgbClr val="CBD5E1"/>
                </a:solidFill>
              </a:rPr>
              <a:t>Developers can dictate complex engineering instructions hands-free: 'Refactor database connection pool and check for credential leaks.'</a:t>
            </a:r>
          </a:p>
          <a:p>
            <a:pPr>
              <a:spcAft>
                <a:spcPts val="300"/>
              </a:spcAft>
            </a:pPr>
            <a:r>
              <a:rPr b="1" sz="950">
                <a:solidFill>
                  <a:srgbClr val="FFFFFF"/>
                </a:solidFill>
              </a:rPr>
              <a:t>• Dual-Engine Audio Pipeline: </a:t>
            </a:r>
            <a:r>
              <a:rPr sz="919">
                <a:solidFill>
                  <a:srgbClr val="CBD5E1"/>
                </a:solidFill>
              </a:rPr>
              <a:t>Captures audio via browser `MediaRecorder`, dispatches to Groq Cloud `whisper-large-v3-turbo` multipart endpoint for near-instant transcription (&lt;800ms).</a:t>
            </a:r>
          </a:p>
          <a:p>
            <a:pPr>
              <a:spcAft>
                <a:spcPts val="300"/>
              </a:spcAft>
            </a:pPr>
            <a:r>
              <a:rPr b="1" sz="950">
                <a:solidFill>
                  <a:srgbClr val="FFFFFF"/>
                </a:solidFill>
              </a:rPr>
              <a:t>• Graceful Offline Fallback: </a:t>
            </a:r>
            <a:r>
              <a:rPr sz="919">
                <a:solidFill>
                  <a:srgbClr val="CBD5E1"/>
                </a:solidFill>
              </a:rPr>
              <a:t>Automatically falls back to browser Web Speech API if cloud network is unavailable.</a:t>
            </a:r>
          </a:p>
          <a:p>
            <a:pPr>
              <a:spcAft>
                <a:spcPts val="300"/>
              </a:spcAft>
            </a:pPr>
            <a:r>
              <a:rPr b="1" sz="950">
                <a:solidFill>
                  <a:srgbClr val="FFFFFF"/>
                </a:solidFill>
              </a:rPr>
              <a:t>• Live SSE Telemetry Streaming: </a:t>
            </a:r>
            <a:r>
              <a:rPr sz="919">
                <a:solidFill>
                  <a:srgbClr val="CBD5E1"/>
                </a:solidFill>
              </a:rPr>
              <a:t>Server-Sent Events stream step-by-step agent execution logs and reasoning traces directly to the dashboard terminal.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RUBRIC 4: PROPOSED METHODOLOGY &amp; EMPIRICAL EVALUATION (5 MARKS)</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21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Empirical Evaluation: 4 Benchmark Datasets &amp; Quantitative Findings</a:t>
            </a:r>
          </a:p>
        </p:txBody>
      </p:sp>
      <p:sp>
        <p:nvSpPr>
          <p:cNvPr id="5" name="Rounded Rectangle 4"/>
          <p:cNvSpPr/>
          <p:nvPr/>
        </p:nvSpPr>
        <p:spPr>
          <a:xfrm>
            <a:off x="731520" y="1371600"/>
            <a:ext cx="5212080" cy="233172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882896" cy="2075688"/>
          </a:xfrm>
          <a:prstGeom prst="rect">
            <a:avLst/>
          </a:prstGeom>
          <a:noFill/>
        </p:spPr>
        <p:txBody>
          <a:bodyPr wrap="square" lIns="0" tIns="0" rIns="0" bIns="0">
            <a:spAutoFit/>
          </a:bodyPr>
          <a:lstStyle/>
          <a:p>
            <a:pPr>
              <a:spcAft>
                <a:spcPts val="500"/>
              </a:spcAft>
              <a:defRPr sz="1200" b="1">
                <a:solidFill>
                  <a:srgbClr val="00D2FF"/>
                </a:solidFill>
              </a:defRPr>
            </a:pPr>
            <a:r>
              <a:t>Benchmark 1: Package Hallucination Corpus</a:t>
            </a:r>
          </a:p>
          <a:p>
            <a:pPr>
              <a:spcAft>
                <a:spcPts val="300"/>
              </a:spcAft>
            </a:pPr>
            <a:r>
              <a:rPr b="1" sz="950">
                <a:solidFill>
                  <a:srgbClr val="FFFFFF"/>
                </a:solidFill>
              </a:rPr>
              <a:t>• Dataset Composition: </a:t>
            </a:r>
            <a:r>
              <a:rPr sz="919">
                <a:solidFill>
                  <a:srgbClr val="CBD5E1"/>
                </a:solidFill>
              </a:rPr>
              <a:t>100 Python packages (50 legitimate popular PyPI packages + 50 documented LLM hallucinations/slopsquats)</a:t>
            </a:r>
          </a:p>
          <a:p>
            <a:pPr>
              <a:spcAft>
                <a:spcPts val="300"/>
              </a:spcAft>
            </a:pPr>
            <a:r>
              <a:rPr b="1" sz="950">
                <a:solidFill>
                  <a:srgbClr val="FFFFFF"/>
                </a:solidFill>
              </a:rPr>
              <a:t>• Precision: </a:t>
            </a:r>
            <a:r>
              <a:rPr sz="919">
                <a:solidFill>
                  <a:srgbClr val="CBD5E1"/>
                </a:solidFill>
              </a:rPr>
              <a:t>100.0% (Zero false positives on real packages)</a:t>
            </a:r>
          </a:p>
          <a:p>
            <a:pPr>
              <a:spcAft>
                <a:spcPts val="300"/>
              </a:spcAft>
            </a:pPr>
            <a:r>
              <a:rPr b="1" sz="950">
                <a:solidFill>
                  <a:srgbClr val="FFFFFF"/>
                </a:solidFill>
              </a:rPr>
              <a:t>• Recall: </a:t>
            </a:r>
            <a:r>
              <a:rPr sz="919">
                <a:solidFill>
                  <a:srgbClr val="CBD5E1"/>
                </a:solidFill>
              </a:rPr>
              <a:t>100.0% (Zero false negatives; 100% of hallucinations caught)</a:t>
            </a:r>
          </a:p>
          <a:p>
            <a:pPr>
              <a:spcAft>
                <a:spcPts val="300"/>
              </a:spcAft>
            </a:pPr>
            <a:r>
              <a:rPr b="1" sz="950">
                <a:solidFill>
                  <a:srgbClr val="FFFFFF"/>
                </a:solidFill>
              </a:rPr>
              <a:t>• F1-Score: </a:t>
            </a:r>
            <a:r>
              <a:rPr sz="919">
                <a:solidFill>
                  <a:srgbClr val="CBD5E1"/>
                </a:solidFill>
              </a:rPr>
              <a:t>1.000 across all package evaluation runs</a:t>
            </a:r>
          </a:p>
        </p:txBody>
      </p:sp>
      <p:sp>
        <p:nvSpPr>
          <p:cNvPr id="7" name="Rounded Rectangle 6"/>
          <p:cNvSpPr/>
          <p:nvPr/>
        </p:nvSpPr>
        <p:spPr>
          <a:xfrm>
            <a:off x="6217920" y="1371600"/>
            <a:ext cx="5212080" cy="233172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2075688"/>
          </a:xfrm>
          <a:prstGeom prst="rect">
            <a:avLst/>
          </a:prstGeom>
          <a:noFill/>
        </p:spPr>
        <p:txBody>
          <a:bodyPr wrap="square" lIns="0" tIns="0" rIns="0" bIns="0">
            <a:spAutoFit/>
          </a:bodyPr>
          <a:lstStyle/>
          <a:p>
            <a:pPr>
              <a:spcAft>
                <a:spcPts val="500"/>
              </a:spcAft>
              <a:defRPr sz="1200" b="1">
                <a:solidFill>
                  <a:srgbClr val="FBBF24"/>
                </a:solidFill>
              </a:defRPr>
            </a:pPr>
            <a:r>
              <a:t>Benchmark 2: Multilingual PII &amp; Secret Corpus</a:t>
            </a:r>
          </a:p>
          <a:p>
            <a:pPr>
              <a:spcAft>
                <a:spcPts val="300"/>
              </a:spcAft>
            </a:pPr>
            <a:r>
              <a:rPr b="1" sz="950">
                <a:solidFill>
                  <a:srgbClr val="FFFFFF"/>
                </a:solidFill>
              </a:rPr>
              <a:t>• Dataset Composition: </a:t>
            </a:r>
            <a:r>
              <a:rPr sz="919">
                <a:solidFill>
                  <a:srgbClr val="CBD5E1"/>
                </a:solidFill>
              </a:rPr>
              <a:t>100 developer chat prompts containing code-mixed Hinglish, Indian Aadhaar/PAN, and AWS keys</a:t>
            </a:r>
          </a:p>
          <a:p>
            <a:pPr>
              <a:spcAft>
                <a:spcPts val="300"/>
              </a:spcAft>
            </a:pPr>
            <a:r>
              <a:rPr b="1" sz="950">
                <a:solidFill>
                  <a:srgbClr val="FFFFFF"/>
                </a:solidFill>
              </a:rPr>
              <a:t>• Indian PII F1-Score: </a:t>
            </a:r>
            <a:r>
              <a:rPr sz="919">
                <a:solidFill>
                  <a:srgbClr val="CBD5E1"/>
                </a:solidFill>
              </a:rPr>
              <a:t>0.990 (Outperforms Microsoft Presidio baseline by 139%)</a:t>
            </a:r>
          </a:p>
          <a:p>
            <a:pPr>
              <a:spcAft>
                <a:spcPts val="300"/>
              </a:spcAft>
            </a:pPr>
            <a:r>
              <a:rPr b="1" sz="950">
                <a:solidFill>
                  <a:srgbClr val="FFFFFF"/>
                </a:solidFill>
              </a:rPr>
              <a:t>• Secret Interception: </a:t>
            </a:r>
            <a:r>
              <a:rPr sz="919">
                <a:solidFill>
                  <a:srgbClr val="CBD5E1"/>
                </a:solidFill>
              </a:rPr>
              <a:t>100.0% catch rate on AWS AKIA, GitHub PAT, Stripe tokens</a:t>
            </a:r>
          </a:p>
          <a:p>
            <a:pPr>
              <a:spcAft>
                <a:spcPts val="300"/>
              </a:spcAft>
            </a:pPr>
            <a:r>
              <a:rPr b="1" sz="950">
                <a:solidFill>
                  <a:srgbClr val="FFFFFF"/>
                </a:solidFill>
              </a:rPr>
              <a:t>• Latency Overhead: </a:t>
            </a:r>
            <a:r>
              <a:rPr sz="919">
                <a:solidFill>
                  <a:srgbClr val="CBD5E1"/>
                </a:solidFill>
              </a:rPr>
              <a:t>Security scanner execution time &lt; 2.0 ms</a:t>
            </a:r>
          </a:p>
        </p:txBody>
      </p:sp>
      <p:sp>
        <p:nvSpPr>
          <p:cNvPr id="9" name="Rounded Rectangle 8"/>
          <p:cNvSpPr/>
          <p:nvPr/>
        </p:nvSpPr>
        <p:spPr>
          <a:xfrm>
            <a:off x="731520" y="3840480"/>
            <a:ext cx="5212080" cy="233172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968496"/>
            <a:ext cx="4882896" cy="2075688"/>
          </a:xfrm>
          <a:prstGeom prst="rect">
            <a:avLst/>
          </a:prstGeom>
          <a:noFill/>
        </p:spPr>
        <p:txBody>
          <a:bodyPr wrap="square" lIns="0" tIns="0" rIns="0" bIns="0">
            <a:spAutoFit/>
          </a:bodyPr>
          <a:lstStyle/>
          <a:p>
            <a:pPr>
              <a:spcAft>
                <a:spcPts val="500"/>
              </a:spcAft>
              <a:defRPr sz="1200" b="1">
                <a:solidFill>
                  <a:srgbClr val="10B981"/>
                </a:solidFill>
              </a:defRPr>
            </a:pPr>
            <a:r>
              <a:t>Benchmark 3: Operational 42-Run Benchmark</a:t>
            </a:r>
          </a:p>
          <a:p>
            <a:pPr>
              <a:spcAft>
                <a:spcPts val="300"/>
              </a:spcAft>
            </a:pPr>
            <a:r>
              <a:rPr b="1" sz="950">
                <a:solidFill>
                  <a:srgbClr val="FFFFFF"/>
                </a:solidFill>
              </a:rPr>
              <a:t>• Dataset Composition: </a:t>
            </a:r>
            <a:r>
              <a:rPr sz="919">
                <a:solidFill>
                  <a:srgbClr val="CBD5E1"/>
                </a:solidFill>
              </a:rPr>
              <a:t>42 persistent full-lifecycle execution runs across 4 developer personas logged in workflow_runs.json</a:t>
            </a:r>
          </a:p>
          <a:p>
            <a:pPr>
              <a:spcAft>
                <a:spcPts val="300"/>
              </a:spcAft>
            </a:pPr>
            <a:r>
              <a:rPr b="1" sz="950">
                <a:solidFill>
                  <a:srgbClr val="FFFFFF"/>
                </a:solidFill>
              </a:rPr>
              <a:t>• Average Pipeline Latency: </a:t>
            </a:r>
            <a:r>
              <a:rPr sz="919">
                <a:solidFill>
                  <a:srgbClr val="CBD5E1"/>
                </a:solidFill>
              </a:rPr>
              <a:t>1,370 milliseconds total end-to-end execution time</a:t>
            </a:r>
          </a:p>
          <a:p>
            <a:pPr>
              <a:spcAft>
                <a:spcPts val="300"/>
              </a:spcAft>
            </a:pPr>
            <a:r>
              <a:rPr b="1" sz="950">
                <a:solidFill>
                  <a:srgbClr val="FFFFFF"/>
                </a:solidFill>
              </a:rPr>
              <a:t>• Security Tax / Overhead: </a:t>
            </a:r>
            <a:r>
              <a:rPr sz="919">
                <a:solidFill>
                  <a:srgbClr val="CBD5E1"/>
                </a:solidFill>
              </a:rPr>
              <a:t>18.4 ms (&lt;2% of total pipeline latency)</a:t>
            </a:r>
          </a:p>
          <a:p>
            <a:pPr>
              <a:spcAft>
                <a:spcPts val="300"/>
              </a:spcAft>
            </a:pPr>
            <a:r>
              <a:rPr b="1" sz="950">
                <a:solidFill>
                  <a:srgbClr val="FFFFFF"/>
                </a:solidFill>
              </a:rPr>
              <a:t>• LLM-as-a-Judge Score: </a:t>
            </a:r>
            <a:r>
              <a:rPr sz="919">
                <a:solidFill>
                  <a:srgbClr val="CBD5E1"/>
                </a:solidFill>
              </a:rPr>
              <a:t>Average 4.90 / 5.0 quality rating across generated patches</a:t>
            </a:r>
          </a:p>
        </p:txBody>
      </p:sp>
      <p:sp>
        <p:nvSpPr>
          <p:cNvPr id="11" name="Rounded Rectangle 10"/>
          <p:cNvSpPr/>
          <p:nvPr/>
        </p:nvSpPr>
        <p:spPr>
          <a:xfrm>
            <a:off x="6217920" y="3840480"/>
            <a:ext cx="5212080" cy="233172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3968496"/>
            <a:ext cx="4882896" cy="2075688"/>
          </a:xfrm>
          <a:prstGeom prst="rect">
            <a:avLst/>
          </a:prstGeom>
          <a:noFill/>
        </p:spPr>
        <p:txBody>
          <a:bodyPr wrap="square" lIns="0" tIns="0" rIns="0" bIns="0">
            <a:spAutoFit/>
          </a:bodyPr>
          <a:lstStyle/>
          <a:p>
            <a:pPr>
              <a:spcAft>
                <a:spcPts val="500"/>
              </a:spcAft>
              <a:defRPr sz="1200" b="1">
                <a:solidFill>
                  <a:srgbClr val="A855F7"/>
                </a:solidFill>
              </a:defRPr>
            </a:pPr>
            <a:r>
              <a:t>Benchmark 4: Software Engineering Test Rigor</a:t>
            </a:r>
          </a:p>
          <a:p>
            <a:pPr>
              <a:spcAft>
                <a:spcPts val="300"/>
              </a:spcAft>
            </a:pPr>
            <a:r>
              <a:rPr b="1" sz="950">
                <a:solidFill>
                  <a:srgbClr val="FFFFFF"/>
                </a:solidFill>
              </a:rPr>
              <a:t>• Automated Test Suite: </a:t>
            </a:r>
            <a:r>
              <a:rPr sz="919">
                <a:solidFill>
                  <a:srgbClr val="CBD5E1"/>
                </a:solidFill>
              </a:rPr>
              <a:t>220 automated unit &amp; integration tests passing 100%</a:t>
            </a:r>
          </a:p>
          <a:p>
            <a:pPr>
              <a:spcAft>
                <a:spcPts val="300"/>
              </a:spcAft>
            </a:pPr>
            <a:r>
              <a:rPr b="1" sz="950">
                <a:solidFill>
                  <a:srgbClr val="FFFFFF"/>
                </a:solidFill>
              </a:rPr>
              <a:t>• Security Detector Tests: </a:t>
            </a:r>
            <a:r>
              <a:rPr sz="919">
                <a:solidFill>
                  <a:srgbClr val="CBD5E1"/>
                </a:solidFill>
              </a:rPr>
              <a:t>58 automated unit tests passing</a:t>
            </a:r>
          </a:p>
          <a:p>
            <a:pPr>
              <a:spcAft>
                <a:spcPts val="300"/>
              </a:spcAft>
            </a:pPr>
            <a:r>
              <a:rPr b="1" sz="950">
                <a:solidFill>
                  <a:srgbClr val="FFFFFF"/>
                </a:solidFill>
              </a:rPr>
              <a:t>• AST Package Firewall Tests: </a:t>
            </a:r>
            <a:r>
              <a:rPr sz="919">
                <a:solidFill>
                  <a:srgbClr val="CBD5E1"/>
                </a:solidFill>
              </a:rPr>
              <a:t>46 automated integration tests passing</a:t>
            </a:r>
          </a:p>
          <a:p>
            <a:pPr>
              <a:spcAft>
                <a:spcPts val="300"/>
              </a:spcAft>
            </a:pPr>
            <a:r>
              <a:rPr b="1" sz="950">
                <a:solidFill>
                  <a:srgbClr val="FFFFFF"/>
                </a:solidFill>
              </a:rPr>
              <a:t>• AST Blast Radius &amp; ReAct: </a:t>
            </a:r>
            <a:r>
              <a:rPr sz="919">
                <a:solidFill>
                  <a:srgbClr val="CBD5E1"/>
                </a:solidFill>
              </a:rPr>
              <a:t>80 automated tests passing across graphs &amp; sandbox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RUBRIC ALIGNMENT: COMPREHENSIVE DEFENSE PREPARATION</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22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Viva Defense Master Guide: Top 4 Examiner Questions &amp; Proofs</a:t>
            </a:r>
          </a:p>
        </p:txBody>
      </p:sp>
      <p:sp>
        <p:nvSpPr>
          <p:cNvPr id="5" name="Rounded Rectangle 4"/>
          <p:cNvSpPr/>
          <p:nvPr/>
        </p:nvSpPr>
        <p:spPr>
          <a:xfrm>
            <a:off x="731520" y="1371600"/>
            <a:ext cx="10728655" cy="1115568"/>
          </a:xfrm>
          <a:prstGeom prst="roundRect">
            <a:avLst/>
          </a:prstGeom>
          <a:solidFill>
            <a:srgbClr val="12151D"/>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44752"/>
            <a:ext cx="10362895" cy="960120"/>
          </a:xfrm>
          <a:prstGeom prst="rect">
            <a:avLst/>
          </a:prstGeom>
          <a:noFill/>
        </p:spPr>
        <p:txBody>
          <a:bodyPr wrap="square" lIns="0" tIns="0" rIns="0" bIns="0">
            <a:spAutoFit/>
          </a:bodyPr>
          <a:lstStyle/>
          <a:p>
            <a:r>
              <a:rPr b="1" sz="1050">
                <a:solidFill>
                  <a:srgbClr val="00D2FF"/>
                </a:solidFill>
              </a:rPr>
              <a:t>Q1: Why not rely on system prompt engineering for security?
</a:t>
            </a:r>
          </a:p>
          <a:p>
            <a:r>
              <a:rPr sz="900">
                <a:solidFill>
                  <a:srgbClr val="CBD5E1"/>
                </a:solidFill>
              </a:rPr>
              <a:t>Defense: System prompts offer stochastic, probabilistic safety easily bypassed by direct jailbreaks and indirect prompt injections in repository code comments. In enterprise DevSecOps, safety must be deterministic. KAVACH intercepts threats BEFORE tokenization using compiled regex automata, Shannon entropy, and AST parsers.</a:t>
            </a:r>
          </a:p>
        </p:txBody>
      </p:sp>
      <p:sp>
        <p:nvSpPr>
          <p:cNvPr id="7" name="Rounded Rectangle 6"/>
          <p:cNvSpPr/>
          <p:nvPr/>
        </p:nvSpPr>
        <p:spPr>
          <a:xfrm>
            <a:off x="731520" y="2606040"/>
            <a:ext cx="10728655" cy="1115568"/>
          </a:xfrm>
          <a:prstGeom prst="roundRect">
            <a:avLst/>
          </a:prstGeom>
          <a:solidFill>
            <a:srgbClr val="12151D"/>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679192"/>
            <a:ext cx="10362895" cy="960120"/>
          </a:xfrm>
          <a:prstGeom prst="rect">
            <a:avLst/>
          </a:prstGeom>
          <a:noFill/>
        </p:spPr>
        <p:txBody>
          <a:bodyPr wrap="square" lIns="0" tIns="0" rIns="0" bIns="0">
            <a:spAutoFit/>
          </a:bodyPr>
          <a:lstStyle/>
          <a:p>
            <a:r>
              <a:rPr b="1" sz="1050">
                <a:solidFill>
                  <a:srgbClr val="10B981"/>
                </a:solidFill>
              </a:rPr>
              <a:t>Q2: How does KAVACH differ from standard RAG pipelines?
</a:t>
            </a:r>
          </a:p>
          <a:p>
            <a:r>
              <a:rPr sz="900">
                <a:solidFill>
                  <a:srgbClr val="CBD5E1"/>
                </a:solidFill>
              </a:rPr>
              <a:t>Defense: Vanilla RAG is a static one-shot pipeline (query -&gt; embed -&gt; retrieve). KAVACH is Agentic RAG: the agent dynamically determines if retrieval is needed, preserves AST syntax boundaries, scrubs retrieved chunks for credentials, and grounds patches with static blast-radius call graphs.</a:t>
            </a:r>
          </a:p>
        </p:txBody>
      </p:sp>
      <p:sp>
        <p:nvSpPr>
          <p:cNvPr id="9" name="Rounded Rectangle 8"/>
          <p:cNvSpPr/>
          <p:nvPr/>
        </p:nvSpPr>
        <p:spPr>
          <a:xfrm>
            <a:off x="731520" y="3840480"/>
            <a:ext cx="10728655" cy="1115568"/>
          </a:xfrm>
          <a:prstGeom prst="roundRect">
            <a:avLst/>
          </a:prstGeom>
          <a:solidFill>
            <a:srgbClr val="12151D"/>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13632"/>
            <a:ext cx="10362895" cy="960120"/>
          </a:xfrm>
          <a:prstGeom prst="rect">
            <a:avLst/>
          </a:prstGeom>
          <a:noFill/>
        </p:spPr>
        <p:txBody>
          <a:bodyPr wrap="square" lIns="0" tIns="0" rIns="0" bIns="0">
            <a:spAutoFit/>
          </a:bodyPr>
          <a:lstStyle/>
          <a:p>
            <a:r>
              <a:rPr b="1" sz="1050">
                <a:solidFill>
                  <a:srgbClr val="FBBF24"/>
                </a:solidFill>
              </a:rPr>
              <a:t>Q3: How do you defeat package slopsquatting before install?
</a:t>
            </a:r>
          </a:p>
          <a:p>
            <a:r>
              <a:rPr sz="900">
                <a:solidFill>
                  <a:srgbClr val="CBD5E1"/>
                </a:solidFill>
              </a:rPr>
              <a:t>Defense: Static SCA tools (Snyk/Dependabot) only check lockfiles post-commit. KAVACH's AST Package Firewall inspects Python Import nodes in agent memory, checks local files and stdlib (&lt;0.1ms), and queries live PyPI JSON endpoints (&lt;5ms). Non-existent packages are quarantined before code is written to disk.</a:t>
            </a:r>
          </a:p>
        </p:txBody>
      </p:sp>
      <p:sp>
        <p:nvSpPr>
          <p:cNvPr id="11" name="Rounded Rectangle 10"/>
          <p:cNvSpPr/>
          <p:nvPr/>
        </p:nvSpPr>
        <p:spPr>
          <a:xfrm>
            <a:off x="731520" y="5074920"/>
            <a:ext cx="10728655" cy="1115568"/>
          </a:xfrm>
          <a:prstGeom prst="roundRect">
            <a:avLst/>
          </a:prstGeom>
          <a:solidFill>
            <a:srgbClr val="12151D"/>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48072"/>
            <a:ext cx="10362895" cy="960120"/>
          </a:xfrm>
          <a:prstGeom prst="rect">
            <a:avLst/>
          </a:prstGeom>
          <a:noFill/>
        </p:spPr>
        <p:txBody>
          <a:bodyPr wrap="square" lIns="0" tIns="0" rIns="0" bIns="0">
            <a:spAutoFit/>
          </a:bodyPr>
          <a:lstStyle/>
          <a:p>
            <a:r>
              <a:rPr b="1" sz="1050">
                <a:solidFill>
                  <a:srgbClr val="A855F7"/>
                </a:solidFill>
              </a:rPr>
              <a:t>Q4: How does your self-healing sandbox avoid infinite loops?
</a:t>
            </a:r>
          </a:p>
          <a:p>
            <a:r>
              <a:rPr sz="900">
                <a:solidFill>
                  <a:srgbClr val="CBD5E1"/>
                </a:solidFill>
              </a:rPr>
              <a:t>Defense: We enforce a formal finite state machine with a hard mathematical upper bound of N = 3 iterations, strict 3.0s subprocess timeouts, and automatic escalation to a human gatekeeper via NEEDS_REVIEW state upon the 3rd failure.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PROJECT EVOLUTION: NEXT SPRINTS &amp; ENTERPRISE HORIZON</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23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Production Roadmap &amp; Future Expansion: Phases 2 &amp; 3</a:t>
            </a:r>
          </a:p>
        </p:txBody>
      </p:sp>
      <p:sp>
        <p:nvSpPr>
          <p:cNvPr id="5" name="Rounded Rectangle 4"/>
          <p:cNvSpPr/>
          <p:nvPr/>
        </p:nvSpPr>
        <p:spPr>
          <a:xfrm>
            <a:off x="731520" y="1371600"/>
            <a:ext cx="512064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791456" cy="4681728"/>
          </a:xfrm>
          <a:prstGeom prst="rect">
            <a:avLst/>
          </a:prstGeom>
          <a:noFill/>
        </p:spPr>
        <p:txBody>
          <a:bodyPr wrap="square" lIns="0" tIns="0" rIns="0" bIns="0">
            <a:spAutoFit/>
          </a:bodyPr>
          <a:lstStyle/>
          <a:p>
            <a:pPr>
              <a:spcAft>
                <a:spcPts val="500"/>
              </a:spcAft>
              <a:defRPr sz="1200" b="1">
                <a:solidFill>
                  <a:srgbClr val="00D2FF"/>
                </a:solidFill>
              </a:defRPr>
            </a:pPr>
            <a:r>
              <a:t>Phase 2: Immediate Implementation Milestone</a:t>
            </a:r>
          </a:p>
          <a:p>
            <a:pPr>
              <a:spcAft>
                <a:spcPts val="300"/>
              </a:spcAft>
            </a:pPr>
            <a:r>
              <a:rPr b="1" sz="950">
                <a:solidFill>
                  <a:srgbClr val="FFFFFF"/>
                </a:solidFill>
              </a:rPr>
              <a:t>• GitHub App PR Guardian: </a:t>
            </a:r>
            <a:r>
              <a:rPr sz="919">
                <a:solidFill>
                  <a:srgbClr val="CBD5E1"/>
                </a:solidFill>
              </a:rPr>
              <a:t>Event-driven GitHub webhook listener analyzing incoming PR diffs in real time; blocks merging if slopsquatted packages or unmasked credentials are found.</a:t>
            </a:r>
          </a:p>
          <a:p>
            <a:pPr>
              <a:spcAft>
                <a:spcPts val="300"/>
              </a:spcAft>
            </a:pPr>
            <a:r>
              <a:rPr b="1" sz="950">
                <a:solidFill>
                  <a:srgbClr val="FFFFFF"/>
                </a:solidFill>
              </a:rPr>
              <a:t>• Production PostgreSQL Persistence: </a:t>
            </a:r>
            <a:r>
              <a:rPr sz="919">
                <a:solidFill>
                  <a:srgbClr val="CBD5E1"/>
                </a:solidFill>
              </a:rPr>
              <a:t>Migrating from local SQLite to enterprise PostgreSQL with `pgvector` extension for scalable enterprise vector storage.</a:t>
            </a:r>
          </a:p>
          <a:p>
            <a:pPr>
              <a:spcAft>
                <a:spcPts val="300"/>
              </a:spcAft>
            </a:pPr>
            <a:r>
              <a:rPr b="1" sz="950">
                <a:solidFill>
                  <a:srgbClr val="FFFFFF"/>
                </a:solidFill>
              </a:rPr>
              <a:t>• eBPF Kernel Runtime Sandbox: </a:t>
            </a:r>
            <a:r>
              <a:rPr sz="919">
                <a:solidFill>
                  <a:srgbClr val="CBD5E1"/>
                </a:solidFill>
              </a:rPr>
              <a:t>Deploying Linux eBPF tracepoints (`sys_enter_execve`, `sys_enter_connect`) to intercept rogue network calls and neutralize reverse shells at the OS kernel layer.</a:t>
            </a:r>
          </a:p>
          <a:p>
            <a:pPr>
              <a:spcAft>
                <a:spcPts val="300"/>
              </a:spcAft>
            </a:pPr>
            <a:r>
              <a:rPr b="1" sz="950">
                <a:solidFill>
                  <a:srgbClr val="FFFFFF"/>
                </a:solidFill>
              </a:rPr>
              <a:t>• Active CI/CD Integration: </a:t>
            </a:r>
            <a:r>
              <a:rPr sz="919">
                <a:solidFill>
                  <a:srgbClr val="CBD5E1"/>
                </a:solidFill>
              </a:rPr>
              <a:t>Pre-built GitHub Actions and GitLab CI reusable workflows enforcing KAVACH security gates on every commit.</a:t>
            </a:r>
          </a:p>
        </p:txBody>
      </p:sp>
      <p:sp>
        <p:nvSpPr>
          <p:cNvPr id="7" name="Rounded Rectangle 6"/>
          <p:cNvSpPr/>
          <p:nvPr/>
        </p:nvSpPr>
        <p:spPr>
          <a:xfrm>
            <a:off x="6217920" y="1371600"/>
            <a:ext cx="52120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4681728"/>
          </a:xfrm>
          <a:prstGeom prst="rect">
            <a:avLst/>
          </a:prstGeom>
          <a:noFill/>
        </p:spPr>
        <p:txBody>
          <a:bodyPr wrap="square" lIns="0" tIns="0" rIns="0" bIns="0">
            <a:spAutoFit/>
          </a:bodyPr>
          <a:lstStyle/>
          <a:p>
            <a:pPr>
              <a:spcAft>
                <a:spcPts val="500"/>
              </a:spcAft>
              <a:defRPr sz="1200" b="1">
                <a:solidFill>
                  <a:srgbClr val="FBBF24"/>
                </a:solidFill>
              </a:defRPr>
            </a:pPr>
            <a:r>
              <a:t>Phase 3: Enterprise &amp; Research Horizon</a:t>
            </a:r>
          </a:p>
          <a:p>
            <a:pPr>
              <a:spcAft>
                <a:spcPts val="300"/>
              </a:spcAft>
            </a:pPr>
            <a:r>
              <a:rPr b="1" sz="950">
                <a:solidFill>
                  <a:srgbClr val="FFFFFF"/>
                </a:solidFill>
              </a:rPr>
              <a:t>• Tree-sitter Polyglot AST Engine: </a:t>
            </a:r>
            <a:r>
              <a:rPr sz="919">
                <a:solidFill>
                  <a:srgbClr val="CBD5E1"/>
                </a:solidFill>
              </a:rPr>
              <a:t>Extending static AST blast-radius and package verification from Python to JavaScript/TypeScript (npm), Go (pkg.go.dev), and Rust (crates.io).</a:t>
            </a:r>
          </a:p>
          <a:p>
            <a:pPr>
              <a:spcAft>
                <a:spcPts val="300"/>
              </a:spcAft>
            </a:pPr>
            <a:r>
              <a:rPr b="1" sz="950">
                <a:solidFill>
                  <a:srgbClr val="FFFFFF"/>
                </a:solidFill>
              </a:rPr>
              <a:t>• Merkle Tree Cryptographic Audit Ledger: </a:t>
            </a:r>
            <a:r>
              <a:rPr sz="919">
                <a:solidFill>
                  <a:srgbClr val="CBD5E1"/>
                </a:solidFill>
              </a:rPr>
              <a:t>Immutable binary SHA-256 Merkle tree ledger ensuring tamper-proof non-repudiation and statutory compliance auditing under DPDP Act 2023.</a:t>
            </a:r>
          </a:p>
          <a:p>
            <a:pPr>
              <a:spcAft>
                <a:spcPts val="300"/>
              </a:spcAft>
            </a:pPr>
            <a:r>
              <a:rPr b="1" sz="950">
                <a:solidFill>
                  <a:srgbClr val="FFFFFF"/>
                </a:solidFill>
              </a:rPr>
              <a:t>• SLSA Level 3 SBOM Provenance: </a:t>
            </a:r>
            <a:r>
              <a:rPr sz="919">
                <a:solidFill>
                  <a:srgbClr val="CBD5E1"/>
                </a:solidFill>
              </a:rPr>
              <a:t>Automated issuance of signed CycloneDX v1.5 Software Bill of Materials tracking code patches, test logs, and dependency provenance.</a:t>
            </a:r>
          </a:p>
          <a:p>
            <a:pPr>
              <a:spcAft>
                <a:spcPts val="300"/>
              </a:spcAft>
            </a:pPr>
            <a:r>
              <a:rPr b="1" sz="950">
                <a:solidFill>
                  <a:srgbClr val="FFFFFF"/>
                </a:solidFill>
              </a:rPr>
              <a:t>• Collaborative Hierarchical Crews: </a:t>
            </a:r>
            <a:r>
              <a:rPr sz="919">
                <a:solidFill>
                  <a:srgbClr val="CBD5E1"/>
                </a:solidFill>
              </a:rPr>
              <a:t>Full integration of multi-agent crews (Supervisor, Sentinel, Analyst, Coder) via LangGraph and CrewAI.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292608"/>
            <a:ext cx="9144000" cy="256032"/>
          </a:xfrm>
          <a:prstGeom prst="rect">
            <a:avLst/>
          </a:prstGeom>
          <a:noFill/>
        </p:spPr>
        <p:txBody>
          <a:bodyPr wrap="square" lIns="0" tIns="0" rIns="0" bIns="0">
            <a:spAutoFit/>
          </a:bodyPr>
          <a:lstStyle/>
          <a:p>
            <a:pPr>
              <a:defRPr sz="950" b="1">
                <a:solidFill>
                  <a:srgbClr val="00D2FF"/>
                </a:solidFill>
              </a:defRPr>
            </a:pPr>
            <a:r>
              <a:t>SUMMARY &amp; ACKNOWLEDGMENTS</a:t>
            </a:r>
          </a:p>
        </p:txBody>
      </p:sp>
      <p:sp>
        <p:nvSpPr>
          <p:cNvPr id="3" name="TextBox 2"/>
          <p:cNvSpPr txBox="1"/>
          <p:nvPr/>
        </p:nvSpPr>
        <p:spPr>
          <a:xfrm>
            <a:off x="9875520" y="292608"/>
            <a:ext cx="1584655" cy="256032"/>
          </a:xfrm>
          <a:prstGeom prst="rect">
            <a:avLst/>
          </a:prstGeom>
          <a:noFill/>
        </p:spPr>
        <p:txBody>
          <a:bodyPr wrap="none" lIns="0" tIns="0" rIns="0" bIns="0">
            <a:spAutoFit/>
          </a:bodyPr>
          <a:lstStyle/>
          <a:p>
            <a:pPr algn="r">
              <a:defRPr sz="900" b="1">
                <a:solidFill>
                  <a:srgbClr val="94A3B8"/>
                </a:solidFill>
              </a:defRPr>
            </a:pPr>
            <a:r>
              <a:t>SLIDE 24 OF 24</a:t>
            </a:r>
          </a:p>
        </p:txBody>
      </p:sp>
      <p:sp>
        <p:nvSpPr>
          <p:cNvPr id="4" name="TextBox 3"/>
          <p:cNvSpPr txBox="1"/>
          <p:nvPr/>
        </p:nvSpPr>
        <p:spPr>
          <a:xfrm>
            <a:off x="731520" y="548640"/>
            <a:ext cx="10728655" cy="658368"/>
          </a:xfrm>
          <a:prstGeom prst="rect">
            <a:avLst/>
          </a:prstGeom>
          <a:noFill/>
        </p:spPr>
        <p:txBody>
          <a:bodyPr wrap="square" lIns="0" tIns="0" rIns="0" bIns="0">
            <a:spAutoFit/>
          </a:bodyPr>
          <a:lstStyle/>
          <a:p>
            <a:pPr>
              <a:defRPr sz="2000" b="1">
                <a:solidFill>
                  <a:srgbClr val="FFFFFF"/>
                </a:solidFill>
              </a:defRPr>
            </a:pPr>
            <a:r>
              <a:t>Conclusion, Academic Deliverables &amp; System Demonstration</a:t>
            </a:r>
          </a:p>
        </p:txBody>
      </p:sp>
      <p:sp>
        <p:nvSpPr>
          <p:cNvPr id="5" name="Rounded Rectangle 4"/>
          <p:cNvSpPr/>
          <p:nvPr/>
        </p:nvSpPr>
        <p:spPr>
          <a:xfrm>
            <a:off x="731520" y="1371600"/>
            <a:ext cx="512064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99616"/>
            <a:ext cx="4791456" cy="4681728"/>
          </a:xfrm>
          <a:prstGeom prst="rect">
            <a:avLst/>
          </a:prstGeom>
          <a:noFill/>
        </p:spPr>
        <p:txBody>
          <a:bodyPr wrap="square" lIns="0" tIns="0" rIns="0" bIns="0">
            <a:spAutoFit/>
          </a:bodyPr>
          <a:lstStyle/>
          <a:p>
            <a:pPr>
              <a:spcAft>
                <a:spcPts val="500"/>
              </a:spcAft>
              <a:defRPr sz="1200" b="1">
                <a:solidFill>
                  <a:srgbClr val="00D2FF"/>
                </a:solidFill>
              </a:defRPr>
            </a:pPr>
            <a:r>
              <a:t>Summary of Research Contributions</a:t>
            </a:r>
          </a:p>
          <a:p>
            <a:pPr>
              <a:spcAft>
                <a:spcPts val="300"/>
              </a:spcAft>
            </a:pPr>
            <a:r>
              <a:rPr b="1" sz="950">
                <a:solidFill>
                  <a:srgbClr val="FFFFFF"/>
                </a:solidFill>
              </a:rPr>
              <a:t>• Paradigm Shift Validated: </a:t>
            </a:r>
            <a:r>
              <a:rPr sz="919">
                <a:solidFill>
                  <a:srgbClr val="CBD5E1"/>
                </a:solidFill>
              </a:rPr>
              <a:t>Demonstrated that deterministic pre-execution guardrails and AST verification solve the security and supply-chain vulnerabilities of autonomous coding agents.</a:t>
            </a:r>
          </a:p>
          <a:p>
            <a:pPr>
              <a:spcAft>
                <a:spcPts val="300"/>
              </a:spcAft>
            </a:pPr>
            <a:r>
              <a:rPr b="1" sz="950">
                <a:solidFill>
                  <a:srgbClr val="FFFFFF"/>
                </a:solidFill>
              </a:rPr>
              <a:t>• Zero Security Tax: </a:t>
            </a:r>
            <a:r>
              <a:rPr sz="919">
                <a:solidFill>
                  <a:srgbClr val="CBD5E1"/>
                </a:solidFill>
              </a:rPr>
              <a:t>Achieved 100% precision and recall on package hallucinations and cloud secrets while adding under 20 milliseconds (&lt;2%) to overall pipeline latency.</a:t>
            </a:r>
          </a:p>
          <a:p>
            <a:pPr>
              <a:spcAft>
                <a:spcPts val="300"/>
              </a:spcAft>
            </a:pPr>
            <a:r>
              <a:rPr b="1" sz="950">
                <a:solidFill>
                  <a:srgbClr val="FFFFFF"/>
                </a:solidFill>
              </a:rPr>
              <a:t>• Statutory Privacy Compliance: </a:t>
            </a:r>
            <a:r>
              <a:rPr sz="919">
                <a:solidFill>
                  <a:srgbClr val="CBD5E1"/>
                </a:solidFill>
              </a:rPr>
              <a:t>Engineered the first multilingual Zero-Knowledge Token Vault fully compliant with the Indian DPDP Act 2023 for developer environments.</a:t>
            </a:r>
          </a:p>
          <a:p>
            <a:pPr>
              <a:spcAft>
                <a:spcPts val="300"/>
              </a:spcAft>
            </a:pPr>
            <a:r>
              <a:rPr b="1" sz="950">
                <a:solidFill>
                  <a:srgbClr val="FFFFFF"/>
                </a:solidFill>
              </a:rPr>
              <a:t>• Autonomous Self-Repair: </a:t>
            </a:r>
            <a:r>
              <a:rPr sz="919">
                <a:solidFill>
                  <a:srgbClr val="CBD5E1"/>
                </a:solidFill>
              </a:rPr>
              <a:t>Proved that bounded ReAct reflection loops achieve a 90% autonomous recovery rate on runtime test assertion failures.</a:t>
            </a:r>
          </a:p>
        </p:txBody>
      </p:sp>
      <p:sp>
        <p:nvSpPr>
          <p:cNvPr id="7" name="Rounded Rectangle 6"/>
          <p:cNvSpPr/>
          <p:nvPr/>
        </p:nvSpPr>
        <p:spPr>
          <a:xfrm>
            <a:off x="6217920" y="1371600"/>
            <a:ext cx="5212080" cy="4937760"/>
          </a:xfrm>
          <a:prstGeom prst="roundRect">
            <a:avLst/>
          </a:prstGeom>
          <a:solidFill>
            <a:srgbClr val="12151D"/>
          </a:solidFill>
          <a:ln w="15240">
            <a:solidFill>
              <a:srgbClr val="262D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499616"/>
            <a:ext cx="4882896" cy="4681728"/>
          </a:xfrm>
          <a:prstGeom prst="rect">
            <a:avLst/>
          </a:prstGeom>
          <a:noFill/>
        </p:spPr>
        <p:txBody>
          <a:bodyPr wrap="square" lIns="0" tIns="0" rIns="0" bIns="0">
            <a:spAutoFit/>
          </a:bodyPr>
          <a:lstStyle/>
          <a:p>
            <a:pPr>
              <a:spcAft>
                <a:spcPts val="500"/>
              </a:spcAft>
              <a:defRPr sz="1200" b="1">
                <a:solidFill>
                  <a:srgbClr val="10B981"/>
                </a:solidFill>
              </a:defRPr>
            </a:pPr>
            <a:r>
              <a:t>Academic Deliverables &amp; Live Demonstration</a:t>
            </a:r>
          </a:p>
          <a:p>
            <a:pPr>
              <a:spcAft>
                <a:spcPts val="300"/>
              </a:spcAft>
            </a:pPr>
            <a:r>
              <a:rPr b="1" sz="950">
                <a:solidFill>
                  <a:srgbClr val="FFFFFF"/>
                </a:solidFill>
              </a:rPr>
              <a:t>• Complete Source Codebase: </a:t>
            </a:r>
            <a:r>
              <a:rPr sz="919">
                <a:solidFill>
                  <a:srgbClr val="CBD5E1"/>
                </a:solidFill>
              </a:rPr>
              <a:t>Over 3,500 lines of verified Python backend and dark-mode frontend code packaged with Docker.</a:t>
            </a:r>
          </a:p>
          <a:p>
            <a:pPr>
              <a:spcAft>
                <a:spcPts val="300"/>
              </a:spcAft>
            </a:pPr>
            <a:r>
              <a:rPr b="1" sz="950">
                <a:solidFill>
                  <a:srgbClr val="FFFFFF"/>
                </a:solidFill>
              </a:rPr>
              <a:t>• Test Verification Suite: </a:t>
            </a:r>
            <a:r>
              <a:rPr sz="919">
                <a:solidFill>
                  <a:srgbClr val="CBD5E1"/>
                </a:solidFill>
              </a:rPr>
              <a:t>220 passing automated unit, integration, and security gate tests.</a:t>
            </a:r>
          </a:p>
          <a:p>
            <a:pPr>
              <a:spcAft>
                <a:spcPts val="300"/>
              </a:spcAft>
            </a:pPr>
            <a:r>
              <a:rPr b="1" sz="950">
                <a:solidFill>
                  <a:srgbClr val="FFFFFF"/>
                </a:solidFill>
              </a:rPr>
              <a:t>• Protocols &amp; API Exposure: </a:t>
            </a:r>
            <a:r>
              <a:rPr sz="919">
                <a:solidFill>
                  <a:srgbClr val="CBD5E1"/>
                </a:solidFill>
              </a:rPr>
              <a:t>18 live FastAPI REST endpoints and Anthropic Model Context Protocol (MCP) tool server.</a:t>
            </a:r>
          </a:p>
          <a:p>
            <a:pPr>
              <a:spcAft>
                <a:spcPts val="300"/>
              </a:spcAft>
            </a:pPr>
            <a:r>
              <a:rPr b="1" sz="950">
                <a:solidFill>
                  <a:srgbClr val="FFFFFF"/>
                </a:solidFill>
              </a:rPr>
              <a:t>• Interactive Demonstration: </a:t>
            </a:r>
            <a:r>
              <a:rPr sz="919">
                <a:solidFill>
                  <a:srgbClr val="CBD5E1"/>
                </a:solidFill>
              </a:rPr>
              <a:t>Ready to demonstrate live prompt interception, blast-radius analysis, and self-healing patch generation.</a:t>
            </a:r>
          </a:p>
          <a:p>
            <a:pPr>
              <a:spcAft>
                <a:spcPts val="300"/>
              </a:spcAft>
            </a:pPr>
            <a:r>
              <a:rPr b="1" sz="950">
                <a:solidFill>
                  <a:srgbClr val="FFFFFF"/>
                </a:solidFill>
              </a:rPr>
              <a:t>• Special Thanks: </a:t>
            </a:r>
            <a:r>
              <a:rPr sz="919">
                <a:solidFill>
                  <a:srgbClr val="CBD5E1"/>
                </a:solidFill>
              </a:rPr>
              <a:t>Heartfelt gratitude to our faculty mentors Prof. Anusha Chhabra and Dr. Soharab Hossain Shaikh for their invaluable guidance.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