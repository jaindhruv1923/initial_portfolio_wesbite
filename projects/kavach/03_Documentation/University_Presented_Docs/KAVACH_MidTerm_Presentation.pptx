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4206240" cy="347472"/>
          </a:xfrm>
          <a:prstGeom prst="roundRect">
            <a:avLst>
              <a:gd name="adj" fmla="val 50000"/>
            </a:avLst>
          </a:prstGeom>
          <a:solidFill>
            <a:srgbClr val="262B3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PROJECT-IV  •  7th SEM  •  MID-TERM PRESENTATION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KAVACH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621792" y="26060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Security-Governed Multi-Agent AI DevOps &amp; Observability Platform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32461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Repository-aware RAG   |   Sensitive-data screening   |   Blast-radius analysis   |   Slopsquatting firewall   |   Bounded self-healing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509760" y="1234440"/>
            <a:ext cx="1920240" cy="1920240"/>
          </a:xfrm>
          <a:prstGeom prst="ellipse">
            <a:avLst/>
          </a:prstGeom>
          <a:solidFill>
            <a:srgbClr val="262B36"/>
          </a:solidFill>
          <a:ln w="25400">
            <a:solidFill>
              <a:srgbClr val="F5A5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0" y="12344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594360" y="416052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262B3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3159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Dhruv Jain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4626864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Agent State Machine · MCP Server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0" y="43159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Garg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4626864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Pre-Execution Guardrails · Secret Scanning · Package Firewall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80760" y="43159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 Rohilla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80760" y="4626864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· Qdrant Vector Store · AST Dependency Graph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86800" y="43159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 Adhikari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0" y="4626864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Sandbox · Self-Healing ReAct Loop · Telemetry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1792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Coordinator: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Anusha Chhabra</a:t>
            </a:r>
            <a:pPr indent="0" marL="0">
              <a:buNone/>
            </a:pPr>
            <a:r>
              <a:rPr lang="en-US" sz="120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Department of Computer Science &amp; Engineering, BML Munjal University   |   29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coding assistance is unsafe by default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66960" y="41148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4114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171A2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2344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now ask LLM coding assistants to read and modify a live repository end-to-end. Nothing checks what goes in (secrets, PII), what gets retrieved (unverified evidence), or what comes out (unvetted, untested code).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880360"/>
            <a:ext cx="594360" cy="5943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Supply-chain leakage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20624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19.7% of AI-recommended packages don't exist — attackers pre-register them as malware (slopsquatting).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26060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66160" y="2880360"/>
            <a:ext cx="594360" cy="5943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20440" y="3657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&amp; PII leakage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20440" y="420624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AWS/GitHub keys and Aadhaar/PAN numbers get pasted straight into cloud LLM prompt logs.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6060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288036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09360" y="3657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blast radius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420624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edit shared modules with no visibility into which downstream services silently break.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15400" y="26060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0" y="288036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0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098280" y="3657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Non-terminating loops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098280" y="420624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self-repair cycles chase one bug into another with no mathematical stopping rule.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  |  Project Review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PART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coding agents &amp; the supply-chain risk they create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66960" y="41148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4114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MARKS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3F4F6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171A21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40480" y="16733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158191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SWE-agent — Yang et al., NeurIPS 2024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9808" y="2313432"/>
            <a:ext cx="32095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agent-computer interface lifted SWE-bench pass@1 from 3.8% to 12.5%, proving interface design — not just model scale — governs agent reliability. No safety layer.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41732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3F4F6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98848" y="1618488"/>
            <a:ext cx="457200" cy="457200"/>
          </a:xfrm>
          <a:prstGeom prst="ellipse">
            <a:avLst/>
          </a:prstGeom>
          <a:solidFill>
            <a:srgbClr val="171A21"/>
          </a:solidFill>
          <a:ln/>
        </p:spPr>
      </p:sp>
      <p:sp>
        <p:nvSpPr>
          <p:cNvPr id="14" name="Text 12"/>
          <p:cNvSpPr/>
          <p:nvPr/>
        </p:nvSpPr>
        <p:spPr>
          <a:xfrm>
            <a:off x="4498848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16733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158191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 — Cognition AI, 2024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498848" y="2313432"/>
            <a:ext cx="32095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widely publicised “autonomous AI software engineer”: plans, codes, tests and opens PRs end-to-end. Optimises for autonomy, not for verifying what it produces.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0" y="141732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3F4F6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47888" y="1618488"/>
            <a:ext cx="457200" cy="457200"/>
          </a:xfrm>
          <a:prstGeom prst="ellipse">
            <a:avLst/>
          </a:prstGeom>
          <a:solidFill>
            <a:srgbClr val="171A21"/>
          </a:solidFill>
          <a:ln/>
        </p:spPr>
      </p:sp>
      <p:sp>
        <p:nvSpPr>
          <p:cNvPr id="20" name="Text 18"/>
          <p:cNvSpPr/>
          <p:nvPr/>
        </p:nvSpPr>
        <p:spPr>
          <a:xfrm>
            <a:off x="8247888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338560" y="16733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8823960" y="158191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— Yao et al., ICLR 2023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47888" y="2313432"/>
            <a:ext cx="32095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Interleaves reasoning traces with tool-calling actions; the reasoning-action loop every modern coding agent (including Kavach's self-healer) is built 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3F4F6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3950208"/>
            <a:ext cx="457200" cy="457200"/>
          </a:xfrm>
          <a:prstGeom prst="ellipse">
            <a:avLst/>
          </a:prstGeom>
          <a:solidFill>
            <a:srgbClr val="171A21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40480" y="400507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1325880" y="39136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hallucination — Spracklen et al., USENIX Security 2025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49808" y="4645152"/>
            <a:ext cx="32095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576,000 samples, 16 LLMs: 19.7% of recommended packages don't exist, 43% of fake names reappear on every re-run — a predictable target for attackers.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97680" y="37490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3F4F6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98848" y="3950208"/>
            <a:ext cx="457200" cy="457200"/>
          </a:xfrm>
          <a:prstGeom prst="ellipse">
            <a:avLst/>
          </a:prstGeom>
          <a:solidFill>
            <a:srgbClr val="171A21"/>
          </a:solidFill>
          <a:ln/>
        </p:spPr>
      </p:sp>
      <p:sp>
        <p:nvSpPr>
          <p:cNvPr id="32" name="Text 30"/>
          <p:cNvSpPr/>
          <p:nvPr/>
        </p:nvSpPr>
        <p:spPr>
          <a:xfrm>
            <a:off x="4498848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589520" y="400507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5074920" y="39136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“Slopsquatting” — Larson (PSF) / Socket Security, 2025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498848" y="4645152"/>
            <a:ext cx="32095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Coined the term for registering AI-hallucinated package names as malware; a huggingface-cli hallucination logged 30,000+ real downloads.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46720" y="37490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3F4F6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47888" y="3950208"/>
            <a:ext cx="457200" cy="457200"/>
          </a:xfrm>
          <a:prstGeom prst="ellipse">
            <a:avLst/>
          </a:prstGeom>
          <a:solidFill>
            <a:srgbClr val="171A21"/>
          </a:solidFill>
          <a:ln/>
        </p:spPr>
      </p:sp>
      <p:sp>
        <p:nvSpPr>
          <p:cNvPr id="38" name="Text 36"/>
          <p:cNvSpPr/>
          <p:nvPr/>
        </p:nvSpPr>
        <p:spPr>
          <a:xfrm>
            <a:off x="8247888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338560" y="400507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8823960" y="39136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prompt injection — Greshake et al., ACM AISec 2023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247888" y="4645152"/>
            <a:ext cx="32095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hidden in retrieved data (a file, a comment) hijack an LLM-integrated app without the user ever seeing the payload — OWASP's #1 LLM risk.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  |  Project Review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PART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 generation: retrieval, static analysis &amp; regulation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66960" y="41148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4114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MARKS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3F4F6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171A21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40480" y="16733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158191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Lewis et al., NeurIPS 2020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9808" y="2313432"/>
            <a:ext cx="32095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a parametric seq2seq model with a differentiable dense index of external evidence; cuts hallucination vs. parametric-only generation.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41732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3F4F6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98848" y="1618488"/>
            <a:ext cx="457200" cy="457200"/>
          </a:xfrm>
          <a:prstGeom prst="ellipse">
            <a:avLst/>
          </a:prstGeom>
          <a:solidFill>
            <a:srgbClr val="171A21"/>
          </a:solidFill>
          <a:ln/>
        </p:spPr>
      </p:sp>
      <p:sp>
        <p:nvSpPr>
          <p:cNvPr id="14" name="Text 12"/>
          <p:cNvSpPr/>
          <p:nvPr/>
        </p:nvSpPr>
        <p:spPr>
          <a:xfrm>
            <a:off x="4498848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16733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158191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 — Reimers &amp; Gurevych, EMNLP 2019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498848" y="2313432"/>
            <a:ext cx="32095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Siamese BERT architecture makes embeddings directly comparable by cosine similarity — the mechanism behind Kavach's code search.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0" y="141732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3F4F6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47888" y="1618488"/>
            <a:ext cx="457200" cy="457200"/>
          </a:xfrm>
          <a:prstGeom prst="ellipse">
            <a:avLst/>
          </a:prstGeom>
          <a:solidFill>
            <a:srgbClr val="171A21"/>
          </a:solidFill>
          <a:ln/>
        </p:spPr>
      </p:sp>
      <p:sp>
        <p:nvSpPr>
          <p:cNvPr id="20" name="Text 18"/>
          <p:cNvSpPr/>
          <p:nvPr/>
        </p:nvSpPr>
        <p:spPr>
          <a:xfrm>
            <a:off x="8247888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338560" y="16733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8823960" y="158191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CodeBERT — Feng et al., EMNLP 2020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47888" y="2313432"/>
            <a:ext cx="32095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NL + programming-language pretraining materially improves code search over a text-only encoder.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3F4F6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3950208"/>
            <a:ext cx="457200" cy="457200"/>
          </a:xfrm>
          <a:prstGeom prst="ellipse">
            <a:avLst/>
          </a:prstGeom>
          <a:solidFill>
            <a:srgbClr val="171A21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40480" y="400507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71A21"/>
          </a:solidFill>
          <a:ln/>
        </p:spPr>
      </p:sp>
      <p:sp>
        <p:nvSpPr>
          <p:cNvPr id="28" name="Text 26"/>
          <p:cNvSpPr/>
          <p:nvPr/>
        </p:nvSpPr>
        <p:spPr>
          <a:xfrm>
            <a:off x="1325880" y="39136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Compilers (AST theory) — Aho, Lam, Sethi &amp; Ullman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49808" y="4645152"/>
            <a:ext cx="32095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formalisation of parsing source into an abstract syntax tree and traversing it without executing the program.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97680" y="37490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3F4F6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98848" y="3950208"/>
            <a:ext cx="457200" cy="457200"/>
          </a:xfrm>
          <a:prstGeom prst="ellipse">
            <a:avLst/>
          </a:prstGeom>
          <a:solidFill>
            <a:srgbClr val="171A21"/>
          </a:solidFill>
          <a:ln/>
        </p:spPr>
      </p:sp>
      <p:sp>
        <p:nvSpPr>
          <p:cNvPr id="32" name="Text 30"/>
          <p:cNvSpPr/>
          <p:nvPr/>
        </p:nvSpPr>
        <p:spPr>
          <a:xfrm>
            <a:off x="4498848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589520" y="400507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71A21"/>
          </a:solidFill>
          <a:ln/>
        </p:spPr>
      </p:sp>
      <p:sp>
        <p:nvSpPr>
          <p:cNvPr id="34" name="Text 32"/>
          <p:cNvSpPr/>
          <p:nvPr/>
        </p:nvSpPr>
        <p:spPr>
          <a:xfrm>
            <a:off x="5074920" y="39136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DPDP Act, 2023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498848" y="4645152"/>
            <a:ext cx="32095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Imposes purpose-limitation and data-minimisation duties on any system processing personal data of Indian residents — Aadhaar/PAN included.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46720" y="37490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3F4F6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47888" y="3950208"/>
            <a:ext cx="457200" cy="457200"/>
          </a:xfrm>
          <a:prstGeom prst="ellipse">
            <a:avLst/>
          </a:prstGeom>
          <a:solidFill>
            <a:srgbClr val="171A21"/>
          </a:solidFill>
          <a:ln/>
        </p:spPr>
      </p:sp>
      <p:sp>
        <p:nvSpPr>
          <p:cNvPr id="38" name="Text 36"/>
          <p:cNvSpPr/>
          <p:nvPr/>
        </p:nvSpPr>
        <p:spPr>
          <a:xfrm>
            <a:off x="8247888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338560" y="400507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71A21"/>
          </a:solidFill>
          <a:ln/>
        </p:spPr>
      </p:sp>
      <p:sp>
        <p:nvSpPr>
          <p:cNvPr id="40" name="Text 38"/>
          <p:cNvSpPr/>
          <p:nvPr/>
        </p:nvSpPr>
        <p:spPr>
          <a:xfrm>
            <a:off x="8823960" y="39136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— Regulation (EU) 2024/1689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247888" y="4645152"/>
            <a:ext cx="32095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Risk-management and documentation duties for AI systems touching regulated data; motivates an air-gapped local-routing fallback.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  |  Project Review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existing tools miss, side by side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66960" y="41148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4114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71A21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4173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70248" y="1417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SCA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(Snyk / Dependabot)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04888" y="1417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coding agent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(SWE-agent / Devin-style)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939528" y="1417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11109960" cy="768096"/>
          </a:xfrm>
          <a:prstGeom prst="roundRect">
            <a:avLst>
              <a:gd name="adj" fmla="val 9524"/>
            </a:avLst>
          </a:prstGeom>
          <a:solidFill>
            <a:srgbClr val="F3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1965960"/>
            <a:ext cx="3429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hallucinated-package check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70248" y="1965960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manifest-only, post-hoc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04888" y="1965960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none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939528" y="1965960"/>
            <a:ext cx="1645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 PyPI probe, pre-merge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807208"/>
            <a:ext cx="1110996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807208"/>
            <a:ext cx="3429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/ PII screen before LLM call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270248" y="2807208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none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04888" y="2807208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none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939528" y="2807208"/>
            <a:ext cx="1645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entropy + regex + Verhoeff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648456"/>
            <a:ext cx="11109960" cy="768096"/>
          </a:xfrm>
          <a:prstGeom prst="roundRect">
            <a:avLst>
              <a:gd name="adj" fmla="val 9524"/>
            </a:avLst>
          </a:prstGeom>
          <a:solidFill>
            <a:srgbClr val="F3F4F6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648456"/>
            <a:ext cx="3429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Repository-wide blast-radius signal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270248" y="3648456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vulnerability graph only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104888" y="3648456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none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939528" y="3648456"/>
            <a:ext cx="1645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AST transitive closure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489704"/>
            <a:ext cx="1110996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4489704"/>
            <a:ext cx="3429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Privacy-tiered (air-gapped) routing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270248" y="4489704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104888" y="4489704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none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939528" y="4489704"/>
            <a:ext cx="1645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local LLM fallback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330952"/>
            <a:ext cx="11109960" cy="768096"/>
          </a:xfrm>
          <a:prstGeom prst="roundRect">
            <a:avLst>
              <a:gd name="adj" fmla="val 9524"/>
            </a:avLst>
          </a:prstGeom>
          <a:solidFill>
            <a:srgbClr val="F3F4F6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5330952"/>
            <a:ext cx="3429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autonomous self-healing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270248" y="5330952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104888" y="5330952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ad hoc / unbounded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939528" y="5330952"/>
            <a:ext cx="1645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capped at N = 3 cycles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  |  Project Review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measurable targets, tied directly to the research gaps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66960" y="41148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4114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F3F4F6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171A2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41732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runtime package hallucination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760720" y="1417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99% precision &amp; recall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961120" y="14173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real vs. 50 hallucinated packages, live registry probe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F3F4F6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2560320"/>
            <a:ext cx="502920" cy="502920"/>
          </a:xfrm>
          <a:prstGeom prst="ellipse">
            <a:avLst/>
          </a:prstGeom>
          <a:solidFill>
            <a:srgbClr val="171A2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237744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 secrets &amp; Indian PII pre-dispatch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760720" y="23774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credential catch  ·  PII F1 ≥ 0.95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961120" y="23774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Shannon-entropy + regex/Verhoeff test suite, Hinglish corpus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33756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F3F4F6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520440"/>
            <a:ext cx="502920" cy="502920"/>
          </a:xfrm>
          <a:prstGeom prst="ellipse">
            <a:avLst/>
          </a:prstGeom>
          <a:solidFill>
            <a:srgbClr val="171A2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333756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blast radius for every diff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760720" y="33375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touched files scored, 0 execution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961120" y="33375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transitive-closure reachability analysis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F3F4F6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480560"/>
            <a:ext cx="502920" cy="502920"/>
          </a:xfrm>
          <a:prstGeom prst="ellipse">
            <a:avLst/>
          </a:prstGeom>
          <a:solidFill>
            <a:srgbClr val="171A21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429768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 without human intervention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760720" y="42976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85% pass rate within N = 3 cycles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961120" y="429768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pytest run + bounded ReAct reflection loop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525780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F3F4F6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7240" y="5440680"/>
            <a:ext cx="502920" cy="502920"/>
          </a:xfrm>
          <a:prstGeom prst="ellipse">
            <a:avLst/>
          </a:prstGeom>
          <a:solidFill>
            <a:srgbClr val="171A21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440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63040" y="525780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governance invisible to the developer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760720" y="52578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2% added end-to-end latency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961120" y="52578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logging across 42 persona-based workflow runs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  |  Project Review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governed pipeline, six deterministic stages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66960" y="41148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4114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691640" cy="2331720"/>
          </a:xfrm>
          <a:prstGeom prst="roundRect">
            <a:avLst>
              <a:gd name="adj" fmla="val 4324"/>
            </a:avLst>
          </a:prstGeom>
          <a:solidFill>
            <a:srgbClr val="171A2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65860" y="1938528"/>
            <a:ext cx="457200" cy="457200"/>
          </a:xfrm>
          <a:prstGeom prst="ellipse">
            <a:avLst/>
          </a:prstGeom>
          <a:solidFill>
            <a:srgbClr val="171A21"/>
          </a:solidFill>
          <a:ln/>
        </p:spPr>
      </p:sp>
      <p:sp>
        <p:nvSpPr>
          <p:cNvPr id="8" name="Text 6"/>
          <p:cNvSpPr/>
          <p:nvPr/>
        </p:nvSpPr>
        <p:spPr>
          <a:xfrm>
            <a:off x="116586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" y="256032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Screening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8368" y="3035808"/>
            <a:ext cx="1472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entropy + regex/Verhoeff catch secrets &amp; Aadhaar/PAN before dispatch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2221992" y="2647188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372868" y="1737360"/>
            <a:ext cx="1691640" cy="2331720"/>
          </a:xfrm>
          <a:prstGeom prst="roundRect">
            <a:avLst>
              <a:gd name="adj" fmla="val 4324"/>
            </a:avLst>
          </a:prstGeom>
          <a:solidFill>
            <a:srgbClr val="262B3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90088" y="1938528"/>
            <a:ext cx="457200" cy="457200"/>
          </a:xfrm>
          <a:prstGeom prst="ellipse">
            <a:avLst/>
          </a:prstGeom>
          <a:solidFill>
            <a:srgbClr val="171A21"/>
          </a:solidFill>
          <a:ln/>
        </p:spPr>
      </p:sp>
      <p:sp>
        <p:nvSpPr>
          <p:cNvPr id="14" name="Text 12"/>
          <p:cNvSpPr/>
          <p:nvPr/>
        </p:nvSpPr>
        <p:spPr>
          <a:xfrm>
            <a:off x="2990088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82596" y="256032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RAG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482596" y="3035808"/>
            <a:ext cx="1472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AST-chunked repo embeddings, cosine similarity &gt; 0.70, grounded evidence only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4046220" y="2647188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197096" y="1737360"/>
            <a:ext cx="1691640" cy="2331720"/>
          </a:xfrm>
          <a:prstGeom prst="roundRect">
            <a:avLst>
              <a:gd name="adj" fmla="val 4324"/>
            </a:avLst>
          </a:prstGeom>
          <a:solidFill>
            <a:srgbClr val="171A2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14316" y="1938528"/>
            <a:ext cx="457200" cy="457200"/>
          </a:xfrm>
          <a:prstGeom prst="ellipse">
            <a:avLst/>
          </a:prstGeom>
          <a:solidFill>
            <a:srgbClr val="171A21"/>
          </a:solidFill>
          <a:ln/>
        </p:spPr>
      </p:sp>
      <p:sp>
        <p:nvSpPr>
          <p:cNvPr id="20" name="Text 18"/>
          <p:cNvSpPr/>
          <p:nvPr/>
        </p:nvSpPr>
        <p:spPr>
          <a:xfrm>
            <a:off x="4814316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06824" y="256032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Blast Radius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06824" y="3035808"/>
            <a:ext cx="1472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Transitive-closure graph over Import/Def/Call nodes scores change impact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5870448" y="2647188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021324" y="1737360"/>
            <a:ext cx="1691640" cy="2331720"/>
          </a:xfrm>
          <a:prstGeom prst="roundRect">
            <a:avLst>
              <a:gd name="adj" fmla="val 4324"/>
            </a:avLst>
          </a:prstGeom>
          <a:solidFill>
            <a:srgbClr val="262B3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38544" y="1938528"/>
            <a:ext cx="457200" cy="457200"/>
          </a:xfrm>
          <a:prstGeom prst="ellipse">
            <a:avLst/>
          </a:prstGeom>
          <a:solidFill>
            <a:srgbClr val="171A21"/>
          </a:solidFill>
          <a:ln/>
        </p:spPr>
      </p:sp>
      <p:sp>
        <p:nvSpPr>
          <p:cNvPr id="26" name="Text 24"/>
          <p:cNvSpPr/>
          <p:nvPr/>
        </p:nvSpPr>
        <p:spPr>
          <a:xfrm>
            <a:off x="6638544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31052" y="256032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Privacy-Tiered LLM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131052" y="3035808"/>
            <a:ext cx="1472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switch: Gemini/Groq for public code, local Ollama for sensitive code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7694676" y="2647188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845552" y="1737360"/>
            <a:ext cx="1691640" cy="2331720"/>
          </a:xfrm>
          <a:prstGeom prst="roundRect">
            <a:avLst>
              <a:gd name="adj" fmla="val 4324"/>
            </a:avLst>
          </a:prstGeom>
          <a:solidFill>
            <a:srgbClr val="171A2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62772" y="1938528"/>
            <a:ext cx="457200" cy="457200"/>
          </a:xfrm>
          <a:prstGeom prst="ellipse">
            <a:avLst/>
          </a:prstGeom>
          <a:solidFill>
            <a:srgbClr val="171A21"/>
          </a:solidFill>
          <a:ln/>
        </p:spPr>
      </p:sp>
      <p:sp>
        <p:nvSpPr>
          <p:cNvPr id="32" name="Text 30"/>
          <p:cNvSpPr/>
          <p:nvPr/>
        </p:nvSpPr>
        <p:spPr>
          <a:xfrm>
            <a:off x="8462772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955280" y="256032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Firewall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955280" y="3035808"/>
            <a:ext cx="1472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PyPI/npm probe (LRU-cached) blocks any hallucinated import — 404 = abort</a:t>
            </a:r>
            <a:endParaRPr lang="en-US" sz="870" dirty="0"/>
          </a:p>
        </p:txBody>
      </p:sp>
      <p:sp>
        <p:nvSpPr>
          <p:cNvPr id="35" name="Text 33"/>
          <p:cNvSpPr/>
          <p:nvPr/>
        </p:nvSpPr>
        <p:spPr>
          <a:xfrm>
            <a:off x="9518904" y="2647188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9669780" y="1737360"/>
            <a:ext cx="1691640" cy="2331720"/>
          </a:xfrm>
          <a:prstGeom prst="roundRect">
            <a:avLst>
              <a:gd name="adj" fmla="val 4324"/>
            </a:avLst>
          </a:prstGeom>
          <a:solidFill>
            <a:srgbClr val="262B3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287000" y="1938528"/>
            <a:ext cx="457200" cy="457200"/>
          </a:xfrm>
          <a:prstGeom prst="ellipse">
            <a:avLst/>
          </a:prstGeom>
          <a:solidFill>
            <a:srgbClr val="171A21"/>
          </a:solidFill>
          <a:ln/>
        </p:spPr>
      </p:sp>
      <p:sp>
        <p:nvSpPr>
          <p:cNvPr id="38" name="Text 36"/>
          <p:cNvSpPr/>
          <p:nvPr/>
        </p:nvSpPr>
        <p:spPr>
          <a:xfrm>
            <a:off x="1028700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779508" y="256032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Sandbox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779508" y="3035808"/>
            <a:ext cx="1472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pytest run, 5s timeout, bounded self-repair capped at N = 3 cycles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548640" y="4343400"/>
            <a:ext cx="11109960" cy="1691640"/>
          </a:xfrm>
          <a:prstGeom prst="roundRect">
            <a:avLst>
              <a:gd name="adj" fmla="val 4324"/>
            </a:avLst>
          </a:prstGeom>
          <a:solidFill>
            <a:srgbClr val="F3F4F6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2296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patch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22960" y="4892040"/>
            <a:ext cx="10561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change that clears every one of the six stages — no exposed secret, no hallucinated import, a bounded blast radius, and a passing sandboxed test run — is returned to the developer as a mergeable patch. Any stage failure aborts the pipeline with a labelled security block, and every stage transition is streamed live to the observability dashboard for audit.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  |  Project Review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TOOLS &amp; FORMULATIONS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and the math behind each guardrail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66960" y="41148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4114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109960" cy="457200"/>
          </a:xfrm>
          <a:prstGeom prst="roundRect">
            <a:avLst>
              <a:gd name="adj" fmla="val 16000"/>
            </a:avLst>
          </a:prstGeom>
          <a:solidFill>
            <a:srgbClr val="171A21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463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44368" y="1463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Technique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73568" y="1463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11109960" cy="402336"/>
          </a:xfrm>
          <a:prstGeom prst="roundRect">
            <a:avLst>
              <a:gd name="adj" fmla="val 18182"/>
            </a:avLst>
          </a:prstGeom>
          <a:solidFill>
            <a:srgbClr val="F3F4F6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92024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engine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2944368" y="1920240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entropy, regex + Verhoeff checksum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7973568" y="1920240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&amp; Indian-PII detection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48640" y="2322576"/>
            <a:ext cx="111099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322576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2944368" y="2322576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embeddings, Qdrant vector DB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7973568" y="232257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cosine-similarity code search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48640" y="2724912"/>
            <a:ext cx="11109960" cy="402336"/>
          </a:xfrm>
          <a:prstGeom prst="roundRect">
            <a:avLst>
              <a:gd name="adj" fmla="val 18182"/>
            </a:avLst>
          </a:prstGeom>
          <a:solidFill>
            <a:srgbClr val="F3F4F6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2724912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2944368" y="272491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ast module, custom graph builder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7973568" y="2724912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graph &amp; blast-radius score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548640" y="3127248"/>
            <a:ext cx="111099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312724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2944368" y="3127248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/ Groq · local Ollama (qwen2.5-coder)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7973568" y="312724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Privacy-tiered dual-engine synthesis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548640" y="3529584"/>
            <a:ext cx="11109960" cy="402336"/>
          </a:xfrm>
          <a:prstGeom prst="roundRect">
            <a:avLst>
              <a:gd name="adj" fmla="val 18182"/>
            </a:avLst>
          </a:prstGeom>
          <a:solidFill>
            <a:srgbClr val="F3F4F6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352958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2944368" y="3529584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PyPI/npm JSON API + LRU cache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7973568" y="3529584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Slopsquatting / hallucinated-import block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48640" y="3931920"/>
            <a:ext cx="111099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393192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2944368" y="3931920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MCP over JSON-RPC 2.0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7973568" y="3931920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Cursor, Claude Desktop, Windsurf access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548640" y="4562856"/>
            <a:ext cx="3611880" cy="1005840"/>
          </a:xfrm>
          <a:prstGeom prst="roundRect">
            <a:avLst>
              <a:gd name="adj" fmla="val 7273"/>
            </a:avLst>
          </a:prstGeom>
          <a:solidFill>
            <a:srgbClr val="262B3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85800" y="46360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entropy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5800" y="488289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H(X) = −Σ pi·log₂(pi)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85800" y="522122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high-entropy strings as likely secrets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4297680" y="4562856"/>
            <a:ext cx="3611880" cy="1005840"/>
          </a:xfrm>
          <a:prstGeom prst="roundRect">
            <a:avLst>
              <a:gd name="adj" fmla="val 7273"/>
            </a:avLst>
          </a:prstGeom>
          <a:solidFill>
            <a:srgbClr val="262B3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434840" y="46360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434840" y="488289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cos(θ) = (A·B)/(‖A‖‖B‖) &gt; 0.70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434840" y="522122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only grounded retrieval evidence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8046720" y="4562856"/>
            <a:ext cx="3611880" cy="1005840"/>
          </a:xfrm>
          <a:prstGeom prst="roundRect">
            <a:avLst>
              <a:gd name="adj" fmla="val 7273"/>
            </a:avLst>
          </a:prstGeom>
          <a:solidFill>
            <a:srgbClr val="262B3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183880" y="46360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183880" y="488289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B(v) = |Reach(v)| / (|V|−1)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8183880" y="522122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change-impact score ∈ [0,1]</a:t>
            </a:r>
            <a:endParaRPr lang="en-US" sz="870" dirty="0"/>
          </a:p>
        </p:txBody>
      </p:sp>
      <p:sp>
        <p:nvSpPr>
          <p:cNvPr id="46" name="Text 44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  |  Project Review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and empirical results (220/220 tests passing)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66960" y="41148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4114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benchmark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19659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genuine PyPI/npm packages + 50 LLM-hallucinated names, used to score the firewall's precision/recall.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62272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+ Hinglish PII corpus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62272" y="19659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AWS/GitHub/Stripe keys and code-mixed Hindi–English prompts with Aadhaar/PAN patterns.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0" y="14630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11312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42-run persona log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11312" y="19659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runs across 4 personas — Junior Dev, DevOps SRE, Security Auditor, CI/CD Webhook.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D9F2EE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341071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" y="405079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Slopsquatting F1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50592" y="324612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D9F2EE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496312" y="341071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542032" y="405079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catch rate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52544" y="324612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D9F2EE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98264" y="341071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0.962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443984" y="405079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Indian-PII F1 (Hinglish)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54496" y="324612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00216" y="341071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90.0%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345936" y="405079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 recovery (≤ 2 cycles)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56448" y="324612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02168" y="341071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1,370 ms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247888" y="405079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pipeline latency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058400" y="324612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9525">
            <a:solidFill>
              <a:srgbClr val="D5D9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104120" y="341071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 / 220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0149840" y="405079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498348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171A2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68680" y="49834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security stages (Sentinel + Firewall + Blast Radius) add under 20 ms combined — less than 2% of total pipeline latency — across the full 220-test suite.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  |  Project Review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262B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 &amp;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are, and where we're going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109960" cy="658368"/>
          </a:xfrm>
          <a:prstGeom prst="roundRect">
            <a:avLst>
              <a:gd name="adj" fmla="val 11111"/>
            </a:avLst>
          </a:prstGeom>
          <a:solidFill>
            <a:srgbClr val="262B3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1–3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94560" y="16916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Foundation · Agent Orchestrator · Evidence-Grounded Generation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0058400" y="1847088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0" y="18470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11109960" cy="658368"/>
          </a:xfrm>
          <a:prstGeom prst="roundRect">
            <a:avLst>
              <a:gd name="adj" fmla="val 11111"/>
            </a:avLst>
          </a:prstGeom>
          <a:solidFill>
            <a:srgbClr val="262B3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4688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4–5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94560" y="246888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Engine Hardening · AST Change-Impact Analysis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058400" y="2624328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0" y="26243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11109960" cy="658368"/>
          </a:xfrm>
          <a:prstGeom prst="roundRect">
            <a:avLst>
              <a:gd name="adj" fmla="val 11111"/>
            </a:avLst>
          </a:prstGeom>
          <a:solidFill>
            <a:srgbClr val="262B3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2461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6–7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4560" y="32461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Verification · CI/Security Gate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058400" y="3401568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0" y="34015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11109960" cy="658368"/>
          </a:xfrm>
          <a:prstGeom prst="roundRect">
            <a:avLst>
              <a:gd name="adj" fmla="val 11111"/>
            </a:avLst>
          </a:prstGeom>
          <a:solidFill>
            <a:srgbClr val="262B3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2336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8–9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94560" y="402336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Dashboard · Finalisation · 220/220 tests green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058400" y="4178808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0" y="41788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11109960" cy="1417320"/>
          </a:xfrm>
          <a:prstGeom prst="roundRect">
            <a:avLst>
              <a:gd name="adj" fmla="val 5161"/>
            </a:avLst>
          </a:prstGeom>
          <a:solidFill>
            <a:srgbClr val="262B36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074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full-scale evaluation &amp; live demo hardening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54223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the 220-test suite toward the full research targets in Section 3.3 (O1–O5), stress-testing the ReAct self-healer beyond the 42 logged persona runs, and packaging the MCP server for direct use inside Cursor, Claude Desktop and Windsurf ahead of the final-term evaluation.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| 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2026-09-27T10:09:51Z</dcterms:created>
  <dcterms:modified xsi:type="dcterms:W3CDTF">2026-09-27T10:09:51Z</dcterms:modified>
</cp:coreProperties>
</file>