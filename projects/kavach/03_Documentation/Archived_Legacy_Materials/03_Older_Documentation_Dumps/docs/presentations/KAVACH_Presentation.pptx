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5"/>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85" d="100"/>
          <a:sy n="85" d="100"/>
        </p:scale>
        <p:origin x="562" y="53"/>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68877570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Opening: 'Good morning ma'am. Aaj hum KAVACH present karenge — ek security-governed agentic AI DevOps platform. Matlab AI coding help, lekin secure aur controlled.' Pehle problem, phir solution, phir phases aur progress, end mein live demo.</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Structure batao: pehle problem samjhayenge, phir hamara solution, phir 9 phases ka flowchart aur har phase kya karta hai, aur end mein working prototype dikhayenge.</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Problem statement clearly bolo. Teen problems: (1) data leak — prompt mein sensitive cheez chali jaati hai, (2) retrieved context pe blind trust, (3) change ka side-effect kisi ko dikhta nahi. Ye real problem hai, especially banks jaisi jagah jahan customer data sensitive hota hai.</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Ye slide 'agar KAVACH na ho to kya hoga, kyun hoga, aur kaise hoga' wala part cover karti hai. Ek concrete example lo: developer Aadhaar-like number ke saath prompt bhejta hai. Left side dikhao kya hota hai, right side dikhao KAVACH mein kaise rukta hai.</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Pitch wala tone: ye sirf academic exercise nahi hai — real problem hai jo banks aur developers dono ko help karta hai. Niche isliye hai kyunki Indian identifiers aur Hindi/Marathi text ko dhyaan mein rakh ke banaya hai.</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Yahan bolo: 'Humne heavy research ki taaki project niche ho aur actually problem solve kare.' Teen gaps dikhao. (Tip: apni actual research sources / papers / tools jo dekhe the, yahan verbally mention kar dena — professor ko credible lagega.)</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KAVACH ek line mein: security-governed agentic AI DevOps platform. 8 capabilities ek hi workflow mein jude hain — detection, policy, RAG, impact analysis, generation, validation, CI gate, audit trail.</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Ye main 'kaise hoga' slide hai. Left to right samjhao: request aata hai, Gate 1 request check karta hai, RAG evidence lata hai, Gate 2 evidence check karta hai, impact analysis, generation, validation. Kahin bhi unsafe mila to BLOCKED — aage ke stages skip. Demo mein ye live dikhayenge.</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Ye hamara main differentiator hai. Normal RAG tools sirf user input dekhte hain. Hum retrieved context ko bhi check karte hain kyunki repo ke andar bhi secrets ho sakte hain. Ye baat pitch mein zor dekar bolna.</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Stack: Python + FastAPI backend, Qdrant vector DB, Sentence Transformers embeddings, Gemini for generation, plain HTML/CSS/JS dashboard, GitHub Actions CI gate, pytest. 7 API endpoints Swagger pe dikhte hain.</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Chunking samjhao: pura repo AI ko nahi bhej sakte aur search ke liye chhote tukde chahiye. Har file 1200 characters ke tukdon mein katti hai aur 200 characters overlap hota hai taaki beech ka context na tute. Limitation honestly bolo: character se kaat rahe hain, function se nahi — future mein AST-based chunking.</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Embedding = text ko 384 numbers mein badalna, map pe coordinates ki tarah. Ingest ek baar hota hai: chunk -&gt; embedding -&gt; Qdrant. Har request pe: request bhi embedding banti hai, Qdrant nearest chunks nikalta hai (cosine similarity), top 5 score ke saath. Isliye ingest ke bina search khali hota hai.</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RAG = Retrieve + Augment + Generate, aur hum ek Validate step bhi jodte hain. Prompt ke 3 hisse: rules (sirf evidence use kar), evidence (5 chunks), request. Isi wajah se Gemini ne /version wale example mein app.title aur app.version use kiya — wo hamare main.py ke chunk mein tha.</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Ye poora flow ek nazar mein: 10 steps, har step ke peeche ka module. Dark boxes security gates hain. Kisi bhi gate pe unsafe mila to Gemini tak request pahunchti hi nahi. Har stage ka move history mein likha jaata hai — wahi audit trail hai.</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Ye 9 phases ka flowchart hai. Phase 1-3 aaj detail mein dikhayenge (dark boxes). Baaki phases 4-9 ka overview next slides mein hai aur next review mein detail mein jayenge. Har phase pichle phase pe build hota hai.</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Phase 1: foundation. Repo ingest hota hai, chunks bante hain, embeddings Qdrant mein store hoti hain, search pe similarity score ke saath evidence milta hai. Bolo: 'Baaki saare phases isi evidence layer pe khade hain.' Demo mein /ingest aur /search dikhana.</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Phase 2: orchestrator. Yahan agent free nahi chhoda — state machine se controlled hai. Security verdict BLOCKED aaye to aage ke stages skip ho jaate hain. Ye demo mein Aadhaar-like number wale example se dikhayenge.</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Phase 3: generation. Evidence + request se grounded prompt banta hai, Gemini generate karta hai, syntax validation hoti hai. Gemini down ho to stub fallback hai, isliye demo kabhi nahi marta. Ab yahan se hum demo pe aa sakte hain.</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Baaki 6 phases ka short overview: 4 security hardening, 5 change-impact, 6 integration verification, 7 CI gate, 8 frontend dashboard, 9 finalization. Bolo ki inka detailed walkthrough next review mein hoga.</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Ye Phase 4-5 ka preview hai, detail next review mein. Key idea: sirf 'sensitive mila' se decision nahi hota — data kitna sensitive hai aur request kya karwana chahti hai, dono milte hain. Isi wajah se Aadhaar + delete = BLOCK aur Aadhaar + fix = REVIEW.</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Demo order: server start, /ingest, /search, safe request, phir unsafe request. Har step pe bolo KYA kar rahe ho, KAISE kiya, KYUN kiya. Backup: agar live demo fail ho to screenshots ready rakhna. Gemini down ho to stub fallback kaam karega.</a:t>
            </a:r>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Yahan wo point bolo: 'Quality aur heavy research ki wajah se humein time laga, isliye baaki phases ka detailed presentation abhi ready nahi kar paaye — wo next review mein.' Bas apni actual repo status se match karke bolna.</a:t>
            </a:r>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Closing pitch: KAVACH = Governed, Grounded, Auditable. Ek line mein dohrao: 'AI coding help jo developers aur banks dono safely use kar sakein.' Phir questions.</a:t>
            </a:r>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64240" y="644652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6B7280"/>
                </a:solidFill>
                <a:latin typeface="Calibri"/>
                <a:ea typeface="Calibri"/>
                <a:cs typeface="Calibri"/>
              </a:defRPr>
            </a:lvl1pPr>
          </a:lstStyle>
          <a:p>
            <a:pPr algn="r"/>
            <a:fld id="{F7021451-1387-4CA6-816F-3879F97B5CBC}" type="slidenum">
              <a:rPr lang="en-US" b="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64240" y="644652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6B7280"/>
                </a:solidFill>
                <a:latin typeface="Calibri"/>
                <a:ea typeface="Calibri"/>
                <a:cs typeface="Calibri"/>
              </a:defRPr>
            </a:lvl1pPr>
          </a:lstStyle>
          <a:p>
            <a:pPr algn="r"/>
            <a:fld id="{F7021451-1387-4CA6-816F-3879F97B5CBC}" type="slidenum">
              <a:rPr lang="en-US" b="0"/>
              <a:t>‹#›</a:t>
            </a:fld>
            <a:endParaRPr lang="en-US"/>
          </a:p>
        </p:txBody>
      </p:sp>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1.xml"/><Relationship Id="rId5" Type="http://schemas.openxmlformats.org/officeDocument/2006/relationships/image" Target="../media/image4.png"/><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1.xml"/><Relationship Id="rId5" Type="http://schemas.openxmlformats.org/officeDocument/2006/relationships/image" Target="../media/image7.png"/><Relationship Id="rId4" Type="http://schemas.openxmlformats.org/officeDocument/2006/relationships/image" Target="../media/image6.png"/></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8" Type="http://schemas.openxmlformats.org/officeDocument/2006/relationships/image" Target="../media/image13.png"/><Relationship Id="rId3" Type="http://schemas.openxmlformats.org/officeDocument/2006/relationships/image" Target="../media/image8.png"/><Relationship Id="rId7" Type="http://schemas.openxmlformats.org/officeDocument/2006/relationships/image" Target="../media/image12.png"/><Relationship Id="rId2" Type="http://schemas.openxmlformats.org/officeDocument/2006/relationships/notesSlide" Target="../notesSlides/notesSlide7.xml"/><Relationship Id="rId1" Type="http://schemas.openxmlformats.org/officeDocument/2006/relationships/slideLayout" Target="../slideLayouts/slideLayout1.xml"/><Relationship Id="rId6" Type="http://schemas.openxmlformats.org/officeDocument/2006/relationships/image" Target="../media/image11.png"/><Relationship Id="rId5" Type="http://schemas.openxmlformats.org/officeDocument/2006/relationships/image" Target="../media/image10.png"/><Relationship Id="rId10" Type="http://schemas.openxmlformats.org/officeDocument/2006/relationships/image" Target="../media/image15.png"/><Relationship Id="rId4" Type="http://schemas.openxmlformats.org/officeDocument/2006/relationships/image" Target="../media/image9.png"/><Relationship Id="rId9" Type="http://schemas.openxmlformats.org/officeDocument/2006/relationships/image" Target="../media/image14.png"/></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6.xml"/><Relationship Id="rId1" Type="http://schemas.openxmlformats.org/officeDocument/2006/relationships/slideLayout" Target="../slideLayouts/slideLayout1.xml"/><Relationship Id="rId5" Type="http://schemas.openxmlformats.org/officeDocument/2006/relationships/image" Target="../media/image18.png"/><Relationship Id="rId4" Type="http://schemas.openxmlformats.org/officeDocument/2006/relationships/image" Target="../media/image17.png"/></Relationships>
</file>

<file path=ppt/slides/_rels/slide17.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7.xml"/><Relationship Id="rId1" Type="http://schemas.openxmlformats.org/officeDocument/2006/relationships/slideLayout" Target="../slideLayouts/slideLayout1.xml"/><Relationship Id="rId5" Type="http://schemas.openxmlformats.org/officeDocument/2006/relationships/image" Target="../media/image18.png"/><Relationship Id="rId4" Type="http://schemas.openxmlformats.org/officeDocument/2006/relationships/image" Target="../media/image17.png"/></Relationships>
</file>

<file path=ppt/slides/_rels/slide18.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8.xml"/><Relationship Id="rId1" Type="http://schemas.openxmlformats.org/officeDocument/2006/relationships/slideLayout" Target="../slideLayouts/slideLayout1.xml"/><Relationship Id="rId5" Type="http://schemas.openxmlformats.org/officeDocument/2006/relationships/image" Target="../media/image18.png"/><Relationship Id="rId4" Type="http://schemas.openxmlformats.org/officeDocument/2006/relationships/image" Target="../media/image17.png"/></Relationships>
</file>

<file path=ppt/slides/_rels/slide19.xml.rels><?xml version="1.0" encoding="UTF-8" standalone="yes"?>
<Relationships xmlns="http://schemas.openxmlformats.org/package/2006/relationships"><Relationship Id="rId8" Type="http://schemas.openxmlformats.org/officeDocument/2006/relationships/image" Target="../media/image18.png"/><Relationship Id="rId3" Type="http://schemas.openxmlformats.org/officeDocument/2006/relationships/image" Target="../media/image8.png"/><Relationship Id="rId7" Type="http://schemas.openxmlformats.org/officeDocument/2006/relationships/image" Target="../media/image6.png"/><Relationship Id="rId2" Type="http://schemas.openxmlformats.org/officeDocument/2006/relationships/notesSlide" Target="../notesSlides/notesSlide19.xml"/><Relationship Id="rId1" Type="http://schemas.openxmlformats.org/officeDocument/2006/relationships/slideLayout" Target="../slideLayouts/slideLayout1.xml"/><Relationship Id="rId6" Type="http://schemas.openxmlformats.org/officeDocument/2006/relationships/image" Target="../media/image14.png"/><Relationship Id="rId5" Type="http://schemas.openxmlformats.org/officeDocument/2006/relationships/image" Target="../media/image13.png"/><Relationship Id="rId4" Type="http://schemas.openxmlformats.org/officeDocument/2006/relationships/image" Target="../media/image11.png"/></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22.xml"/><Relationship Id="rId1" Type="http://schemas.openxmlformats.org/officeDocument/2006/relationships/slideLayout" Target="../slideLayouts/slideLayout1.xml"/><Relationship Id="rId5" Type="http://schemas.openxmlformats.org/officeDocument/2006/relationships/image" Target="../media/image18.png"/><Relationship Id="rId4" Type="http://schemas.openxmlformats.org/officeDocument/2006/relationships/image" Target="../media/image13.png"/></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71A21"/>
        </a:solidFill>
        <a:effectLst/>
      </p:bgPr>
    </p:bg>
    <p:spTree>
      <p:nvGrpSpPr>
        <p:cNvPr id="1" name=""/>
        <p:cNvGrpSpPr/>
        <p:nvPr/>
      </p:nvGrpSpPr>
      <p:grpSpPr>
        <a:xfrm>
          <a:off x="0" y="0"/>
          <a:ext cx="0" cy="0"/>
          <a:chOff x="0" y="0"/>
          <a:chExt cx="0" cy="0"/>
        </a:xfrm>
      </p:grpSpPr>
      <p:sp>
        <p:nvSpPr>
          <p:cNvPr id="2" name="Text 0"/>
          <p:cNvSpPr txBox="1"/>
          <p:nvPr/>
        </p:nvSpPr>
        <p:spPr>
          <a:xfrm>
            <a:off x="731520" y="1371600"/>
            <a:ext cx="7315200" cy="1280160"/>
          </a:xfrm>
          <a:prstGeom prst="rect">
            <a:avLst/>
          </a:prstGeom>
          <a:noFill/>
          <a:ln/>
        </p:spPr>
        <p:txBody>
          <a:bodyPr wrap="square" lIns="0" tIns="0" rIns="0" bIns="0" rtlCol="0" anchor="ctr"/>
          <a:lstStyle/>
          <a:p>
            <a:pPr marL="0" indent="0">
              <a:buNone/>
            </a:pPr>
            <a:r>
              <a:rPr lang="en-US" sz="8000" b="1" dirty="0">
                <a:solidFill>
                  <a:srgbClr val="F5A524"/>
                </a:solidFill>
                <a:latin typeface="Cambria" pitchFamily="34" charset="0"/>
                <a:ea typeface="Cambria" pitchFamily="34" charset="-122"/>
                <a:cs typeface="Cambria" pitchFamily="34" charset="-120"/>
              </a:rPr>
              <a:t>KAVACH</a:t>
            </a:r>
            <a:endParaRPr lang="en-US" sz="8000" dirty="0"/>
          </a:p>
        </p:txBody>
      </p:sp>
      <p:sp>
        <p:nvSpPr>
          <p:cNvPr id="3" name="Text 1"/>
          <p:cNvSpPr txBox="1"/>
          <p:nvPr/>
        </p:nvSpPr>
        <p:spPr>
          <a:xfrm>
            <a:off x="731520" y="2697480"/>
            <a:ext cx="7498080" cy="822960"/>
          </a:xfrm>
          <a:prstGeom prst="rect">
            <a:avLst/>
          </a:prstGeom>
          <a:noFill/>
          <a:ln/>
        </p:spPr>
        <p:txBody>
          <a:bodyPr wrap="square" lIns="0" tIns="0" rIns="0" bIns="0" rtlCol="0" anchor="ctr"/>
          <a:lstStyle/>
          <a:p>
            <a:pPr marL="0" indent="0">
              <a:buNone/>
            </a:pPr>
            <a:r>
              <a:rPr lang="en-US" sz="3000" dirty="0">
                <a:solidFill>
                  <a:srgbClr val="FFFFFF"/>
                </a:solidFill>
                <a:latin typeface="Cambria" pitchFamily="34" charset="0"/>
                <a:ea typeface="Cambria" pitchFamily="34" charset="-122"/>
                <a:cs typeface="Cambria" pitchFamily="34" charset="-120"/>
              </a:rPr>
              <a:t>Security-Governed Agentic AI DevOps Platform</a:t>
            </a:r>
            <a:endParaRPr lang="en-US" sz="3000" dirty="0"/>
          </a:p>
        </p:txBody>
      </p:sp>
      <p:sp>
        <p:nvSpPr>
          <p:cNvPr id="4" name="Text 2"/>
          <p:cNvSpPr txBox="1"/>
          <p:nvPr/>
        </p:nvSpPr>
        <p:spPr>
          <a:xfrm>
            <a:off x="731520" y="3657600"/>
            <a:ext cx="7680960" cy="640080"/>
          </a:xfrm>
          <a:prstGeom prst="rect">
            <a:avLst/>
          </a:prstGeom>
          <a:noFill/>
          <a:ln/>
        </p:spPr>
        <p:txBody>
          <a:bodyPr wrap="square" lIns="0" tIns="0" rIns="0" bIns="0" rtlCol="0" anchor="ctr"/>
          <a:lstStyle/>
          <a:p>
            <a:pPr marL="0" indent="0">
              <a:buNone/>
            </a:pPr>
            <a:r>
              <a:rPr lang="en-US" sz="1600" dirty="0">
                <a:solidFill>
                  <a:srgbClr val="AEB4C0"/>
                </a:solidFill>
                <a:latin typeface="Calibri" pitchFamily="34" charset="0"/>
                <a:ea typeface="Calibri" pitchFamily="34" charset="-122"/>
                <a:cs typeface="Calibri" pitchFamily="34" charset="-120"/>
              </a:rPr>
              <a:t>Repository-aware RAG  |  Sensitive-data detection  |  Change-impact analysis  |  CI security gating</a:t>
            </a:r>
            <a:endParaRPr lang="en-US" sz="1600" dirty="0"/>
          </a:p>
        </p:txBody>
      </p:sp>
      <p:sp>
        <p:nvSpPr>
          <p:cNvPr id="5" name="Text 3"/>
          <p:cNvSpPr txBox="1"/>
          <p:nvPr/>
        </p:nvSpPr>
        <p:spPr>
          <a:xfrm>
            <a:off x="731520" y="4937760"/>
            <a:ext cx="7315200" cy="1097280"/>
          </a:xfrm>
          <a:prstGeom prst="rect">
            <a:avLst/>
          </a:prstGeom>
          <a:noFill/>
          <a:ln/>
        </p:spPr>
        <p:txBody>
          <a:bodyPr wrap="square" lIns="0" tIns="0" rIns="0" bIns="0" rtlCol="0" anchor="ctr"/>
          <a:lstStyle/>
          <a:p>
            <a:pPr marL="0" indent="0">
              <a:buNone/>
            </a:pPr>
            <a:r>
              <a:rPr lang="en-US" sz="1600" dirty="0">
                <a:solidFill>
                  <a:srgbClr val="FFFFFF"/>
                </a:solidFill>
                <a:latin typeface="Calibri" pitchFamily="34" charset="0"/>
                <a:ea typeface="Calibri" pitchFamily="34" charset="-122"/>
                <a:cs typeface="Calibri" pitchFamily="34" charset="-120"/>
              </a:rPr>
              <a:t>Dhruv Jain, Dev Garg, </a:t>
            </a:r>
            <a:r>
              <a:rPr lang="en-US" sz="1600" dirty="0" err="1">
                <a:solidFill>
                  <a:srgbClr val="FFFFFF"/>
                </a:solidFill>
                <a:latin typeface="Calibri" pitchFamily="34" charset="0"/>
                <a:ea typeface="Calibri" pitchFamily="34" charset="-122"/>
                <a:cs typeface="Calibri" pitchFamily="34" charset="-120"/>
              </a:rPr>
              <a:t>Ansh</a:t>
            </a:r>
            <a:r>
              <a:rPr lang="en-US" sz="1600" dirty="0">
                <a:solidFill>
                  <a:srgbClr val="FFFFFF"/>
                </a:solidFill>
                <a:latin typeface="Calibri" pitchFamily="34" charset="0"/>
                <a:ea typeface="Calibri" pitchFamily="34" charset="-122"/>
                <a:cs typeface="Calibri" pitchFamily="34" charset="-120"/>
              </a:rPr>
              <a:t> </a:t>
            </a:r>
            <a:r>
              <a:rPr lang="en-US" sz="1600" dirty="0" err="1">
                <a:solidFill>
                  <a:srgbClr val="FFFFFF"/>
                </a:solidFill>
                <a:latin typeface="Calibri" pitchFamily="34" charset="0"/>
                <a:ea typeface="Calibri" pitchFamily="34" charset="-122"/>
                <a:cs typeface="Calibri" pitchFamily="34" charset="-120"/>
              </a:rPr>
              <a:t>Rohilla</a:t>
            </a:r>
            <a:r>
              <a:rPr lang="en-US" sz="1600" dirty="0">
                <a:solidFill>
                  <a:srgbClr val="FFFFFF"/>
                </a:solidFill>
                <a:latin typeface="Calibri" pitchFamily="34" charset="0"/>
                <a:ea typeface="Calibri" pitchFamily="34" charset="-122"/>
                <a:cs typeface="Calibri" pitchFamily="34" charset="-120"/>
              </a:rPr>
              <a:t>, </a:t>
            </a:r>
            <a:r>
              <a:rPr lang="en-US" sz="1600" dirty="0" err="1">
                <a:solidFill>
                  <a:srgbClr val="FFFFFF"/>
                </a:solidFill>
                <a:latin typeface="Calibri" pitchFamily="34" charset="0"/>
                <a:ea typeface="Calibri" pitchFamily="34" charset="-122"/>
                <a:cs typeface="Calibri" pitchFamily="34" charset="-120"/>
              </a:rPr>
              <a:t>Ansh</a:t>
            </a:r>
            <a:r>
              <a:rPr lang="en-US" sz="1600">
                <a:solidFill>
                  <a:srgbClr val="FFFFFF"/>
                </a:solidFill>
                <a:latin typeface="Calibri" pitchFamily="34" charset="0"/>
                <a:ea typeface="Calibri" pitchFamily="34" charset="-122"/>
                <a:cs typeface="Calibri" pitchFamily="34" charset="-120"/>
              </a:rPr>
              <a:t> Adhikari</a:t>
            </a:r>
            <a:endParaRPr lang="en-US" sz="1600" dirty="0"/>
          </a:p>
          <a:p>
            <a:pPr marL="0" indent="0">
              <a:buNone/>
            </a:pPr>
            <a:r>
              <a:rPr lang="en-US" sz="1600" dirty="0">
                <a:solidFill>
                  <a:srgbClr val="FFFFFF"/>
                </a:solidFill>
                <a:latin typeface="Calibri" pitchFamily="34" charset="0"/>
                <a:ea typeface="Calibri" pitchFamily="34" charset="-122"/>
                <a:cs typeface="Calibri" pitchFamily="34" charset="-120"/>
              </a:rPr>
              <a:t>B.Tech CSE (AI &amp; Data Science), BML Munjal University</a:t>
            </a:r>
            <a:endParaRPr lang="en-US" sz="1600" dirty="0"/>
          </a:p>
          <a:p>
            <a:pPr marL="0" indent="0">
              <a:buNone/>
            </a:pPr>
            <a:r>
              <a:rPr lang="en-US" sz="1600" dirty="0">
                <a:solidFill>
                  <a:srgbClr val="FFFFFF"/>
                </a:solidFill>
                <a:latin typeface="Calibri" pitchFamily="34" charset="0"/>
                <a:ea typeface="Calibri" pitchFamily="34" charset="-122"/>
                <a:cs typeface="Calibri" pitchFamily="34" charset="-120"/>
              </a:rPr>
              <a:t>Project Review</a:t>
            </a:r>
            <a:endParaRPr lang="en-US" sz="1600" dirty="0"/>
          </a:p>
        </p:txBody>
      </p:sp>
      <p:sp>
        <p:nvSpPr>
          <p:cNvPr id="6" name="Shape 4"/>
          <p:cNvSpPr/>
          <p:nvPr/>
        </p:nvSpPr>
        <p:spPr>
          <a:xfrm>
            <a:off x="8778240" y="1463040"/>
            <a:ext cx="2926080" cy="2926080"/>
          </a:xfrm>
          <a:prstGeom prst="ellipse">
            <a:avLst/>
          </a:prstGeom>
          <a:solidFill>
            <a:srgbClr val="262B36"/>
          </a:solidFill>
          <a:ln w="38100">
            <a:solidFill>
              <a:srgbClr val="F5A524"/>
            </a:solidFill>
            <a:prstDash val="solid"/>
          </a:ln>
        </p:spPr>
      </p:sp>
      <p:pic>
        <p:nvPicPr>
          <p:cNvPr id="7" name="Image 0" descr="preencoded.png"/>
          <p:cNvPicPr>
            <a:picLocks noChangeAspect="1"/>
          </p:cNvPicPr>
          <p:nvPr/>
        </p:nvPicPr>
        <p:blipFill>
          <a:blip r:embed="rId3"/>
          <a:stretch>
            <a:fillRect/>
          </a:stretch>
        </p:blipFill>
        <p:spPr>
          <a:xfrm>
            <a:off x="9418320" y="2103120"/>
            <a:ext cx="1645920" cy="164592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3F4F6"/>
        </a:solidFill>
        <a:effectLst/>
      </p:bgPr>
    </p:bg>
    <p:spTree>
      <p:nvGrpSpPr>
        <p:cNvPr id="1" name=""/>
        <p:cNvGrpSpPr/>
        <p:nvPr/>
      </p:nvGrpSpPr>
      <p:grpSpPr>
        <a:xfrm>
          <a:off x="0" y="0"/>
          <a:ext cx="0" cy="0"/>
          <a:chOff x="0" y="0"/>
          <a:chExt cx="0" cy="0"/>
        </a:xfrm>
      </p:grpSpPr>
      <p:sp>
        <p:nvSpPr>
          <p:cNvPr id="2" name="Text 0"/>
          <p:cNvSpPr txBox="1"/>
          <p:nvPr/>
        </p:nvSpPr>
        <p:spPr>
          <a:xfrm>
            <a:off x="548640" y="320040"/>
            <a:ext cx="11064240" cy="731520"/>
          </a:xfrm>
          <a:prstGeom prst="rect">
            <a:avLst/>
          </a:prstGeom>
          <a:noFill/>
          <a:ln/>
        </p:spPr>
        <p:txBody>
          <a:bodyPr wrap="square" lIns="0" tIns="0" rIns="0" bIns="0" rtlCol="0" anchor="ctr"/>
          <a:lstStyle/>
          <a:p>
            <a:pPr marL="0" indent="0">
              <a:buNone/>
            </a:pPr>
            <a:r>
              <a:rPr lang="en-US" sz="3200" b="1" dirty="0">
                <a:solidFill>
                  <a:srgbClr val="171A21"/>
                </a:solidFill>
                <a:latin typeface="Cambria" pitchFamily="34" charset="0"/>
                <a:ea typeface="Cambria" pitchFamily="34" charset="-122"/>
                <a:cs typeface="Cambria" pitchFamily="34" charset="-120"/>
              </a:rPr>
              <a:t>What we'll walk you through</a:t>
            </a:r>
            <a:endParaRPr lang="en-US" sz="3200" dirty="0"/>
          </a:p>
        </p:txBody>
      </p:sp>
      <p:sp>
        <p:nvSpPr>
          <p:cNvPr id="3" name="Shape 1"/>
          <p:cNvSpPr/>
          <p:nvPr/>
        </p:nvSpPr>
        <p:spPr>
          <a:xfrm>
            <a:off x="548640" y="1737360"/>
            <a:ext cx="2651760" cy="3566160"/>
          </a:xfrm>
          <a:prstGeom prst="roundRect">
            <a:avLst>
              <a:gd name="adj" fmla="val 4138"/>
            </a:avLst>
          </a:prstGeom>
          <a:solidFill>
            <a:srgbClr val="FFFFFF"/>
          </a:solidFill>
          <a:ln w="12700">
            <a:solidFill>
              <a:srgbClr val="FFFFFF"/>
            </a:solidFill>
            <a:prstDash val="solid"/>
          </a:ln>
          <a:effectLst>
            <a:outerShdw blurRad="101600" dist="25400" dir="5400000" algn="bl" rotWithShape="0">
              <a:srgbClr val="000000">
                <a:alpha val="12000"/>
              </a:srgbClr>
            </a:outerShdw>
          </a:effectLst>
        </p:spPr>
      </p:sp>
      <p:sp>
        <p:nvSpPr>
          <p:cNvPr id="4" name="Text 2"/>
          <p:cNvSpPr txBox="1"/>
          <p:nvPr/>
        </p:nvSpPr>
        <p:spPr>
          <a:xfrm>
            <a:off x="822960" y="1965960"/>
            <a:ext cx="2103120" cy="914400"/>
          </a:xfrm>
          <a:prstGeom prst="rect">
            <a:avLst/>
          </a:prstGeom>
          <a:noFill/>
          <a:ln/>
        </p:spPr>
        <p:txBody>
          <a:bodyPr wrap="square" lIns="0" tIns="0" rIns="0" bIns="0" rtlCol="0" anchor="ctr"/>
          <a:lstStyle/>
          <a:p>
            <a:pPr marL="0" indent="0">
              <a:buNone/>
            </a:pPr>
            <a:r>
              <a:rPr lang="en-US" sz="5400" b="1" dirty="0">
                <a:solidFill>
                  <a:srgbClr val="F5A524"/>
                </a:solidFill>
                <a:latin typeface="Cambria" pitchFamily="34" charset="0"/>
                <a:ea typeface="Cambria" pitchFamily="34" charset="-122"/>
                <a:cs typeface="Cambria" pitchFamily="34" charset="-120"/>
              </a:rPr>
              <a:t>01</a:t>
            </a:r>
            <a:endParaRPr lang="en-US" sz="5400" dirty="0"/>
          </a:p>
        </p:txBody>
      </p:sp>
      <p:sp>
        <p:nvSpPr>
          <p:cNvPr id="5" name="Text 3"/>
          <p:cNvSpPr txBox="1"/>
          <p:nvPr/>
        </p:nvSpPr>
        <p:spPr>
          <a:xfrm>
            <a:off x="822960" y="3017520"/>
            <a:ext cx="2194560" cy="822960"/>
          </a:xfrm>
          <a:prstGeom prst="rect">
            <a:avLst/>
          </a:prstGeom>
          <a:noFill/>
          <a:ln/>
        </p:spPr>
        <p:txBody>
          <a:bodyPr wrap="square" lIns="0" tIns="0" rIns="0" bIns="0" rtlCol="0" anchor="t"/>
          <a:lstStyle/>
          <a:p>
            <a:pPr marL="0" indent="0">
              <a:buNone/>
            </a:pPr>
            <a:r>
              <a:rPr lang="en-US" sz="2200" b="1" dirty="0">
                <a:solidFill>
                  <a:srgbClr val="171A21"/>
                </a:solidFill>
                <a:latin typeface="Cambria" pitchFamily="34" charset="0"/>
                <a:ea typeface="Cambria" pitchFamily="34" charset="-122"/>
                <a:cs typeface="Cambria" pitchFamily="34" charset="-120"/>
              </a:rPr>
              <a:t>The Problem</a:t>
            </a:r>
            <a:endParaRPr lang="en-US" sz="2200" dirty="0"/>
          </a:p>
        </p:txBody>
      </p:sp>
      <p:sp>
        <p:nvSpPr>
          <p:cNvPr id="6" name="Text 4"/>
          <p:cNvSpPr txBox="1"/>
          <p:nvPr/>
        </p:nvSpPr>
        <p:spPr>
          <a:xfrm>
            <a:off x="822960" y="3931920"/>
            <a:ext cx="2148840" cy="1188720"/>
          </a:xfrm>
          <a:prstGeom prst="rect">
            <a:avLst/>
          </a:prstGeom>
          <a:noFill/>
          <a:ln/>
        </p:spPr>
        <p:txBody>
          <a:bodyPr wrap="square" lIns="0" tIns="0" rIns="0" bIns="0" rtlCol="0" anchor="t"/>
          <a:lstStyle/>
          <a:p>
            <a:pPr marL="0" indent="0">
              <a:buNone/>
            </a:pPr>
            <a:r>
              <a:rPr lang="en-US" sz="1400" dirty="0">
                <a:solidFill>
                  <a:srgbClr val="6B7280"/>
                </a:solidFill>
                <a:latin typeface="Calibri" pitchFamily="34" charset="0"/>
                <a:ea typeface="Calibri" pitchFamily="34" charset="-122"/>
                <a:cs typeface="Calibri" pitchFamily="34" charset="-120"/>
              </a:rPr>
              <a:t>What goes wrong today, and why it matters</a:t>
            </a:r>
            <a:endParaRPr lang="en-US" sz="1400" dirty="0"/>
          </a:p>
        </p:txBody>
      </p:sp>
      <p:sp>
        <p:nvSpPr>
          <p:cNvPr id="7" name="Shape 5"/>
          <p:cNvSpPr/>
          <p:nvPr/>
        </p:nvSpPr>
        <p:spPr>
          <a:xfrm>
            <a:off x="3383280" y="1737360"/>
            <a:ext cx="2651760" cy="3566160"/>
          </a:xfrm>
          <a:prstGeom prst="roundRect">
            <a:avLst>
              <a:gd name="adj" fmla="val 4138"/>
            </a:avLst>
          </a:prstGeom>
          <a:solidFill>
            <a:srgbClr val="FFFFFF"/>
          </a:solidFill>
          <a:ln w="12700">
            <a:solidFill>
              <a:srgbClr val="FFFFFF"/>
            </a:solidFill>
            <a:prstDash val="solid"/>
          </a:ln>
          <a:effectLst>
            <a:outerShdw blurRad="101600" dist="25400" dir="5400000" algn="bl" rotWithShape="0">
              <a:srgbClr val="000000">
                <a:alpha val="12000"/>
              </a:srgbClr>
            </a:outerShdw>
          </a:effectLst>
        </p:spPr>
      </p:sp>
      <p:sp>
        <p:nvSpPr>
          <p:cNvPr id="8" name="Text 6"/>
          <p:cNvSpPr txBox="1"/>
          <p:nvPr/>
        </p:nvSpPr>
        <p:spPr>
          <a:xfrm>
            <a:off x="3657600" y="1965960"/>
            <a:ext cx="2103120" cy="914400"/>
          </a:xfrm>
          <a:prstGeom prst="rect">
            <a:avLst/>
          </a:prstGeom>
          <a:noFill/>
          <a:ln/>
        </p:spPr>
        <p:txBody>
          <a:bodyPr wrap="square" lIns="0" tIns="0" rIns="0" bIns="0" rtlCol="0" anchor="ctr"/>
          <a:lstStyle/>
          <a:p>
            <a:pPr marL="0" indent="0">
              <a:buNone/>
            </a:pPr>
            <a:r>
              <a:rPr lang="en-US" sz="5400" b="1" dirty="0">
                <a:solidFill>
                  <a:srgbClr val="F5A524"/>
                </a:solidFill>
                <a:latin typeface="Cambria" pitchFamily="34" charset="0"/>
                <a:ea typeface="Cambria" pitchFamily="34" charset="-122"/>
                <a:cs typeface="Cambria" pitchFamily="34" charset="-120"/>
              </a:rPr>
              <a:t>02</a:t>
            </a:r>
            <a:endParaRPr lang="en-US" sz="5400" dirty="0"/>
          </a:p>
        </p:txBody>
      </p:sp>
      <p:sp>
        <p:nvSpPr>
          <p:cNvPr id="9" name="Text 7"/>
          <p:cNvSpPr txBox="1"/>
          <p:nvPr/>
        </p:nvSpPr>
        <p:spPr>
          <a:xfrm>
            <a:off x="3657600" y="3017520"/>
            <a:ext cx="2194560" cy="822960"/>
          </a:xfrm>
          <a:prstGeom prst="rect">
            <a:avLst/>
          </a:prstGeom>
          <a:noFill/>
          <a:ln/>
        </p:spPr>
        <p:txBody>
          <a:bodyPr wrap="square" lIns="0" tIns="0" rIns="0" bIns="0" rtlCol="0" anchor="t"/>
          <a:lstStyle/>
          <a:p>
            <a:pPr marL="0" indent="0">
              <a:buNone/>
            </a:pPr>
            <a:r>
              <a:rPr lang="en-US" sz="2200" b="1" dirty="0">
                <a:solidFill>
                  <a:srgbClr val="171A21"/>
                </a:solidFill>
                <a:latin typeface="Cambria" pitchFamily="34" charset="0"/>
                <a:ea typeface="Cambria" pitchFamily="34" charset="-122"/>
                <a:cs typeface="Cambria" pitchFamily="34" charset="-120"/>
              </a:rPr>
              <a:t>Our Solution</a:t>
            </a:r>
            <a:endParaRPr lang="en-US" sz="2200" dirty="0"/>
          </a:p>
        </p:txBody>
      </p:sp>
      <p:sp>
        <p:nvSpPr>
          <p:cNvPr id="10" name="Text 8"/>
          <p:cNvSpPr txBox="1"/>
          <p:nvPr/>
        </p:nvSpPr>
        <p:spPr>
          <a:xfrm>
            <a:off x="3657600" y="3931920"/>
            <a:ext cx="2148840" cy="1188720"/>
          </a:xfrm>
          <a:prstGeom prst="rect">
            <a:avLst/>
          </a:prstGeom>
          <a:noFill/>
          <a:ln/>
        </p:spPr>
        <p:txBody>
          <a:bodyPr wrap="square" lIns="0" tIns="0" rIns="0" bIns="0" rtlCol="0" anchor="t"/>
          <a:lstStyle/>
          <a:p>
            <a:pPr marL="0" indent="0">
              <a:buNone/>
            </a:pPr>
            <a:r>
              <a:rPr lang="en-US" sz="1400" dirty="0">
                <a:solidFill>
                  <a:srgbClr val="6B7280"/>
                </a:solidFill>
                <a:latin typeface="Calibri" pitchFamily="34" charset="0"/>
                <a:ea typeface="Calibri" pitchFamily="34" charset="-122"/>
                <a:cs typeface="Calibri" pitchFamily="34" charset="-120"/>
              </a:rPr>
              <a:t>What KAVACH is, how a request flows, and the concepts under the hood</a:t>
            </a:r>
            <a:endParaRPr lang="en-US" sz="1400" dirty="0"/>
          </a:p>
        </p:txBody>
      </p:sp>
      <p:sp>
        <p:nvSpPr>
          <p:cNvPr id="11" name="Shape 9"/>
          <p:cNvSpPr/>
          <p:nvPr/>
        </p:nvSpPr>
        <p:spPr>
          <a:xfrm>
            <a:off x="6217920" y="1737360"/>
            <a:ext cx="2651760" cy="3566160"/>
          </a:xfrm>
          <a:prstGeom prst="roundRect">
            <a:avLst>
              <a:gd name="adj" fmla="val 4138"/>
            </a:avLst>
          </a:prstGeom>
          <a:solidFill>
            <a:srgbClr val="FFFFFF"/>
          </a:solidFill>
          <a:ln w="12700">
            <a:solidFill>
              <a:srgbClr val="FFFFFF"/>
            </a:solidFill>
            <a:prstDash val="solid"/>
          </a:ln>
          <a:effectLst>
            <a:outerShdw blurRad="101600" dist="25400" dir="5400000" algn="bl" rotWithShape="0">
              <a:srgbClr val="000000">
                <a:alpha val="12000"/>
              </a:srgbClr>
            </a:outerShdw>
          </a:effectLst>
        </p:spPr>
      </p:sp>
      <p:sp>
        <p:nvSpPr>
          <p:cNvPr id="12" name="Text 10"/>
          <p:cNvSpPr txBox="1"/>
          <p:nvPr/>
        </p:nvSpPr>
        <p:spPr>
          <a:xfrm>
            <a:off x="6492240" y="1965960"/>
            <a:ext cx="2103120" cy="914400"/>
          </a:xfrm>
          <a:prstGeom prst="rect">
            <a:avLst/>
          </a:prstGeom>
          <a:noFill/>
          <a:ln/>
        </p:spPr>
        <p:txBody>
          <a:bodyPr wrap="square" lIns="0" tIns="0" rIns="0" bIns="0" rtlCol="0" anchor="ctr"/>
          <a:lstStyle/>
          <a:p>
            <a:pPr marL="0" indent="0">
              <a:buNone/>
            </a:pPr>
            <a:r>
              <a:rPr lang="en-US" sz="5400" b="1" dirty="0">
                <a:solidFill>
                  <a:srgbClr val="F5A524"/>
                </a:solidFill>
                <a:latin typeface="Cambria" pitchFamily="34" charset="0"/>
                <a:ea typeface="Cambria" pitchFamily="34" charset="-122"/>
                <a:cs typeface="Cambria" pitchFamily="34" charset="-120"/>
              </a:rPr>
              <a:t>03</a:t>
            </a:r>
            <a:endParaRPr lang="en-US" sz="5400" dirty="0"/>
          </a:p>
        </p:txBody>
      </p:sp>
      <p:sp>
        <p:nvSpPr>
          <p:cNvPr id="13" name="Text 11"/>
          <p:cNvSpPr txBox="1"/>
          <p:nvPr/>
        </p:nvSpPr>
        <p:spPr>
          <a:xfrm>
            <a:off x="6492240" y="3017520"/>
            <a:ext cx="2194560" cy="822960"/>
          </a:xfrm>
          <a:prstGeom prst="rect">
            <a:avLst/>
          </a:prstGeom>
          <a:noFill/>
          <a:ln/>
        </p:spPr>
        <p:txBody>
          <a:bodyPr wrap="square" lIns="0" tIns="0" rIns="0" bIns="0" rtlCol="0" anchor="t"/>
          <a:lstStyle/>
          <a:p>
            <a:pPr marL="0" indent="0">
              <a:buNone/>
            </a:pPr>
            <a:r>
              <a:rPr lang="en-US" sz="2200" b="1" dirty="0">
                <a:solidFill>
                  <a:srgbClr val="171A21"/>
                </a:solidFill>
                <a:latin typeface="Cambria" pitchFamily="34" charset="0"/>
                <a:ea typeface="Cambria" pitchFamily="34" charset="-122"/>
                <a:cs typeface="Cambria" pitchFamily="34" charset="-120"/>
              </a:rPr>
              <a:t>The 9-Phase Roadmap</a:t>
            </a:r>
            <a:endParaRPr lang="en-US" sz="2200" dirty="0"/>
          </a:p>
        </p:txBody>
      </p:sp>
      <p:sp>
        <p:nvSpPr>
          <p:cNvPr id="14" name="Text 12"/>
          <p:cNvSpPr txBox="1"/>
          <p:nvPr/>
        </p:nvSpPr>
        <p:spPr>
          <a:xfrm>
            <a:off x="6492240" y="3931920"/>
            <a:ext cx="2148840" cy="1188720"/>
          </a:xfrm>
          <a:prstGeom prst="rect">
            <a:avLst/>
          </a:prstGeom>
          <a:noFill/>
          <a:ln/>
        </p:spPr>
        <p:txBody>
          <a:bodyPr wrap="square" lIns="0" tIns="0" rIns="0" bIns="0" rtlCol="0" anchor="t"/>
          <a:lstStyle/>
          <a:p>
            <a:pPr marL="0" indent="0">
              <a:buNone/>
            </a:pPr>
            <a:r>
              <a:rPr lang="en-US" sz="1400" dirty="0">
                <a:solidFill>
                  <a:srgbClr val="6B7280"/>
                </a:solidFill>
                <a:latin typeface="Calibri" pitchFamily="34" charset="0"/>
                <a:ea typeface="Calibri" pitchFamily="34" charset="-122"/>
                <a:cs typeface="Calibri" pitchFamily="34" charset="-120"/>
              </a:rPr>
              <a:t>Every phase explained, with Phases 1-3 in depth</a:t>
            </a:r>
            <a:endParaRPr lang="en-US" sz="1400" dirty="0"/>
          </a:p>
        </p:txBody>
      </p:sp>
      <p:sp>
        <p:nvSpPr>
          <p:cNvPr id="15" name="Shape 13"/>
          <p:cNvSpPr/>
          <p:nvPr/>
        </p:nvSpPr>
        <p:spPr>
          <a:xfrm>
            <a:off x="9052560" y="1737360"/>
            <a:ext cx="2651760" cy="3566160"/>
          </a:xfrm>
          <a:prstGeom prst="roundRect">
            <a:avLst>
              <a:gd name="adj" fmla="val 4138"/>
            </a:avLst>
          </a:prstGeom>
          <a:solidFill>
            <a:srgbClr val="FFFFFF"/>
          </a:solidFill>
          <a:ln w="12700">
            <a:solidFill>
              <a:srgbClr val="FFFFFF"/>
            </a:solidFill>
            <a:prstDash val="solid"/>
          </a:ln>
          <a:effectLst>
            <a:outerShdw blurRad="101600" dist="25400" dir="5400000" algn="bl" rotWithShape="0">
              <a:srgbClr val="000000">
                <a:alpha val="12000"/>
              </a:srgbClr>
            </a:outerShdw>
          </a:effectLst>
        </p:spPr>
      </p:sp>
      <p:sp>
        <p:nvSpPr>
          <p:cNvPr id="16" name="Text 14"/>
          <p:cNvSpPr txBox="1"/>
          <p:nvPr/>
        </p:nvSpPr>
        <p:spPr>
          <a:xfrm>
            <a:off x="9326880" y="1965960"/>
            <a:ext cx="2103120" cy="914400"/>
          </a:xfrm>
          <a:prstGeom prst="rect">
            <a:avLst/>
          </a:prstGeom>
          <a:noFill/>
          <a:ln/>
        </p:spPr>
        <p:txBody>
          <a:bodyPr wrap="square" lIns="0" tIns="0" rIns="0" bIns="0" rtlCol="0" anchor="ctr"/>
          <a:lstStyle/>
          <a:p>
            <a:pPr marL="0" indent="0">
              <a:buNone/>
            </a:pPr>
            <a:r>
              <a:rPr lang="en-US" sz="5400" b="1" dirty="0">
                <a:solidFill>
                  <a:srgbClr val="F5A524"/>
                </a:solidFill>
                <a:latin typeface="Cambria" pitchFamily="34" charset="0"/>
                <a:ea typeface="Cambria" pitchFamily="34" charset="-122"/>
                <a:cs typeface="Cambria" pitchFamily="34" charset="-120"/>
              </a:rPr>
              <a:t>04</a:t>
            </a:r>
            <a:endParaRPr lang="en-US" sz="5400" dirty="0"/>
          </a:p>
        </p:txBody>
      </p:sp>
      <p:sp>
        <p:nvSpPr>
          <p:cNvPr id="17" name="Text 15"/>
          <p:cNvSpPr txBox="1"/>
          <p:nvPr/>
        </p:nvSpPr>
        <p:spPr>
          <a:xfrm>
            <a:off x="9326880" y="3017520"/>
            <a:ext cx="2194560" cy="822960"/>
          </a:xfrm>
          <a:prstGeom prst="rect">
            <a:avLst/>
          </a:prstGeom>
          <a:noFill/>
          <a:ln/>
        </p:spPr>
        <p:txBody>
          <a:bodyPr wrap="square" lIns="0" tIns="0" rIns="0" bIns="0" rtlCol="0" anchor="t"/>
          <a:lstStyle/>
          <a:p>
            <a:pPr marL="0" indent="0">
              <a:buNone/>
            </a:pPr>
            <a:r>
              <a:rPr lang="en-US" sz="2200" b="1" dirty="0">
                <a:solidFill>
                  <a:srgbClr val="171A21"/>
                </a:solidFill>
                <a:latin typeface="Cambria" pitchFamily="34" charset="0"/>
                <a:ea typeface="Cambria" pitchFamily="34" charset="-122"/>
                <a:cs typeface="Cambria" pitchFamily="34" charset="-120"/>
              </a:rPr>
              <a:t>Live Demo</a:t>
            </a:r>
            <a:endParaRPr lang="en-US" sz="2200" dirty="0"/>
          </a:p>
        </p:txBody>
      </p:sp>
      <p:sp>
        <p:nvSpPr>
          <p:cNvPr id="18" name="Text 16"/>
          <p:cNvSpPr txBox="1"/>
          <p:nvPr/>
        </p:nvSpPr>
        <p:spPr>
          <a:xfrm>
            <a:off x="9326880" y="3931920"/>
            <a:ext cx="2148840" cy="1188720"/>
          </a:xfrm>
          <a:prstGeom prst="rect">
            <a:avLst/>
          </a:prstGeom>
          <a:noFill/>
          <a:ln/>
        </p:spPr>
        <p:txBody>
          <a:bodyPr wrap="square" lIns="0" tIns="0" rIns="0" bIns="0" rtlCol="0" anchor="t"/>
          <a:lstStyle/>
          <a:p>
            <a:pPr marL="0" indent="0">
              <a:buNone/>
            </a:pPr>
            <a:r>
              <a:rPr lang="en-US" sz="1400" dirty="0">
                <a:solidFill>
                  <a:srgbClr val="6B7280"/>
                </a:solidFill>
                <a:latin typeface="Calibri" pitchFamily="34" charset="0"/>
                <a:ea typeface="Calibri" pitchFamily="34" charset="-122"/>
                <a:cs typeface="Calibri" pitchFamily="34" charset="-120"/>
              </a:rPr>
              <a:t>The working prototype: what we built, how and why</a:t>
            </a:r>
            <a:endParaRPr lang="en-US" sz="1400" dirty="0"/>
          </a:p>
        </p:txBody>
      </p:sp>
      <p:sp>
        <p:nvSpPr>
          <p:cNvPr id="19" name="Text 17"/>
          <p:cNvSpPr txBox="1"/>
          <p:nvPr/>
        </p:nvSpPr>
        <p:spPr>
          <a:xfrm>
            <a:off x="548640" y="5577840"/>
            <a:ext cx="10972800" cy="365760"/>
          </a:xfrm>
          <a:prstGeom prst="rect">
            <a:avLst/>
          </a:prstGeom>
          <a:noFill/>
          <a:ln/>
        </p:spPr>
        <p:txBody>
          <a:bodyPr wrap="square" lIns="0" tIns="0" rIns="0" bIns="0" rtlCol="0" anchor="ctr"/>
          <a:lstStyle/>
          <a:p>
            <a:pPr marL="0" indent="0">
              <a:buNone/>
            </a:pPr>
            <a:r>
              <a:rPr lang="en-US" sz="1500" i="1" dirty="0">
                <a:solidFill>
                  <a:srgbClr val="6B7280"/>
                </a:solidFill>
                <a:latin typeface="Calibri" pitchFamily="34" charset="0"/>
                <a:ea typeface="Calibri" pitchFamily="34" charset="-122"/>
                <a:cs typeface="Calibri" pitchFamily="34" charset="-120"/>
              </a:rPr>
              <a:t>Flow of this presentation: problem to pitch to proof.</a:t>
            </a:r>
            <a:endParaRPr lang="en-US" sz="1500" dirty="0"/>
          </a:p>
        </p:txBody>
      </p:sp>
      <p:sp>
        <p:nvSpPr>
          <p:cNvPr id="20" name="Text 18"/>
          <p:cNvSpPr txBox="1"/>
          <p:nvPr/>
        </p:nvSpPr>
        <p:spPr>
          <a:xfrm>
            <a:off x="548640" y="6446520"/>
            <a:ext cx="5486400" cy="274320"/>
          </a:xfrm>
          <a:prstGeom prst="rect">
            <a:avLst/>
          </a:prstGeom>
          <a:noFill/>
          <a:ln/>
        </p:spPr>
        <p:txBody>
          <a:bodyPr wrap="square" lIns="0" tIns="0" rIns="0" bIns="0" rtlCol="0" anchor="ctr"/>
          <a:lstStyle/>
          <a:p>
            <a:pPr marL="0" indent="0">
              <a:buNone/>
            </a:pPr>
            <a:r>
              <a:rPr lang="en-US" sz="1000" dirty="0">
                <a:solidFill>
                  <a:srgbClr val="6B7280"/>
                </a:solidFill>
                <a:latin typeface="Calibri" pitchFamily="34" charset="0"/>
                <a:ea typeface="Calibri" pitchFamily="34" charset="-122"/>
                <a:cs typeface="Calibri" pitchFamily="34" charset="-120"/>
              </a:rPr>
              <a:t>KAVACH  |  Project Review</a:t>
            </a:r>
            <a:endParaRPr lang="en-US" sz="1000" dirty="0"/>
          </a:p>
        </p:txBody>
      </p:sp>
      <p:sp>
        <p:nvSpPr>
          <p:cNvPr id="25" name="Slide Number Placeholder 0"/>
          <p:cNvSpPr>
            <a:spLocks noGrp="1"/>
          </p:cNvSpPr>
          <p:nvPr>
            <p:ph type="sldNum" sz="quarter" idx="4294967295"/>
          </p:nvPr>
        </p:nvSpPr>
        <p:spPr>
          <a:xfrm>
            <a:off x="11064240" y="644652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6B7280"/>
                </a:solidFill>
                <a:latin typeface="Calibri"/>
                <a:ea typeface="Calibri"/>
                <a:cs typeface="Calibri"/>
              </a:defRPr>
            </a:lvl1pPr>
          </a:lstStyle>
          <a:p>
            <a:pPr algn="r"/>
            <a:fld id="{F7021451-1387-4CA6-816F-3879F97B5CBC}" type="slidenum">
              <a:rPr lang="en-US" b="0"/>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3F4F6"/>
        </a:solidFill>
        <a:effectLst/>
      </p:bgPr>
    </p:bg>
    <p:spTree>
      <p:nvGrpSpPr>
        <p:cNvPr id="1" name=""/>
        <p:cNvGrpSpPr/>
        <p:nvPr/>
      </p:nvGrpSpPr>
      <p:grpSpPr>
        <a:xfrm>
          <a:off x="0" y="0"/>
          <a:ext cx="0" cy="0"/>
          <a:chOff x="0" y="0"/>
          <a:chExt cx="0" cy="0"/>
        </a:xfrm>
      </p:grpSpPr>
      <p:sp>
        <p:nvSpPr>
          <p:cNvPr id="2" name="Text 0"/>
          <p:cNvSpPr txBox="1"/>
          <p:nvPr/>
        </p:nvSpPr>
        <p:spPr>
          <a:xfrm>
            <a:off x="548640" y="320040"/>
            <a:ext cx="11064240" cy="731520"/>
          </a:xfrm>
          <a:prstGeom prst="rect">
            <a:avLst/>
          </a:prstGeom>
          <a:noFill/>
          <a:ln/>
        </p:spPr>
        <p:txBody>
          <a:bodyPr wrap="square" lIns="0" tIns="0" rIns="0" bIns="0" rtlCol="0" anchor="ctr"/>
          <a:lstStyle/>
          <a:p>
            <a:pPr marL="0" indent="0">
              <a:buNone/>
            </a:pPr>
            <a:r>
              <a:rPr lang="en-US" sz="3200" b="1" dirty="0">
                <a:solidFill>
                  <a:srgbClr val="171A21"/>
                </a:solidFill>
                <a:latin typeface="Cambria" pitchFamily="34" charset="0"/>
                <a:ea typeface="Cambria" pitchFamily="34" charset="-122"/>
                <a:cs typeface="Cambria" pitchFamily="34" charset="-120"/>
              </a:rPr>
              <a:t>The Problem: AI coding help is unsafe by default</a:t>
            </a:r>
            <a:endParaRPr lang="en-US" sz="3200" dirty="0"/>
          </a:p>
        </p:txBody>
      </p:sp>
      <p:sp>
        <p:nvSpPr>
          <p:cNvPr id="3" name="Shape 1"/>
          <p:cNvSpPr/>
          <p:nvPr/>
        </p:nvSpPr>
        <p:spPr>
          <a:xfrm>
            <a:off x="548640" y="1600200"/>
            <a:ext cx="4206240" cy="4526280"/>
          </a:xfrm>
          <a:prstGeom prst="roundRect">
            <a:avLst>
              <a:gd name="adj" fmla="val 2609"/>
            </a:avLst>
          </a:prstGeom>
          <a:solidFill>
            <a:srgbClr val="171A21"/>
          </a:solidFill>
          <a:ln w="12700">
            <a:solidFill>
              <a:srgbClr val="171A21"/>
            </a:solidFill>
            <a:prstDash val="solid"/>
          </a:ln>
          <a:effectLst>
            <a:outerShdw blurRad="101600" dist="25400" dir="5400000" algn="bl" rotWithShape="0">
              <a:srgbClr val="000000">
                <a:alpha val="12000"/>
              </a:srgbClr>
            </a:outerShdw>
          </a:effectLst>
        </p:spPr>
      </p:sp>
      <p:sp>
        <p:nvSpPr>
          <p:cNvPr id="4" name="Text 2"/>
          <p:cNvSpPr txBox="1"/>
          <p:nvPr/>
        </p:nvSpPr>
        <p:spPr>
          <a:xfrm>
            <a:off x="822960" y="1828800"/>
            <a:ext cx="3657600" cy="4023360"/>
          </a:xfrm>
          <a:prstGeom prst="rect">
            <a:avLst/>
          </a:prstGeom>
          <a:noFill/>
          <a:ln/>
        </p:spPr>
        <p:txBody>
          <a:bodyPr wrap="square" lIns="0" tIns="0" rIns="0" bIns="0" rtlCol="0" anchor="t"/>
          <a:lstStyle/>
          <a:p>
            <a:pPr marL="0" indent="0">
              <a:spcAft>
                <a:spcPts val="1000"/>
              </a:spcAft>
              <a:buNone/>
            </a:pPr>
            <a:r>
              <a:rPr lang="en-US" sz="1400" b="1" dirty="0">
                <a:solidFill>
                  <a:srgbClr val="F5A524"/>
                </a:solidFill>
                <a:latin typeface="Calibri" pitchFamily="34" charset="0"/>
                <a:ea typeface="Calibri" pitchFamily="34" charset="-122"/>
                <a:cs typeface="Calibri" pitchFamily="34" charset="-120"/>
              </a:rPr>
              <a:t>Problem statement</a:t>
            </a:r>
            <a:endParaRPr lang="en-US" sz="1400" dirty="0"/>
          </a:p>
          <a:p>
            <a:pPr marL="0" indent="0">
              <a:spcAft>
                <a:spcPts val="1200"/>
              </a:spcAft>
              <a:buNone/>
            </a:pPr>
            <a:r>
              <a:rPr lang="en-US" sz="1900" dirty="0">
                <a:solidFill>
                  <a:srgbClr val="FFFFFF"/>
                </a:solidFill>
                <a:latin typeface="Calibri" pitchFamily="34" charset="0"/>
                <a:ea typeface="Calibri" pitchFamily="34" charset="-122"/>
                <a:cs typeface="Calibri" pitchFamily="34" charset="-120"/>
              </a:rPr>
              <a:t>Developers now ask AI assistants to read and change real repositories. Those repositories hold secrets, customer identifiers and critical business logic.</a:t>
            </a:r>
            <a:endParaRPr lang="en-US" sz="1400" dirty="0"/>
          </a:p>
          <a:p>
            <a:pPr marL="0" indent="0">
              <a:buNone/>
            </a:pPr>
            <a:r>
              <a:rPr lang="en-US" sz="1900" b="1" dirty="0">
                <a:solidFill>
                  <a:srgbClr val="FFFFFF"/>
                </a:solidFill>
                <a:latin typeface="Calibri" pitchFamily="34" charset="0"/>
                <a:ea typeface="Calibri" pitchFamily="34" charset="-122"/>
                <a:cs typeface="Calibri" pitchFamily="34" charset="-120"/>
              </a:rPr>
              <a:t>Yet nothing checks what goes in, what gets retrieved, or what comes out.</a:t>
            </a:r>
            <a:endParaRPr lang="en-US" sz="1400" dirty="0"/>
          </a:p>
        </p:txBody>
      </p:sp>
      <p:sp>
        <p:nvSpPr>
          <p:cNvPr id="5" name="Shape 3"/>
          <p:cNvSpPr/>
          <p:nvPr/>
        </p:nvSpPr>
        <p:spPr>
          <a:xfrm>
            <a:off x="5029200" y="1600200"/>
            <a:ext cx="6583680" cy="1417320"/>
          </a:xfrm>
          <a:prstGeom prst="roundRect">
            <a:avLst>
              <a:gd name="adj" fmla="val 7742"/>
            </a:avLst>
          </a:prstGeom>
          <a:solidFill>
            <a:srgbClr val="FFFFFF"/>
          </a:solidFill>
          <a:ln w="12700">
            <a:solidFill>
              <a:srgbClr val="FFFFFF"/>
            </a:solidFill>
            <a:prstDash val="solid"/>
          </a:ln>
          <a:effectLst>
            <a:outerShdw blurRad="101600" dist="25400" dir="5400000" algn="bl" rotWithShape="0">
              <a:srgbClr val="000000">
                <a:alpha val="12000"/>
              </a:srgbClr>
            </a:outerShdw>
          </a:effectLst>
        </p:spPr>
      </p:sp>
      <p:sp>
        <p:nvSpPr>
          <p:cNvPr id="6" name="Shape 4"/>
          <p:cNvSpPr/>
          <p:nvPr/>
        </p:nvSpPr>
        <p:spPr>
          <a:xfrm>
            <a:off x="5303520" y="1938528"/>
            <a:ext cx="731520" cy="731520"/>
          </a:xfrm>
          <a:prstGeom prst="ellipse">
            <a:avLst/>
          </a:prstGeom>
          <a:solidFill>
            <a:srgbClr val="C8372D"/>
          </a:solidFill>
          <a:ln w="12700">
            <a:solidFill>
              <a:srgbClr val="C8372D"/>
            </a:solidFill>
            <a:prstDash val="solid"/>
          </a:ln>
        </p:spPr>
      </p:sp>
      <p:pic>
        <p:nvPicPr>
          <p:cNvPr id="7" name="Image 0" descr="preencoded.png"/>
          <p:cNvPicPr>
            <a:picLocks noChangeAspect="1"/>
          </p:cNvPicPr>
          <p:nvPr/>
        </p:nvPicPr>
        <p:blipFill>
          <a:blip r:embed="rId3"/>
          <a:stretch>
            <a:fillRect/>
          </a:stretch>
        </p:blipFill>
        <p:spPr>
          <a:xfrm>
            <a:off x="5493715" y="2128723"/>
            <a:ext cx="351130" cy="351130"/>
          </a:xfrm>
          <a:prstGeom prst="rect">
            <a:avLst/>
          </a:prstGeom>
        </p:spPr>
      </p:pic>
      <p:sp>
        <p:nvSpPr>
          <p:cNvPr id="8" name="Text 5"/>
          <p:cNvSpPr txBox="1"/>
          <p:nvPr/>
        </p:nvSpPr>
        <p:spPr>
          <a:xfrm>
            <a:off x="6263640" y="1709928"/>
            <a:ext cx="5166360" cy="1188720"/>
          </a:xfrm>
          <a:prstGeom prst="rect">
            <a:avLst/>
          </a:prstGeom>
          <a:noFill/>
          <a:ln/>
        </p:spPr>
        <p:txBody>
          <a:bodyPr wrap="square" lIns="0" tIns="0" rIns="0" bIns="0" rtlCol="0" anchor="ctr"/>
          <a:lstStyle/>
          <a:p>
            <a:pPr marL="0" indent="0">
              <a:spcAft>
                <a:spcPts val="400"/>
              </a:spcAft>
              <a:buNone/>
            </a:pPr>
            <a:r>
              <a:rPr lang="en-US" sz="1800" b="1" dirty="0">
                <a:solidFill>
                  <a:srgbClr val="171A21"/>
                </a:solidFill>
                <a:latin typeface="Calibri" pitchFamily="34" charset="0"/>
                <a:ea typeface="Calibri" pitchFamily="34" charset="-122"/>
                <a:cs typeface="Calibri" pitchFamily="34" charset="-120"/>
              </a:rPr>
              <a:t>Data leakage</a:t>
            </a:r>
            <a:endParaRPr lang="en-US" sz="1800" dirty="0"/>
          </a:p>
          <a:p>
            <a:pPr marL="0" indent="0">
              <a:buNone/>
            </a:pPr>
            <a:r>
              <a:rPr lang="en-US" sz="1400" dirty="0">
                <a:solidFill>
                  <a:srgbClr val="6B7280"/>
                </a:solidFill>
                <a:latin typeface="Calibri" pitchFamily="34" charset="0"/>
                <a:ea typeface="Calibri" pitchFamily="34" charset="-122"/>
                <a:cs typeface="Calibri" pitchFamily="34" charset="-120"/>
              </a:rPr>
              <a:t>Personal identifiers (like Aadhaar-like numbers), keys and credentials can be pasted into prompts and sent to an external LLM.</a:t>
            </a:r>
            <a:endParaRPr lang="en-US" sz="1800" dirty="0"/>
          </a:p>
        </p:txBody>
      </p:sp>
      <p:sp>
        <p:nvSpPr>
          <p:cNvPr id="9" name="Shape 6"/>
          <p:cNvSpPr/>
          <p:nvPr/>
        </p:nvSpPr>
        <p:spPr>
          <a:xfrm>
            <a:off x="5029200" y="3154680"/>
            <a:ext cx="6583680" cy="1417320"/>
          </a:xfrm>
          <a:prstGeom prst="roundRect">
            <a:avLst>
              <a:gd name="adj" fmla="val 7742"/>
            </a:avLst>
          </a:prstGeom>
          <a:solidFill>
            <a:srgbClr val="FFFFFF"/>
          </a:solidFill>
          <a:ln w="12700">
            <a:solidFill>
              <a:srgbClr val="FFFFFF"/>
            </a:solidFill>
            <a:prstDash val="solid"/>
          </a:ln>
          <a:effectLst>
            <a:outerShdw blurRad="101600" dist="25400" dir="5400000" algn="bl" rotWithShape="0">
              <a:srgbClr val="000000">
                <a:alpha val="12000"/>
              </a:srgbClr>
            </a:outerShdw>
          </a:effectLst>
        </p:spPr>
      </p:sp>
      <p:sp>
        <p:nvSpPr>
          <p:cNvPr id="10" name="Shape 7"/>
          <p:cNvSpPr/>
          <p:nvPr/>
        </p:nvSpPr>
        <p:spPr>
          <a:xfrm>
            <a:off x="5303520" y="3493008"/>
            <a:ext cx="731520" cy="731520"/>
          </a:xfrm>
          <a:prstGeom prst="ellipse">
            <a:avLst/>
          </a:prstGeom>
          <a:solidFill>
            <a:srgbClr val="262B36"/>
          </a:solidFill>
          <a:ln w="12700">
            <a:solidFill>
              <a:srgbClr val="262B36"/>
            </a:solidFill>
            <a:prstDash val="solid"/>
          </a:ln>
        </p:spPr>
      </p:sp>
      <p:pic>
        <p:nvPicPr>
          <p:cNvPr id="11" name="Image 1" descr="preencoded.png"/>
          <p:cNvPicPr>
            <a:picLocks noChangeAspect="1"/>
          </p:cNvPicPr>
          <p:nvPr/>
        </p:nvPicPr>
        <p:blipFill>
          <a:blip r:embed="rId4"/>
          <a:stretch>
            <a:fillRect/>
          </a:stretch>
        </p:blipFill>
        <p:spPr>
          <a:xfrm>
            <a:off x="5493715" y="3683203"/>
            <a:ext cx="351130" cy="351130"/>
          </a:xfrm>
          <a:prstGeom prst="rect">
            <a:avLst/>
          </a:prstGeom>
        </p:spPr>
      </p:pic>
      <p:sp>
        <p:nvSpPr>
          <p:cNvPr id="12" name="Text 8"/>
          <p:cNvSpPr txBox="1"/>
          <p:nvPr/>
        </p:nvSpPr>
        <p:spPr>
          <a:xfrm>
            <a:off x="6263640" y="3264408"/>
            <a:ext cx="5166360" cy="1188720"/>
          </a:xfrm>
          <a:prstGeom prst="rect">
            <a:avLst/>
          </a:prstGeom>
          <a:noFill/>
          <a:ln/>
        </p:spPr>
        <p:txBody>
          <a:bodyPr wrap="square" lIns="0" tIns="0" rIns="0" bIns="0" rtlCol="0" anchor="ctr"/>
          <a:lstStyle/>
          <a:p>
            <a:pPr marL="0" indent="0">
              <a:spcAft>
                <a:spcPts val="400"/>
              </a:spcAft>
              <a:buNone/>
            </a:pPr>
            <a:r>
              <a:rPr lang="en-US" sz="1800" b="1" dirty="0">
                <a:solidFill>
                  <a:srgbClr val="171A21"/>
                </a:solidFill>
                <a:latin typeface="Calibri" pitchFamily="34" charset="0"/>
                <a:ea typeface="Calibri" pitchFamily="34" charset="-122"/>
                <a:cs typeface="Calibri" pitchFamily="34" charset="-120"/>
              </a:rPr>
              <a:t>Blind trust in retrieved context</a:t>
            </a:r>
            <a:endParaRPr lang="en-US" sz="1800" dirty="0"/>
          </a:p>
          <a:p>
            <a:pPr marL="0" indent="0">
              <a:buNone/>
            </a:pPr>
            <a:r>
              <a:rPr lang="en-US" sz="1400" dirty="0">
                <a:solidFill>
                  <a:srgbClr val="6B7280"/>
                </a:solidFill>
                <a:latin typeface="Calibri" pitchFamily="34" charset="0"/>
                <a:ea typeface="Calibri" pitchFamily="34" charset="-122"/>
                <a:cs typeface="Calibri" pitchFamily="34" charset="-120"/>
              </a:rPr>
              <a:t>RAG assistants feed retrieved repository code straight to the model without checking what that context contains.</a:t>
            </a:r>
            <a:endParaRPr lang="en-US" sz="1800" dirty="0"/>
          </a:p>
        </p:txBody>
      </p:sp>
      <p:sp>
        <p:nvSpPr>
          <p:cNvPr id="13" name="Shape 9"/>
          <p:cNvSpPr/>
          <p:nvPr/>
        </p:nvSpPr>
        <p:spPr>
          <a:xfrm>
            <a:off x="5029200" y="4709160"/>
            <a:ext cx="6583680" cy="1417320"/>
          </a:xfrm>
          <a:prstGeom prst="roundRect">
            <a:avLst>
              <a:gd name="adj" fmla="val 7742"/>
            </a:avLst>
          </a:prstGeom>
          <a:solidFill>
            <a:srgbClr val="FFFFFF"/>
          </a:solidFill>
          <a:ln w="12700">
            <a:solidFill>
              <a:srgbClr val="FFFFFF"/>
            </a:solidFill>
            <a:prstDash val="solid"/>
          </a:ln>
          <a:effectLst>
            <a:outerShdw blurRad="101600" dist="25400" dir="5400000" algn="bl" rotWithShape="0">
              <a:srgbClr val="000000">
                <a:alpha val="12000"/>
              </a:srgbClr>
            </a:outerShdw>
          </a:effectLst>
        </p:spPr>
      </p:sp>
      <p:sp>
        <p:nvSpPr>
          <p:cNvPr id="14" name="Shape 10"/>
          <p:cNvSpPr/>
          <p:nvPr/>
        </p:nvSpPr>
        <p:spPr>
          <a:xfrm>
            <a:off x="5303520" y="5047488"/>
            <a:ext cx="731520" cy="731520"/>
          </a:xfrm>
          <a:prstGeom prst="ellipse">
            <a:avLst/>
          </a:prstGeom>
          <a:solidFill>
            <a:srgbClr val="0F766E"/>
          </a:solidFill>
          <a:ln w="12700">
            <a:solidFill>
              <a:srgbClr val="0F766E"/>
            </a:solidFill>
            <a:prstDash val="solid"/>
          </a:ln>
        </p:spPr>
      </p:sp>
      <p:pic>
        <p:nvPicPr>
          <p:cNvPr id="15" name="Image 2" descr="preencoded.png"/>
          <p:cNvPicPr>
            <a:picLocks noChangeAspect="1"/>
          </p:cNvPicPr>
          <p:nvPr/>
        </p:nvPicPr>
        <p:blipFill>
          <a:blip r:embed="rId5"/>
          <a:stretch>
            <a:fillRect/>
          </a:stretch>
        </p:blipFill>
        <p:spPr>
          <a:xfrm>
            <a:off x="5493715" y="5237683"/>
            <a:ext cx="351130" cy="351130"/>
          </a:xfrm>
          <a:prstGeom prst="rect">
            <a:avLst/>
          </a:prstGeom>
        </p:spPr>
      </p:pic>
      <p:sp>
        <p:nvSpPr>
          <p:cNvPr id="16" name="Text 11"/>
          <p:cNvSpPr txBox="1"/>
          <p:nvPr/>
        </p:nvSpPr>
        <p:spPr>
          <a:xfrm>
            <a:off x="6263640" y="4818888"/>
            <a:ext cx="5166360" cy="1188720"/>
          </a:xfrm>
          <a:prstGeom prst="rect">
            <a:avLst/>
          </a:prstGeom>
          <a:noFill/>
          <a:ln/>
        </p:spPr>
        <p:txBody>
          <a:bodyPr wrap="square" lIns="0" tIns="0" rIns="0" bIns="0" rtlCol="0" anchor="ctr"/>
          <a:lstStyle/>
          <a:p>
            <a:pPr marL="0" indent="0">
              <a:spcAft>
                <a:spcPts val="400"/>
              </a:spcAft>
              <a:buNone/>
            </a:pPr>
            <a:r>
              <a:rPr lang="en-US" sz="1800" b="1" dirty="0">
                <a:solidFill>
                  <a:srgbClr val="171A21"/>
                </a:solidFill>
                <a:latin typeface="Calibri" pitchFamily="34" charset="0"/>
                <a:ea typeface="Calibri" pitchFamily="34" charset="-122"/>
                <a:cs typeface="Calibri" pitchFamily="34" charset="-120"/>
              </a:rPr>
              <a:t>Unseen breakage</a:t>
            </a:r>
            <a:endParaRPr lang="en-US" sz="1800" dirty="0"/>
          </a:p>
          <a:p>
            <a:pPr marL="0" indent="0">
              <a:buNone/>
            </a:pPr>
            <a:r>
              <a:rPr lang="en-US" sz="1400" dirty="0">
                <a:solidFill>
                  <a:srgbClr val="6B7280"/>
                </a:solidFill>
                <a:latin typeface="Calibri" pitchFamily="34" charset="0"/>
                <a:ea typeface="Calibri" pitchFamily="34" charset="-122"/>
                <a:cs typeface="Calibri" pitchFamily="34" charset="-120"/>
              </a:rPr>
              <a:t>A generated change can quietly break other modules, and unvalidated code has no audit trail behind it.</a:t>
            </a:r>
            <a:endParaRPr lang="en-US" sz="1800" dirty="0"/>
          </a:p>
        </p:txBody>
      </p:sp>
      <p:sp>
        <p:nvSpPr>
          <p:cNvPr id="17" name="Text 12"/>
          <p:cNvSpPr txBox="1"/>
          <p:nvPr/>
        </p:nvSpPr>
        <p:spPr>
          <a:xfrm>
            <a:off x="548640" y="6446520"/>
            <a:ext cx="5486400" cy="274320"/>
          </a:xfrm>
          <a:prstGeom prst="rect">
            <a:avLst/>
          </a:prstGeom>
          <a:noFill/>
          <a:ln/>
        </p:spPr>
        <p:txBody>
          <a:bodyPr wrap="square" lIns="0" tIns="0" rIns="0" bIns="0" rtlCol="0" anchor="ctr"/>
          <a:lstStyle/>
          <a:p>
            <a:pPr marL="0" indent="0">
              <a:buNone/>
            </a:pPr>
            <a:r>
              <a:rPr lang="en-US" sz="1000" dirty="0">
                <a:solidFill>
                  <a:srgbClr val="6B7280"/>
                </a:solidFill>
                <a:latin typeface="Calibri" pitchFamily="34" charset="0"/>
                <a:ea typeface="Calibri" pitchFamily="34" charset="-122"/>
                <a:cs typeface="Calibri" pitchFamily="34" charset="-120"/>
              </a:rPr>
              <a:t>KAVACH  |  Project Review</a:t>
            </a:r>
            <a:endParaRPr lang="en-US" sz="1000" dirty="0"/>
          </a:p>
        </p:txBody>
      </p:sp>
      <p:sp>
        <p:nvSpPr>
          <p:cNvPr id="25" name="Slide Number Placeholder 0"/>
          <p:cNvSpPr>
            <a:spLocks noGrp="1"/>
          </p:cNvSpPr>
          <p:nvPr>
            <p:ph type="sldNum" sz="quarter" idx="4294967295"/>
          </p:nvPr>
        </p:nvSpPr>
        <p:spPr>
          <a:xfrm>
            <a:off x="11064240" y="644652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6B7280"/>
                </a:solidFill>
                <a:latin typeface="Calibri"/>
                <a:ea typeface="Calibri"/>
                <a:cs typeface="Calibri"/>
              </a:defRPr>
            </a:lvl1pPr>
          </a:lstStyle>
          <a:p>
            <a:pPr algn="r"/>
            <a:fld id="{F7021451-1387-4CA6-816F-3879F97B5CBC}" type="slidenum">
              <a:rPr lang="en-US" b="0"/>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3F4F6"/>
        </a:solidFill>
        <a:effectLst/>
      </p:bgPr>
    </p:bg>
    <p:spTree>
      <p:nvGrpSpPr>
        <p:cNvPr id="1" name=""/>
        <p:cNvGrpSpPr/>
        <p:nvPr/>
      </p:nvGrpSpPr>
      <p:grpSpPr>
        <a:xfrm>
          <a:off x="0" y="0"/>
          <a:ext cx="0" cy="0"/>
          <a:chOff x="0" y="0"/>
          <a:chExt cx="0" cy="0"/>
        </a:xfrm>
      </p:grpSpPr>
      <p:sp>
        <p:nvSpPr>
          <p:cNvPr id="2" name="Text 0"/>
          <p:cNvSpPr txBox="1"/>
          <p:nvPr/>
        </p:nvSpPr>
        <p:spPr>
          <a:xfrm>
            <a:off x="548640" y="320040"/>
            <a:ext cx="11064240" cy="731520"/>
          </a:xfrm>
          <a:prstGeom prst="rect">
            <a:avLst/>
          </a:prstGeom>
          <a:noFill/>
          <a:ln/>
        </p:spPr>
        <p:txBody>
          <a:bodyPr wrap="square" lIns="0" tIns="0" rIns="0" bIns="0" rtlCol="0" anchor="ctr"/>
          <a:lstStyle/>
          <a:p>
            <a:pPr marL="0" indent="0">
              <a:buNone/>
            </a:pPr>
            <a:r>
              <a:rPr lang="en-US" sz="3200" b="1" dirty="0">
                <a:solidFill>
                  <a:srgbClr val="171A21"/>
                </a:solidFill>
                <a:latin typeface="Cambria" pitchFamily="34" charset="0"/>
                <a:ea typeface="Cambria" pitchFamily="34" charset="-122"/>
                <a:cs typeface="Cambria" pitchFamily="34" charset="-120"/>
              </a:rPr>
              <a:t>What happens without KAVACH, and what changes with it</a:t>
            </a:r>
            <a:endParaRPr lang="en-US" sz="3200" dirty="0"/>
          </a:p>
        </p:txBody>
      </p:sp>
      <p:sp>
        <p:nvSpPr>
          <p:cNvPr id="3" name="Text 1"/>
          <p:cNvSpPr txBox="1"/>
          <p:nvPr/>
        </p:nvSpPr>
        <p:spPr>
          <a:xfrm>
            <a:off x="548640" y="1097280"/>
            <a:ext cx="11064240" cy="411480"/>
          </a:xfrm>
          <a:prstGeom prst="rect">
            <a:avLst/>
          </a:prstGeom>
          <a:noFill/>
          <a:ln/>
        </p:spPr>
        <p:txBody>
          <a:bodyPr wrap="square" lIns="0" tIns="0" rIns="0" bIns="0" rtlCol="0" anchor="ctr"/>
          <a:lstStyle/>
          <a:p>
            <a:pPr marL="0" indent="0">
              <a:buNone/>
            </a:pPr>
            <a:r>
              <a:rPr lang="en-US" sz="1500" i="1" dirty="0">
                <a:solidFill>
                  <a:srgbClr val="6B7280"/>
                </a:solidFill>
                <a:latin typeface="Calibri" pitchFamily="34" charset="0"/>
                <a:ea typeface="Calibri" pitchFamily="34" charset="-122"/>
                <a:cs typeface="Calibri" pitchFamily="34" charset="-120"/>
              </a:rPr>
              <a:t>Scenario: a developer asks the AI to "fix the KYC bug" and pastes a customer's Aadhaar-like number into the prompt.</a:t>
            </a:r>
            <a:endParaRPr lang="en-US" sz="1500" dirty="0"/>
          </a:p>
        </p:txBody>
      </p:sp>
      <p:sp>
        <p:nvSpPr>
          <p:cNvPr id="4" name="Shape 2"/>
          <p:cNvSpPr/>
          <p:nvPr/>
        </p:nvSpPr>
        <p:spPr>
          <a:xfrm>
            <a:off x="548640" y="1691640"/>
            <a:ext cx="5394960" cy="502920"/>
          </a:xfrm>
          <a:prstGeom prst="roundRect">
            <a:avLst>
              <a:gd name="adj" fmla="val 18182"/>
            </a:avLst>
          </a:prstGeom>
          <a:solidFill>
            <a:srgbClr val="C8372D"/>
          </a:solidFill>
          <a:ln w="12700">
            <a:solidFill>
              <a:srgbClr val="C8372D"/>
            </a:solidFill>
            <a:prstDash val="solid"/>
          </a:ln>
        </p:spPr>
      </p:sp>
      <p:sp>
        <p:nvSpPr>
          <p:cNvPr id="5" name="Text 3"/>
          <p:cNvSpPr txBox="1"/>
          <p:nvPr/>
        </p:nvSpPr>
        <p:spPr>
          <a:xfrm>
            <a:off x="548640" y="1691640"/>
            <a:ext cx="5394960" cy="502920"/>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WITHOUT KAVACH</a:t>
            </a:r>
            <a:endParaRPr lang="en-US" sz="1600" dirty="0"/>
          </a:p>
        </p:txBody>
      </p:sp>
      <p:sp>
        <p:nvSpPr>
          <p:cNvPr id="6" name="Shape 4"/>
          <p:cNvSpPr/>
          <p:nvPr/>
        </p:nvSpPr>
        <p:spPr>
          <a:xfrm>
            <a:off x="548640" y="2331720"/>
            <a:ext cx="5394960" cy="804672"/>
          </a:xfrm>
          <a:prstGeom prst="roundRect">
            <a:avLst>
              <a:gd name="adj" fmla="val 11364"/>
            </a:avLst>
          </a:prstGeom>
          <a:solidFill>
            <a:srgbClr val="FBE4E1"/>
          </a:solidFill>
          <a:ln w="12700">
            <a:solidFill>
              <a:srgbClr val="FBE4E1"/>
            </a:solidFill>
            <a:prstDash val="solid"/>
          </a:ln>
        </p:spPr>
      </p:sp>
      <p:sp>
        <p:nvSpPr>
          <p:cNvPr id="7" name="Text 5"/>
          <p:cNvSpPr txBox="1"/>
          <p:nvPr/>
        </p:nvSpPr>
        <p:spPr>
          <a:xfrm>
            <a:off x="685800" y="2514600"/>
            <a:ext cx="438912" cy="438912"/>
          </a:xfrm>
          <a:prstGeom prst="ellipse">
            <a:avLst/>
          </a:prstGeom>
          <a:solidFill>
            <a:srgbClr val="C8372D"/>
          </a:solid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8" name="Text 6"/>
          <p:cNvSpPr txBox="1"/>
          <p:nvPr/>
        </p:nvSpPr>
        <p:spPr>
          <a:xfrm>
            <a:off x="1280160" y="2331720"/>
            <a:ext cx="4526280" cy="804672"/>
          </a:xfrm>
          <a:prstGeom prst="rect">
            <a:avLst/>
          </a:prstGeom>
          <a:noFill/>
          <a:ln/>
        </p:spPr>
        <p:txBody>
          <a:bodyPr wrap="square" lIns="0" tIns="0" rIns="0" bIns="0" rtlCol="0" anchor="ctr"/>
          <a:lstStyle/>
          <a:p>
            <a:pPr marL="0" indent="0">
              <a:buNone/>
            </a:pPr>
            <a:r>
              <a:rPr lang="en-US" sz="1300" dirty="0">
                <a:solidFill>
                  <a:srgbClr val="1F2430"/>
                </a:solidFill>
                <a:latin typeface="Calibri" pitchFamily="34" charset="0"/>
                <a:ea typeface="Calibri" pitchFamily="34" charset="-122"/>
                <a:cs typeface="Calibri" pitchFamily="34" charset="-120"/>
              </a:rPr>
              <a:t>The prompt goes straight to an external LLM. The customer identifier has now left the organisation.</a:t>
            </a:r>
            <a:endParaRPr lang="en-US" sz="1300" dirty="0"/>
          </a:p>
        </p:txBody>
      </p:sp>
      <p:sp>
        <p:nvSpPr>
          <p:cNvPr id="9" name="Shape 7"/>
          <p:cNvSpPr/>
          <p:nvPr/>
        </p:nvSpPr>
        <p:spPr>
          <a:xfrm>
            <a:off x="548640" y="3246120"/>
            <a:ext cx="5394960" cy="804672"/>
          </a:xfrm>
          <a:prstGeom prst="roundRect">
            <a:avLst>
              <a:gd name="adj" fmla="val 11364"/>
            </a:avLst>
          </a:prstGeom>
          <a:solidFill>
            <a:srgbClr val="FBE4E1"/>
          </a:solidFill>
          <a:ln w="12700">
            <a:solidFill>
              <a:srgbClr val="FBE4E1"/>
            </a:solidFill>
            <a:prstDash val="solid"/>
          </a:ln>
        </p:spPr>
      </p:sp>
      <p:sp>
        <p:nvSpPr>
          <p:cNvPr id="10" name="Text 8"/>
          <p:cNvSpPr txBox="1"/>
          <p:nvPr/>
        </p:nvSpPr>
        <p:spPr>
          <a:xfrm>
            <a:off x="685800" y="3429000"/>
            <a:ext cx="438912" cy="438912"/>
          </a:xfrm>
          <a:prstGeom prst="ellipse">
            <a:avLst/>
          </a:prstGeom>
          <a:solidFill>
            <a:srgbClr val="C8372D"/>
          </a:solid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1" name="Text 9"/>
          <p:cNvSpPr txBox="1"/>
          <p:nvPr/>
        </p:nvSpPr>
        <p:spPr>
          <a:xfrm>
            <a:off x="1280160" y="3246120"/>
            <a:ext cx="4526280" cy="804672"/>
          </a:xfrm>
          <a:prstGeom prst="rect">
            <a:avLst/>
          </a:prstGeom>
          <a:noFill/>
          <a:ln/>
        </p:spPr>
        <p:txBody>
          <a:bodyPr wrap="square" lIns="0" tIns="0" rIns="0" bIns="0" rtlCol="0" anchor="ctr"/>
          <a:lstStyle/>
          <a:p>
            <a:pPr marL="0" indent="0">
              <a:buNone/>
            </a:pPr>
            <a:r>
              <a:rPr lang="en-US" sz="1300" dirty="0">
                <a:solidFill>
                  <a:srgbClr val="1F2430"/>
                </a:solidFill>
                <a:latin typeface="Calibri" pitchFamily="34" charset="0"/>
                <a:ea typeface="Calibri" pitchFamily="34" charset="-122"/>
                <a:cs typeface="Calibri" pitchFamily="34" charset="-120"/>
              </a:rPr>
              <a:t>Retrieved code chunks carry a hard-coded key. It is trusted blindly and sent along too.</a:t>
            </a:r>
            <a:endParaRPr lang="en-US" sz="1300" dirty="0"/>
          </a:p>
        </p:txBody>
      </p:sp>
      <p:sp>
        <p:nvSpPr>
          <p:cNvPr id="12" name="Shape 10"/>
          <p:cNvSpPr/>
          <p:nvPr/>
        </p:nvSpPr>
        <p:spPr>
          <a:xfrm>
            <a:off x="548640" y="4160520"/>
            <a:ext cx="5394960" cy="804672"/>
          </a:xfrm>
          <a:prstGeom prst="roundRect">
            <a:avLst>
              <a:gd name="adj" fmla="val 11364"/>
            </a:avLst>
          </a:prstGeom>
          <a:solidFill>
            <a:srgbClr val="FBE4E1"/>
          </a:solidFill>
          <a:ln w="12700">
            <a:solidFill>
              <a:srgbClr val="FBE4E1"/>
            </a:solidFill>
            <a:prstDash val="solid"/>
          </a:ln>
        </p:spPr>
      </p:sp>
      <p:sp>
        <p:nvSpPr>
          <p:cNvPr id="13" name="Text 11"/>
          <p:cNvSpPr txBox="1"/>
          <p:nvPr/>
        </p:nvSpPr>
        <p:spPr>
          <a:xfrm>
            <a:off x="685800" y="4343400"/>
            <a:ext cx="438912" cy="438912"/>
          </a:xfrm>
          <a:prstGeom prst="ellipse">
            <a:avLst/>
          </a:prstGeom>
          <a:solidFill>
            <a:srgbClr val="C8372D"/>
          </a:solid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4" name="Text 12"/>
          <p:cNvSpPr txBox="1"/>
          <p:nvPr/>
        </p:nvSpPr>
        <p:spPr>
          <a:xfrm>
            <a:off x="1280160" y="4160520"/>
            <a:ext cx="4526280" cy="804672"/>
          </a:xfrm>
          <a:prstGeom prst="rect">
            <a:avLst/>
          </a:prstGeom>
          <a:noFill/>
          <a:ln/>
        </p:spPr>
        <p:txBody>
          <a:bodyPr wrap="square" lIns="0" tIns="0" rIns="0" bIns="0" rtlCol="0" anchor="ctr"/>
          <a:lstStyle/>
          <a:p>
            <a:pPr marL="0" indent="0">
              <a:buNone/>
            </a:pPr>
            <a:r>
              <a:rPr lang="en-US" sz="1300" dirty="0">
                <a:solidFill>
                  <a:srgbClr val="1F2430"/>
                </a:solidFill>
                <a:latin typeface="Calibri" pitchFamily="34" charset="0"/>
                <a:ea typeface="Calibri" pitchFamily="34" charset="-122"/>
                <a:cs typeface="Calibri" pitchFamily="34" charset="-120"/>
              </a:rPr>
              <a:t>The patch edits a shared function. Nobody sees which other modules it breaks.</a:t>
            </a:r>
            <a:endParaRPr lang="en-US" sz="1300" dirty="0"/>
          </a:p>
        </p:txBody>
      </p:sp>
      <p:sp>
        <p:nvSpPr>
          <p:cNvPr id="15" name="Shape 13"/>
          <p:cNvSpPr/>
          <p:nvPr/>
        </p:nvSpPr>
        <p:spPr>
          <a:xfrm>
            <a:off x="548640" y="5074920"/>
            <a:ext cx="5394960" cy="804672"/>
          </a:xfrm>
          <a:prstGeom prst="roundRect">
            <a:avLst>
              <a:gd name="adj" fmla="val 11364"/>
            </a:avLst>
          </a:prstGeom>
          <a:solidFill>
            <a:srgbClr val="FBE4E1"/>
          </a:solidFill>
          <a:ln w="12700">
            <a:solidFill>
              <a:srgbClr val="FBE4E1"/>
            </a:solidFill>
            <a:prstDash val="solid"/>
          </a:ln>
        </p:spPr>
      </p:sp>
      <p:sp>
        <p:nvSpPr>
          <p:cNvPr id="16" name="Text 14"/>
          <p:cNvSpPr txBox="1"/>
          <p:nvPr/>
        </p:nvSpPr>
        <p:spPr>
          <a:xfrm>
            <a:off x="685800" y="5257800"/>
            <a:ext cx="438912" cy="438912"/>
          </a:xfrm>
          <a:prstGeom prst="ellipse">
            <a:avLst/>
          </a:prstGeom>
          <a:solidFill>
            <a:srgbClr val="C8372D"/>
          </a:solid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17" name="Text 15"/>
          <p:cNvSpPr txBox="1"/>
          <p:nvPr/>
        </p:nvSpPr>
        <p:spPr>
          <a:xfrm>
            <a:off x="1280160" y="5074920"/>
            <a:ext cx="4526280" cy="804672"/>
          </a:xfrm>
          <a:prstGeom prst="rect">
            <a:avLst/>
          </a:prstGeom>
          <a:noFill/>
          <a:ln/>
        </p:spPr>
        <p:txBody>
          <a:bodyPr wrap="square" lIns="0" tIns="0" rIns="0" bIns="0" rtlCol="0" anchor="ctr"/>
          <a:lstStyle/>
          <a:p>
            <a:pPr marL="0" indent="0">
              <a:buNone/>
            </a:pPr>
            <a:r>
              <a:rPr lang="en-US" sz="1300" dirty="0">
                <a:solidFill>
                  <a:srgbClr val="1F2430"/>
                </a:solidFill>
                <a:latin typeface="Calibri" pitchFamily="34" charset="0"/>
                <a:ea typeface="Calibri" pitchFamily="34" charset="-122"/>
                <a:cs typeface="Calibri" pitchFamily="34" charset="-120"/>
              </a:rPr>
              <a:t>Code is merged unchecked. No validation, and no audit trail of what happened.</a:t>
            </a:r>
            <a:endParaRPr lang="en-US" sz="1300" dirty="0"/>
          </a:p>
        </p:txBody>
      </p:sp>
      <p:sp>
        <p:nvSpPr>
          <p:cNvPr id="18" name="Shape 16"/>
          <p:cNvSpPr/>
          <p:nvPr/>
        </p:nvSpPr>
        <p:spPr>
          <a:xfrm>
            <a:off x="6245352" y="1691640"/>
            <a:ext cx="5394960" cy="502920"/>
          </a:xfrm>
          <a:prstGeom prst="roundRect">
            <a:avLst>
              <a:gd name="adj" fmla="val 18182"/>
            </a:avLst>
          </a:prstGeom>
          <a:solidFill>
            <a:srgbClr val="0F766E"/>
          </a:solidFill>
          <a:ln w="12700">
            <a:solidFill>
              <a:srgbClr val="0F766E"/>
            </a:solidFill>
            <a:prstDash val="solid"/>
          </a:ln>
        </p:spPr>
      </p:sp>
      <p:sp>
        <p:nvSpPr>
          <p:cNvPr id="19" name="Text 17"/>
          <p:cNvSpPr txBox="1"/>
          <p:nvPr/>
        </p:nvSpPr>
        <p:spPr>
          <a:xfrm>
            <a:off x="6245352" y="1691640"/>
            <a:ext cx="5394960" cy="502920"/>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WITH KAVACH</a:t>
            </a:r>
            <a:endParaRPr lang="en-US" sz="1600" dirty="0"/>
          </a:p>
        </p:txBody>
      </p:sp>
      <p:sp>
        <p:nvSpPr>
          <p:cNvPr id="20" name="Shape 18"/>
          <p:cNvSpPr/>
          <p:nvPr/>
        </p:nvSpPr>
        <p:spPr>
          <a:xfrm>
            <a:off x="6245352" y="2331720"/>
            <a:ext cx="5394960" cy="804672"/>
          </a:xfrm>
          <a:prstGeom prst="roundRect">
            <a:avLst>
              <a:gd name="adj" fmla="val 11364"/>
            </a:avLst>
          </a:prstGeom>
          <a:solidFill>
            <a:srgbClr val="D9F2EE"/>
          </a:solidFill>
          <a:ln w="12700">
            <a:solidFill>
              <a:srgbClr val="D9F2EE"/>
            </a:solidFill>
            <a:prstDash val="solid"/>
          </a:ln>
        </p:spPr>
      </p:sp>
      <p:sp>
        <p:nvSpPr>
          <p:cNvPr id="21" name="Text 19"/>
          <p:cNvSpPr txBox="1"/>
          <p:nvPr/>
        </p:nvSpPr>
        <p:spPr>
          <a:xfrm>
            <a:off x="6382512" y="2514600"/>
            <a:ext cx="438912" cy="438912"/>
          </a:xfrm>
          <a:prstGeom prst="ellipse">
            <a:avLst/>
          </a:prstGeom>
          <a:solidFill>
            <a:srgbClr val="0F766E"/>
          </a:solid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22" name="Text 20"/>
          <p:cNvSpPr txBox="1"/>
          <p:nvPr/>
        </p:nvSpPr>
        <p:spPr>
          <a:xfrm>
            <a:off x="6976872" y="2331720"/>
            <a:ext cx="4526280" cy="804672"/>
          </a:xfrm>
          <a:prstGeom prst="rect">
            <a:avLst/>
          </a:prstGeom>
          <a:noFill/>
          <a:ln/>
        </p:spPr>
        <p:txBody>
          <a:bodyPr wrap="square" lIns="0" tIns="0" rIns="0" bIns="0" rtlCol="0" anchor="ctr"/>
          <a:lstStyle/>
          <a:p>
            <a:pPr marL="0" indent="0">
              <a:buNone/>
            </a:pPr>
            <a:r>
              <a:rPr lang="en-US" sz="1300" dirty="0">
                <a:solidFill>
                  <a:srgbClr val="1F2430"/>
                </a:solidFill>
                <a:latin typeface="Calibri" pitchFamily="34" charset="0"/>
                <a:ea typeface="Calibri" pitchFamily="34" charset="-122"/>
                <a:cs typeface="Calibri" pitchFamily="34" charset="-120"/>
              </a:rPr>
              <a:t>The request is scanned first. Aadhaar-like number detected, so the workflow stops (BLOCK or REVIEW) before anything leaves.</a:t>
            </a:r>
            <a:endParaRPr lang="en-US" sz="1300" dirty="0"/>
          </a:p>
        </p:txBody>
      </p:sp>
      <p:sp>
        <p:nvSpPr>
          <p:cNvPr id="23" name="Shape 21"/>
          <p:cNvSpPr/>
          <p:nvPr/>
        </p:nvSpPr>
        <p:spPr>
          <a:xfrm>
            <a:off x="6245352" y="3246120"/>
            <a:ext cx="5394960" cy="804672"/>
          </a:xfrm>
          <a:prstGeom prst="roundRect">
            <a:avLst>
              <a:gd name="adj" fmla="val 11364"/>
            </a:avLst>
          </a:prstGeom>
          <a:solidFill>
            <a:srgbClr val="D9F2EE"/>
          </a:solidFill>
          <a:ln w="12700">
            <a:solidFill>
              <a:srgbClr val="D9F2EE"/>
            </a:solidFill>
            <a:prstDash val="solid"/>
          </a:ln>
        </p:spPr>
      </p:sp>
      <p:sp>
        <p:nvSpPr>
          <p:cNvPr id="24" name="Text 22"/>
          <p:cNvSpPr txBox="1"/>
          <p:nvPr/>
        </p:nvSpPr>
        <p:spPr>
          <a:xfrm>
            <a:off x="6382512" y="3429000"/>
            <a:ext cx="438912" cy="438912"/>
          </a:xfrm>
          <a:prstGeom prst="ellipse">
            <a:avLst/>
          </a:prstGeom>
          <a:solidFill>
            <a:srgbClr val="0F766E"/>
          </a:solid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25" name="Text 23"/>
          <p:cNvSpPr txBox="1"/>
          <p:nvPr/>
        </p:nvSpPr>
        <p:spPr>
          <a:xfrm>
            <a:off x="6976872" y="3246120"/>
            <a:ext cx="4526280" cy="804672"/>
          </a:xfrm>
          <a:prstGeom prst="rect">
            <a:avLst/>
          </a:prstGeom>
          <a:noFill/>
          <a:ln/>
        </p:spPr>
        <p:txBody>
          <a:bodyPr wrap="square" lIns="0" tIns="0" rIns="0" bIns="0" rtlCol="0" anchor="ctr"/>
          <a:lstStyle/>
          <a:p>
            <a:pPr marL="0" indent="0">
              <a:buNone/>
            </a:pPr>
            <a:r>
              <a:rPr lang="en-US" sz="1300" dirty="0">
                <a:solidFill>
                  <a:srgbClr val="1F2430"/>
                </a:solidFill>
                <a:latin typeface="Calibri" pitchFamily="34" charset="0"/>
                <a:ea typeface="Calibri" pitchFamily="34" charset="-122"/>
                <a:cs typeface="Calibri" pitchFamily="34" charset="-120"/>
              </a:rPr>
              <a:t>Retrieved evidence is scanned too, so risky chunks are caught before generation.</a:t>
            </a:r>
            <a:endParaRPr lang="en-US" sz="1300" dirty="0"/>
          </a:p>
        </p:txBody>
      </p:sp>
      <p:sp>
        <p:nvSpPr>
          <p:cNvPr id="26" name="Shape 24"/>
          <p:cNvSpPr/>
          <p:nvPr/>
        </p:nvSpPr>
        <p:spPr>
          <a:xfrm>
            <a:off x="6245352" y="4160520"/>
            <a:ext cx="5394960" cy="804672"/>
          </a:xfrm>
          <a:prstGeom prst="roundRect">
            <a:avLst>
              <a:gd name="adj" fmla="val 11364"/>
            </a:avLst>
          </a:prstGeom>
          <a:solidFill>
            <a:srgbClr val="D9F2EE"/>
          </a:solidFill>
          <a:ln w="12700">
            <a:solidFill>
              <a:srgbClr val="D9F2EE"/>
            </a:solidFill>
            <a:prstDash val="solid"/>
          </a:ln>
        </p:spPr>
      </p:sp>
      <p:sp>
        <p:nvSpPr>
          <p:cNvPr id="27" name="Text 25"/>
          <p:cNvSpPr txBox="1"/>
          <p:nvPr/>
        </p:nvSpPr>
        <p:spPr>
          <a:xfrm>
            <a:off x="6382512" y="4343400"/>
            <a:ext cx="438912" cy="438912"/>
          </a:xfrm>
          <a:prstGeom prst="ellipse">
            <a:avLst/>
          </a:prstGeom>
          <a:solidFill>
            <a:srgbClr val="0F766E"/>
          </a:solid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28" name="Text 26"/>
          <p:cNvSpPr txBox="1"/>
          <p:nvPr/>
        </p:nvSpPr>
        <p:spPr>
          <a:xfrm>
            <a:off x="6976872" y="4160520"/>
            <a:ext cx="4526280" cy="804672"/>
          </a:xfrm>
          <a:prstGeom prst="rect">
            <a:avLst/>
          </a:prstGeom>
          <a:noFill/>
          <a:ln/>
        </p:spPr>
        <p:txBody>
          <a:bodyPr wrap="square" lIns="0" tIns="0" rIns="0" bIns="0" rtlCol="0" anchor="ctr"/>
          <a:lstStyle/>
          <a:p>
            <a:pPr marL="0" indent="0">
              <a:buNone/>
            </a:pPr>
            <a:r>
              <a:rPr lang="en-US" sz="1300" dirty="0">
                <a:solidFill>
                  <a:srgbClr val="1F2430"/>
                </a:solidFill>
                <a:latin typeface="Calibri" pitchFamily="34" charset="0"/>
                <a:ea typeface="Calibri" pitchFamily="34" charset="-122"/>
                <a:cs typeface="Calibri" pitchFamily="34" charset="-120"/>
              </a:rPr>
              <a:t>Impact analysis ranks the affected files before any code is written.</a:t>
            </a:r>
            <a:endParaRPr lang="en-US" sz="1300" dirty="0"/>
          </a:p>
        </p:txBody>
      </p:sp>
      <p:sp>
        <p:nvSpPr>
          <p:cNvPr id="29" name="Shape 27"/>
          <p:cNvSpPr/>
          <p:nvPr/>
        </p:nvSpPr>
        <p:spPr>
          <a:xfrm>
            <a:off x="6245352" y="5074920"/>
            <a:ext cx="5394960" cy="804672"/>
          </a:xfrm>
          <a:prstGeom prst="roundRect">
            <a:avLst>
              <a:gd name="adj" fmla="val 11364"/>
            </a:avLst>
          </a:prstGeom>
          <a:solidFill>
            <a:srgbClr val="D9F2EE"/>
          </a:solidFill>
          <a:ln w="12700">
            <a:solidFill>
              <a:srgbClr val="D9F2EE"/>
            </a:solidFill>
            <a:prstDash val="solid"/>
          </a:ln>
        </p:spPr>
      </p:sp>
      <p:sp>
        <p:nvSpPr>
          <p:cNvPr id="30" name="Text 28"/>
          <p:cNvSpPr txBox="1"/>
          <p:nvPr/>
        </p:nvSpPr>
        <p:spPr>
          <a:xfrm>
            <a:off x="6382512" y="5257800"/>
            <a:ext cx="438912" cy="438912"/>
          </a:xfrm>
          <a:prstGeom prst="ellipse">
            <a:avLst/>
          </a:prstGeom>
          <a:solidFill>
            <a:srgbClr val="0F766E"/>
          </a:solid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31" name="Text 29"/>
          <p:cNvSpPr txBox="1"/>
          <p:nvPr/>
        </p:nvSpPr>
        <p:spPr>
          <a:xfrm>
            <a:off x="6976872" y="5074920"/>
            <a:ext cx="4526280" cy="804672"/>
          </a:xfrm>
          <a:prstGeom prst="rect">
            <a:avLst/>
          </a:prstGeom>
          <a:noFill/>
          <a:ln/>
        </p:spPr>
        <p:txBody>
          <a:bodyPr wrap="square" lIns="0" tIns="0" rIns="0" bIns="0" rtlCol="0" anchor="ctr"/>
          <a:lstStyle/>
          <a:p>
            <a:pPr marL="0" indent="0">
              <a:buNone/>
            </a:pPr>
            <a:r>
              <a:rPr lang="en-US" sz="1300" dirty="0">
                <a:solidFill>
                  <a:srgbClr val="1F2430"/>
                </a:solidFill>
                <a:latin typeface="Calibri" pitchFamily="34" charset="0"/>
                <a:ea typeface="Calibri" pitchFamily="34" charset="-122"/>
                <a:cs typeface="Calibri" pitchFamily="34" charset="-120"/>
              </a:rPr>
              <a:t>Output is validated, a CI gate re-checks it, and a full workflow trace is kept.</a:t>
            </a:r>
            <a:endParaRPr lang="en-US" sz="1300" dirty="0"/>
          </a:p>
        </p:txBody>
      </p:sp>
      <p:sp>
        <p:nvSpPr>
          <p:cNvPr id="32" name="Text 30"/>
          <p:cNvSpPr txBox="1"/>
          <p:nvPr/>
        </p:nvSpPr>
        <p:spPr>
          <a:xfrm>
            <a:off x="548640" y="6446520"/>
            <a:ext cx="5486400" cy="274320"/>
          </a:xfrm>
          <a:prstGeom prst="rect">
            <a:avLst/>
          </a:prstGeom>
          <a:noFill/>
          <a:ln/>
        </p:spPr>
        <p:txBody>
          <a:bodyPr wrap="square" lIns="0" tIns="0" rIns="0" bIns="0" rtlCol="0" anchor="ctr"/>
          <a:lstStyle/>
          <a:p>
            <a:pPr marL="0" indent="0">
              <a:buNone/>
            </a:pPr>
            <a:r>
              <a:rPr lang="en-US" sz="1000" dirty="0">
                <a:solidFill>
                  <a:srgbClr val="6B7280"/>
                </a:solidFill>
                <a:latin typeface="Calibri" pitchFamily="34" charset="0"/>
                <a:ea typeface="Calibri" pitchFamily="34" charset="-122"/>
                <a:cs typeface="Calibri" pitchFamily="34" charset="-120"/>
              </a:rPr>
              <a:t>KAVACH  |  Project Review</a:t>
            </a:r>
            <a:endParaRPr lang="en-US" sz="1000" dirty="0"/>
          </a:p>
        </p:txBody>
      </p:sp>
      <p:sp>
        <p:nvSpPr>
          <p:cNvPr id="33" name="Slide Number Placeholder 0"/>
          <p:cNvSpPr>
            <a:spLocks noGrp="1"/>
          </p:cNvSpPr>
          <p:nvPr>
            <p:ph type="sldNum" sz="quarter" idx="4294967295"/>
          </p:nvPr>
        </p:nvSpPr>
        <p:spPr>
          <a:xfrm>
            <a:off x="11064240" y="644652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6B7280"/>
                </a:solidFill>
                <a:latin typeface="Calibri"/>
                <a:ea typeface="Calibri"/>
                <a:cs typeface="Calibri"/>
              </a:defRPr>
            </a:lvl1pPr>
          </a:lstStyle>
          <a:p>
            <a:pPr algn="r"/>
            <a:fld id="{F7021451-1387-4CA6-816F-3879F97B5CBC}" type="slidenum">
              <a:rPr lang="en-US" b="0"/>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3F4F6"/>
        </a:solidFill>
        <a:effectLst/>
      </p:bgPr>
    </p:bg>
    <p:spTree>
      <p:nvGrpSpPr>
        <p:cNvPr id="1" name=""/>
        <p:cNvGrpSpPr/>
        <p:nvPr/>
      </p:nvGrpSpPr>
      <p:grpSpPr>
        <a:xfrm>
          <a:off x="0" y="0"/>
          <a:ext cx="0" cy="0"/>
          <a:chOff x="0" y="0"/>
          <a:chExt cx="0" cy="0"/>
        </a:xfrm>
      </p:grpSpPr>
      <p:sp>
        <p:nvSpPr>
          <p:cNvPr id="2" name="Text 0"/>
          <p:cNvSpPr txBox="1"/>
          <p:nvPr/>
        </p:nvSpPr>
        <p:spPr>
          <a:xfrm>
            <a:off x="548640" y="320040"/>
            <a:ext cx="11064240" cy="731520"/>
          </a:xfrm>
          <a:prstGeom prst="rect">
            <a:avLst/>
          </a:prstGeom>
          <a:noFill/>
          <a:ln/>
        </p:spPr>
        <p:txBody>
          <a:bodyPr wrap="square" lIns="0" tIns="0" rIns="0" bIns="0" rtlCol="0" anchor="ctr"/>
          <a:lstStyle/>
          <a:p>
            <a:pPr marL="0" indent="0">
              <a:buNone/>
            </a:pPr>
            <a:r>
              <a:rPr lang="en-US" sz="3200" b="1" dirty="0">
                <a:solidFill>
                  <a:srgbClr val="171A21"/>
                </a:solidFill>
                <a:latin typeface="Cambria" pitchFamily="34" charset="0"/>
                <a:ea typeface="Cambria" pitchFamily="34" charset="-122"/>
                <a:cs typeface="Cambria" pitchFamily="34" charset="-120"/>
              </a:rPr>
              <a:t>Why this matters, and who it helps</a:t>
            </a:r>
            <a:endParaRPr lang="en-US" sz="3200" dirty="0"/>
          </a:p>
        </p:txBody>
      </p:sp>
      <p:sp>
        <p:nvSpPr>
          <p:cNvPr id="3" name="Shape 1"/>
          <p:cNvSpPr/>
          <p:nvPr/>
        </p:nvSpPr>
        <p:spPr>
          <a:xfrm>
            <a:off x="548640" y="1600200"/>
            <a:ext cx="3566160" cy="3520440"/>
          </a:xfrm>
          <a:prstGeom prst="roundRect">
            <a:avLst>
              <a:gd name="adj" fmla="val 3117"/>
            </a:avLst>
          </a:prstGeom>
          <a:solidFill>
            <a:srgbClr val="FFFFFF"/>
          </a:solidFill>
          <a:ln w="12700">
            <a:solidFill>
              <a:srgbClr val="FFFFFF"/>
            </a:solidFill>
            <a:prstDash val="solid"/>
          </a:ln>
          <a:effectLst>
            <a:outerShdw blurRad="101600" dist="25400" dir="5400000" algn="bl" rotWithShape="0">
              <a:srgbClr val="000000">
                <a:alpha val="12000"/>
              </a:srgbClr>
            </a:outerShdw>
          </a:effectLst>
        </p:spPr>
      </p:sp>
      <p:sp>
        <p:nvSpPr>
          <p:cNvPr id="4" name="Shape 2"/>
          <p:cNvSpPr/>
          <p:nvPr/>
        </p:nvSpPr>
        <p:spPr>
          <a:xfrm>
            <a:off x="868680" y="1920240"/>
            <a:ext cx="868680" cy="868680"/>
          </a:xfrm>
          <a:prstGeom prst="ellipse">
            <a:avLst/>
          </a:prstGeom>
          <a:solidFill>
            <a:srgbClr val="171A21"/>
          </a:solidFill>
          <a:ln w="12700">
            <a:solidFill>
              <a:srgbClr val="171A21"/>
            </a:solidFill>
            <a:prstDash val="solid"/>
          </a:ln>
        </p:spPr>
      </p:sp>
      <p:pic>
        <p:nvPicPr>
          <p:cNvPr id="5" name="Image 0" descr="preencoded.png"/>
          <p:cNvPicPr>
            <a:picLocks noChangeAspect="1"/>
          </p:cNvPicPr>
          <p:nvPr/>
        </p:nvPicPr>
        <p:blipFill>
          <a:blip r:embed="rId3"/>
          <a:stretch>
            <a:fillRect/>
          </a:stretch>
        </p:blipFill>
        <p:spPr>
          <a:xfrm>
            <a:off x="1094537" y="2146097"/>
            <a:ext cx="416966" cy="416966"/>
          </a:xfrm>
          <a:prstGeom prst="rect">
            <a:avLst/>
          </a:prstGeom>
        </p:spPr>
      </p:pic>
      <p:sp>
        <p:nvSpPr>
          <p:cNvPr id="6" name="Text 3"/>
          <p:cNvSpPr txBox="1"/>
          <p:nvPr/>
        </p:nvSpPr>
        <p:spPr>
          <a:xfrm>
            <a:off x="868680" y="3017520"/>
            <a:ext cx="3017520" cy="822960"/>
          </a:xfrm>
          <a:prstGeom prst="rect">
            <a:avLst/>
          </a:prstGeom>
          <a:noFill/>
          <a:ln/>
        </p:spPr>
        <p:txBody>
          <a:bodyPr wrap="square" lIns="0" tIns="0" rIns="0" bIns="0" rtlCol="0" anchor="t"/>
          <a:lstStyle/>
          <a:p>
            <a:pPr marL="0" indent="0">
              <a:buNone/>
            </a:pPr>
            <a:r>
              <a:rPr lang="en-US" sz="2000" b="1" dirty="0">
                <a:solidFill>
                  <a:srgbClr val="171A21"/>
                </a:solidFill>
                <a:latin typeface="Cambria" pitchFamily="34" charset="0"/>
                <a:ea typeface="Cambria" pitchFamily="34" charset="-122"/>
                <a:cs typeface="Cambria" pitchFamily="34" charset="-120"/>
              </a:rPr>
              <a:t>Banks &amp; regulated organisations</a:t>
            </a:r>
            <a:endParaRPr lang="en-US" sz="2000" dirty="0"/>
          </a:p>
        </p:txBody>
      </p:sp>
      <p:sp>
        <p:nvSpPr>
          <p:cNvPr id="7" name="Text 4"/>
          <p:cNvSpPr txBox="1"/>
          <p:nvPr/>
        </p:nvSpPr>
        <p:spPr>
          <a:xfrm>
            <a:off x="868680" y="3886200"/>
            <a:ext cx="3017520" cy="1097280"/>
          </a:xfrm>
          <a:prstGeom prst="rect">
            <a:avLst/>
          </a:prstGeom>
          <a:noFill/>
          <a:ln/>
        </p:spPr>
        <p:txBody>
          <a:bodyPr wrap="square" lIns="0" tIns="0" rIns="0" bIns="0" rtlCol="0" anchor="t"/>
          <a:lstStyle/>
          <a:p>
            <a:pPr marL="0" indent="0">
              <a:buNone/>
            </a:pPr>
            <a:r>
              <a:rPr lang="en-US" sz="1400" dirty="0">
                <a:solidFill>
                  <a:srgbClr val="6B7280"/>
                </a:solidFill>
                <a:latin typeface="Calibri" pitchFamily="34" charset="0"/>
                <a:ea typeface="Calibri" pitchFamily="34" charset="-122"/>
                <a:cs typeface="Calibri" pitchFamily="34" charset="-120"/>
              </a:rPr>
              <a:t>Customer identifiers and credentials stay protected, and every AI-assisted change leaves an auditable trail.</a:t>
            </a:r>
            <a:endParaRPr lang="en-US" sz="1400" dirty="0"/>
          </a:p>
        </p:txBody>
      </p:sp>
      <p:sp>
        <p:nvSpPr>
          <p:cNvPr id="8" name="Shape 5"/>
          <p:cNvSpPr/>
          <p:nvPr/>
        </p:nvSpPr>
        <p:spPr>
          <a:xfrm>
            <a:off x="4343400" y="1600200"/>
            <a:ext cx="3566160" cy="3520440"/>
          </a:xfrm>
          <a:prstGeom prst="roundRect">
            <a:avLst>
              <a:gd name="adj" fmla="val 3117"/>
            </a:avLst>
          </a:prstGeom>
          <a:solidFill>
            <a:srgbClr val="FFFFFF"/>
          </a:solidFill>
          <a:ln w="12700">
            <a:solidFill>
              <a:srgbClr val="FFFFFF"/>
            </a:solidFill>
            <a:prstDash val="solid"/>
          </a:ln>
          <a:effectLst>
            <a:outerShdw blurRad="101600" dist="25400" dir="5400000" algn="bl" rotWithShape="0">
              <a:srgbClr val="000000">
                <a:alpha val="12000"/>
              </a:srgbClr>
            </a:outerShdw>
          </a:effectLst>
        </p:spPr>
      </p:sp>
      <p:sp>
        <p:nvSpPr>
          <p:cNvPr id="9" name="Shape 6"/>
          <p:cNvSpPr/>
          <p:nvPr/>
        </p:nvSpPr>
        <p:spPr>
          <a:xfrm>
            <a:off x="4663440" y="1920240"/>
            <a:ext cx="868680" cy="868680"/>
          </a:xfrm>
          <a:prstGeom prst="ellipse">
            <a:avLst/>
          </a:prstGeom>
          <a:solidFill>
            <a:srgbClr val="0F766E"/>
          </a:solidFill>
          <a:ln w="12700">
            <a:solidFill>
              <a:srgbClr val="0F766E"/>
            </a:solidFill>
            <a:prstDash val="solid"/>
          </a:ln>
        </p:spPr>
      </p:sp>
      <p:pic>
        <p:nvPicPr>
          <p:cNvPr id="10" name="Image 1" descr="preencoded.png"/>
          <p:cNvPicPr>
            <a:picLocks noChangeAspect="1"/>
          </p:cNvPicPr>
          <p:nvPr/>
        </p:nvPicPr>
        <p:blipFill>
          <a:blip r:embed="rId4"/>
          <a:stretch>
            <a:fillRect/>
          </a:stretch>
        </p:blipFill>
        <p:spPr>
          <a:xfrm>
            <a:off x="4889297" y="2146097"/>
            <a:ext cx="416966" cy="416966"/>
          </a:xfrm>
          <a:prstGeom prst="rect">
            <a:avLst/>
          </a:prstGeom>
        </p:spPr>
      </p:pic>
      <p:sp>
        <p:nvSpPr>
          <p:cNvPr id="11" name="Text 7"/>
          <p:cNvSpPr txBox="1"/>
          <p:nvPr/>
        </p:nvSpPr>
        <p:spPr>
          <a:xfrm>
            <a:off x="4663440" y="3017520"/>
            <a:ext cx="3017520" cy="822960"/>
          </a:xfrm>
          <a:prstGeom prst="rect">
            <a:avLst/>
          </a:prstGeom>
          <a:noFill/>
          <a:ln/>
        </p:spPr>
        <p:txBody>
          <a:bodyPr wrap="square" lIns="0" tIns="0" rIns="0" bIns="0" rtlCol="0" anchor="t"/>
          <a:lstStyle/>
          <a:p>
            <a:pPr marL="0" indent="0">
              <a:buNone/>
            </a:pPr>
            <a:r>
              <a:rPr lang="en-US" sz="2000" b="1" dirty="0">
                <a:solidFill>
                  <a:srgbClr val="171A21"/>
                </a:solidFill>
                <a:latin typeface="Cambria" pitchFamily="34" charset="0"/>
                <a:ea typeface="Cambria" pitchFamily="34" charset="-122"/>
                <a:cs typeface="Cambria" pitchFamily="34" charset="-120"/>
              </a:rPr>
              <a:t>Developers &amp; students</a:t>
            </a:r>
            <a:endParaRPr lang="en-US" sz="2000" dirty="0"/>
          </a:p>
        </p:txBody>
      </p:sp>
      <p:sp>
        <p:nvSpPr>
          <p:cNvPr id="12" name="Text 8"/>
          <p:cNvSpPr txBox="1"/>
          <p:nvPr/>
        </p:nvSpPr>
        <p:spPr>
          <a:xfrm>
            <a:off x="4663440" y="3886200"/>
            <a:ext cx="3017520" cy="1097280"/>
          </a:xfrm>
          <a:prstGeom prst="rect">
            <a:avLst/>
          </a:prstGeom>
          <a:noFill/>
          <a:ln/>
        </p:spPr>
        <p:txBody>
          <a:bodyPr wrap="square" lIns="0" tIns="0" rIns="0" bIns="0" rtlCol="0" anchor="t"/>
          <a:lstStyle/>
          <a:p>
            <a:pPr marL="0" indent="0">
              <a:buNone/>
            </a:pPr>
            <a:r>
              <a:rPr lang="en-US" sz="1400" dirty="0">
                <a:solidFill>
                  <a:srgbClr val="6B7280"/>
                </a:solidFill>
                <a:latin typeface="Calibri" pitchFamily="34" charset="0"/>
                <a:ea typeface="Calibri" pitchFamily="34" charset="-122"/>
                <a:cs typeface="Calibri" pitchFamily="34" charset="-120"/>
              </a:rPr>
              <a:t>Get AI help on real repositories without worrying that a careless prompt leaks something sensitive.</a:t>
            </a:r>
            <a:endParaRPr lang="en-US" sz="1400" dirty="0"/>
          </a:p>
        </p:txBody>
      </p:sp>
      <p:sp>
        <p:nvSpPr>
          <p:cNvPr id="13" name="Shape 9"/>
          <p:cNvSpPr/>
          <p:nvPr/>
        </p:nvSpPr>
        <p:spPr>
          <a:xfrm>
            <a:off x="8138160" y="1600200"/>
            <a:ext cx="3566160" cy="3520440"/>
          </a:xfrm>
          <a:prstGeom prst="roundRect">
            <a:avLst>
              <a:gd name="adj" fmla="val 3117"/>
            </a:avLst>
          </a:prstGeom>
          <a:solidFill>
            <a:srgbClr val="FFFFFF"/>
          </a:solidFill>
          <a:ln w="12700">
            <a:solidFill>
              <a:srgbClr val="FFFFFF"/>
            </a:solidFill>
            <a:prstDash val="solid"/>
          </a:ln>
          <a:effectLst>
            <a:outerShdw blurRad="101600" dist="25400" dir="5400000" algn="bl" rotWithShape="0">
              <a:srgbClr val="000000">
                <a:alpha val="12000"/>
              </a:srgbClr>
            </a:outerShdw>
          </a:effectLst>
        </p:spPr>
      </p:sp>
      <p:sp>
        <p:nvSpPr>
          <p:cNvPr id="14" name="Shape 10"/>
          <p:cNvSpPr/>
          <p:nvPr/>
        </p:nvSpPr>
        <p:spPr>
          <a:xfrm>
            <a:off x="8458200" y="1920240"/>
            <a:ext cx="868680" cy="868680"/>
          </a:xfrm>
          <a:prstGeom prst="ellipse">
            <a:avLst/>
          </a:prstGeom>
          <a:solidFill>
            <a:srgbClr val="262B36"/>
          </a:solidFill>
          <a:ln w="12700">
            <a:solidFill>
              <a:srgbClr val="262B36"/>
            </a:solidFill>
            <a:prstDash val="solid"/>
          </a:ln>
        </p:spPr>
      </p:sp>
      <p:pic>
        <p:nvPicPr>
          <p:cNvPr id="15" name="Image 2" descr="preencoded.png"/>
          <p:cNvPicPr>
            <a:picLocks noChangeAspect="1"/>
          </p:cNvPicPr>
          <p:nvPr/>
        </p:nvPicPr>
        <p:blipFill>
          <a:blip r:embed="rId5"/>
          <a:stretch>
            <a:fillRect/>
          </a:stretch>
        </p:blipFill>
        <p:spPr>
          <a:xfrm>
            <a:off x="8684057" y="2146097"/>
            <a:ext cx="416966" cy="416966"/>
          </a:xfrm>
          <a:prstGeom prst="rect">
            <a:avLst/>
          </a:prstGeom>
        </p:spPr>
      </p:pic>
      <p:sp>
        <p:nvSpPr>
          <p:cNvPr id="16" name="Text 11"/>
          <p:cNvSpPr txBox="1"/>
          <p:nvPr/>
        </p:nvSpPr>
        <p:spPr>
          <a:xfrm>
            <a:off x="8458200" y="3017520"/>
            <a:ext cx="3017520" cy="822960"/>
          </a:xfrm>
          <a:prstGeom prst="rect">
            <a:avLst/>
          </a:prstGeom>
          <a:noFill/>
          <a:ln/>
        </p:spPr>
        <p:txBody>
          <a:bodyPr wrap="square" lIns="0" tIns="0" rIns="0" bIns="0" rtlCol="0" anchor="t"/>
          <a:lstStyle/>
          <a:p>
            <a:pPr marL="0" indent="0">
              <a:buNone/>
            </a:pPr>
            <a:r>
              <a:rPr lang="en-US" sz="2000" b="1" dirty="0">
                <a:solidFill>
                  <a:srgbClr val="171A21"/>
                </a:solidFill>
                <a:latin typeface="Cambria" pitchFamily="34" charset="0"/>
                <a:ea typeface="Cambria" pitchFamily="34" charset="-122"/>
                <a:cs typeface="Cambria" pitchFamily="34" charset="-120"/>
              </a:rPr>
              <a:t>Engineering &amp; DevOps teams</a:t>
            </a:r>
            <a:endParaRPr lang="en-US" sz="2000" dirty="0"/>
          </a:p>
        </p:txBody>
      </p:sp>
      <p:sp>
        <p:nvSpPr>
          <p:cNvPr id="17" name="Text 12"/>
          <p:cNvSpPr txBox="1"/>
          <p:nvPr/>
        </p:nvSpPr>
        <p:spPr>
          <a:xfrm>
            <a:off x="8458200" y="3886200"/>
            <a:ext cx="3017520" cy="1097280"/>
          </a:xfrm>
          <a:prstGeom prst="rect">
            <a:avLst/>
          </a:prstGeom>
          <a:noFill/>
          <a:ln/>
        </p:spPr>
        <p:txBody>
          <a:bodyPr wrap="square" lIns="0" tIns="0" rIns="0" bIns="0" rtlCol="0" anchor="t"/>
          <a:lstStyle/>
          <a:p>
            <a:pPr marL="0" indent="0">
              <a:buNone/>
            </a:pPr>
            <a:r>
              <a:rPr lang="en-US" sz="1400" dirty="0">
                <a:solidFill>
                  <a:srgbClr val="6B7280"/>
                </a:solidFill>
                <a:latin typeface="Calibri" pitchFamily="34" charset="0"/>
                <a:ea typeface="Calibri" pitchFamily="34" charset="-122"/>
                <a:cs typeface="Calibri" pitchFamily="34" charset="-120"/>
              </a:rPr>
              <a:t>Know the blast radius of a change before it ships, and let a CI gate stop unsafe changes automatically.</a:t>
            </a:r>
            <a:endParaRPr lang="en-US" sz="1400" dirty="0"/>
          </a:p>
        </p:txBody>
      </p:sp>
      <p:sp>
        <p:nvSpPr>
          <p:cNvPr id="18" name="Shape 13"/>
          <p:cNvSpPr/>
          <p:nvPr/>
        </p:nvSpPr>
        <p:spPr>
          <a:xfrm>
            <a:off x="548640" y="5394960"/>
            <a:ext cx="11064240" cy="822960"/>
          </a:xfrm>
          <a:prstGeom prst="roundRect">
            <a:avLst>
              <a:gd name="adj" fmla="val 13333"/>
            </a:avLst>
          </a:prstGeom>
          <a:solidFill>
            <a:srgbClr val="171A21"/>
          </a:solidFill>
          <a:ln w="12700">
            <a:solidFill>
              <a:srgbClr val="171A21"/>
            </a:solidFill>
            <a:prstDash val="solid"/>
          </a:ln>
        </p:spPr>
      </p:sp>
      <p:sp>
        <p:nvSpPr>
          <p:cNvPr id="19" name="Text 14"/>
          <p:cNvSpPr txBox="1"/>
          <p:nvPr/>
        </p:nvSpPr>
        <p:spPr>
          <a:xfrm>
            <a:off x="822960" y="5394960"/>
            <a:ext cx="10515600" cy="822960"/>
          </a:xfrm>
          <a:prstGeom prst="rect">
            <a:avLst/>
          </a:prstGeom>
          <a:noFill/>
          <a:ln/>
        </p:spPr>
        <p:txBody>
          <a:bodyPr wrap="square" lIns="0" tIns="0" rIns="0" bIns="0" rtlCol="0" anchor="ctr"/>
          <a:lstStyle/>
          <a:p>
            <a:pPr marL="0" indent="0">
              <a:buNone/>
            </a:pPr>
            <a:r>
              <a:rPr lang="en-US" sz="1700" b="1" dirty="0">
                <a:solidFill>
                  <a:srgbClr val="FFFFFF"/>
                </a:solidFill>
                <a:latin typeface="Calibri" pitchFamily="34" charset="0"/>
                <a:ea typeface="Calibri" pitchFamily="34" charset="-122"/>
                <a:cs typeface="Calibri" pitchFamily="34" charset="-120"/>
              </a:rPr>
              <a:t>A niche, real problem: governed AI for software engineering, built with Indian identifiers and languages in mind.</a:t>
            </a:r>
            <a:endParaRPr lang="en-US" sz="1700" dirty="0"/>
          </a:p>
        </p:txBody>
      </p:sp>
      <p:sp>
        <p:nvSpPr>
          <p:cNvPr id="20" name="Text 15"/>
          <p:cNvSpPr txBox="1"/>
          <p:nvPr/>
        </p:nvSpPr>
        <p:spPr>
          <a:xfrm>
            <a:off x="548640" y="6446520"/>
            <a:ext cx="5486400" cy="274320"/>
          </a:xfrm>
          <a:prstGeom prst="rect">
            <a:avLst/>
          </a:prstGeom>
          <a:noFill/>
          <a:ln/>
        </p:spPr>
        <p:txBody>
          <a:bodyPr wrap="square" lIns="0" tIns="0" rIns="0" bIns="0" rtlCol="0" anchor="ctr"/>
          <a:lstStyle/>
          <a:p>
            <a:pPr marL="0" indent="0">
              <a:buNone/>
            </a:pPr>
            <a:r>
              <a:rPr lang="en-US" sz="1000" dirty="0">
                <a:solidFill>
                  <a:srgbClr val="6B7280"/>
                </a:solidFill>
                <a:latin typeface="Calibri" pitchFamily="34" charset="0"/>
                <a:ea typeface="Calibri" pitchFamily="34" charset="-122"/>
                <a:cs typeface="Calibri" pitchFamily="34" charset="-120"/>
              </a:rPr>
              <a:t>KAVACH  |  Project Review</a:t>
            </a:r>
            <a:endParaRPr lang="en-US" sz="1000" dirty="0"/>
          </a:p>
        </p:txBody>
      </p:sp>
      <p:sp>
        <p:nvSpPr>
          <p:cNvPr id="25" name="Slide Number Placeholder 0"/>
          <p:cNvSpPr>
            <a:spLocks noGrp="1"/>
          </p:cNvSpPr>
          <p:nvPr>
            <p:ph type="sldNum" sz="quarter" idx="4294967295"/>
          </p:nvPr>
        </p:nvSpPr>
        <p:spPr>
          <a:xfrm>
            <a:off x="11064240" y="644652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6B7280"/>
                </a:solidFill>
                <a:latin typeface="Calibri"/>
                <a:ea typeface="Calibri"/>
                <a:cs typeface="Calibri"/>
              </a:defRPr>
            </a:lvl1pPr>
          </a:lstStyle>
          <a:p>
            <a:pPr algn="r"/>
            <a:fld id="{F7021451-1387-4CA6-816F-3879F97B5CBC}" type="slidenum">
              <a:rPr lang="en-US" b="0"/>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3F4F6"/>
        </a:solidFill>
        <a:effectLst/>
      </p:bgPr>
    </p:bg>
    <p:spTree>
      <p:nvGrpSpPr>
        <p:cNvPr id="1" name=""/>
        <p:cNvGrpSpPr/>
        <p:nvPr/>
      </p:nvGrpSpPr>
      <p:grpSpPr>
        <a:xfrm>
          <a:off x="0" y="0"/>
          <a:ext cx="0" cy="0"/>
          <a:chOff x="0" y="0"/>
          <a:chExt cx="0" cy="0"/>
        </a:xfrm>
      </p:grpSpPr>
      <p:sp>
        <p:nvSpPr>
          <p:cNvPr id="2" name="Text 0"/>
          <p:cNvSpPr txBox="1"/>
          <p:nvPr/>
        </p:nvSpPr>
        <p:spPr>
          <a:xfrm>
            <a:off x="548640" y="320040"/>
            <a:ext cx="11064240" cy="731520"/>
          </a:xfrm>
          <a:prstGeom prst="rect">
            <a:avLst/>
          </a:prstGeom>
          <a:noFill/>
          <a:ln/>
        </p:spPr>
        <p:txBody>
          <a:bodyPr wrap="square" lIns="0" tIns="0" rIns="0" bIns="0" rtlCol="0" anchor="ctr"/>
          <a:lstStyle/>
          <a:p>
            <a:pPr marL="0" indent="0">
              <a:buNone/>
            </a:pPr>
            <a:r>
              <a:rPr lang="en-US" sz="3200" b="1" dirty="0">
                <a:solidFill>
                  <a:srgbClr val="171A21"/>
                </a:solidFill>
                <a:latin typeface="Cambria" pitchFamily="34" charset="0"/>
                <a:ea typeface="Cambria" pitchFamily="34" charset="-122"/>
                <a:cs typeface="Cambria" pitchFamily="34" charset="-120"/>
              </a:rPr>
              <a:t>Heavy research went in before a single line of code</a:t>
            </a:r>
            <a:endParaRPr lang="en-US" sz="3200" dirty="0"/>
          </a:p>
        </p:txBody>
      </p:sp>
      <p:sp>
        <p:nvSpPr>
          <p:cNvPr id="3" name="Text 1"/>
          <p:cNvSpPr txBox="1"/>
          <p:nvPr/>
        </p:nvSpPr>
        <p:spPr>
          <a:xfrm>
            <a:off x="548640" y="1005840"/>
            <a:ext cx="11064240" cy="365760"/>
          </a:xfrm>
          <a:prstGeom prst="rect">
            <a:avLst/>
          </a:prstGeom>
          <a:noFill/>
          <a:ln/>
        </p:spPr>
        <p:txBody>
          <a:bodyPr wrap="square" lIns="0" tIns="0" rIns="0" bIns="0" rtlCol="0" anchor="ctr"/>
          <a:lstStyle/>
          <a:p>
            <a:pPr marL="0" indent="0">
              <a:buNone/>
            </a:pPr>
            <a:r>
              <a:rPr lang="en-US" sz="1600" dirty="0">
                <a:solidFill>
                  <a:srgbClr val="6B7280"/>
                </a:solidFill>
                <a:latin typeface="Calibri" pitchFamily="34" charset="0"/>
                <a:ea typeface="Calibri" pitchFamily="34" charset="-122"/>
                <a:cs typeface="Calibri" pitchFamily="34" charset="-120"/>
              </a:rPr>
              <a:t>What our research pointed to, and why the problem is niche</a:t>
            </a:r>
            <a:endParaRPr lang="en-US" sz="1600" dirty="0"/>
          </a:p>
        </p:txBody>
      </p:sp>
      <p:sp>
        <p:nvSpPr>
          <p:cNvPr id="4" name="Shape 2"/>
          <p:cNvSpPr/>
          <p:nvPr/>
        </p:nvSpPr>
        <p:spPr>
          <a:xfrm>
            <a:off x="548640" y="1691640"/>
            <a:ext cx="3566160" cy="2926080"/>
          </a:xfrm>
          <a:prstGeom prst="roundRect">
            <a:avLst>
              <a:gd name="adj" fmla="val 3750"/>
            </a:avLst>
          </a:prstGeom>
          <a:solidFill>
            <a:srgbClr val="FFFFFF"/>
          </a:solidFill>
          <a:ln w="12700">
            <a:solidFill>
              <a:srgbClr val="FFFFFF"/>
            </a:solidFill>
            <a:prstDash val="solid"/>
          </a:ln>
          <a:effectLst>
            <a:outerShdw blurRad="101600" dist="25400" dir="5400000" algn="bl" rotWithShape="0">
              <a:srgbClr val="000000">
                <a:alpha val="12000"/>
              </a:srgbClr>
            </a:outerShdw>
          </a:effectLst>
        </p:spPr>
      </p:sp>
      <p:sp>
        <p:nvSpPr>
          <p:cNvPr id="5" name="Text 3"/>
          <p:cNvSpPr txBox="1"/>
          <p:nvPr/>
        </p:nvSpPr>
        <p:spPr>
          <a:xfrm>
            <a:off x="822960" y="1874520"/>
            <a:ext cx="3017520" cy="320040"/>
          </a:xfrm>
          <a:prstGeom prst="rect">
            <a:avLst/>
          </a:prstGeom>
          <a:noFill/>
          <a:ln/>
        </p:spPr>
        <p:txBody>
          <a:bodyPr wrap="square" lIns="0" tIns="0" rIns="0" bIns="0" rtlCol="0" anchor="ctr"/>
          <a:lstStyle/>
          <a:p>
            <a:pPr marL="0" indent="0">
              <a:buNone/>
            </a:pPr>
            <a:r>
              <a:rPr lang="en-US" sz="1200" b="1" dirty="0">
                <a:solidFill>
                  <a:srgbClr val="F5A524"/>
                </a:solidFill>
                <a:latin typeface="Calibri" pitchFamily="34" charset="0"/>
                <a:ea typeface="Calibri" pitchFamily="34" charset="-122"/>
                <a:cs typeface="Calibri" pitchFamily="34" charset="-120"/>
              </a:rPr>
              <a:t>GAP 1</a:t>
            </a:r>
            <a:endParaRPr lang="en-US" sz="1200" dirty="0"/>
          </a:p>
        </p:txBody>
      </p:sp>
      <p:sp>
        <p:nvSpPr>
          <p:cNvPr id="6" name="Text 4"/>
          <p:cNvSpPr txBox="1"/>
          <p:nvPr/>
        </p:nvSpPr>
        <p:spPr>
          <a:xfrm>
            <a:off x="822960" y="2194560"/>
            <a:ext cx="3017520" cy="777240"/>
          </a:xfrm>
          <a:prstGeom prst="rect">
            <a:avLst/>
          </a:prstGeom>
          <a:noFill/>
          <a:ln/>
        </p:spPr>
        <p:txBody>
          <a:bodyPr wrap="square" lIns="0" tIns="0" rIns="0" bIns="0" rtlCol="0" anchor="t"/>
          <a:lstStyle/>
          <a:p>
            <a:pPr marL="0" indent="0">
              <a:buNone/>
            </a:pPr>
            <a:r>
              <a:rPr lang="en-US" sz="1900" b="1" dirty="0">
                <a:solidFill>
                  <a:srgbClr val="171A21"/>
                </a:solidFill>
                <a:latin typeface="Cambria" pitchFamily="34" charset="0"/>
                <a:ea typeface="Cambria" pitchFamily="34" charset="-122"/>
                <a:cs typeface="Cambria" pitchFamily="34" charset="-120"/>
              </a:rPr>
              <a:t>Blind trust in retrieved context</a:t>
            </a:r>
            <a:endParaRPr lang="en-US" sz="1900" dirty="0"/>
          </a:p>
        </p:txBody>
      </p:sp>
      <p:sp>
        <p:nvSpPr>
          <p:cNvPr id="7" name="Text 5"/>
          <p:cNvSpPr txBox="1"/>
          <p:nvPr/>
        </p:nvSpPr>
        <p:spPr>
          <a:xfrm>
            <a:off x="822960" y="3017520"/>
            <a:ext cx="3017520" cy="1463040"/>
          </a:xfrm>
          <a:prstGeom prst="rect">
            <a:avLst/>
          </a:prstGeom>
          <a:noFill/>
          <a:ln/>
        </p:spPr>
        <p:txBody>
          <a:bodyPr wrap="square" lIns="0" tIns="0" rIns="0" bIns="0" rtlCol="0" anchor="t"/>
          <a:lstStyle/>
          <a:p>
            <a:pPr marL="0" indent="0">
              <a:buNone/>
            </a:pPr>
            <a:r>
              <a:rPr lang="en-US" sz="1400" dirty="0">
                <a:solidFill>
                  <a:srgbClr val="6B7280"/>
                </a:solidFill>
                <a:latin typeface="Calibri" pitchFamily="34" charset="0"/>
                <a:ea typeface="Calibri" pitchFamily="34" charset="-122"/>
                <a:cs typeface="Calibri" pitchFamily="34" charset="-120"/>
              </a:rPr>
              <a:t>RAG assistants pass retrieved code straight to the LLM. Secrets or personal data sitting in the repository can leak into prompts and outputs.</a:t>
            </a:r>
            <a:endParaRPr lang="en-US" sz="1400" dirty="0"/>
          </a:p>
        </p:txBody>
      </p:sp>
      <p:sp>
        <p:nvSpPr>
          <p:cNvPr id="8" name="Shape 6"/>
          <p:cNvSpPr/>
          <p:nvPr/>
        </p:nvSpPr>
        <p:spPr>
          <a:xfrm>
            <a:off x="4343400" y="1691640"/>
            <a:ext cx="3566160" cy="2926080"/>
          </a:xfrm>
          <a:prstGeom prst="roundRect">
            <a:avLst>
              <a:gd name="adj" fmla="val 3750"/>
            </a:avLst>
          </a:prstGeom>
          <a:solidFill>
            <a:srgbClr val="FFFFFF"/>
          </a:solidFill>
          <a:ln w="12700">
            <a:solidFill>
              <a:srgbClr val="FFFFFF"/>
            </a:solidFill>
            <a:prstDash val="solid"/>
          </a:ln>
          <a:effectLst>
            <a:outerShdw blurRad="101600" dist="25400" dir="5400000" algn="bl" rotWithShape="0">
              <a:srgbClr val="000000">
                <a:alpha val="12000"/>
              </a:srgbClr>
            </a:outerShdw>
          </a:effectLst>
        </p:spPr>
      </p:sp>
      <p:sp>
        <p:nvSpPr>
          <p:cNvPr id="9" name="Text 7"/>
          <p:cNvSpPr txBox="1"/>
          <p:nvPr/>
        </p:nvSpPr>
        <p:spPr>
          <a:xfrm>
            <a:off x="4617720" y="1874520"/>
            <a:ext cx="3017520" cy="320040"/>
          </a:xfrm>
          <a:prstGeom prst="rect">
            <a:avLst/>
          </a:prstGeom>
          <a:noFill/>
          <a:ln/>
        </p:spPr>
        <p:txBody>
          <a:bodyPr wrap="square" lIns="0" tIns="0" rIns="0" bIns="0" rtlCol="0" anchor="ctr"/>
          <a:lstStyle/>
          <a:p>
            <a:pPr marL="0" indent="0">
              <a:buNone/>
            </a:pPr>
            <a:r>
              <a:rPr lang="en-US" sz="1200" b="1" dirty="0">
                <a:solidFill>
                  <a:srgbClr val="F5A524"/>
                </a:solidFill>
                <a:latin typeface="Calibri" pitchFamily="34" charset="0"/>
                <a:ea typeface="Calibri" pitchFamily="34" charset="-122"/>
                <a:cs typeface="Calibri" pitchFamily="34" charset="-120"/>
              </a:rPr>
              <a:t>GAP 2</a:t>
            </a:r>
            <a:endParaRPr lang="en-US" sz="1200" dirty="0"/>
          </a:p>
        </p:txBody>
      </p:sp>
      <p:sp>
        <p:nvSpPr>
          <p:cNvPr id="10" name="Text 8"/>
          <p:cNvSpPr txBox="1"/>
          <p:nvPr/>
        </p:nvSpPr>
        <p:spPr>
          <a:xfrm>
            <a:off x="4617720" y="2194560"/>
            <a:ext cx="3017520" cy="777240"/>
          </a:xfrm>
          <a:prstGeom prst="rect">
            <a:avLst/>
          </a:prstGeom>
          <a:noFill/>
          <a:ln/>
        </p:spPr>
        <p:txBody>
          <a:bodyPr wrap="square" lIns="0" tIns="0" rIns="0" bIns="0" rtlCol="0" anchor="t"/>
          <a:lstStyle/>
          <a:p>
            <a:pPr marL="0" indent="0">
              <a:buNone/>
            </a:pPr>
            <a:r>
              <a:rPr lang="en-US" sz="1900" b="1" dirty="0">
                <a:solidFill>
                  <a:srgbClr val="171A21"/>
                </a:solidFill>
                <a:latin typeface="Cambria" pitchFamily="34" charset="0"/>
                <a:ea typeface="Cambria" pitchFamily="34" charset="-122"/>
                <a:cs typeface="Cambria" pitchFamily="34" charset="-120"/>
              </a:rPr>
              <a:t>Detection built for other regions</a:t>
            </a:r>
            <a:endParaRPr lang="en-US" sz="1900" dirty="0"/>
          </a:p>
        </p:txBody>
      </p:sp>
      <p:sp>
        <p:nvSpPr>
          <p:cNvPr id="11" name="Text 9"/>
          <p:cNvSpPr txBox="1"/>
          <p:nvPr/>
        </p:nvSpPr>
        <p:spPr>
          <a:xfrm>
            <a:off x="4617720" y="3017520"/>
            <a:ext cx="3017520" cy="1463040"/>
          </a:xfrm>
          <a:prstGeom prst="rect">
            <a:avLst/>
          </a:prstGeom>
          <a:noFill/>
          <a:ln/>
        </p:spPr>
        <p:txBody>
          <a:bodyPr wrap="square" lIns="0" tIns="0" rIns="0" bIns="0" rtlCol="0" anchor="t"/>
          <a:lstStyle/>
          <a:p>
            <a:pPr marL="0" indent="0">
              <a:buNone/>
            </a:pPr>
            <a:r>
              <a:rPr lang="en-US" sz="1400" dirty="0">
                <a:solidFill>
                  <a:srgbClr val="6B7280"/>
                </a:solidFill>
                <a:latin typeface="Calibri" pitchFamily="34" charset="0"/>
                <a:ea typeface="Calibri" pitchFamily="34" charset="-122"/>
                <a:cs typeface="Calibri" pitchFamily="34" charset="-120"/>
              </a:rPr>
              <a:t>Many sensitive-data checks target Western formats and English text. Indian identifiers and Hindi/Marathi content need dedicated handling.</a:t>
            </a:r>
            <a:endParaRPr lang="en-US" sz="1400" dirty="0"/>
          </a:p>
        </p:txBody>
      </p:sp>
      <p:sp>
        <p:nvSpPr>
          <p:cNvPr id="12" name="Shape 10"/>
          <p:cNvSpPr/>
          <p:nvPr/>
        </p:nvSpPr>
        <p:spPr>
          <a:xfrm>
            <a:off x="8138160" y="1691640"/>
            <a:ext cx="3566160" cy="2926080"/>
          </a:xfrm>
          <a:prstGeom prst="roundRect">
            <a:avLst>
              <a:gd name="adj" fmla="val 3750"/>
            </a:avLst>
          </a:prstGeom>
          <a:solidFill>
            <a:srgbClr val="FFFFFF"/>
          </a:solidFill>
          <a:ln w="12700">
            <a:solidFill>
              <a:srgbClr val="FFFFFF"/>
            </a:solidFill>
            <a:prstDash val="solid"/>
          </a:ln>
          <a:effectLst>
            <a:outerShdw blurRad="101600" dist="25400" dir="5400000" algn="bl" rotWithShape="0">
              <a:srgbClr val="000000">
                <a:alpha val="12000"/>
              </a:srgbClr>
            </a:outerShdw>
          </a:effectLst>
        </p:spPr>
      </p:sp>
      <p:sp>
        <p:nvSpPr>
          <p:cNvPr id="13" name="Text 11"/>
          <p:cNvSpPr txBox="1"/>
          <p:nvPr/>
        </p:nvSpPr>
        <p:spPr>
          <a:xfrm>
            <a:off x="8412480" y="1874520"/>
            <a:ext cx="3017520" cy="320040"/>
          </a:xfrm>
          <a:prstGeom prst="rect">
            <a:avLst/>
          </a:prstGeom>
          <a:noFill/>
          <a:ln/>
        </p:spPr>
        <p:txBody>
          <a:bodyPr wrap="square" lIns="0" tIns="0" rIns="0" bIns="0" rtlCol="0" anchor="ctr"/>
          <a:lstStyle/>
          <a:p>
            <a:pPr marL="0" indent="0">
              <a:buNone/>
            </a:pPr>
            <a:r>
              <a:rPr lang="en-US" sz="1200" b="1" dirty="0">
                <a:solidFill>
                  <a:srgbClr val="F5A524"/>
                </a:solidFill>
                <a:latin typeface="Calibri" pitchFamily="34" charset="0"/>
                <a:ea typeface="Calibri" pitchFamily="34" charset="-122"/>
                <a:cs typeface="Calibri" pitchFamily="34" charset="-120"/>
              </a:rPr>
              <a:t>GAP 3</a:t>
            </a:r>
            <a:endParaRPr lang="en-US" sz="1200" dirty="0"/>
          </a:p>
        </p:txBody>
      </p:sp>
      <p:sp>
        <p:nvSpPr>
          <p:cNvPr id="14" name="Text 12"/>
          <p:cNvSpPr txBox="1"/>
          <p:nvPr/>
        </p:nvSpPr>
        <p:spPr>
          <a:xfrm>
            <a:off x="8412480" y="2194560"/>
            <a:ext cx="3017520" cy="777240"/>
          </a:xfrm>
          <a:prstGeom prst="rect">
            <a:avLst/>
          </a:prstGeom>
          <a:noFill/>
          <a:ln/>
        </p:spPr>
        <p:txBody>
          <a:bodyPr wrap="square" lIns="0" tIns="0" rIns="0" bIns="0" rtlCol="0" anchor="t"/>
          <a:lstStyle/>
          <a:p>
            <a:pPr marL="0" indent="0">
              <a:buNone/>
            </a:pPr>
            <a:r>
              <a:rPr lang="en-US" sz="1900" b="1" dirty="0">
                <a:solidFill>
                  <a:srgbClr val="171A21"/>
                </a:solidFill>
                <a:latin typeface="Cambria" pitchFamily="34" charset="0"/>
                <a:ea typeface="Cambria" pitchFamily="34" charset="-122"/>
                <a:cs typeface="Cambria" pitchFamily="34" charset="-120"/>
              </a:rPr>
              <a:t>Tools that don't talk to each other</a:t>
            </a:r>
            <a:endParaRPr lang="en-US" sz="1900" dirty="0"/>
          </a:p>
        </p:txBody>
      </p:sp>
      <p:sp>
        <p:nvSpPr>
          <p:cNvPr id="15" name="Text 13"/>
          <p:cNvSpPr txBox="1"/>
          <p:nvPr/>
        </p:nvSpPr>
        <p:spPr>
          <a:xfrm>
            <a:off x="8412480" y="3017520"/>
            <a:ext cx="3017520" cy="1463040"/>
          </a:xfrm>
          <a:prstGeom prst="rect">
            <a:avLst/>
          </a:prstGeom>
          <a:noFill/>
          <a:ln/>
        </p:spPr>
        <p:txBody>
          <a:bodyPr wrap="square" lIns="0" tIns="0" rIns="0" bIns="0" rtlCol="0" anchor="t"/>
          <a:lstStyle/>
          <a:p>
            <a:pPr marL="0" indent="0">
              <a:buNone/>
            </a:pPr>
            <a:r>
              <a:rPr lang="en-US" sz="1400" dirty="0">
                <a:solidFill>
                  <a:srgbClr val="6B7280"/>
                </a:solidFill>
                <a:latin typeface="Calibri" pitchFamily="34" charset="0"/>
                <a:ea typeface="Calibri" pitchFamily="34" charset="-122"/>
                <a:cs typeface="Calibri" pitchFamily="34" charset="-120"/>
              </a:rPr>
              <a:t>Security scanning, impact analysis, validation and CI usually live in separate tools, with no single governed workflow around an AI request.</a:t>
            </a:r>
            <a:endParaRPr lang="en-US" sz="1400" dirty="0"/>
          </a:p>
        </p:txBody>
      </p:sp>
      <p:sp>
        <p:nvSpPr>
          <p:cNvPr id="16" name="Text 14"/>
          <p:cNvSpPr txBox="1"/>
          <p:nvPr/>
        </p:nvSpPr>
        <p:spPr>
          <a:xfrm>
            <a:off x="548640" y="4892040"/>
            <a:ext cx="5486400" cy="365760"/>
          </a:xfrm>
          <a:prstGeom prst="rect">
            <a:avLst/>
          </a:prstGeom>
          <a:noFill/>
          <a:ln/>
        </p:spPr>
        <p:txBody>
          <a:bodyPr wrap="square" lIns="0" tIns="0" rIns="0" bIns="0" rtlCol="0" anchor="ctr"/>
          <a:lstStyle/>
          <a:p>
            <a:pPr marL="0" indent="0">
              <a:buNone/>
            </a:pPr>
            <a:r>
              <a:rPr lang="en-US" sz="1500" b="1" dirty="0">
                <a:solidFill>
                  <a:srgbClr val="171A21"/>
                </a:solidFill>
                <a:latin typeface="Calibri" pitchFamily="34" charset="0"/>
                <a:ea typeface="Calibri" pitchFamily="34" charset="-122"/>
                <a:cs typeface="Calibri" pitchFamily="34" charset="-120"/>
              </a:rPr>
              <a:t>Research areas we studied</a:t>
            </a:r>
            <a:endParaRPr lang="en-US" sz="1500" dirty="0"/>
          </a:p>
        </p:txBody>
      </p:sp>
      <p:sp>
        <p:nvSpPr>
          <p:cNvPr id="17" name="Text 15"/>
          <p:cNvSpPr txBox="1"/>
          <p:nvPr/>
        </p:nvSpPr>
        <p:spPr>
          <a:xfrm>
            <a:off x="548640" y="5349240"/>
            <a:ext cx="2103120" cy="685800"/>
          </a:xfrm>
          <a:prstGeom prst="roundRect">
            <a:avLst>
              <a:gd name="adj" fmla="val 13333"/>
            </a:avLst>
          </a:prstGeom>
          <a:solidFill>
            <a:srgbClr val="171A21"/>
          </a:solidFill>
          <a:ln/>
        </p:spPr>
        <p:txBody>
          <a:bodyPr wrap="square" lIns="76200" tIns="76200" rIns="76200" bIns="7620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RAG &amp; vector search</a:t>
            </a:r>
            <a:endParaRPr lang="en-US" sz="1200" dirty="0"/>
          </a:p>
        </p:txBody>
      </p:sp>
      <p:sp>
        <p:nvSpPr>
          <p:cNvPr id="18" name="Text 16"/>
          <p:cNvSpPr txBox="1"/>
          <p:nvPr/>
        </p:nvSpPr>
        <p:spPr>
          <a:xfrm>
            <a:off x="2788920" y="5349240"/>
            <a:ext cx="2103120" cy="685800"/>
          </a:xfrm>
          <a:prstGeom prst="roundRect">
            <a:avLst>
              <a:gd name="adj" fmla="val 13333"/>
            </a:avLst>
          </a:prstGeom>
          <a:solidFill>
            <a:srgbClr val="171A21"/>
          </a:solidFill>
          <a:ln/>
        </p:spPr>
        <p:txBody>
          <a:bodyPr wrap="square" lIns="76200" tIns="76200" rIns="76200" bIns="7620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Multilingual PII detection</a:t>
            </a:r>
            <a:endParaRPr lang="en-US" sz="1200" dirty="0"/>
          </a:p>
        </p:txBody>
      </p:sp>
      <p:sp>
        <p:nvSpPr>
          <p:cNvPr id="19" name="Text 17"/>
          <p:cNvSpPr txBox="1"/>
          <p:nvPr/>
        </p:nvSpPr>
        <p:spPr>
          <a:xfrm>
            <a:off x="5029200" y="5349240"/>
            <a:ext cx="2103120" cy="685800"/>
          </a:xfrm>
          <a:prstGeom prst="roundRect">
            <a:avLst>
              <a:gd name="adj" fmla="val 13333"/>
            </a:avLst>
          </a:prstGeom>
          <a:solidFill>
            <a:srgbClr val="171A21"/>
          </a:solidFill>
          <a:ln/>
        </p:spPr>
        <p:txBody>
          <a:bodyPr wrap="square" lIns="76200" tIns="76200" rIns="76200" bIns="7620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Dependency-graph impact analysis</a:t>
            </a:r>
            <a:endParaRPr lang="en-US" sz="1200" dirty="0"/>
          </a:p>
        </p:txBody>
      </p:sp>
      <p:sp>
        <p:nvSpPr>
          <p:cNvPr id="20" name="Text 18"/>
          <p:cNvSpPr txBox="1"/>
          <p:nvPr/>
        </p:nvSpPr>
        <p:spPr>
          <a:xfrm>
            <a:off x="7269480" y="5349240"/>
            <a:ext cx="2103120" cy="685800"/>
          </a:xfrm>
          <a:prstGeom prst="roundRect">
            <a:avLst>
              <a:gd name="adj" fmla="val 13333"/>
            </a:avLst>
          </a:prstGeom>
          <a:solidFill>
            <a:srgbClr val="171A21"/>
          </a:solidFill>
          <a:ln/>
        </p:spPr>
        <p:txBody>
          <a:bodyPr wrap="square" lIns="76200" tIns="76200" rIns="76200" bIns="7620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LLM grounding &amp; prompt safety</a:t>
            </a:r>
            <a:endParaRPr lang="en-US" sz="1200" dirty="0"/>
          </a:p>
        </p:txBody>
      </p:sp>
      <p:sp>
        <p:nvSpPr>
          <p:cNvPr id="21" name="Text 19"/>
          <p:cNvSpPr txBox="1"/>
          <p:nvPr/>
        </p:nvSpPr>
        <p:spPr>
          <a:xfrm>
            <a:off x="9509760" y="5349240"/>
            <a:ext cx="2103120" cy="685800"/>
          </a:xfrm>
          <a:prstGeom prst="roundRect">
            <a:avLst>
              <a:gd name="adj" fmla="val 13333"/>
            </a:avLst>
          </a:prstGeom>
          <a:solidFill>
            <a:srgbClr val="171A21"/>
          </a:solidFill>
          <a:ln/>
        </p:spPr>
        <p:txBody>
          <a:bodyPr wrap="square" lIns="76200" tIns="76200" rIns="76200" bIns="7620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CI security gating</a:t>
            </a:r>
            <a:endParaRPr lang="en-US" sz="1200" dirty="0"/>
          </a:p>
        </p:txBody>
      </p:sp>
      <p:sp>
        <p:nvSpPr>
          <p:cNvPr id="22" name="Text 20"/>
          <p:cNvSpPr txBox="1"/>
          <p:nvPr/>
        </p:nvSpPr>
        <p:spPr>
          <a:xfrm>
            <a:off x="548640" y="6446520"/>
            <a:ext cx="5486400" cy="274320"/>
          </a:xfrm>
          <a:prstGeom prst="rect">
            <a:avLst/>
          </a:prstGeom>
          <a:noFill/>
          <a:ln/>
        </p:spPr>
        <p:txBody>
          <a:bodyPr wrap="square" lIns="0" tIns="0" rIns="0" bIns="0" rtlCol="0" anchor="ctr"/>
          <a:lstStyle/>
          <a:p>
            <a:pPr marL="0" indent="0">
              <a:buNone/>
            </a:pPr>
            <a:r>
              <a:rPr lang="en-US" sz="1000" dirty="0">
                <a:solidFill>
                  <a:srgbClr val="6B7280"/>
                </a:solidFill>
                <a:latin typeface="Calibri" pitchFamily="34" charset="0"/>
                <a:ea typeface="Calibri" pitchFamily="34" charset="-122"/>
                <a:cs typeface="Calibri" pitchFamily="34" charset="-120"/>
              </a:rPr>
              <a:t>KAVACH  |  Project Review</a:t>
            </a:r>
            <a:endParaRPr lang="en-US" sz="1000" dirty="0"/>
          </a:p>
        </p:txBody>
      </p:sp>
      <p:sp>
        <p:nvSpPr>
          <p:cNvPr id="25" name="Slide Number Placeholder 0"/>
          <p:cNvSpPr>
            <a:spLocks noGrp="1"/>
          </p:cNvSpPr>
          <p:nvPr>
            <p:ph type="sldNum" sz="quarter" idx="4294967295"/>
          </p:nvPr>
        </p:nvSpPr>
        <p:spPr>
          <a:xfrm>
            <a:off x="11064240" y="644652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6B7280"/>
                </a:solidFill>
                <a:latin typeface="Calibri"/>
                <a:ea typeface="Calibri"/>
                <a:cs typeface="Calibri"/>
              </a:defRPr>
            </a:lvl1pPr>
          </a:lstStyle>
          <a:p>
            <a:pPr algn="r"/>
            <a:fld id="{F7021451-1387-4CA6-816F-3879F97B5CBC}" type="slidenum">
              <a:rPr lang="en-US" b="0"/>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3F4F6"/>
        </a:solidFill>
        <a:effectLst/>
      </p:bgPr>
    </p:bg>
    <p:spTree>
      <p:nvGrpSpPr>
        <p:cNvPr id="1" name=""/>
        <p:cNvGrpSpPr/>
        <p:nvPr/>
      </p:nvGrpSpPr>
      <p:grpSpPr>
        <a:xfrm>
          <a:off x="0" y="0"/>
          <a:ext cx="0" cy="0"/>
          <a:chOff x="0" y="0"/>
          <a:chExt cx="0" cy="0"/>
        </a:xfrm>
      </p:grpSpPr>
      <p:sp>
        <p:nvSpPr>
          <p:cNvPr id="2" name="Text 0"/>
          <p:cNvSpPr txBox="1"/>
          <p:nvPr/>
        </p:nvSpPr>
        <p:spPr>
          <a:xfrm>
            <a:off x="548640" y="320040"/>
            <a:ext cx="11064240" cy="731520"/>
          </a:xfrm>
          <a:prstGeom prst="rect">
            <a:avLst/>
          </a:prstGeom>
          <a:noFill/>
          <a:ln/>
        </p:spPr>
        <p:txBody>
          <a:bodyPr wrap="square" lIns="0" tIns="0" rIns="0" bIns="0" rtlCol="0" anchor="ctr"/>
          <a:lstStyle/>
          <a:p>
            <a:pPr marL="0" indent="0">
              <a:buNone/>
            </a:pPr>
            <a:r>
              <a:rPr lang="en-US" sz="3200" b="1" dirty="0">
                <a:solidFill>
                  <a:srgbClr val="171A21"/>
                </a:solidFill>
                <a:latin typeface="Cambria" pitchFamily="34" charset="0"/>
                <a:ea typeface="Cambria" pitchFamily="34" charset="-122"/>
                <a:cs typeface="Cambria" pitchFamily="34" charset="-120"/>
              </a:rPr>
              <a:t>Our solution: KAVACH</a:t>
            </a:r>
            <a:endParaRPr lang="en-US" sz="3200" dirty="0"/>
          </a:p>
        </p:txBody>
      </p:sp>
      <p:sp>
        <p:nvSpPr>
          <p:cNvPr id="3" name="Text 1"/>
          <p:cNvSpPr txBox="1"/>
          <p:nvPr/>
        </p:nvSpPr>
        <p:spPr>
          <a:xfrm>
            <a:off x="548640" y="1005840"/>
            <a:ext cx="11064240" cy="365760"/>
          </a:xfrm>
          <a:prstGeom prst="rect">
            <a:avLst/>
          </a:prstGeom>
          <a:noFill/>
          <a:ln/>
        </p:spPr>
        <p:txBody>
          <a:bodyPr wrap="square" lIns="0" tIns="0" rIns="0" bIns="0" rtlCol="0" anchor="ctr"/>
          <a:lstStyle/>
          <a:p>
            <a:pPr marL="0" indent="0">
              <a:buNone/>
            </a:pPr>
            <a:r>
              <a:rPr lang="en-US" sz="1600" dirty="0">
                <a:solidFill>
                  <a:srgbClr val="6B7280"/>
                </a:solidFill>
                <a:latin typeface="Calibri" pitchFamily="34" charset="0"/>
                <a:ea typeface="Calibri" pitchFamily="34" charset="-122"/>
                <a:cs typeface="Calibri" pitchFamily="34" charset="-120"/>
              </a:rPr>
              <a:t>One governed workflow around every AI-assisted code change</a:t>
            </a:r>
            <a:endParaRPr lang="en-US" sz="1600" dirty="0"/>
          </a:p>
        </p:txBody>
      </p:sp>
      <p:sp>
        <p:nvSpPr>
          <p:cNvPr id="4" name="Shape 2"/>
          <p:cNvSpPr/>
          <p:nvPr/>
        </p:nvSpPr>
        <p:spPr>
          <a:xfrm>
            <a:off x="548640" y="1645920"/>
            <a:ext cx="2651760" cy="2103120"/>
          </a:xfrm>
          <a:prstGeom prst="roundRect">
            <a:avLst>
              <a:gd name="adj" fmla="val 5217"/>
            </a:avLst>
          </a:prstGeom>
          <a:solidFill>
            <a:srgbClr val="FFFFFF"/>
          </a:solidFill>
          <a:ln w="12700">
            <a:solidFill>
              <a:srgbClr val="FFFFFF"/>
            </a:solidFill>
            <a:prstDash val="solid"/>
          </a:ln>
          <a:effectLst>
            <a:outerShdw blurRad="101600" dist="25400" dir="5400000" algn="bl" rotWithShape="0">
              <a:srgbClr val="000000">
                <a:alpha val="12000"/>
              </a:srgbClr>
            </a:outerShdw>
          </a:effectLst>
        </p:spPr>
      </p:sp>
      <p:sp>
        <p:nvSpPr>
          <p:cNvPr id="5" name="Shape 3"/>
          <p:cNvSpPr/>
          <p:nvPr/>
        </p:nvSpPr>
        <p:spPr>
          <a:xfrm>
            <a:off x="777240" y="1874520"/>
            <a:ext cx="640080" cy="640080"/>
          </a:xfrm>
          <a:prstGeom prst="ellipse">
            <a:avLst/>
          </a:prstGeom>
          <a:solidFill>
            <a:srgbClr val="171A21"/>
          </a:solidFill>
          <a:ln w="12700">
            <a:solidFill>
              <a:srgbClr val="171A21"/>
            </a:solidFill>
            <a:prstDash val="solid"/>
          </a:ln>
        </p:spPr>
      </p:sp>
      <p:pic>
        <p:nvPicPr>
          <p:cNvPr id="6" name="Image 0" descr="preencoded.png"/>
          <p:cNvPicPr>
            <a:picLocks noChangeAspect="1"/>
          </p:cNvPicPr>
          <p:nvPr/>
        </p:nvPicPr>
        <p:blipFill>
          <a:blip r:embed="rId3"/>
          <a:stretch>
            <a:fillRect/>
          </a:stretch>
        </p:blipFill>
        <p:spPr>
          <a:xfrm>
            <a:off x="943661" y="2040941"/>
            <a:ext cx="307238" cy="307238"/>
          </a:xfrm>
          <a:prstGeom prst="rect">
            <a:avLst/>
          </a:prstGeom>
        </p:spPr>
      </p:pic>
      <p:sp>
        <p:nvSpPr>
          <p:cNvPr id="7" name="Text 4"/>
          <p:cNvSpPr txBox="1"/>
          <p:nvPr/>
        </p:nvSpPr>
        <p:spPr>
          <a:xfrm>
            <a:off x="777240" y="2578608"/>
            <a:ext cx="2240280" cy="411480"/>
          </a:xfrm>
          <a:prstGeom prst="rect">
            <a:avLst/>
          </a:prstGeom>
          <a:noFill/>
          <a:ln/>
        </p:spPr>
        <p:txBody>
          <a:bodyPr wrap="square" lIns="0" tIns="0" rIns="0" bIns="0" rtlCol="0" anchor="t"/>
          <a:lstStyle/>
          <a:p>
            <a:pPr marL="0" indent="0">
              <a:buNone/>
            </a:pPr>
            <a:r>
              <a:rPr lang="en-US" sz="1500" b="1" dirty="0">
                <a:solidFill>
                  <a:srgbClr val="171A21"/>
                </a:solidFill>
                <a:latin typeface="Calibri" pitchFamily="34" charset="0"/>
                <a:ea typeface="Calibri" pitchFamily="34" charset="-122"/>
                <a:cs typeface="Calibri" pitchFamily="34" charset="-120"/>
              </a:rPr>
              <a:t>Sensitive-data detection</a:t>
            </a:r>
            <a:endParaRPr lang="en-US" sz="1500" dirty="0"/>
          </a:p>
        </p:txBody>
      </p:sp>
      <p:sp>
        <p:nvSpPr>
          <p:cNvPr id="8" name="Text 5"/>
          <p:cNvSpPr txBox="1"/>
          <p:nvPr/>
        </p:nvSpPr>
        <p:spPr>
          <a:xfrm>
            <a:off x="777240" y="2971800"/>
            <a:ext cx="2240280" cy="731520"/>
          </a:xfrm>
          <a:prstGeom prst="rect">
            <a:avLst/>
          </a:prstGeom>
          <a:noFill/>
          <a:ln/>
        </p:spPr>
        <p:txBody>
          <a:bodyPr wrap="square" lIns="0" tIns="0" rIns="0" bIns="0" rtlCol="0" anchor="t"/>
          <a:lstStyle/>
          <a:p>
            <a:pPr marL="0" indent="0">
              <a:buNone/>
            </a:pPr>
            <a:r>
              <a:rPr lang="en-US" sz="1200" dirty="0">
                <a:solidFill>
                  <a:srgbClr val="6B7280"/>
                </a:solidFill>
                <a:latin typeface="Calibri" pitchFamily="34" charset="0"/>
                <a:ea typeface="Calibri" pitchFamily="34" charset="-122"/>
                <a:cs typeface="Calibri" pitchFamily="34" charset="-120"/>
              </a:rPr>
              <a:t>Multilingual PII and secrets detection with severity and explanations</a:t>
            </a:r>
            <a:endParaRPr lang="en-US" sz="1200" dirty="0"/>
          </a:p>
        </p:txBody>
      </p:sp>
      <p:sp>
        <p:nvSpPr>
          <p:cNvPr id="9" name="Shape 6"/>
          <p:cNvSpPr/>
          <p:nvPr/>
        </p:nvSpPr>
        <p:spPr>
          <a:xfrm>
            <a:off x="3383280" y="1645920"/>
            <a:ext cx="2651760" cy="2103120"/>
          </a:xfrm>
          <a:prstGeom prst="roundRect">
            <a:avLst>
              <a:gd name="adj" fmla="val 5217"/>
            </a:avLst>
          </a:prstGeom>
          <a:solidFill>
            <a:srgbClr val="FFFFFF"/>
          </a:solidFill>
          <a:ln w="12700">
            <a:solidFill>
              <a:srgbClr val="FFFFFF"/>
            </a:solidFill>
            <a:prstDash val="solid"/>
          </a:ln>
          <a:effectLst>
            <a:outerShdw blurRad="101600" dist="25400" dir="5400000" algn="bl" rotWithShape="0">
              <a:srgbClr val="000000">
                <a:alpha val="12000"/>
              </a:srgbClr>
            </a:outerShdw>
          </a:effectLst>
        </p:spPr>
      </p:sp>
      <p:sp>
        <p:nvSpPr>
          <p:cNvPr id="10" name="Shape 7"/>
          <p:cNvSpPr/>
          <p:nvPr/>
        </p:nvSpPr>
        <p:spPr>
          <a:xfrm>
            <a:off x="3611880" y="1874520"/>
            <a:ext cx="640080" cy="640080"/>
          </a:xfrm>
          <a:prstGeom prst="ellipse">
            <a:avLst/>
          </a:prstGeom>
          <a:solidFill>
            <a:srgbClr val="C8372D"/>
          </a:solidFill>
          <a:ln w="12700">
            <a:solidFill>
              <a:srgbClr val="C8372D"/>
            </a:solidFill>
            <a:prstDash val="solid"/>
          </a:ln>
        </p:spPr>
      </p:sp>
      <p:pic>
        <p:nvPicPr>
          <p:cNvPr id="11" name="Image 1" descr="preencoded.png"/>
          <p:cNvPicPr>
            <a:picLocks noChangeAspect="1"/>
          </p:cNvPicPr>
          <p:nvPr/>
        </p:nvPicPr>
        <p:blipFill>
          <a:blip r:embed="rId4"/>
          <a:stretch>
            <a:fillRect/>
          </a:stretch>
        </p:blipFill>
        <p:spPr>
          <a:xfrm>
            <a:off x="3778301" y="2040941"/>
            <a:ext cx="307238" cy="307238"/>
          </a:xfrm>
          <a:prstGeom prst="rect">
            <a:avLst/>
          </a:prstGeom>
        </p:spPr>
      </p:pic>
      <p:sp>
        <p:nvSpPr>
          <p:cNvPr id="12" name="Text 8"/>
          <p:cNvSpPr txBox="1"/>
          <p:nvPr/>
        </p:nvSpPr>
        <p:spPr>
          <a:xfrm>
            <a:off x="3611880" y="2578608"/>
            <a:ext cx="2240280" cy="411480"/>
          </a:xfrm>
          <a:prstGeom prst="rect">
            <a:avLst/>
          </a:prstGeom>
          <a:noFill/>
          <a:ln/>
        </p:spPr>
        <p:txBody>
          <a:bodyPr wrap="square" lIns="0" tIns="0" rIns="0" bIns="0" rtlCol="0" anchor="t"/>
          <a:lstStyle/>
          <a:p>
            <a:pPr marL="0" indent="0">
              <a:buNone/>
            </a:pPr>
            <a:r>
              <a:rPr lang="en-US" sz="1500" b="1" dirty="0">
                <a:solidFill>
                  <a:srgbClr val="171A21"/>
                </a:solidFill>
                <a:latin typeface="Calibri" pitchFamily="34" charset="0"/>
                <a:ea typeface="Calibri" pitchFamily="34" charset="-122"/>
                <a:cs typeface="Calibri" pitchFamily="34" charset="-120"/>
              </a:rPr>
              <a:t>Policy enforcement</a:t>
            </a:r>
            <a:endParaRPr lang="en-US" sz="1500" dirty="0"/>
          </a:p>
        </p:txBody>
      </p:sp>
      <p:sp>
        <p:nvSpPr>
          <p:cNvPr id="13" name="Text 9"/>
          <p:cNvSpPr txBox="1"/>
          <p:nvPr/>
        </p:nvSpPr>
        <p:spPr>
          <a:xfrm>
            <a:off x="3611880" y="2971800"/>
            <a:ext cx="2240280" cy="731520"/>
          </a:xfrm>
          <a:prstGeom prst="rect">
            <a:avLst/>
          </a:prstGeom>
          <a:noFill/>
          <a:ln/>
        </p:spPr>
        <p:txBody>
          <a:bodyPr wrap="square" lIns="0" tIns="0" rIns="0" bIns="0" rtlCol="0" anchor="t"/>
          <a:lstStyle/>
          <a:p>
            <a:pPr marL="0" indent="0">
              <a:buNone/>
            </a:pPr>
            <a:r>
              <a:rPr lang="en-US" sz="1200" dirty="0">
                <a:solidFill>
                  <a:srgbClr val="6B7280"/>
                </a:solidFill>
                <a:latin typeface="Calibri" pitchFamily="34" charset="0"/>
                <a:ea typeface="Calibri" pitchFamily="34" charset="-122"/>
                <a:cs typeface="Calibri" pitchFamily="34" charset="-120"/>
              </a:rPr>
              <a:t>SAFE or BLOCKED verdicts decide whether the workflow continues</a:t>
            </a:r>
            <a:endParaRPr lang="en-US" sz="1200" dirty="0"/>
          </a:p>
        </p:txBody>
      </p:sp>
      <p:sp>
        <p:nvSpPr>
          <p:cNvPr id="14" name="Shape 10"/>
          <p:cNvSpPr/>
          <p:nvPr/>
        </p:nvSpPr>
        <p:spPr>
          <a:xfrm>
            <a:off x="6217920" y="1645920"/>
            <a:ext cx="2651760" cy="2103120"/>
          </a:xfrm>
          <a:prstGeom prst="roundRect">
            <a:avLst>
              <a:gd name="adj" fmla="val 5217"/>
            </a:avLst>
          </a:prstGeom>
          <a:solidFill>
            <a:srgbClr val="FFFFFF"/>
          </a:solidFill>
          <a:ln w="12700">
            <a:solidFill>
              <a:srgbClr val="FFFFFF"/>
            </a:solidFill>
            <a:prstDash val="solid"/>
          </a:ln>
          <a:effectLst>
            <a:outerShdw blurRad="101600" dist="25400" dir="5400000" algn="bl" rotWithShape="0">
              <a:srgbClr val="000000">
                <a:alpha val="12000"/>
              </a:srgbClr>
            </a:outerShdw>
          </a:effectLst>
        </p:spPr>
      </p:sp>
      <p:sp>
        <p:nvSpPr>
          <p:cNvPr id="15" name="Shape 11"/>
          <p:cNvSpPr/>
          <p:nvPr/>
        </p:nvSpPr>
        <p:spPr>
          <a:xfrm>
            <a:off x="6446520" y="1874520"/>
            <a:ext cx="640080" cy="640080"/>
          </a:xfrm>
          <a:prstGeom prst="ellipse">
            <a:avLst/>
          </a:prstGeom>
          <a:solidFill>
            <a:srgbClr val="0F766E"/>
          </a:solidFill>
          <a:ln w="12700">
            <a:solidFill>
              <a:srgbClr val="0F766E"/>
            </a:solidFill>
            <a:prstDash val="solid"/>
          </a:ln>
        </p:spPr>
      </p:sp>
      <p:pic>
        <p:nvPicPr>
          <p:cNvPr id="16" name="Image 2" descr="preencoded.png"/>
          <p:cNvPicPr>
            <a:picLocks noChangeAspect="1"/>
          </p:cNvPicPr>
          <p:nvPr/>
        </p:nvPicPr>
        <p:blipFill>
          <a:blip r:embed="rId5"/>
          <a:stretch>
            <a:fillRect/>
          </a:stretch>
        </p:blipFill>
        <p:spPr>
          <a:xfrm>
            <a:off x="6612941" y="2040941"/>
            <a:ext cx="307238" cy="307238"/>
          </a:xfrm>
          <a:prstGeom prst="rect">
            <a:avLst/>
          </a:prstGeom>
        </p:spPr>
      </p:pic>
      <p:sp>
        <p:nvSpPr>
          <p:cNvPr id="17" name="Text 12"/>
          <p:cNvSpPr txBox="1"/>
          <p:nvPr/>
        </p:nvSpPr>
        <p:spPr>
          <a:xfrm>
            <a:off x="6446520" y="2578608"/>
            <a:ext cx="2240280" cy="411480"/>
          </a:xfrm>
          <a:prstGeom prst="rect">
            <a:avLst/>
          </a:prstGeom>
          <a:noFill/>
          <a:ln/>
        </p:spPr>
        <p:txBody>
          <a:bodyPr wrap="square" lIns="0" tIns="0" rIns="0" bIns="0" rtlCol="0" anchor="t"/>
          <a:lstStyle/>
          <a:p>
            <a:pPr marL="0" indent="0">
              <a:buNone/>
            </a:pPr>
            <a:r>
              <a:rPr lang="en-US" sz="1500" b="1" dirty="0">
                <a:solidFill>
                  <a:srgbClr val="171A21"/>
                </a:solidFill>
                <a:latin typeface="Calibri" pitchFamily="34" charset="0"/>
                <a:ea typeface="Calibri" pitchFamily="34" charset="-122"/>
                <a:cs typeface="Calibri" pitchFamily="34" charset="-120"/>
              </a:rPr>
              <a:t>Repository-aware RAG</a:t>
            </a:r>
            <a:endParaRPr lang="en-US" sz="1500" dirty="0"/>
          </a:p>
        </p:txBody>
      </p:sp>
      <p:sp>
        <p:nvSpPr>
          <p:cNvPr id="18" name="Text 13"/>
          <p:cNvSpPr txBox="1"/>
          <p:nvPr/>
        </p:nvSpPr>
        <p:spPr>
          <a:xfrm>
            <a:off x="6446520" y="2971800"/>
            <a:ext cx="2240280" cy="731520"/>
          </a:xfrm>
          <a:prstGeom prst="rect">
            <a:avLst/>
          </a:prstGeom>
          <a:noFill/>
          <a:ln/>
        </p:spPr>
        <p:txBody>
          <a:bodyPr wrap="square" lIns="0" tIns="0" rIns="0" bIns="0" rtlCol="0" anchor="t"/>
          <a:lstStyle/>
          <a:p>
            <a:pPr marL="0" indent="0">
              <a:buNone/>
            </a:pPr>
            <a:r>
              <a:rPr lang="en-US" sz="1200" dirty="0">
                <a:solidFill>
                  <a:srgbClr val="6B7280"/>
                </a:solidFill>
                <a:latin typeface="Calibri" pitchFamily="34" charset="0"/>
                <a:ea typeface="Calibri" pitchFamily="34" charset="-122"/>
                <a:cs typeface="Calibri" pitchFamily="34" charset="-120"/>
              </a:rPr>
              <a:t>Retrieves real code evidence, scored by similarity</a:t>
            </a:r>
            <a:endParaRPr lang="en-US" sz="1200" dirty="0"/>
          </a:p>
        </p:txBody>
      </p:sp>
      <p:sp>
        <p:nvSpPr>
          <p:cNvPr id="19" name="Shape 14"/>
          <p:cNvSpPr/>
          <p:nvPr/>
        </p:nvSpPr>
        <p:spPr>
          <a:xfrm>
            <a:off x="9052560" y="1645920"/>
            <a:ext cx="2651760" cy="2103120"/>
          </a:xfrm>
          <a:prstGeom prst="roundRect">
            <a:avLst>
              <a:gd name="adj" fmla="val 5217"/>
            </a:avLst>
          </a:prstGeom>
          <a:solidFill>
            <a:srgbClr val="FFFFFF"/>
          </a:solidFill>
          <a:ln w="12700">
            <a:solidFill>
              <a:srgbClr val="FFFFFF"/>
            </a:solidFill>
            <a:prstDash val="solid"/>
          </a:ln>
          <a:effectLst>
            <a:outerShdw blurRad="101600" dist="25400" dir="5400000" algn="bl" rotWithShape="0">
              <a:srgbClr val="000000">
                <a:alpha val="12000"/>
              </a:srgbClr>
            </a:outerShdw>
          </a:effectLst>
        </p:spPr>
      </p:sp>
      <p:sp>
        <p:nvSpPr>
          <p:cNvPr id="20" name="Shape 15"/>
          <p:cNvSpPr/>
          <p:nvPr/>
        </p:nvSpPr>
        <p:spPr>
          <a:xfrm>
            <a:off x="9281160" y="1874520"/>
            <a:ext cx="640080" cy="640080"/>
          </a:xfrm>
          <a:prstGeom prst="ellipse">
            <a:avLst/>
          </a:prstGeom>
          <a:solidFill>
            <a:srgbClr val="262B36"/>
          </a:solidFill>
          <a:ln w="12700">
            <a:solidFill>
              <a:srgbClr val="262B36"/>
            </a:solidFill>
            <a:prstDash val="solid"/>
          </a:ln>
        </p:spPr>
      </p:sp>
      <p:pic>
        <p:nvPicPr>
          <p:cNvPr id="21" name="Image 3" descr="preencoded.png"/>
          <p:cNvPicPr>
            <a:picLocks noChangeAspect="1"/>
          </p:cNvPicPr>
          <p:nvPr/>
        </p:nvPicPr>
        <p:blipFill>
          <a:blip r:embed="rId6"/>
          <a:stretch>
            <a:fillRect/>
          </a:stretch>
        </p:blipFill>
        <p:spPr>
          <a:xfrm>
            <a:off x="9447581" y="2040941"/>
            <a:ext cx="307238" cy="307238"/>
          </a:xfrm>
          <a:prstGeom prst="rect">
            <a:avLst/>
          </a:prstGeom>
        </p:spPr>
      </p:pic>
      <p:sp>
        <p:nvSpPr>
          <p:cNvPr id="22" name="Text 16"/>
          <p:cNvSpPr txBox="1"/>
          <p:nvPr/>
        </p:nvSpPr>
        <p:spPr>
          <a:xfrm>
            <a:off x="9281160" y="2578608"/>
            <a:ext cx="2240280" cy="411480"/>
          </a:xfrm>
          <a:prstGeom prst="rect">
            <a:avLst/>
          </a:prstGeom>
          <a:noFill/>
          <a:ln/>
        </p:spPr>
        <p:txBody>
          <a:bodyPr wrap="square" lIns="0" tIns="0" rIns="0" bIns="0" rtlCol="0" anchor="t"/>
          <a:lstStyle/>
          <a:p>
            <a:pPr marL="0" indent="0">
              <a:buNone/>
            </a:pPr>
            <a:r>
              <a:rPr lang="en-US" sz="1500" b="1" dirty="0">
                <a:solidFill>
                  <a:srgbClr val="171A21"/>
                </a:solidFill>
                <a:latin typeface="Calibri" pitchFamily="34" charset="0"/>
                <a:ea typeface="Calibri" pitchFamily="34" charset="-122"/>
                <a:cs typeface="Calibri" pitchFamily="34" charset="-120"/>
              </a:rPr>
              <a:t>Change-impact analysis</a:t>
            </a:r>
            <a:endParaRPr lang="en-US" sz="1500" dirty="0"/>
          </a:p>
        </p:txBody>
      </p:sp>
      <p:sp>
        <p:nvSpPr>
          <p:cNvPr id="23" name="Text 17"/>
          <p:cNvSpPr txBox="1"/>
          <p:nvPr/>
        </p:nvSpPr>
        <p:spPr>
          <a:xfrm>
            <a:off x="9281160" y="2971800"/>
            <a:ext cx="2240280" cy="731520"/>
          </a:xfrm>
          <a:prstGeom prst="rect">
            <a:avLst/>
          </a:prstGeom>
          <a:noFill/>
          <a:ln/>
        </p:spPr>
        <p:txBody>
          <a:bodyPr wrap="square" lIns="0" tIns="0" rIns="0" bIns="0" rtlCol="0" anchor="t"/>
          <a:lstStyle/>
          <a:p>
            <a:pPr marL="0" indent="0">
              <a:buNone/>
            </a:pPr>
            <a:r>
              <a:rPr lang="en-US" sz="1200" dirty="0">
                <a:solidFill>
                  <a:srgbClr val="6B7280"/>
                </a:solidFill>
                <a:latin typeface="Calibri" pitchFamily="34" charset="0"/>
                <a:ea typeface="Calibri" pitchFamily="34" charset="-122"/>
                <a:cs typeface="Calibri" pitchFamily="34" charset="-120"/>
              </a:rPr>
              <a:t>Dependency graph plus semantic search rank affected files</a:t>
            </a:r>
            <a:endParaRPr lang="en-US" sz="1200" dirty="0"/>
          </a:p>
        </p:txBody>
      </p:sp>
      <p:sp>
        <p:nvSpPr>
          <p:cNvPr id="24" name="Shape 18"/>
          <p:cNvSpPr/>
          <p:nvPr/>
        </p:nvSpPr>
        <p:spPr>
          <a:xfrm>
            <a:off x="548640" y="3931920"/>
            <a:ext cx="2651760" cy="2103120"/>
          </a:xfrm>
          <a:prstGeom prst="roundRect">
            <a:avLst>
              <a:gd name="adj" fmla="val 5217"/>
            </a:avLst>
          </a:prstGeom>
          <a:solidFill>
            <a:srgbClr val="FFFFFF"/>
          </a:solidFill>
          <a:ln w="12700">
            <a:solidFill>
              <a:srgbClr val="FFFFFF"/>
            </a:solidFill>
            <a:prstDash val="solid"/>
          </a:ln>
          <a:effectLst>
            <a:outerShdw blurRad="101600" dist="25400" dir="5400000" algn="bl" rotWithShape="0">
              <a:srgbClr val="000000">
                <a:alpha val="12000"/>
              </a:srgbClr>
            </a:outerShdw>
          </a:effectLst>
        </p:spPr>
      </p:sp>
      <p:sp>
        <p:nvSpPr>
          <p:cNvPr id="25" name="Shape 19"/>
          <p:cNvSpPr/>
          <p:nvPr/>
        </p:nvSpPr>
        <p:spPr>
          <a:xfrm>
            <a:off x="777240" y="4160520"/>
            <a:ext cx="640080" cy="640080"/>
          </a:xfrm>
          <a:prstGeom prst="ellipse">
            <a:avLst/>
          </a:prstGeom>
          <a:solidFill>
            <a:srgbClr val="0F766E"/>
          </a:solidFill>
          <a:ln w="12700">
            <a:solidFill>
              <a:srgbClr val="0F766E"/>
            </a:solidFill>
            <a:prstDash val="solid"/>
          </a:ln>
        </p:spPr>
      </p:sp>
      <p:pic>
        <p:nvPicPr>
          <p:cNvPr id="26" name="Image 4" descr="preencoded.png"/>
          <p:cNvPicPr>
            <a:picLocks noChangeAspect="1"/>
          </p:cNvPicPr>
          <p:nvPr/>
        </p:nvPicPr>
        <p:blipFill>
          <a:blip r:embed="rId7"/>
          <a:stretch>
            <a:fillRect/>
          </a:stretch>
        </p:blipFill>
        <p:spPr>
          <a:xfrm>
            <a:off x="943661" y="4326941"/>
            <a:ext cx="307238" cy="307238"/>
          </a:xfrm>
          <a:prstGeom prst="rect">
            <a:avLst/>
          </a:prstGeom>
        </p:spPr>
      </p:pic>
      <p:sp>
        <p:nvSpPr>
          <p:cNvPr id="27" name="Text 20"/>
          <p:cNvSpPr txBox="1"/>
          <p:nvPr/>
        </p:nvSpPr>
        <p:spPr>
          <a:xfrm>
            <a:off x="777240" y="4864608"/>
            <a:ext cx="2240280" cy="411480"/>
          </a:xfrm>
          <a:prstGeom prst="rect">
            <a:avLst/>
          </a:prstGeom>
          <a:noFill/>
          <a:ln/>
        </p:spPr>
        <p:txBody>
          <a:bodyPr wrap="square" lIns="0" tIns="0" rIns="0" bIns="0" rtlCol="0" anchor="t"/>
          <a:lstStyle/>
          <a:p>
            <a:pPr marL="0" indent="0">
              <a:buNone/>
            </a:pPr>
            <a:r>
              <a:rPr lang="en-US" sz="1500" b="1" dirty="0">
                <a:solidFill>
                  <a:srgbClr val="171A21"/>
                </a:solidFill>
                <a:latin typeface="Calibri" pitchFamily="34" charset="0"/>
                <a:ea typeface="Calibri" pitchFamily="34" charset="-122"/>
                <a:cs typeface="Calibri" pitchFamily="34" charset="-120"/>
              </a:rPr>
              <a:t>Grounded generation</a:t>
            </a:r>
            <a:endParaRPr lang="en-US" sz="1500" dirty="0"/>
          </a:p>
        </p:txBody>
      </p:sp>
      <p:sp>
        <p:nvSpPr>
          <p:cNvPr id="28" name="Text 21"/>
          <p:cNvSpPr txBox="1"/>
          <p:nvPr/>
        </p:nvSpPr>
        <p:spPr>
          <a:xfrm>
            <a:off x="777240" y="5257800"/>
            <a:ext cx="2240280" cy="731520"/>
          </a:xfrm>
          <a:prstGeom prst="rect">
            <a:avLst/>
          </a:prstGeom>
          <a:noFill/>
          <a:ln/>
        </p:spPr>
        <p:txBody>
          <a:bodyPr wrap="square" lIns="0" tIns="0" rIns="0" bIns="0" rtlCol="0" anchor="t"/>
          <a:lstStyle/>
          <a:p>
            <a:pPr marL="0" indent="0">
              <a:buNone/>
            </a:pPr>
            <a:r>
              <a:rPr lang="en-US" sz="1200" dirty="0">
                <a:solidFill>
                  <a:srgbClr val="6B7280"/>
                </a:solidFill>
                <a:latin typeface="Calibri" pitchFamily="34" charset="0"/>
                <a:ea typeface="Calibri" pitchFamily="34" charset="-122"/>
                <a:cs typeface="Calibri" pitchFamily="34" charset="-120"/>
              </a:rPr>
              <a:t>Gemini generates using only the retrieved repository evidence</a:t>
            </a:r>
            <a:endParaRPr lang="en-US" sz="1200" dirty="0"/>
          </a:p>
        </p:txBody>
      </p:sp>
      <p:sp>
        <p:nvSpPr>
          <p:cNvPr id="29" name="Shape 22"/>
          <p:cNvSpPr/>
          <p:nvPr/>
        </p:nvSpPr>
        <p:spPr>
          <a:xfrm>
            <a:off x="3383280" y="3931920"/>
            <a:ext cx="2651760" cy="2103120"/>
          </a:xfrm>
          <a:prstGeom prst="roundRect">
            <a:avLst>
              <a:gd name="adj" fmla="val 5217"/>
            </a:avLst>
          </a:prstGeom>
          <a:solidFill>
            <a:srgbClr val="FFFFFF"/>
          </a:solidFill>
          <a:ln w="12700">
            <a:solidFill>
              <a:srgbClr val="FFFFFF"/>
            </a:solidFill>
            <a:prstDash val="solid"/>
          </a:ln>
          <a:effectLst>
            <a:outerShdw blurRad="101600" dist="25400" dir="5400000" algn="bl" rotWithShape="0">
              <a:srgbClr val="000000">
                <a:alpha val="12000"/>
              </a:srgbClr>
            </a:outerShdw>
          </a:effectLst>
        </p:spPr>
      </p:sp>
      <p:sp>
        <p:nvSpPr>
          <p:cNvPr id="30" name="Shape 23"/>
          <p:cNvSpPr/>
          <p:nvPr/>
        </p:nvSpPr>
        <p:spPr>
          <a:xfrm>
            <a:off x="3611880" y="4160520"/>
            <a:ext cx="640080" cy="640080"/>
          </a:xfrm>
          <a:prstGeom prst="ellipse">
            <a:avLst/>
          </a:prstGeom>
          <a:solidFill>
            <a:srgbClr val="171A21"/>
          </a:solidFill>
          <a:ln w="12700">
            <a:solidFill>
              <a:srgbClr val="171A21"/>
            </a:solidFill>
            <a:prstDash val="solid"/>
          </a:ln>
        </p:spPr>
      </p:sp>
      <p:pic>
        <p:nvPicPr>
          <p:cNvPr id="31" name="Image 5" descr="preencoded.png"/>
          <p:cNvPicPr>
            <a:picLocks noChangeAspect="1"/>
          </p:cNvPicPr>
          <p:nvPr/>
        </p:nvPicPr>
        <p:blipFill>
          <a:blip r:embed="rId8"/>
          <a:stretch>
            <a:fillRect/>
          </a:stretch>
        </p:blipFill>
        <p:spPr>
          <a:xfrm>
            <a:off x="3778301" y="4326941"/>
            <a:ext cx="307238" cy="307238"/>
          </a:xfrm>
          <a:prstGeom prst="rect">
            <a:avLst/>
          </a:prstGeom>
        </p:spPr>
      </p:pic>
      <p:sp>
        <p:nvSpPr>
          <p:cNvPr id="32" name="Text 24"/>
          <p:cNvSpPr txBox="1"/>
          <p:nvPr/>
        </p:nvSpPr>
        <p:spPr>
          <a:xfrm>
            <a:off x="3611880" y="4864608"/>
            <a:ext cx="2240280" cy="411480"/>
          </a:xfrm>
          <a:prstGeom prst="rect">
            <a:avLst/>
          </a:prstGeom>
          <a:noFill/>
          <a:ln/>
        </p:spPr>
        <p:txBody>
          <a:bodyPr wrap="square" lIns="0" tIns="0" rIns="0" bIns="0" rtlCol="0" anchor="t"/>
          <a:lstStyle/>
          <a:p>
            <a:pPr marL="0" indent="0">
              <a:buNone/>
            </a:pPr>
            <a:r>
              <a:rPr lang="en-US" sz="1500" b="1" dirty="0">
                <a:solidFill>
                  <a:srgbClr val="171A21"/>
                </a:solidFill>
                <a:latin typeface="Calibri" pitchFamily="34" charset="0"/>
                <a:ea typeface="Calibri" pitchFamily="34" charset="-122"/>
                <a:cs typeface="Calibri" pitchFamily="34" charset="-120"/>
              </a:rPr>
              <a:t>Code validation</a:t>
            </a:r>
            <a:endParaRPr lang="en-US" sz="1500" dirty="0"/>
          </a:p>
        </p:txBody>
      </p:sp>
      <p:sp>
        <p:nvSpPr>
          <p:cNvPr id="33" name="Text 25"/>
          <p:cNvSpPr txBox="1"/>
          <p:nvPr/>
        </p:nvSpPr>
        <p:spPr>
          <a:xfrm>
            <a:off x="3611880" y="5257800"/>
            <a:ext cx="2240280" cy="731520"/>
          </a:xfrm>
          <a:prstGeom prst="rect">
            <a:avLst/>
          </a:prstGeom>
          <a:noFill/>
          <a:ln/>
        </p:spPr>
        <p:txBody>
          <a:bodyPr wrap="square" lIns="0" tIns="0" rIns="0" bIns="0" rtlCol="0" anchor="t"/>
          <a:lstStyle/>
          <a:p>
            <a:pPr marL="0" indent="0">
              <a:buNone/>
            </a:pPr>
            <a:r>
              <a:rPr lang="en-US" sz="1200" dirty="0">
                <a:solidFill>
                  <a:srgbClr val="6B7280"/>
                </a:solidFill>
                <a:latin typeface="Calibri" pitchFamily="34" charset="0"/>
                <a:ea typeface="Calibri" pitchFamily="34" charset="-122"/>
                <a:cs typeface="Calibri" pitchFamily="34" charset="-120"/>
              </a:rPr>
              <a:t>Generated code is checked before it is returned</a:t>
            </a:r>
            <a:endParaRPr lang="en-US" sz="1200" dirty="0"/>
          </a:p>
        </p:txBody>
      </p:sp>
      <p:sp>
        <p:nvSpPr>
          <p:cNvPr id="34" name="Shape 26"/>
          <p:cNvSpPr/>
          <p:nvPr/>
        </p:nvSpPr>
        <p:spPr>
          <a:xfrm>
            <a:off x="6217920" y="3931920"/>
            <a:ext cx="2651760" cy="2103120"/>
          </a:xfrm>
          <a:prstGeom prst="roundRect">
            <a:avLst>
              <a:gd name="adj" fmla="val 5217"/>
            </a:avLst>
          </a:prstGeom>
          <a:solidFill>
            <a:srgbClr val="FFFFFF"/>
          </a:solidFill>
          <a:ln w="12700">
            <a:solidFill>
              <a:srgbClr val="FFFFFF"/>
            </a:solidFill>
            <a:prstDash val="solid"/>
          </a:ln>
          <a:effectLst>
            <a:outerShdw blurRad="101600" dist="25400" dir="5400000" algn="bl" rotWithShape="0">
              <a:srgbClr val="000000">
                <a:alpha val="12000"/>
              </a:srgbClr>
            </a:outerShdw>
          </a:effectLst>
        </p:spPr>
      </p:sp>
      <p:sp>
        <p:nvSpPr>
          <p:cNvPr id="35" name="Shape 27"/>
          <p:cNvSpPr/>
          <p:nvPr/>
        </p:nvSpPr>
        <p:spPr>
          <a:xfrm>
            <a:off x="6446520" y="4160520"/>
            <a:ext cx="640080" cy="640080"/>
          </a:xfrm>
          <a:prstGeom prst="ellipse">
            <a:avLst/>
          </a:prstGeom>
          <a:solidFill>
            <a:srgbClr val="262B36"/>
          </a:solidFill>
          <a:ln w="12700">
            <a:solidFill>
              <a:srgbClr val="262B36"/>
            </a:solidFill>
            <a:prstDash val="solid"/>
          </a:ln>
        </p:spPr>
      </p:sp>
      <p:pic>
        <p:nvPicPr>
          <p:cNvPr id="36" name="Image 6" descr="preencoded.png"/>
          <p:cNvPicPr>
            <a:picLocks noChangeAspect="1"/>
          </p:cNvPicPr>
          <p:nvPr/>
        </p:nvPicPr>
        <p:blipFill>
          <a:blip r:embed="rId9"/>
          <a:stretch>
            <a:fillRect/>
          </a:stretch>
        </p:blipFill>
        <p:spPr>
          <a:xfrm>
            <a:off x="6612941" y="4326941"/>
            <a:ext cx="307238" cy="307238"/>
          </a:xfrm>
          <a:prstGeom prst="rect">
            <a:avLst/>
          </a:prstGeom>
        </p:spPr>
      </p:pic>
      <p:sp>
        <p:nvSpPr>
          <p:cNvPr id="37" name="Text 28"/>
          <p:cNvSpPr txBox="1"/>
          <p:nvPr/>
        </p:nvSpPr>
        <p:spPr>
          <a:xfrm>
            <a:off x="6446520" y="4864608"/>
            <a:ext cx="2240280" cy="411480"/>
          </a:xfrm>
          <a:prstGeom prst="rect">
            <a:avLst/>
          </a:prstGeom>
          <a:noFill/>
          <a:ln/>
        </p:spPr>
        <p:txBody>
          <a:bodyPr wrap="square" lIns="0" tIns="0" rIns="0" bIns="0" rtlCol="0" anchor="t"/>
          <a:lstStyle/>
          <a:p>
            <a:pPr marL="0" indent="0">
              <a:buNone/>
            </a:pPr>
            <a:r>
              <a:rPr lang="en-US" sz="1500" b="1" dirty="0">
                <a:solidFill>
                  <a:srgbClr val="171A21"/>
                </a:solidFill>
                <a:latin typeface="Calibri" pitchFamily="34" charset="0"/>
                <a:ea typeface="Calibri" pitchFamily="34" charset="-122"/>
                <a:cs typeface="Calibri" pitchFamily="34" charset="-120"/>
              </a:rPr>
              <a:t>CI security gating</a:t>
            </a:r>
            <a:endParaRPr lang="en-US" sz="1500" dirty="0"/>
          </a:p>
        </p:txBody>
      </p:sp>
      <p:sp>
        <p:nvSpPr>
          <p:cNvPr id="38" name="Text 29"/>
          <p:cNvSpPr txBox="1"/>
          <p:nvPr/>
        </p:nvSpPr>
        <p:spPr>
          <a:xfrm>
            <a:off x="6446520" y="5257800"/>
            <a:ext cx="2240280" cy="731520"/>
          </a:xfrm>
          <a:prstGeom prst="rect">
            <a:avLst/>
          </a:prstGeom>
          <a:noFill/>
          <a:ln/>
        </p:spPr>
        <p:txBody>
          <a:bodyPr wrap="square" lIns="0" tIns="0" rIns="0" bIns="0" rtlCol="0" anchor="t"/>
          <a:lstStyle/>
          <a:p>
            <a:pPr marL="0" indent="0">
              <a:buNone/>
            </a:pPr>
            <a:r>
              <a:rPr lang="en-US" sz="1200" dirty="0">
                <a:solidFill>
                  <a:srgbClr val="6B7280"/>
                </a:solidFill>
                <a:latin typeface="Calibri" pitchFamily="34" charset="0"/>
                <a:ea typeface="Calibri" pitchFamily="34" charset="-122"/>
                <a:cs typeface="Calibri" pitchFamily="34" charset="-120"/>
              </a:rPr>
              <a:t>A GitHub Actions gate blocks unsafe changes</a:t>
            </a:r>
            <a:endParaRPr lang="en-US" sz="1200" dirty="0"/>
          </a:p>
        </p:txBody>
      </p:sp>
      <p:sp>
        <p:nvSpPr>
          <p:cNvPr id="39" name="Shape 30"/>
          <p:cNvSpPr/>
          <p:nvPr/>
        </p:nvSpPr>
        <p:spPr>
          <a:xfrm>
            <a:off x="9052560" y="3931920"/>
            <a:ext cx="2651760" cy="2103120"/>
          </a:xfrm>
          <a:prstGeom prst="roundRect">
            <a:avLst>
              <a:gd name="adj" fmla="val 5217"/>
            </a:avLst>
          </a:prstGeom>
          <a:solidFill>
            <a:srgbClr val="FFFFFF"/>
          </a:solidFill>
          <a:ln w="12700">
            <a:solidFill>
              <a:srgbClr val="FFFFFF"/>
            </a:solidFill>
            <a:prstDash val="solid"/>
          </a:ln>
          <a:effectLst>
            <a:outerShdw blurRad="101600" dist="25400" dir="5400000" algn="bl" rotWithShape="0">
              <a:srgbClr val="000000">
                <a:alpha val="12000"/>
              </a:srgbClr>
            </a:outerShdw>
          </a:effectLst>
        </p:spPr>
      </p:sp>
      <p:sp>
        <p:nvSpPr>
          <p:cNvPr id="40" name="Shape 31"/>
          <p:cNvSpPr/>
          <p:nvPr/>
        </p:nvSpPr>
        <p:spPr>
          <a:xfrm>
            <a:off x="9281160" y="4160520"/>
            <a:ext cx="640080" cy="640080"/>
          </a:xfrm>
          <a:prstGeom prst="ellipse">
            <a:avLst/>
          </a:prstGeom>
          <a:solidFill>
            <a:srgbClr val="C8372D"/>
          </a:solidFill>
          <a:ln w="12700">
            <a:solidFill>
              <a:srgbClr val="C8372D"/>
            </a:solidFill>
            <a:prstDash val="solid"/>
          </a:ln>
        </p:spPr>
      </p:sp>
      <p:pic>
        <p:nvPicPr>
          <p:cNvPr id="41" name="Image 7" descr="preencoded.png"/>
          <p:cNvPicPr>
            <a:picLocks noChangeAspect="1"/>
          </p:cNvPicPr>
          <p:nvPr/>
        </p:nvPicPr>
        <p:blipFill>
          <a:blip r:embed="rId10"/>
          <a:stretch>
            <a:fillRect/>
          </a:stretch>
        </p:blipFill>
        <p:spPr>
          <a:xfrm>
            <a:off x="9447581" y="4326941"/>
            <a:ext cx="307238" cy="307238"/>
          </a:xfrm>
          <a:prstGeom prst="rect">
            <a:avLst/>
          </a:prstGeom>
        </p:spPr>
      </p:pic>
      <p:sp>
        <p:nvSpPr>
          <p:cNvPr id="42" name="Text 32"/>
          <p:cNvSpPr txBox="1"/>
          <p:nvPr/>
        </p:nvSpPr>
        <p:spPr>
          <a:xfrm>
            <a:off x="9281160" y="4864608"/>
            <a:ext cx="2240280" cy="411480"/>
          </a:xfrm>
          <a:prstGeom prst="rect">
            <a:avLst/>
          </a:prstGeom>
          <a:noFill/>
          <a:ln/>
        </p:spPr>
        <p:txBody>
          <a:bodyPr wrap="square" lIns="0" tIns="0" rIns="0" bIns="0" rtlCol="0" anchor="t"/>
          <a:lstStyle/>
          <a:p>
            <a:pPr marL="0" indent="0">
              <a:buNone/>
            </a:pPr>
            <a:r>
              <a:rPr lang="en-US" sz="1500" b="1" dirty="0">
                <a:solidFill>
                  <a:srgbClr val="171A21"/>
                </a:solidFill>
                <a:latin typeface="Calibri" pitchFamily="34" charset="0"/>
                <a:ea typeface="Calibri" pitchFamily="34" charset="-122"/>
                <a:cs typeface="Calibri" pitchFamily="34" charset="-120"/>
              </a:rPr>
              <a:t>Workflow audit trail</a:t>
            </a:r>
            <a:endParaRPr lang="en-US" sz="1500" dirty="0"/>
          </a:p>
        </p:txBody>
      </p:sp>
      <p:sp>
        <p:nvSpPr>
          <p:cNvPr id="43" name="Text 33"/>
          <p:cNvSpPr txBox="1"/>
          <p:nvPr/>
        </p:nvSpPr>
        <p:spPr>
          <a:xfrm>
            <a:off x="9281160" y="5257800"/>
            <a:ext cx="2240280" cy="731520"/>
          </a:xfrm>
          <a:prstGeom prst="rect">
            <a:avLst/>
          </a:prstGeom>
          <a:noFill/>
          <a:ln/>
        </p:spPr>
        <p:txBody>
          <a:bodyPr wrap="square" lIns="0" tIns="0" rIns="0" bIns="0" rtlCol="0" anchor="t"/>
          <a:lstStyle/>
          <a:p>
            <a:pPr marL="0" indent="0">
              <a:buNone/>
            </a:pPr>
            <a:r>
              <a:rPr lang="en-US" sz="1200" dirty="0">
                <a:solidFill>
                  <a:srgbClr val="6B7280"/>
                </a:solidFill>
                <a:latin typeface="Calibri" pitchFamily="34" charset="0"/>
                <a:ea typeface="Calibri" pitchFamily="34" charset="-122"/>
                <a:cs typeface="Calibri" pitchFamily="34" charset="-120"/>
              </a:rPr>
              <a:t>Every stage's decision is recorded and visible</a:t>
            </a:r>
            <a:endParaRPr lang="en-US" sz="1200" dirty="0"/>
          </a:p>
        </p:txBody>
      </p:sp>
      <p:sp>
        <p:nvSpPr>
          <p:cNvPr id="44" name="Text 34"/>
          <p:cNvSpPr txBox="1"/>
          <p:nvPr/>
        </p:nvSpPr>
        <p:spPr>
          <a:xfrm>
            <a:off x="548640" y="6446520"/>
            <a:ext cx="5486400" cy="274320"/>
          </a:xfrm>
          <a:prstGeom prst="rect">
            <a:avLst/>
          </a:prstGeom>
          <a:noFill/>
          <a:ln/>
        </p:spPr>
        <p:txBody>
          <a:bodyPr wrap="square" lIns="0" tIns="0" rIns="0" bIns="0" rtlCol="0" anchor="ctr"/>
          <a:lstStyle/>
          <a:p>
            <a:pPr marL="0" indent="0">
              <a:buNone/>
            </a:pPr>
            <a:r>
              <a:rPr lang="en-US" sz="1000" dirty="0">
                <a:solidFill>
                  <a:srgbClr val="6B7280"/>
                </a:solidFill>
                <a:latin typeface="Calibri" pitchFamily="34" charset="0"/>
                <a:ea typeface="Calibri" pitchFamily="34" charset="-122"/>
                <a:cs typeface="Calibri" pitchFamily="34" charset="-120"/>
              </a:rPr>
              <a:t>KAVACH  |  Project Review</a:t>
            </a:r>
            <a:endParaRPr lang="en-US" sz="1000" dirty="0"/>
          </a:p>
        </p:txBody>
      </p:sp>
      <p:sp>
        <p:nvSpPr>
          <p:cNvPr id="45" name="Slide Number Placeholder 0"/>
          <p:cNvSpPr>
            <a:spLocks noGrp="1"/>
          </p:cNvSpPr>
          <p:nvPr>
            <p:ph type="sldNum" sz="quarter" idx="4294967295"/>
          </p:nvPr>
        </p:nvSpPr>
        <p:spPr>
          <a:xfrm>
            <a:off x="11064240" y="644652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6B7280"/>
                </a:solidFill>
                <a:latin typeface="Calibri"/>
                <a:ea typeface="Calibri"/>
                <a:cs typeface="Calibri"/>
              </a:defRPr>
            </a:lvl1pPr>
          </a:lstStyle>
          <a:p>
            <a:pPr algn="r"/>
            <a:fld id="{F7021451-1387-4CA6-816F-3879F97B5CBC}" type="slidenum">
              <a:rPr lang="en-US" b="0"/>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3F4F6"/>
        </a:solidFill>
        <a:effectLst/>
      </p:bgPr>
    </p:bg>
    <p:spTree>
      <p:nvGrpSpPr>
        <p:cNvPr id="1" name=""/>
        <p:cNvGrpSpPr/>
        <p:nvPr/>
      </p:nvGrpSpPr>
      <p:grpSpPr>
        <a:xfrm>
          <a:off x="0" y="0"/>
          <a:ext cx="0" cy="0"/>
          <a:chOff x="0" y="0"/>
          <a:chExt cx="0" cy="0"/>
        </a:xfrm>
      </p:grpSpPr>
      <p:sp>
        <p:nvSpPr>
          <p:cNvPr id="2" name="Text 0"/>
          <p:cNvSpPr txBox="1"/>
          <p:nvPr/>
        </p:nvSpPr>
        <p:spPr>
          <a:xfrm>
            <a:off x="548640" y="320040"/>
            <a:ext cx="11064240" cy="731520"/>
          </a:xfrm>
          <a:prstGeom prst="rect">
            <a:avLst/>
          </a:prstGeom>
          <a:noFill/>
          <a:ln/>
        </p:spPr>
        <p:txBody>
          <a:bodyPr wrap="square" lIns="0" tIns="0" rIns="0" bIns="0" rtlCol="0" anchor="ctr"/>
          <a:lstStyle/>
          <a:p>
            <a:pPr marL="0" indent="0">
              <a:buNone/>
            </a:pPr>
            <a:r>
              <a:rPr lang="en-US" sz="3200" b="1" dirty="0">
                <a:solidFill>
                  <a:srgbClr val="171A21"/>
                </a:solidFill>
                <a:latin typeface="Cambria" pitchFamily="34" charset="0"/>
                <a:ea typeface="Cambria" pitchFamily="34" charset="-122"/>
                <a:cs typeface="Cambria" pitchFamily="34" charset="-120"/>
              </a:rPr>
              <a:t>How it works: the life of one request</a:t>
            </a:r>
            <a:endParaRPr lang="en-US" sz="3200" dirty="0"/>
          </a:p>
        </p:txBody>
      </p:sp>
      <p:sp>
        <p:nvSpPr>
          <p:cNvPr id="3" name="Text 1"/>
          <p:cNvSpPr txBox="1"/>
          <p:nvPr/>
        </p:nvSpPr>
        <p:spPr>
          <a:xfrm>
            <a:off x="548640" y="1005840"/>
            <a:ext cx="11064240" cy="365760"/>
          </a:xfrm>
          <a:prstGeom prst="rect">
            <a:avLst/>
          </a:prstGeom>
          <a:noFill/>
          <a:ln/>
        </p:spPr>
        <p:txBody>
          <a:bodyPr wrap="square" lIns="0" tIns="0" rIns="0" bIns="0" rtlCol="0" anchor="ctr"/>
          <a:lstStyle/>
          <a:p>
            <a:pPr marL="0" indent="0">
              <a:buNone/>
            </a:pPr>
            <a:r>
              <a:rPr lang="en-US" sz="1600" dirty="0">
                <a:solidFill>
                  <a:srgbClr val="6B7280"/>
                </a:solidFill>
                <a:latin typeface="Calibri" pitchFamily="34" charset="0"/>
                <a:ea typeface="Calibri" pitchFamily="34" charset="-122"/>
                <a:cs typeface="Calibri" pitchFamily="34" charset="-120"/>
              </a:rPr>
              <a:t>Every request passes through these stages, in this order</a:t>
            </a:r>
            <a:endParaRPr lang="en-US" sz="1600" dirty="0"/>
          </a:p>
        </p:txBody>
      </p:sp>
      <p:sp>
        <p:nvSpPr>
          <p:cNvPr id="4" name="Shape 2"/>
          <p:cNvSpPr/>
          <p:nvPr/>
        </p:nvSpPr>
        <p:spPr>
          <a:xfrm>
            <a:off x="548640" y="1691640"/>
            <a:ext cx="1371600" cy="2240280"/>
          </a:xfrm>
          <a:prstGeom prst="roundRect">
            <a:avLst>
              <a:gd name="adj" fmla="val 6667"/>
            </a:avLst>
          </a:prstGeom>
          <a:solidFill>
            <a:srgbClr val="FFFFFF"/>
          </a:solidFill>
          <a:ln w="12700">
            <a:solidFill>
              <a:srgbClr val="FFFFFF"/>
            </a:solidFill>
            <a:prstDash val="solid"/>
          </a:ln>
          <a:effectLst>
            <a:outerShdw blurRad="101600" dist="25400" dir="5400000" algn="bl" rotWithShape="0">
              <a:srgbClr val="000000">
                <a:alpha val="12000"/>
              </a:srgbClr>
            </a:outerShdw>
          </a:effectLst>
        </p:spPr>
      </p:sp>
      <p:sp>
        <p:nvSpPr>
          <p:cNvPr id="5" name="Text 3"/>
          <p:cNvSpPr txBox="1"/>
          <p:nvPr/>
        </p:nvSpPr>
        <p:spPr>
          <a:xfrm>
            <a:off x="548640" y="1691640"/>
            <a:ext cx="1371600" cy="2240280"/>
          </a:xfrm>
          <a:prstGeom prst="rect">
            <a:avLst/>
          </a:prstGeom>
          <a:noFill/>
          <a:ln/>
        </p:spPr>
        <p:txBody>
          <a:bodyPr wrap="square" lIns="114300" tIns="114300" rIns="114300" bIns="114300" rtlCol="0" anchor="t"/>
          <a:lstStyle/>
          <a:p>
            <a:pPr marL="0" indent="0" algn="l">
              <a:spcAft>
                <a:spcPts val="300"/>
              </a:spcAft>
              <a:buNone/>
            </a:pPr>
            <a:r>
              <a:rPr lang="en-US" sz="1100" b="1" dirty="0">
                <a:solidFill>
                  <a:srgbClr val="0F766E"/>
                </a:solidFill>
                <a:latin typeface="Calibri" pitchFamily="34" charset="0"/>
                <a:ea typeface="Calibri" pitchFamily="34" charset="-122"/>
                <a:cs typeface="Calibri" pitchFamily="34" charset="-120"/>
              </a:rPr>
              <a:t>01</a:t>
            </a:r>
            <a:endParaRPr lang="en-US" sz="1100" dirty="0"/>
          </a:p>
          <a:p>
            <a:pPr marL="0" indent="0" algn="l">
              <a:spcAft>
                <a:spcPts val="300"/>
              </a:spcAft>
              <a:buNone/>
            </a:pPr>
            <a:r>
              <a:rPr lang="en-US" sz="1500" b="1" dirty="0">
                <a:solidFill>
                  <a:srgbClr val="171A21"/>
                </a:solidFill>
                <a:latin typeface="Calibri" pitchFamily="34" charset="0"/>
                <a:ea typeface="Calibri" pitchFamily="34" charset="-122"/>
                <a:cs typeface="Calibri" pitchFamily="34" charset="-120"/>
              </a:rPr>
              <a:t>Developer request</a:t>
            </a:r>
            <a:endParaRPr lang="en-US" sz="1100" dirty="0"/>
          </a:p>
          <a:p>
            <a:pPr marL="0" indent="0" algn="l">
              <a:spcAft>
                <a:spcPts val="300"/>
              </a:spcAft>
              <a:buNone/>
            </a:pPr>
            <a:r>
              <a:rPr lang="en-US" sz="1300" dirty="0">
                <a:solidFill>
                  <a:srgbClr val="6B7280"/>
                </a:solidFill>
                <a:latin typeface="Calibri" pitchFamily="34" charset="0"/>
                <a:ea typeface="Calibri" pitchFamily="34" charset="-122"/>
                <a:cs typeface="Calibri" pitchFamily="34" charset="-120"/>
              </a:rPr>
              <a:t>A change or question is submitted in plain language</a:t>
            </a:r>
            <a:endParaRPr lang="en-US" sz="1100" dirty="0"/>
          </a:p>
        </p:txBody>
      </p:sp>
      <p:sp>
        <p:nvSpPr>
          <p:cNvPr id="6" name="Shape 4"/>
          <p:cNvSpPr/>
          <p:nvPr/>
        </p:nvSpPr>
        <p:spPr>
          <a:xfrm>
            <a:off x="1938528" y="2811780"/>
            <a:ext cx="210312" cy="0"/>
          </a:xfrm>
          <a:prstGeom prst="line">
            <a:avLst/>
          </a:prstGeom>
          <a:noFill/>
          <a:ln w="25400">
            <a:solidFill>
              <a:srgbClr val="171A21"/>
            </a:solidFill>
            <a:prstDash val="solid"/>
            <a:tailEnd type="triangle"/>
          </a:ln>
        </p:spPr>
      </p:sp>
      <p:sp>
        <p:nvSpPr>
          <p:cNvPr id="7" name="Shape 5"/>
          <p:cNvSpPr/>
          <p:nvPr/>
        </p:nvSpPr>
        <p:spPr>
          <a:xfrm>
            <a:off x="2167128" y="1691640"/>
            <a:ext cx="1371600" cy="2240280"/>
          </a:xfrm>
          <a:prstGeom prst="roundRect">
            <a:avLst>
              <a:gd name="adj" fmla="val 6667"/>
            </a:avLst>
          </a:prstGeom>
          <a:solidFill>
            <a:srgbClr val="171A21"/>
          </a:solidFill>
          <a:ln w="12700">
            <a:solidFill>
              <a:srgbClr val="171A21"/>
            </a:solidFill>
            <a:prstDash val="solid"/>
          </a:ln>
          <a:effectLst>
            <a:outerShdw blurRad="101600" dist="25400" dir="5400000" algn="bl" rotWithShape="0">
              <a:srgbClr val="000000">
                <a:alpha val="12000"/>
              </a:srgbClr>
            </a:outerShdw>
          </a:effectLst>
        </p:spPr>
      </p:sp>
      <p:sp>
        <p:nvSpPr>
          <p:cNvPr id="8" name="Text 6"/>
          <p:cNvSpPr txBox="1"/>
          <p:nvPr/>
        </p:nvSpPr>
        <p:spPr>
          <a:xfrm>
            <a:off x="2167128" y="1691640"/>
            <a:ext cx="1371600" cy="2240280"/>
          </a:xfrm>
          <a:prstGeom prst="rect">
            <a:avLst/>
          </a:prstGeom>
          <a:noFill/>
          <a:ln/>
        </p:spPr>
        <p:txBody>
          <a:bodyPr wrap="square" lIns="114300" tIns="114300" rIns="114300" bIns="114300" rtlCol="0" anchor="t"/>
          <a:lstStyle/>
          <a:p>
            <a:pPr marL="0" indent="0" algn="l">
              <a:spcAft>
                <a:spcPts val="300"/>
              </a:spcAft>
              <a:buNone/>
            </a:pPr>
            <a:r>
              <a:rPr lang="en-US" sz="1100" b="1" dirty="0">
                <a:solidFill>
                  <a:srgbClr val="F5A524"/>
                </a:solidFill>
                <a:latin typeface="Calibri" pitchFamily="34" charset="0"/>
                <a:ea typeface="Calibri" pitchFamily="34" charset="-122"/>
                <a:cs typeface="Calibri" pitchFamily="34" charset="-120"/>
              </a:rPr>
              <a:t>02</a:t>
            </a:r>
            <a:endParaRPr lang="en-US" sz="1100" dirty="0"/>
          </a:p>
          <a:p>
            <a:pPr marL="0" indent="0" algn="l">
              <a:spcAft>
                <a:spcPts val="300"/>
              </a:spcAft>
              <a:buNone/>
            </a:pPr>
            <a:r>
              <a:rPr lang="en-US" sz="1500" b="1" dirty="0">
                <a:solidFill>
                  <a:srgbClr val="F5A524"/>
                </a:solidFill>
                <a:latin typeface="Calibri" pitchFamily="34" charset="0"/>
                <a:ea typeface="Calibri" pitchFamily="34" charset="-122"/>
                <a:cs typeface="Calibri" pitchFamily="34" charset="-120"/>
              </a:rPr>
              <a:t>Security Gate #1</a:t>
            </a:r>
            <a:endParaRPr lang="en-US" sz="1100" dirty="0"/>
          </a:p>
          <a:p>
            <a:pPr marL="0" indent="0" algn="l">
              <a:spcAft>
                <a:spcPts val="300"/>
              </a:spcAft>
              <a:buNone/>
            </a:pPr>
            <a:r>
              <a:rPr lang="en-US" sz="1300" dirty="0">
                <a:solidFill>
                  <a:srgbClr val="D5D9E0"/>
                </a:solidFill>
                <a:latin typeface="Calibri" pitchFamily="34" charset="0"/>
                <a:ea typeface="Calibri" pitchFamily="34" charset="-122"/>
                <a:cs typeface="Calibri" pitchFamily="34" charset="-120"/>
              </a:rPr>
              <a:t>Scans the request for PII, keys and policy violations</a:t>
            </a:r>
            <a:endParaRPr lang="en-US" sz="1100" dirty="0"/>
          </a:p>
        </p:txBody>
      </p:sp>
      <p:sp>
        <p:nvSpPr>
          <p:cNvPr id="9" name="Shape 7"/>
          <p:cNvSpPr/>
          <p:nvPr/>
        </p:nvSpPr>
        <p:spPr>
          <a:xfrm>
            <a:off x="3557016" y="2811780"/>
            <a:ext cx="210312" cy="0"/>
          </a:xfrm>
          <a:prstGeom prst="line">
            <a:avLst/>
          </a:prstGeom>
          <a:noFill/>
          <a:ln w="25400">
            <a:solidFill>
              <a:srgbClr val="171A21"/>
            </a:solidFill>
            <a:prstDash val="solid"/>
            <a:tailEnd type="triangle"/>
          </a:ln>
        </p:spPr>
      </p:sp>
      <p:sp>
        <p:nvSpPr>
          <p:cNvPr id="10" name="Shape 8"/>
          <p:cNvSpPr/>
          <p:nvPr/>
        </p:nvSpPr>
        <p:spPr>
          <a:xfrm>
            <a:off x="3785616" y="1691640"/>
            <a:ext cx="1371600" cy="2240280"/>
          </a:xfrm>
          <a:prstGeom prst="roundRect">
            <a:avLst>
              <a:gd name="adj" fmla="val 6667"/>
            </a:avLst>
          </a:prstGeom>
          <a:solidFill>
            <a:srgbClr val="FFFFFF"/>
          </a:solidFill>
          <a:ln w="12700">
            <a:solidFill>
              <a:srgbClr val="FFFFFF"/>
            </a:solidFill>
            <a:prstDash val="solid"/>
          </a:ln>
          <a:effectLst>
            <a:outerShdw blurRad="101600" dist="25400" dir="5400000" algn="bl" rotWithShape="0">
              <a:srgbClr val="000000">
                <a:alpha val="12000"/>
              </a:srgbClr>
            </a:outerShdw>
          </a:effectLst>
        </p:spPr>
      </p:sp>
      <p:sp>
        <p:nvSpPr>
          <p:cNvPr id="11" name="Text 9"/>
          <p:cNvSpPr txBox="1"/>
          <p:nvPr/>
        </p:nvSpPr>
        <p:spPr>
          <a:xfrm>
            <a:off x="3785616" y="1691640"/>
            <a:ext cx="1371600" cy="2240280"/>
          </a:xfrm>
          <a:prstGeom prst="rect">
            <a:avLst/>
          </a:prstGeom>
          <a:noFill/>
          <a:ln/>
        </p:spPr>
        <p:txBody>
          <a:bodyPr wrap="square" lIns="114300" tIns="114300" rIns="114300" bIns="114300" rtlCol="0" anchor="t"/>
          <a:lstStyle/>
          <a:p>
            <a:pPr marL="0" indent="0" algn="l">
              <a:spcAft>
                <a:spcPts val="300"/>
              </a:spcAft>
              <a:buNone/>
            </a:pPr>
            <a:r>
              <a:rPr lang="en-US" sz="1100" b="1" dirty="0">
                <a:solidFill>
                  <a:srgbClr val="0F766E"/>
                </a:solidFill>
                <a:latin typeface="Calibri" pitchFamily="34" charset="0"/>
                <a:ea typeface="Calibri" pitchFamily="34" charset="-122"/>
                <a:cs typeface="Calibri" pitchFamily="34" charset="-120"/>
              </a:rPr>
              <a:t>03</a:t>
            </a:r>
            <a:endParaRPr lang="en-US" sz="1100" dirty="0"/>
          </a:p>
          <a:p>
            <a:pPr marL="0" indent="0" algn="l">
              <a:spcAft>
                <a:spcPts val="300"/>
              </a:spcAft>
              <a:buNone/>
            </a:pPr>
            <a:r>
              <a:rPr lang="en-US" sz="1500" b="1" dirty="0">
                <a:solidFill>
                  <a:srgbClr val="171A21"/>
                </a:solidFill>
                <a:latin typeface="Calibri" pitchFamily="34" charset="0"/>
                <a:ea typeface="Calibri" pitchFamily="34" charset="-122"/>
                <a:cs typeface="Calibri" pitchFamily="34" charset="-120"/>
              </a:rPr>
              <a:t>RAG retrieval</a:t>
            </a:r>
            <a:endParaRPr lang="en-US" sz="1100" dirty="0"/>
          </a:p>
          <a:p>
            <a:pPr marL="0" indent="0" algn="l">
              <a:spcAft>
                <a:spcPts val="300"/>
              </a:spcAft>
              <a:buNone/>
            </a:pPr>
            <a:r>
              <a:rPr lang="en-US" sz="1300" dirty="0">
                <a:solidFill>
                  <a:srgbClr val="6B7280"/>
                </a:solidFill>
                <a:latin typeface="Calibri" pitchFamily="34" charset="0"/>
                <a:ea typeface="Calibri" pitchFamily="34" charset="-122"/>
                <a:cs typeface="Calibri" pitchFamily="34" charset="-120"/>
              </a:rPr>
              <a:t>Finds the most relevant code chunks in the repository</a:t>
            </a:r>
            <a:endParaRPr lang="en-US" sz="1100" dirty="0"/>
          </a:p>
        </p:txBody>
      </p:sp>
      <p:sp>
        <p:nvSpPr>
          <p:cNvPr id="12" name="Shape 10"/>
          <p:cNvSpPr/>
          <p:nvPr/>
        </p:nvSpPr>
        <p:spPr>
          <a:xfrm>
            <a:off x="5175504" y="2811780"/>
            <a:ext cx="210312" cy="0"/>
          </a:xfrm>
          <a:prstGeom prst="line">
            <a:avLst/>
          </a:prstGeom>
          <a:noFill/>
          <a:ln w="25400">
            <a:solidFill>
              <a:srgbClr val="171A21"/>
            </a:solidFill>
            <a:prstDash val="solid"/>
            <a:tailEnd type="triangle"/>
          </a:ln>
        </p:spPr>
      </p:sp>
      <p:sp>
        <p:nvSpPr>
          <p:cNvPr id="13" name="Shape 11"/>
          <p:cNvSpPr/>
          <p:nvPr/>
        </p:nvSpPr>
        <p:spPr>
          <a:xfrm>
            <a:off x="5404104" y="1691640"/>
            <a:ext cx="1371600" cy="2240280"/>
          </a:xfrm>
          <a:prstGeom prst="roundRect">
            <a:avLst>
              <a:gd name="adj" fmla="val 6667"/>
            </a:avLst>
          </a:prstGeom>
          <a:solidFill>
            <a:srgbClr val="171A21"/>
          </a:solidFill>
          <a:ln w="12700">
            <a:solidFill>
              <a:srgbClr val="171A21"/>
            </a:solidFill>
            <a:prstDash val="solid"/>
          </a:ln>
          <a:effectLst>
            <a:outerShdw blurRad="101600" dist="25400" dir="5400000" algn="bl" rotWithShape="0">
              <a:srgbClr val="000000">
                <a:alpha val="12000"/>
              </a:srgbClr>
            </a:outerShdw>
          </a:effectLst>
        </p:spPr>
      </p:sp>
      <p:sp>
        <p:nvSpPr>
          <p:cNvPr id="14" name="Text 12"/>
          <p:cNvSpPr txBox="1"/>
          <p:nvPr/>
        </p:nvSpPr>
        <p:spPr>
          <a:xfrm>
            <a:off x="5404104" y="1691640"/>
            <a:ext cx="1371600" cy="2240280"/>
          </a:xfrm>
          <a:prstGeom prst="rect">
            <a:avLst/>
          </a:prstGeom>
          <a:noFill/>
          <a:ln/>
        </p:spPr>
        <p:txBody>
          <a:bodyPr wrap="square" lIns="114300" tIns="114300" rIns="114300" bIns="114300" rtlCol="0" anchor="t"/>
          <a:lstStyle/>
          <a:p>
            <a:pPr marL="0" indent="0" algn="l">
              <a:spcAft>
                <a:spcPts val="300"/>
              </a:spcAft>
              <a:buNone/>
            </a:pPr>
            <a:r>
              <a:rPr lang="en-US" sz="1100" b="1" dirty="0">
                <a:solidFill>
                  <a:srgbClr val="F5A524"/>
                </a:solidFill>
                <a:latin typeface="Calibri" pitchFamily="34" charset="0"/>
                <a:ea typeface="Calibri" pitchFamily="34" charset="-122"/>
                <a:cs typeface="Calibri" pitchFamily="34" charset="-120"/>
              </a:rPr>
              <a:t>04</a:t>
            </a:r>
            <a:endParaRPr lang="en-US" sz="1100" dirty="0"/>
          </a:p>
          <a:p>
            <a:pPr marL="0" indent="0" algn="l">
              <a:spcAft>
                <a:spcPts val="300"/>
              </a:spcAft>
              <a:buNone/>
            </a:pPr>
            <a:r>
              <a:rPr lang="en-US" sz="1500" b="1" dirty="0">
                <a:solidFill>
                  <a:srgbClr val="F5A524"/>
                </a:solidFill>
                <a:latin typeface="Calibri" pitchFamily="34" charset="0"/>
                <a:ea typeface="Calibri" pitchFamily="34" charset="-122"/>
                <a:cs typeface="Calibri" pitchFamily="34" charset="-120"/>
              </a:rPr>
              <a:t>Security Gate #2</a:t>
            </a:r>
            <a:endParaRPr lang="en-US" sz="1100" dirty="0"/>
          </a:p>
          <a:p>
            <a:pPr marL="0" indent="0" algn="l">
              <a:spcAft>
                <a:spcPts val="300"/>
              </a:spcAft>
              <a:buNone/>
            </a:pPr>
            <a:r>
              <a:rPr lang="en-US" sz="1300" dirty="0">
                <a:solidFill>
                  <a:srgbClr val="D5D9E0"/>
                </a:solidFill>
                <a:latin typeface="Calibri" pitchFamily="34" charset="0"/>
                <a:ea typeface="Calibri" pitchFamily="34" charset="-122"/>
                <a:cs typeface="Calibri" pitchFamily="34" charset="-120"/>
              </a:rPr>
              <a:t>Scans the retrieved evidence before it reaches the LLM</a:t>
            </a:r>
            <a:endParaRPr lang="en-US" sz="1100" dirty="0"/>
          </a:p>
        </p:txBody>
      </p:sp>
      <p:sp>
        <p:nvSpPr>
          <p:cNvPr id="15" name="Shape 13"/>
          <p:cNvSpPr/>
          <p:nvPr/>
        </p:nvSpPr>
        <p:spPr>
          <a:xfrm>
            <a:off x="6793992" y="2811780"/>
            <a:ext cx="210312" cy="0"/>
          </a:xfrm>
          <a:prstGeom prst="line">
            <a:avLst/>
          </a:prstGeom>
          <a:noFill/>
          <a:ln w="25400">
            <a:solidFill>
              <a:srgbClr val="171A21"/>
            </a:solidFill>
            <a:prstDash val="solid"/>
            <a:tailEnd type="triangle"/>
          </a:ln>
        </p:spPr>
      </p:sp>
      <p:sp>
        <p:nvSpPr>
          <p:cNvPr id="16" name="Shape 14"/>
          <p:cNvSpPr/>
          <p:nvPr/>
        </p:nvSpPr>
        <p:spPr>
          <a:xfrm>
            <a:off x="7022592" y="1691640"/>
            <a:ext cx="1371600" cy="2240280"/>
          </a:xfrm>
          <a:prstGeom prst="roundRect">
            <a:avLst>
              <a:gd name="adj" fmla="val 6667"/>
            </a:avLst>
          </a:prstGeom>
          <a:solidFill>
            <a:srgbClr val="FFFFFF"/>
          </a:solidFill>
          <a:ln w="12700">
            <a:solidFill>
              <a:srgbClr val="FFFFFF"/>
            </a:solidFill>
            <a:prstDash val="solid"/>
          </a:ln>
          <a:effectLst>
            <a:outerShdw blurRad="101600" dist="25400" dir="5400000" algn="bl" rotWithShape="0">
              <a:srgbClr val="000000">
                <a:alpha val="12000"/>
              </a:srgbClr>
            </a:outerShdw>
          </a:effectLst>
        </p:spPr>
      </p:sp>
      <p:sp>
        <p:nvSpPr>
          <p:cNvPr id="17" name="Text 15"/>
          <p:cNvSpPr txBox="1"/>
          <p:nvPr/>
        </p:nvSpPr>
        <p:spPr>
          <a:xfrm>
            <a:off x="7022592" y="1691640"/>
            <a:ext cx="1371600" cy="2240280"/>
          </a:xfrm>
          <a:prstGeom prst="rect">
            <a:avLst/>
          </a:prstGeom>
          <a:noFill/>
          <a:ln/>
        </p:spPr>
        <p:txBody>
          <a:bodyPr wrap="square" lIns="114300" tIns="114300" rIns="114300" bIns="114300" rtlCol="0" anchor="t"/>
          <a:lstStyle/>
          <a:p>
            <a:pPr marL="0" indent="0" algn="l">
              <a:spcAft>
                <a:spcPts val="300"/>
              </a:spcAft>
              <a:buNone/>
            </a:pPr>
            <a:r>
              <a:rPr lang="en-US" sz="1100" b="1" dirty="0">
                <a:solidFill>
                  <a:srgbClr val="0F766E"/>
                </a:solidFill>
                <a:latin typeface="Calibri" pitchFamily="34" charset="0"/>
                <a:ea typeface="Calibri" pitchFamily="34" charset="-122"/>
                <a:cs typeface="Calibri" pitchFamily="34" charset="-120"/>
              </a:rPr>
              <a:t>05</a:t>
            </a:r>
            <a:endParaRPr lang="en-US" sz="1100" dirty="0"/>
          </a:p>
          <a:p>
            <a:pPr marL="0" indent="0" algn="l">
              <a:spcAft>
                <a:spcPts val="300"/>
              </a:spcAft>
              <a:buNone/>
            </a:pPr>
            <a:r>
              <a:rPr lang="en-US" sz="1500" b="1" dirty="0">
                <a:solidFill>
                  <a:srgbClr val="171A21"/>
                </a:solidFill>
                <a:latin typeface="Calibri" pitchFamily="34" charset="0"/>
                <a:ea typeface="Calibri" pitchFamily="34" charset="-122"/>
                <a:cs typeface="Calibri" pitchFamily="34" charset="-120"/>
              </a:rPr>
              <a:t>Impact analysis</a:t>
            </a:r>
            <a:endParaRPr lang="en-US" sz="1100" dirty="0"/>
          </a:p>
          <a:p>
            <a:pPr marL="0" indent="0" algn="l">
              <a:spcAft>
                <a:spcPts val="300"/>
              </a:spcAft>
              <a:buNone/>
            </a:pPr>
            <a:r>
              <a:rPr lang="en-US" sz="1300" dirty="0">
                <a:solidFill>
                  <a:srgbClr val="6B7280"/>
                </a:solidFill>
                <a:latin typeface="Calibri" pitchFamily="34" charset="0"/>
                <a:ea typeface="Calibri" pitchFamily="34" charset="-122"/>
                <a:cs typeface="Calibri" pitchFamily="34" charset="-120"/>
              </a:rPr>
              <a:t>Ranks which files a change is likely to affect</a:t>
            </a:r>
            <a:endParaRPr lang="en-US" sz="1100" dirty="0"/>
          </a:p>
        </p:txBody>
      </p:sp>
      <p:sp>
        <p:nvSpPr>
          <p:cNvPr id="18" name="Shape 16"/>
          <p:cNvSpPr/>
          <p:nvPr/>
        </p:nvSpPr>
        <p:spPr>
          <a:xfrm>
            <a:off x="8412480" y="2811780"/>
            <a:ext cx="210312" cy="0"/>
          </a:xfrm>
          <a:prstGeom prst="line">
            <a:avLst/>
          </a:prstGeom>
          <a:noFill/>
          <a:ln w="25400">
            <a:solidFill>
              <a:srgbClr val="171A21"/>
            </a:solidFill>
            <a:prstDash val="solid"/>
            <a:tailEnd type="triangle"/>
          </a:ln>
        </p:spPr>
      </p:sp>
      <p:sp>
        <p:nvSpPr>
          <p:cNvPr id="19" name="Shape 17"/>
          <p:cNvSpPr/>
          <p:nvPr/>
        </p:nvSpPr>
        <p:spPr>
          <a:xfrm>
            <a:off x="8641080" y="1691640"/>
            <a:ext cx="1371600" cy="2240280"/>
          </a:xfrm>
          <a:prstGeom prst="roundRect">
            <a:avLst>
              <a:gd name="adj" fmla="val 6667"/>
            </a:avLst>
          </a:prstGeom>
          <a:solidFill>
            <a:srgbClr val="FFFFFF"/>
          </a:solidFill>
          <a:ln w="12700">
            <a:solidFill>
              <a:srgbClr val="FFFFFF"/>
            </a:solidFill>
            <a:prstDash val="solid"/>
          </a:ln>
          <a:effectLst>
            <a:outerShdw blurRad="101600" dist="25400" dir="5400000" algn="bl" rotWithShape="0">
              <a:srgbClr val="000000">
                <a:alpha val="12000"/>
              </a:srgbClr>
            </a:outerShdw>
          </a:effectLst>
        </p:spPr>
      </p:sp>
      <p:sp>
        <p:nvSpPr>
          <p:cNvPr id="20" name="Text 18"/>
          <p:cNvSpPr txBox="1"/>
          <p:nvPr/>
        </p:nvSpPr>
        <p:spPr>
          <a:xfrm>
            <a:off x="8641080" y="1691640"/>
            <a:ext cx="1371600" cy="2240280"/>
          </a:xfrm>
          <a:prstGeom prst="rect">
            <a:avLst/>
          </a:prstGeom>
          <a:noFill/>
          <a:ln/>
        </p:spPr>
        <p:txBody>
          <a:bodyPr wrap="square" lIns="114300" tIns="114300" rIns="114300" bIns="114300" rtlCol="0" anchor="t"/>
          <a:lstStyle/>
          <a:p>
            <a:pPr marL="0" indent="0" algn="l">
              <a:spcAft>
                <a:spcPts val="300"/>
              </a:spcAft>
              <a:buNone/>
            </a:pPr>
            <a:r>
              <a:rPr lang="en-US" sz="1100" b="1" dirty="0">
                <a:solidFill>
                  <a:srgbClr val="0F766E"/>
                </a:solidFill>
                <a:latin typeface="Calibri" pitchFamily="34" charset="0"/>
                <a:ea typeface="Calibri" pitchFamily="34" charset="-122"/>
                <a:cs typeface="Calibri" pitchFamily="34" charset="-120"/>
              </a:rPr>
              <a:t>06</a:t>
            </a:r>
            <a:endParaRPr lang="en-US" sz="1100" dirty="0"/>
          </a:p>
          <a:p>
            <a:pPr marL="0" indent="0" algn="l">
              <a:spcAft>
                <a:spcPts val="300"/>
              </a:spcAft>
              <a:buNone/>
            </a:pPr>
            <a:r>
              <a:rPr lang="en-US" sz="1500" b="1" dirty="0">
                <a:solidFill>
                  <a:srgbClr val="171A21"/>
                </a:solidFill>
                <a:latin typeface="Calibri" pitchFamily="34" charset="0"/>
                <a:ea typeface="Calibri" pitchFamily="34" charset="-122"/>
                <a:cs typeface="Calibri" pitchFamily="34" charset="-120"/>
              </a:rPr>
              <a:t>Grounded generation</a:t>
            </a:r>
            <a:endParaRPr lang="en-US" sz="1100" dirty="0"/>
          </a:p>
          <a:p>
            <a:pPr marL="0" indent="0" algn="l">
              <a:spcAft>
                <a:spcPts val="300"/>
              </a:spcAft>
              <a:buNone/>
            </a:pPr>
            <a:r>
              <a:rPr lang="en-US" sz="1300" dirty="0">
                <a:solidFill>
                  <a:srgbClr val="6B7280"/>
                </a:solidFill>
                <a:latin typeface="Calibri" pitchFamily="34" charset="0"/>
                <a:ea typeface="Calibri" pitchFamily="34" charset="-122"/>
                <a:cs typeface="Calibri" pitchFamily="34" charset="-120"/>
              </a:rPr>
              <a:t>Gemini writes code using only the retrieved evidence</a:t>
            </a:r>
            <a:endParaRPr lang="en-US" sz="1100" dirty="0"/>
          </a:p>
        </p:txBody>
      </p:sp>
      <p:sp>
        <p:nvSpPr>
          <p:cNvPr id="21" name="Shape 19"/>
          <p:cNvSpPr/>
          <p:nvPr/>
        </p:nvSpPr>
        <p:spPr>
          <a:xfrm>
            <a:off x="10030968" y="2811780"/>
            <a:ext cx="210312" cy="0"/>
          </a:xfrm>
          <a:prstGeom prst="line">
            <a:avLst/>
          </a:prstGeom>
          <a:noFill/>
          <a:ln w="25400">
            <a:solidFill>
              <a:srgbClr val="171A21"/>
            </a:solidFill>
            <a:prstDash val="solid"/>
            <a:tailEnd type="triangle"/>
          </a:ln>
        </p:spPr>
      </p:sp>
      <p:sp>
        <p:nvSpPr>
          <p:cNvPr id="22" name="Shape 20"/>
          <p:cNvSpPr/>
          <p:nvPr/>
        </p:nvSpPr>
        <p:spPr>
          <a:xfrm>
            <a:off x="10259568" y="1691640"/>
            <a:ext cx="1371600" cy="2240280"/>
          </a:xfrm>
          <a:prstGeom prst="roundRect">
            <a:avLst>
              <a:gd name="adj" fmla="val 6667"/>
            </a:avLst>
          </a:prstGeom>
          <a:solidFill>
            <a:srgbClr val="FFFFFF"/>
          </a:solidFill>
          <a:ln w="12700">
            <a:solidFill>
              <a:srgbClr val="FFFFFF"/>
            </a:solidFill>
            <a:prstDash val="solid"/>
          </a:ln>
          <a:effectLst>
            <a:outerShdw blurRad="101600" dist="25400" dir="5400000" algn="bl" rotWithShape="0">
              <a:srgbClr val="000000">
                <a:alpha val="12000"/>
              </a:srgbClr>
            </a:outerShdw>
          </a:effectLst>
        </p:spPr>
      </p:sp>
      <p:sp>
        <p:nvSpPr>
          <p:cNvPr id="23" name="Text 21"/>
          <p:cNvSpPr txBox="1"/>
          <p:nvPr/>
        </p:nvSpPr>
        <p:spPr>
          <a:xfrm>
            <a:off x="10259568" y="1691640"/>
            <a:ext cx="1371600" cy="2240280"/>
          </a:xfrm>
          <a:prstGeom prst="rect">
            <a:avLst/>
          </a:prstGeom>
          <a:noFill/>
          <a:ln/>
        </p:spPr>
        <p:txBody>
          <a:bodyPr wrap="square" lIns="114300" tIns="114300" rIns="114300" bIns="114300" rtlCol="0" anchor="t"/>
          <a:lstStyle/>
          <a:p>
            <a:pPr marL="0" indent="0" algn="l">
              <a:spcAft>
                <a:spcPts val="300"/>
              </a:spcAft>
              <a:buNone/>
            </a:pPr>
            <a:r>
              <a:rPr lang="en-US" sz="1100" b="1" dirty="0">
                <a:solidFill>
                  <a:srgbClr val="0F766E"/>
                </a:solidFill>
                <a:latin typeface="Calibri" pitchFamily="34" charset="0"/>
                <a:ea typeface="Calibri" pitchFamily="34" charset="-122"/>
                <a:cs typeface="Calibri" pitchFamily="34" charset="-120"/>
              </a:rPr>
              <a:t>07</a:t>
            </a:r>
            <a:endParaRPr lang="en-US" sz="1100" dirty="0"/>
          </a:p>
          <a:p>
            <a:pPr marL="0" indent="0" algn="l">
              <a:spcAft>
                <a:spcPts val="300"/>
              </a:spcAft>
              <a:buNone/>
            </a:pPr>
            <a:r>
              <a:rPr lang="en-US" sz="1500" b="1" dirty="0">
                <a:solidFill>
                  <a:srgbClr val="171A21"/>
                </a:solidFill>
                <a:latin typeface="Calibri" pitchFamily="34" charset="0"/>
                <a:ea typeface="Calibri" pitchFamily="34" charset="-122"/>
                <a:cs typeface="Calibri" pitchFamily="34" charset="-120"/>
              </a:rPr>
              <a:t>Validate &amp; audit</a:t>
            </a:r>
            <a:endParaRPr lang="en-US" sz="1100" dirty="0"/>
          </a:p>
          <a:p>
            <a:pPr marL="0" indent="0" algn="l">
              <a:spcAft>
                <a:spcPts val="300"/>
              </a:spcAft>
              <a:buNone/>
            </a:pPr>
            <a:r>
              <a:rPr lang="en-US" sz="1300" dirty="0">
                <a:solidFill>
                  <a:srgbClr val="6B7280"/>
                </a:solidFill>
                <a:latin typeface="Calibri" pitchFamily="34" charset="0"/>
                <a:ea typeface="Calibri" pitchFamily="34" charset="-122"/>
                <a:cs typeface="Calibri" pitchFamily="34" charset="-120"/>
              </a:rPr>
              <a:t>Code is validated, CI gate checks it, trace is recorded</a:t>
            </a:r>
            <a:endParaRPr lang="en-US" sz="1100" dirty="0"/>
          </a:p>
        </p:txBody>
      </p:sp>
      <p:sp>
        <p:nvSpPr>
          <p:cNvPr id="24" name="Shape 22"/>
          <p:cNvSpPr/>
          <p:nvPr/>
        </p:nvSpPr>
        <p:spPr>
          <a:xfrm>
            <a:off x="2852928" y="3950208"/>
            <a:ext cx="0" cy="640080"/>
          </a:xfrm>
          <a:prstGeom prst="line">
            <a:avLst/>
          </a:prstGeom>
          <a:noFill/>
          <a:ln w="25400">
            <a:solidFill>
              <a:srgbClr val="C8372D"/>
            </a:solidFill>
            <a:prstDash val="solid"/>
            <a:tailEnd type="triangle"/>
          </a:ln>
        </p:spPr>
      </p:sp>
      <p:sp>
        <p:nvSpPr>
          <p:cNvPr id="25" name="Shape 23"/>
          <p:cNvSpPr/>
          <p:nvPr/>
        </p:nvSpPr>
        <p:spPr>
          <a:xfrm>
            <a:off x="6089904" y="3950208"/>
            <a:ext cx="0" cy="640080"/>
          </a:xfrm>
          <a:prstGeom prst="line">
            <a:avLst/>
          </a:prstGeom>
          <a:noFill/>
          <a:ln w="25400">
            <a:solidFill>
              <a:srgbClr val="C8372D"/>
            </a:solidFill>
            <a:prstDash val="solid"/>
            <a:tailEnd type="triangle"/>
          </a:ln>
        </p:spPr>
      </p:sp>
      <p:sp>
        <p:nvSpPr>
          <p:cNvPr id="26" name="Text 24"/>
          <p:cNvSpPr txBox="1"/>
          <p:nvPr/>
        </p:nvSpPr>
        <p:spPr>
          <a:xfrm>
            <a:off x="2944368" y="4023360"/>
            <a:ext cx="1097280" cy="320040"/>
          </a:xfrm>
          <a:prstGeom prst="rect">
            <a:avLst/>
          </a:prstGeom>
          <a:noFill/>
          <a:ln/>
        </p:spPr>
        <p:txBody>
          <a:bodyPr wrap="square" lIns="0" tIns="0" rIns="0" bIns="0" rtlCol="0" anchor="ctr"/>
          <a:lstStyle/>
          <a:p>
            <a:pPr marL="0" indent="0">
              <a:buNone/>
            </a:pPr>
            <a:r>
              <a:rPr lang="en-US" sz="1100" i="1" dirty="0">
                <a:solidFill>
                  <a:srgbClr val="C8372D"/>
                </a:solidFill>
                <a:latin typeface="Calibri" pitchFamily="34" charset="0"/>
                <a:ea typeface="Calibri" pitchFamily="34" charset="-122"/>
                <a:cs typeface="Calibri" pitchFamily="34" charset="-120"/>
              </a:rPr>
              <a:t>if unsafe</a:t>
            </a:r>
            <a:endParaRPr lang="en-US" sz="1100" dirty="0"/>
          </a:p>
        </p:txBody>
      </p:sp>
      <p:sp>
        <p:nvSpPr>
          <p:cNvPr id="27" name="Text 25"/>
          <p:cNvSpPr txBox="1"/>
          <p:nvPr/>
        </p:nvSpPr>
        <p:spPr>
          <a:xfrm>
            <a:off x="2167128" y="4617720"/>
            <a:ext cx="4608576" cy="1188720"/>
          </a:xfrm>
          <a:prstGeom prst="roundRect">
            <a:avLst>
              <a:gd name="adj" fmla="val 7692"/>
            </a:avLst>
          </a:prstGeom>
          <a:solidFill>
            <a:srgbClr val="C8372D"/>
          </a:solidFill>
          <a:ln/>
        </p:spPr>
        <p:txBody>
          <a:bodyPr wrap="square" lIns="152400" tIns="152400" rIns="152400" bIns="152400" rtlCol="0" anchor="ctr"/>
          <a:lstStyle/>
          <a:p>
            <a:pPr marL="0" indent="0">
              <a:buNone/>
            </a:pPr>
            <a:r>
              <a:rPr lang="en-US" sz="1600" b="1" dirty="0">
                <a:solidFill>
                  <a:srgbClr val="FFFFFF"/>
                </a:solidFill>
                <a:latin typeface="Calibri" pitchFamily="34" charset="0"/>
                <a:ea typeface="Calibri" pitchFamily="34" charset="-122"/>
                <a:cs typeface="Calibri" pitchFamily="34" charset="-120"/>
              </a:rPr>
              <a:t>BLOCKED</a:t>
            </a:r>
            <a:endParaRPr lang="en-US" sz="1600" dirty="0"/>
          </a:p>
          <a:p>
            <a:pPr marL="0" indent="0">
              <a:buNone/>
            </a:pPr>
            <a:r>
              <a:rPr lang="en-US" sz="1300" dirty="0">
                <a:solidFill>
                  <a:srgbClr val="FFFFFF"/>
                </a:solidFill>
                <a:latin typeface="Calibri" pitchFamily="34" charset="0"/>
                <a:ea typeface="Calibri" pitchFamily="34" charset="-122"/>
                <a:cs typeface="Calibri" pitchFamily="34" charset="-120"/>
              </a:rPr>
              <a:t>Pipeline stops. Downstream stages are skipped and the reason is logged.</a:t>
            </a:r>
            <a:endParaRPr lang="en-US" sz="1600" dirty="0"/>
          </a:p>
        </p:txBody>
      </p:sp>
      <p:sp>
        <p:nvSpPr>
          <p:cNvPr id="28" name="Text 26"/>
          <p:cNvSpPr txBox="1"/>
          <p:nvPr/>
        </p:nvSpPr>
        <p:spPr>
          <a:xfrm>
            <a:off x="7141464" y="4617720"/>
            <a:ext cx="4434840" cy="1188720"/>
          </a:xfrm>
          <a:prstGeom prst="roundRect">
            <a:avLst>
              <a:gd name="adj" fmla="val 7692"/>
            </a:avLst>
          </a:prstGeom>
          <a:solidFill>
            <a:srgbClr val="0F766E"/>
          </a:solidFill>
          <a:ln/>
        </p:spPr>
        <p:txBody>
          <a:bodyPr wrap="square" lIns="152400" tIns="152400" rIns="152400" bIns="152400" rtlCol="0" anchor="ctr"/>
          <a:lstStyle/>
          <a:p>
            <a:pPr marL="0" indent="0">
              <a:buNone/>
            </a:pPr>
            <a:r>
              <a:rPr lang="en-US" sz="1600" b="1" dirty="0">
                <a:solidFill>
                  <a:srgbClr val="FFFFFF"/>
                </a:solidFill>
                <a:latin typeface="Calibri" pitchFamily="34" charset="0"/>
                <a:ea typeface="Calibri" pitchFamily="34" charset="-122"/>
                <a:cs typeface="Calibri" pitchFamily="34" charset="-120"/>
              </a:rPr>
              <a:t>SAFE</a:t>
            </a:r>
            <a:endParaRPr lang="en-US" sz="1600" dirty="0"/>
          </a:p>
          <a:p>
            <a:pPr marL="0" indent="0">
              <a:buNone/>
            </a:pPr>
            <a:r>
              <a:rPr lang="en-US" sz="1300" dirty="0">
                <a:solidFill>
                  <a:srgbClr val="FFFFFF"/>
                </a:solidFill>
                <a:latin typeface="Calibri" pitchFamily="34" charset="0"/>
                <a:ea typeface="Calibri" pitchFamily="34" charset="-122"/>
                <a:cs typeface="Calibri" pitchFamily="34" charset="-120"/>
              </a:rPr>
              <a:t>Result is delivered with a validation report and a full workflow trace.</a:t>
            </a:r>
            <a:endParaRPr lang="en-US" sz="1600" dirty="0"/>
          </a:p>
        </p:txBody>
      </p:sp>
      <p:sp>
        <p:nvSpPr>
          <p:cNvPr id="29" name="Text 27"/>
          <p:cNvSpPr txBox="1"/>
          <p:nvPr/>
        </p:nvSpPr>
        <p:spPr>
          <a:xfrm>
            <a:off x="548640" y="6446520"/>
            <a:ext cx="5486400" cy="274320"/>
          </a:xfrm>
          <a:prstGeom prst="rect">
            <a:avLst/>
          </a:prstGeom>
          <a:noFill/>
          <a:ln/>
        </p:spPr>
        <p:txBody>
          <a:bodyPr wrap="square" lIns="0" tIns="0" rIns="0" bIns="0" rtlCol="0" anchor="ctr"/>
          <a:lstStyle/>
          <a:p>
            <a:pPr marL="0" indent="0">
              <a:buNone/>
            </a:pPr>
            <a:r>
              <a:rPr lang="en-US" sz="1000" dirty="0">
                <a:solidFill>
                  <a:srgbClr val="6B7280"/>
                </a:solidFill>
                <a:latin typeface="Calibri" pitchFamily="34" charset="0"/>
                <a:ea typeface="Calibri" pitchFamily="34" charset="-122"/>
                <a:cs typeface="Calibri" pitchFamily="34" charset="-120"/>
              </a:rPr>
              <a:t>KAVACH  |  Project Review</a:t>
            </a:r>
            <a:endParaRPr lang="en-US" sz="1000" dirty="0"/>
          </a:p>
        </p:txBody>
      </p:sp>
      <p:sp>
        <p:nvSpPr>
          <p:cNvPr id="30" name="Slide Number Placeholder 0"/>
          <p:cNvSpPr>
            <a:spLocks noGrp="1"/>
          </p:cNvSpPr>
          <p:nvPr>
            <p:ph type="sldNum" sz="quarter" idx="4294967295"/>
          </p:nvPr>
        </p:nvSpPr>
        <p:spPr>
          <a:xfrm>
            <a:off x="11064240" y="644652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6B7280"/>
                </a:solidFill>
                <a:latin typeface="Calibri"/>
                <a:ea typeface="Calibri"/>
                <a:cs typeface="Calibri"/>
              </a:defRPr>
            </a:lvl1pPr>
          </a:lstStyle>
          <a:p>
            <a:pPr algn="r"/>
            <a:fld id="{F7021451-1387-4CA6-816F-3879F97B5CBC}" type="slidenum">
              <a:rPr lang="en-US" b="0"/>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3F4F6"/>
        </a:solidFill>
        <a:effectLst/>
      </p:bgPr>
    </p:bg>
    <p:spTree>
      <p:nvGrpSpPr>
        <p:cNvPr id="1" name=""/>
        <p:cNvGrpSpPr/>
        <p:nvPr/>
      </p:nvGrpSpPr>
      <p:grpSpPr>
        <a:xfrm>
          <a:off x="0" y="0"/>
          <a:ext cx="0" cy="0"/>
          <a:chOff x="0" y="0"/>
          <a:chExt cx="0" cy="0"/>
        </a:xfrm>
      </p:grpSpPr>
      <p:sp>
        <p:nvSpPr>
          <p:cNvPr id="2" name="Text 0"/>
          <p:cNvSpPr txBox="1"/>
          <p:nvPr/>
        </p:nvSpPr>
        <p:spPr>
          <a:xfrm>
            <a:off x="548640" y="320040"/>
            <a:ext cx="11064240" cy="731520"/>
          </a:xfrm>
          <a:prstGeom prst="rect">
            <a:avLst/>
          </a:prstGeom>
          <a:noFill/>
          <a:ln/>
        </p:spPr>
        <p:txBody>
          <a:bodyPr wrap="square" lIns="0" tIns="0" rIns="0" bIns="0" rtlCol="0" anchor="ctr"/>
          <a:lstStyle/>
          <a:p>
            <a:pPr marL="0" indent="0">
              <a:buNone/>
            </a:pPr>
            <a:r>
              <a:rPr lang="en-US" sz="3200" b="1" dirty="0">
                <a:solidFill>
                  <a:srgbClr val="171A21"/>
                </a:solidFill>
                <a:latin typeface="Cambria" pitchFamily="34" charset="0"/>
                <a:ea typeface="Cambria" pitchFamily="34" charset="-122"/>
                <a:cs typeface="Cambria" pitchFamily="34" charset="-120"/>
              </a:rPr>
              <a:t>Our key design idea: security at two boundaries</a:t>
            </a:r>
            <a:endParaRPr lang="en-US" sz="3200" dirty="0"/>
          </a:p>
        </p:txBody>
      </p:sp>
      <p:sp>
        <p:nvSpPr>
          <p:cNvPr id="3" name="Shape 1"/>
          <p:cNvSpPr/>
          <p:nvPr/>
        </p:nvSpPr>
        <p:spPr>
          <a:xfrm>
            <a:off x="548640" y="1463040"/>
            <a:ext cx="1920240" cy="1005840"/>
          </a:xfrm>
          <a:prstGeom prst="roundRect">
            <a:avLst>
              <a:gd name="adj" fmla="val 9091"/>
            </a:avLst>
          </a:prstGeom>
          <a:solidFill>
            <a:srgbClr val="FFFFFF"/>
          </a:solidFill>
          <a:ln w="12700">
            <a:solidFill>
              <a:srgbClr val="FFFFFF"/>
            </a:solidFill>
            <a:prstDash val="solid"/>
          </a:ln>
          <a:effectLst>
            <a:outerShdw blurRad="101600" dist="25400" dir="5400000" algn="bl" rotWithShape="0">
              <a:srgbClr val="000000">
                <a:alpha val="12000"/>
              </a:srgbClr>
            </a:outerShdw>
          </a:effectLst>
        </p:spPr>
      </p:sp>
      <p:sp>
        <p:nvSpPr>
          <p:cNvPr id="4" name="Text 2"/>
          <p:cNvSpPr txBox="1"/>
          <p:nvPr/>
        </p:nvSpPr>
        <p:spPr>
          <a:xfrm>
            <a:off x="548640" y="1463040"/>
            <a:ext cx="1920240" cy="1005840"/>
          </a:xfrm>
          <a:prstGeom prst="rect">
            <a:avLst/>
          </a:prstGeom>
          <a:noFill/>
          <a:ln/>
        </p:spPr>
        <p:txBody>
          <a:bodyPr wrap="square" lIns="114300" tIns="114300" rIns="114300" bIns="114300" rtlCol="0" anchor="ctr"/>
          <a:lstStyle/>
          <a:p>
            <a:pPr marL="0" indent="0" algn="l">
              <a:spcAft>
                <a:spcPts val="300"/>
              </a:spcAft>
              <a:buNone/>
            </a:pPr>
            <a:r>
              <a:rPr lang="en-US" sz="1600" b="1" dirty="0">
                <a:solidFill>
                  <a:srgbClr val="171A21"/>
                </a:solidFill>
                <a:latin typeface="Calibri" pitchFamily="34" charset="0"/>
                <a:ea typeface="Calibri" pitchFamily="34" charset="-122"/>
                <a:cs typeface="Calibri" pitchFamily="34" charset="-120"/>
              </a:rPr>
              <a:t>Developer request</a:t>
            </a:r>
            <a:endParaRPr lang="en-US" sz="1600" dirty="0"/>
          </a:p>
        </p:txBody>
      </p:sp>
      <p:sp>
        <p:nvSpPr>
          <p:cNvPr id="5" name="Shape 3"/>
          <p:cNvSpPr/>
          <p:nvPr/>
        </p:nvSpPr>
        <p:spPr>
          <a:xfrm>
            <a:off x="2487168" y="1965960"/>
            <a:ext cx="329184" cy="0"/>
          </a:xfrm>
          <a:prstGeom prst="line">
            <a:avLst/>
          </a:prstGeom>
          <a:noFill/>
          <a:ln w="25400">
            <a:solidFill>
              <a:srgbClr val="171A21"/>
            </a:solidFill>
            <a:prstDash val="solid"/>
            <a:tailEnd type="triangle"/>
          </a:ln>
        </p:spPr>
      </p:sp>
      <p:sp>
        <p:nvSpPr>
          <p:cNvPr id="6" name="Shape 4"/>
          <p:cNvSpPr/>
          <p:nvPr/>
        </p:nvSpPr>
        <p:spPr>
          <a:xfrm>
            <a:off x="2834640" y="1463040"/>
            <a:ext cx="1920240" cy="1005840"/>
          </a:xfrm>
          <a:prstGeom prst="roundRect">
            <a:avLst>
              <a:gd name="adj" fmla="val 9091"/>
            </a:avLst>
          </a:prstGeom>
          <a:solidFill>
            <a:srgbClr val="171A21"/>
          </a:solidFill>
          <a:ln w="12700">
            <a:solidFill>
              <a:srgbClr val="171A21"/>
            </a:solidFill>
            <a:prstDash val="solid"/>
          </a:ln>
          <a:effectLst>
            <a:outerShdw blurRad="101600" dist="25400" dir="5400000" algn="bl" rotWithShape="0">
              <a:srgbClr val="000000">
                <a:alpha val="12000"/>
              </a:srgbClr>
            </a:outerShdw>
          </a:effectLst>
        </p:spPr>
      </p:sp>
      <p:sp>
        <p:nvSpPr>
          <p:cNvPr id="7" name="Text 5"/>
          <p:cNvSpPr txBox="1"/>
          <p:nvPr/>
        </p:nvSpPr>
        <p:spPr>
          <a:xfrm>
            <a:off x="2834640" y="1463040"/>
            <a:ext cx="1920240" cy="1005840"/>
          </a:xfrm>
          <a:prstGeom prst="rect">
            <a:avLst/>
          </a:prstGeom>
          <a:noFill/>
          <a:ln/>
        </p:spPr>
        <p:txBody>
          <a:bodyPr wrap="square" lIns="114300" tIns="114300" rIns="114300" bIns="114300" rtlCol="0" anchor="ctr"/>
          <a:lstStyle/>
          <a:p>
            <a:pPr marL="0" indent="0" algn="l">
              <a:spcAft>
                <a:spcPts val="300"/>
              </a:spcAft>
              <a:buNone/>
            </a:pPr>
            <a:r>
              <a:rPr lang="en-US" sz="1600" b="1" dirty="0">
                <a:solidFill>
                  <a:srgbClr val="F5A524"/>
                </a:solidFill>
                <a:latin typeface="Calibri" pitchFamily="34" charset="0"/>
                <a:ea typeface="Calibri" pitchFamily="34" charset="-122"/>
                <a:cs typeface="Calibri" pitchFamily="34" charset="-120"/>
              </a:rPr>
              <a:t>Boundary 1</a:t>
            </a:r>
            <a:endParaRPr lang="en-US" sz="1600" dirty="0"/>
          </a:p>
        </p:txBody>
      </p:sp>
      <p:sp>
        <p:nvSpPr>
          <p:cNvPr id="8" name="Shape 6"/>
          <p:cNvSpPr/>
          <p:nvPr/>
        </p:nvSpPr>
        <p:spPr>
          <a:xfrm>
            <a:off x="4773168" y="1965960"/>
            <a:ext cx="329184" cy="0"/>
          </a:xfrm>
          <a:prstGeom prst="line">
            <a:avLst/>
          </a:prstGeom>
          <a:noFill/>
          <a:ln w="25400">
            <a:solidFill>
              <a:srgbClr val="171A21"/>
            </a:solidFill>
            <a:prstDash val="solid"/>
            <a:tailEnd type="triangle"/>
          </a:ln>
        </p:spPr>
      </p:sp>
      <p:sp>
        <p:nvSpPr>
          <p:cNvPr id="9" name="Shape 7"/>
          <p:cNvSpPr/>
          <p:nvPr/>
        </p:nvSpPr>
        <p:spPr>
          <a:xfrm>
            <a:off x="5120640" y="1463040"/>
            <a:ext cx="1920240" cy="1005840"/>
          </a:xfrm>
          <a:prstGeom prst="roundRect">
            <a:avLst>
              <a:gd name="adj" fmla="val 9091"/>
            </a:avLst>
          </a:prstGeom>
          <a:solidFill>
            <a:srgbClr val="FFFFFF"/>
          </a:solidFill>
          <a:ln w="12700">
            <a:solidFill>
              <a:srgbClr val="FFFFFF"/>
            </a:solidFill>
            <a:prstDash val="solid"/>
          </a:ln>
          <a:effectLst>
            <a:outerShdw blurRad="101600" dist="25400" dir="5400000" algn="bl" rotWithShape="0">
              <a:srgbClr val="000000">
                <a:alpha val="12000"/>
              </a:srgbClr>
            </a:outerShdw>
          </a:effectLst>
        </p:spPr>
      </p:sp>
      <p:sp>
        <p:nvSpPr>
          <p:cNvPr id="10" name="Text 8"/>
          <p:cNvSpPr txBox="1"/>
          <p:nvPr/>
        </p:nvSpPr>
        <p:spPr>
          <a:xfrm>
            <a:off x="5120640" y="1463040"/>
            <a:ext cx="1920240" cy="1005840"/>
          </a:xfrm>
          <a:prstGeom prst="rect">
            <a:avLst/>
          </a:prstGeom>
          <a:noFill/>
          <a:ln/>
        </p:spPr>
        <p:txBody>
          <a:bodyPr wrap="square" lIns="114300" tIns="114300" rIns="114300" bIns="114300" rtlCol="0" anchor="ctr"/>
          <a:lstStyle/>
          <a:p>
            <a:pPr marL="0" indent="0" algn="l">
              <a:spcAft>
                <a:spcPts val="300"/>
              </a:spcAft>
              <a:buNone/>
            </a:pPr>
            <a:r>
              <a:rPr lang="en-US" sz="1600" b="1" dirty="0">
                <a:solidFill>
                  <a:srgbClr val="171A21"/>
                </a:solidFill>
                <a:latin typeface="Calibri" pitchFamily="34" charset="0"/>
                <a:ea typeface="Calibri" pitchFamily="34" charset="-122"/>
                <a:cs typeface="Calibri" pitchFamily="34" charset="-120"/>
              </a:rPr>
              <a:t>Retrieved evidence</a:t>
            </a:r>
            <a:endParaRPr lang="en-US" sz="1600" dirty="0"/>
          </a:p>
        </p:txBody>
      </p:sp>
      <p:sp>
        <p:nvSpPr>
          <p:cNvPr id="11" name="Shape 9"/>
          <p:cNvSpPr/>
          <p:nvPr/>
        </p:nvSpPr>
        <p:spPr>
          <a:xfrm>
            <a:off x="7059168" y="1965960"/>
            <a:ext cx="329184" cy="0"/>
          </a:xfrm>
          <a:prstGeom prst="line">
            <a:avLst/>
          </a:prstGeom>
          <a:noFill/>
          <a:ln w="25400">
            <a:solidFill>
              <a:srgbClr val="171A21"/>
            </a:solidFill>
            <a:prstDash val="solid"/>
            <a:tailEnd type="triangle"/>
          </a:ln>
        </p:spPr>
      </p:sp>
      <p:sp>
        <p:nvSpPr>
          <p:cNvPr id="12" name="Shape 10"/>
          <p:cNvSpPr/>
          <p:nvPr/>
        </p:nvSpPr>
        <p:spPr>
          <a:xfrm>
            <a:off x="7406640" y="1463040"/>
            <a:ext cx="1920240" cy="1005840"/>
          </a:xfrm>
          <a:prstGeom prst="roundRect">
            <a:avLst>
              <a:gd name="adj" fmla="val 9091"/>
            </a:avLst>
          </a:prstGeom>
          <a:solidFill>
            <a:srgbClr val="171A21"/>
          </a:solidFill>
          <a:ln w="12700">
            <a:solidFill>
              <a:srgbClr val="171A21"/>
            </a:solidFill>
            <a:prstDash val="solid"/>
          </a:ln>
          <a:effectLst>
            <a:outerShdw blurRad="101600" dist="25400" dir="5400000" algn="bl" rotWithShape="0">
              <a:srgbClr val="000000">
                <a:alpha val="12000"/>
              </a:srgbClr>
            </a:outerShdw>
          </a:effectLst>
        </p:spPr>
      </p:sp>
      <p:sp>
        <p:nvSpPr>
          <p:cNvPr id="13" name="Text 11"/>
          <p:cNvSpPr txBox="1"/>
          <p:nvPr/>
        </p:nvSpPr>
        <p:spPr>
          <a:xfrm>
            <a:off x="7406640" y="1463040"/>
            <a:ext cx="1920240" cy="1005840"/>
          </a:xfrm>
          <a:prstGeom prst="rect">
            <a:avLst/>
          </a:prstGeom>
          <a:noFill/>
          <a:ln/>
        </p:spPr>
        <p:txBody>
          <a:bodyPr wrap="square" lIns="114300" tIns="114300" rIns="114300" bIns="114300" rtlCol="0" anchor="ctr"/>
          <a:lstStyle/>
          <a:p>
            <a:pPr marL="0" indent="0" algn="l">
              <a:spcAft>
                <a:spcPts val="300"/>
              </a:spcAft>
              <a:buNone/>
            </a:pPr>
            <a:r>
              <a:rPr lang="en-US" sz="1600" b="1" dirty="0">
                <a:solidFill>
                  <a:srgbClr val="F5A524"/>
                </a:solidFill>
                <a:latin typeface="Calibri" pitchFamily="34" charset="0"/>
                <a:ea typeface="Calibri" pitchFamily="34" charset="-122"/>
                <a:cs typeface="Calibri" pitchFamily="34" charset="-120"/>
              </a:rPr>
              <a:t>Boundary 2</a:t>
            </a:r>
            <a:endParaRPr lang="en-US" sz="1600" dirty="0"/>
          </a:p>
        </p:txBody>
      </p:sp>
      <p:sp>
        <p:nvSpPr>
          <p:cNvPr id="14" name="Shape 12"/>
          <p:cNvSpPr/>
          <p:nvPr/>
        </p:nvSpPr>
        <p:spPr>
          <a:xfrm>
            <a:off x="9345168" y="1965960"/>
            <a:ext cx="329184" cy="0"/>
          </a:xfrm>
          <a:prstGeom prst="line">
            <a:avLst/>
          </a:prstGeom>
          <a:noFill/>
          <a:ln w="25400">
            <a:solidFill>
              <a:srgbClr val="171A21"/>
            </a:solidFill>
            <a:prstDash val="solid"/>
            <a:tailEnd type="triangle"/>
          </a:ln>
        </p:spPr>
      </p:sp>
      <p:sp>
        <p:nvSpPr>
          <p:cNvPr id="15" name="Shape 13"/>
          <p:cNvSpPr/>
          <p:nvPr/>
        </p:nvSpPr>
        <p:spPr>
          <a:xfrm>
            <a:off x="9692640" y="1463040"/>
            <a:ext cx="1920240" cy="1005840"/>
          </a:xfrm>
          <a:prstGeom prst="roundRect">
            <a:avLst>
              <a:gd name="adj" fmla="val 9091"/>
            </a:avLst>
          </a:prstGeom>
          <a:solidFill>
            <a:srgbClr val="FFFFFF"/>
          </a:solidFill>
          <a:ln w="12700">
            <a:solidFill>
              <a:srgbClr val="FFFFFF"/>
            </a:solidFill>
            <a:prstDash val="solid"/>
          </a:ln>
          <a:effectLst>
            <a:outerShdw blurRad="101600" dist="25400" dir="5400000" algn="bl" rotWithShape="0">
              <a:srgbClr val="000000">
                <a:alpha val="12000"/>
              </a:srgbClr>
            </a:outerShdw>
          </a:effectLst>
        </p:spPr>
      </p:sp>
      <p:sp>
        <p:nvSpPr>
          <p:cNvPr id="16" name="Text 14"/>
          <p:cNvSpPr txBox="1"/>
          <p:nvPr/>
        </p:nvSpPr>
        <p:spPr>
          <a:xfrm>
            <a:off x="9692640" y="1463040"/>
            <a:ext cx="1920240" cy="1005840"/>
          </a:xfrm>
          <a:prstGeom prst="rect">
            <a:avLst/>
          </a:prstGeom>
          <a:noFill/>
          <a:ln/>
        </p:spPr>
        <p:txBody>
          <a:bodyPr wrap="square" lIns="114300" tIns="114300" rIns="114300" bIns="114300" rtlCol="0" anchor="ctr"/>
          <a:lstStyle/>
          <a:p>
            <a:pPr marL="0" indent="0" algn="l">
              <a:spcAft>
                <a:spcPts val="300"/>
              </a:spcAft>
              <a:buNone/>
            </a:pPr>
            <a:r>
              <a:rPr lang="en-US" sz="1600" b="1" dirty="0">
                <a:solidFill>
                  <a:srgbClr val="171A21"/>
                </a:solidFill>
                <a:latin typeface="Calibri" pitchFamily="34" charset="0"/>
                <a:ea typeface="Calibri" pitchFamily="34" charset="-122"/>
                <a:cs typeface="Calibri" pitchFamily="34" charset="-120"/>
              </a:rPr>
              <a:t>LLM generation</a:t>
            </a:r>
            <a:endParaRPr lang="en-US" sz="1600" dirty="0"/>
          </a:p>
        </p:txBody>
      </p:sp>
      <p:sp>
        <p:nvSpPr>
          <p:cNvPr id="17" name="Shape 15"/>
          <p:cNvSpPr/>
          <p:nvPr/>
        </p:nvSpPr>
        <p:spPr>
          <a:xfrm>
            <a:off x="548640" y="2834640"/>
            <a:ext cx="5440680" cy="2606040"/>
          </a:xfrm>
          <a:prstGeom prst="roundRect">
            <a:avLst>
              <a:gd name="adj" fmla="val 4211"/>
            </a:avLst>
          </a:prstGeom>
          <a:solidFill>
            <a:srgbClr val="FFFFFF"/>
          </a:solidFill>
          <a:ln w="12700">
            <a:solidFill>
              <a:srgbClr val="FFFFFF"/>
            </a:solidFill>
            <a:prstDash val="solid"/>
          </a:ln>
          <a:effectLst>
            <a:outerShdw blurRad="101600" dist="25400" dir="5400000" algn="bl" rotWithShape="0">
              <a:srgbClr val="000000">
                <a:alpha val="12000"/>
              </a:srgbClr>
            </a:outerShdw>
          </a:effectLst>
        </p:spPr>
      </p:sp>
      <p:sp>
        <p:nvSpPr>
          <p:cNvPr id="18" name="Text 16"/>
          <p:cNvSpPr txBox="1"/>
          <p:nvPr/>
        </p:nvSpPr>
        <p:spPr>
          <a:xfrm>
            <a:off x="822960" y="2971800"/>
            <a:ext cx="4937760" cy="502920"/>
          </a:xfrm>
          <a:prstGeom prst="rect">
            <a:avLst/>
          </a:prstGeom>
          <a:noFill/>
          <a:ln/>
        </p:spPr>
        <p:txBody>
          <a:bodyPr wrap="square" lIns="0" tIns="0" rIns="0" bIns="0" rtlCol="0" anchor="ctr"/>
          <a:lstStyle/>
          <a:p>
            <a:pPr marL="0" indent="0">
              <a:buNone/>
            </a:pPr>
            <a:r>
              <a:rPr lang="en-US" sz="1900" b="1" dirty="0">
                <a:solidFill>
                  <a:srgbClr val="171A21"/>
                </a:solidFill>
                <a:latin typeface="Cambria" pitchFamily="34" charset="0"/>
                <a:ea typeface="Cambria" pitchFamily="34" charset="-122"/>
                <a:cs typeface="Cambria" pitchFamily="34" charset="-120"/>
              </a:rPr>
              <a:t>Boundary 1: the developer's request</a:t>
            </a:r>
            <a:endParaRPr lang="en-US" sz="1900" dirty="0"/>
          </a:p>
        </p:txBody>
      </p:sp>
      <p:sp>
        <p:nvSpPr>
          <p:cNvPr id="19" name="Text 17"/>
          <p:cNvSpPr txBox="1"/>
          <p:nvPr/>
        </p:nvSpPr>
        <p:spPr>
          <a:xfrm>
            <a:off x="822960" y="3566160"/>
            <a:ext cx="4937760" cy="178308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rgbClr val="1F2430"/>
                </a:solidFill>
                <a:latin typeface="Calibri" pitchFamily="34" charset="0"/>
                <a:ea typeface="Calibri" pitchFamily="34" charset="-122"/>
                <a:cs typeface="Calibri" pitchFamily="34" charset="-120"/>
              </a:rPr>
              <a:t>Detects Aadhaar-like numbers, keys and credentials typed into the prompt</a:t>
            </a:r>
            <a:endParaRPr lang="en-US" sz="1400" dirty="0"/>
          </a:p>
          <a:p>
            <a:pPr marL="342900" indent="-342900">
              <a:spcAft>
                <a:spcPts val="600"/>
              </a:spcAft>
              <a:buSzPct val="100000"/>
              <a:buChar char="•"/>
            </a:pPr>
            <a:r>
              <a:rPr lang="en-US" sz="1400" dirty="0">
                <a:solidFill>
                  <a:srgbClr val="1F2430"/>
                </a:solidFill>
                <a:latin typeface="Calibri" pitchFamily="34" charset="0"/>
                <a:ea typeface="Calibri" pitchFamily="34" charset="-122"/>
                <a:cs typeface="Calibri" pitchFamily="34" charset="-120"/>
              </a:rPr>
              <a:t>Works across English, Hindi and Marathi text</a:t>
            </a:r>
            <a:endParaRPr lang="en-US" sz="1400" dirty="0"/>
          </a:p>
          <a:p>
            <a:pPr marL="342900" indent="-342900">
              <a:spcAft>
                <a:spcPts val="600"/>
              </a:spcAft>
              <a:buSzPct val="100000"/>
              <a:buChar char="•"/>
            </a:pPr>
            <a:r>
              <a:rPr lang="en-US" sz="1400" dirty="0">
                <a:solidFill>
                  <a:srgbClr val="1F2430"/>
                </a:solidFill>
                <a:latin typeface="Calibri" pitchFamily="34" charset="0"/>
                <a:ea typeface="Calibri" pitchFamily="34" charset="-122"/>
                <a:cs typeface="Calibri" pitchFamily="34" charset="-120"/>
              </a:rPr>
              <a:t>BLOCKED means nothing ever reaches the LLM</a:t>
            </a:r>
            <a:endParaRPr lang="en-US" sz="1400" dirty="0"/>
          </a:p>
        </p:txBody>
      </p:sp>
      <p:sp>
        <p:nvSpPr>
          <p:cNvPr id="20" name="Shape 18"/>
          <p:cNvSpPr/>
          <p:nvPr/>
        </p:nvSpPr>
        <p:spPr>
          <a:xfrm>
            <a:off x="6172200" y="2834640"/>
            <a:ext cx="5440680" cy="2606040"/>
          </a:xfrm>
          <a:prstGeom prst="roundRect">
            <a:avLst>
              <a:gd name="adj" fmla="val 4211"/>
            </a:avLst>
          </a:prstGeom>
          <a:solidFill>
            <a:srgbClr val="FFFFFF"/>
          </a:solidFill>
          <a:ln w="12700">
            <a:solidFill>
              <a:srgbClr val="FFFFFF"/>
            </a:solidFill>
            <a:prstDash val="solid"/>
          </a:ln>
          <a:effectLst>
            <a:outerShdw blurRad="101600" dist="25400" dir="5400000" algn="bl" rotWithShape="0">
              <a:srgbClr val="000000">
                <a:alpha val="12000"/>
              </a:srgbClr>
            </a:outerShdw>
          </a:effectLst>
        </p:spPr>
      </p:sp>
      <p:sp>
        <p:nvSpPr>
          <p:cNvPr id="21" name="Text 19"/>
          <p:cNvSpPr txBox="1"/>
          <p:nvPr/>
        </p:nvSpPr>
        <p:spPr>
          <a:xfrm>
            <a:off x="6446520" y="2971800"/>
            <a:ext cx="4937760" cy="502920"/>
          </a:xfrm>
          <a:prstGeom prst="rect">
            <a:avLst/>
          </a:prstGeom>
          <a:noFill/>
          <a:ln/>
        </p:spPr>
        <p:txBody>
          <a:bodyPr wrap="square" lIns="0" tIns="0" rIns="0" bIns="0" rtlCol="0" anchor="ctr"/>
          <a:lstStyle/>
          <a:p>
            <a:pPr marL="0" indent="0">
              <a:buNone/>
            </a:pPr>
            <a:r>
              <a:rPr lang="en-US" sz="1900" b="1" dirty="0">
                <a:solidFill>
                  <a:srgbClr val="171A21"/>
                </a:solidFill>
                <a:latin typeface="Cambria" pitchFamily="34" charset="0"/>
                <a:ea typeface="Cambria" pitchFamily="34" charset="-122"/>
                <a:cs typeface="Cambria" pitchFamily="34" charset="-120"/>
              </a:rPr>
              <a:t>Boundary 2: the retrieved repository context</a:t>
            </a:r>
            <a:endParaRPr lang="en-US" sz="1900" dirty="0"/>
          </a:p>
        </p:txBody>
      </p:sp>
      <p:sp>
        <p:nvSpPr>
          <p:cNvPr id="22" name="Text 20"/>
          <p:cNvSpPr txBox="1"/>
          <p:nvPr/>
        </p:nvSpPr>
        <p:spPr>
          <a:xfrm>
            <a:off x="6446520" y="3566160"/>
            <a:ext cx="4937760" cy="178308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rgbClr val="1F2430"/>
                </a:solidFill>
                <a:latin typeface="Calibri" pitchFamily="34" charset="0"/>
                <a:ea typeface="Calibri" pitchFamily="34" charset="-122"/>
                <a:cs typeface="Calibri" pitchFamily="34" charset="-120"/>
              </a:rPr>
              <a:t>Retrieved chunks can hold secrets or sensitive data too</a:t>
            </a:r>
            <a:endParaRPr lang="en-US" sz="1400" dirty="0"/>
          </a:p>
          <a:p>
            <a:pPr marL="342900" indent="-342900">
              <a:spcAft>
                <a:spcPts val="600"/>
              </a:spcAft>
              <a:buSzPct val="100000"/>
              <a:buChar char="•"/>
            </a:pPr>
            <a:r>
              <a:rPr lang="en-US" sz="1400" dirty="0">
                <a:solidFill>
                  <a:srgbClr val="1F2430"/>
                </a:solidFill>
                <a:latin typeface="Calibri" pitchFamily="34" charset="0"/>
                <a:ea typeface="Calibri" pitchFamily="34" charset="-122"/>
                <a:cs typeface="Calibri" pitchFamily="34" charset="-120"/>
              </a:rPr>
              <a:t>Evidence is screened before it enters the prompt</a:t>
            </a:r>
            <a:endParaRPr lang="en-US" sz="1400" dirty="0"/>
          </a:p>
          <a:p>
            <a:pPr marL="342900" indent="-342900">
              <a:spcAft>
                <a:spcPts val="600"/>
              </a:spcAft>
              <a:buSzPct val="100000"/>
              <a:buChar char="•"/>
            </a:pPr>
            <a:r>
              <a:rPr lang="en-US" sz="1400" dirty="0">
                <a:solidFill>
                  <a:srgbClr val="1F2430"/>
                </a:solidFill>
                <a:latin typeface="Calibri" pitchFamily="34" charset="0"/>
                <a:ea typeface="Calibri" pitchFamily="34" charset="-122"/>
                <a:cs typeface="Calibri" pitchFamily="34" charset="-120"/>
              </a:rPr>
              <a:t>Most assistants skip this step. KAVACH never trusts context blindly.</a:t>
            </a:r>
            <a:endParaRPr lang="en-US" sz="1400" dirty="0"/>
          </a:p>
        </p:txBody>
      </p:sp>
      <p:sp>
        <p:nvSpPr>
          <p:cNvPr id="23" name="Shape 21"/>
          <p:cNvSpPr/>
          <p:nvPr/>
        </p:nvSpPr>
        <p:spPr>
          <a:xfrm>
            <a:off x="548640" y="5669280"/>
            <a:ext cx="11064240" cy="566928"/>
          </a:xfrm>
          <a:prstGeom prst="roundRect">
            <a:avLst>
              <a:gd name="adj" fmla="val 16129"/>
            </a:avLst>
          </a:prstGeom>
          <a:solidFill>
            <a:srgbClr val="F5A524"/>
          </a:solidFill>
          <a:ln w="12700">
            <a:solidFill>
              <a:srgbClr val="F5A524"/>
            </a:solidFill>
            <a:prstDash val="solid"/>
          </a:ln>
        </p:spPr>
      </p:sp>
      <p:sp>
        <p:nvSpPr>
          <p:cNvPr id="24" name="Text 22"/>
          <p:cNvSpPr txBox="1"/>
          <p:nvPr/>
        </p:nvSpPr>
        <p:spPr>
          <a:xfrm>
            <a:off x="548640" y="5669280"/>
            <a:ext cx="11064240" cy="566928"/>
          </a:xfrm>
          <a:prstGeom prst="rect">
            <a:avLst/>
          </a:prstGeom>
          <a:noFill/>
          <a:ln/>
        </p:spPr>
        <p:txBody>
          <a:bodyPr wrap="square" lIns="0" tIns="0" rIns="0" bIns="0" rtlCol="0" anchor="ctr"/>
          <a:lstStyle/>
          <a:p>
            <a:pPr marL="0" indent="0" algn="ctr">
              <a:buNone/>
            </a:pPr>
            <a:r>
              <a:rPr lang="en-US" sz="1500" b="1" dirty="0">
                <a:solidFill>
                  <a:srgbClr val="171A21"/>
                </a:solidFill>
                <a:latin typeface="Calibri" pitchFamily="34" charset="0"/>
                <a:ea typeface="Calibri" pitchFamily="34" charset="-122"/>
                <a:cs typeface="Calibri" pitchFamily="34" charset="-120"/>
              </a:rPr>
              <a:t>Security at both doors: what the developer sends in AND what the system pulls from the repository.</a:t>
            </a:r>
            <a:endParaRPr lang="en-US" sz="1500" dirty="0"/>
          </a:p>
        </p:txBody>
      </p:sp>
      <p:sp>
        <p:nvSpPr>
          <p:cNvPr id="25" name="Text 23"/>
          <p:cNvSpPr txBox="1"/>
          <p:nvPr/>
        </p:nvSpPr>
        <p:spPr>
          <a:xfrm>
            <a:off x="548640" y="6446520"/>
            <a:ext cx="5486400" cy="274320"/>
          </a:xfrm>
          <a:prstGeom prst="rect">
            <a:avLst/>
          </a:prstGeom>
          <a:noFill/>
          <a:ln/>
        </p:spPr>
        <p:txBody>
          <a:bodyPr wrap="square" lIns="0" tIns="0" rIns="0" bIns="0" rtlCol="0" anchor="ctr"/>
          <a:lstStyle/>
          <a:p>
            <a:pPr marL="0" indent="0">
              <a:buNone/>
            </a:pPr>
            <a:r>
              <a:rPr lang="en-US" sz="1000" dirty="0">
                <a:solidFill>
                  <a:srgbClr val="6B7280"/>
                </a:solidFill>
                <a:latin typeface="Calibri" pitchFamily="34" charset="0"/>
                <a:ea typeface="Calibri" pitchFamily="34" charset="-122"/>
                <a:cs typeface="Calibri" pitchFamily="34" charset="-120"/>
              </a:rPr>
              <a:t>KAVACH  |  Project Review</a:t>
            </a:r>
            <a:endParaRPr lang="en-US" sz="1000" dirty="0"/>
          </a:p>
        </p:txBody>
      </p:sp>
      <p:sp>
        <p:nvSpPr>
          <p:cNvPr id="26" name="Slide Number Placeholder 0"/>
          <p:cNvSpPr>
            <a:spLocks noGrp="1"/>
          </p:cNvSpPr>
          <p:nvPr>
            <p:ph type="sldNum" sz="quarter" idx="4294967295"/>
          </p:nvPr>
        </p:nvSpPr>
        <p:spPr>
          <a:xfrm>
            <a:off x="11064240" y="644652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6B7280"/>
                </a:solidFill>
                <a:latin typeface="Calibri"/>
                <a:ea typeface="Calibri"/>
                <a:cs typeface="Calibri"/>
              </a:defRPr>
            </a:lvl1pPr>
          </a:lstStyle>
          <a:p>
            <a:pPr algn="r"/>
            <a:fld id="{F7021451-1387-4CA6-816F-3879F97B5CBC}" type="slidenum">
              <a:rPr lang="en-US" b="0"/>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3F4F6"/>
        </a:solidFill>
        <a:effectLst/>
      </p:bgPr>
    </p:bg>
    <p:spTree>
      <p:nvGrpSpPr>
        <p:cNvPr id="1" name=""/>
        <p:cNvGrpSpPr/>
        <p:nvPr/>
      </p:nvGrpSpPr>
      <p:grpSpPr>
        <a:xfrm>
          <a:off x="0" y="0"/>
          <a:ext cx="0" cy="0"/>
          <a:chOff x="0" y="0"/>
          <a:chExt cx="0" cy="0"/>
        </a:xfrm>
      </p:grpSpPr>
      <p:sp>
        <p:nvSpPr>
          <p:cNvPr id="2" name="Text 0"/>
          <p:cNvSpPr txBox="1"/>
          <p:nvPr/>
        </p:nvSpPr>
        <p:spPr>
          <a:xfrm>
            <a:off x="548640" y="320040"/>
            <a:ext cx="11064240" cy="731520"/>
          </a:xfrm>
          <a:prstGeom prst="rect">
            <a:avLst/>
          </a:prstGeom>
          <a:noFill/>
          <a:ln/>
        </p:spPr>
        <p:txBody>
          <a:bodyPr wrap="square" lIns="0" tIns="0" rIns="0" bIns="0" rtlCol="0" anchor="ctr"/>
          <a:lstStyle/>
          <a:p>
            <a:pPr marL="0" indent="0">
              <a:buNone/>
            </a:pPr>
            <a:r>
              <a:rPr lang="en-US" sz="3200" b="1" dirty="0">
                <a:solidFill>
                  <a:srgbClr val="171A21"/>
                </a:solidFill>
                <a:latin typeface="Cambria" pitchFamily="34" charset="0"/>
                <a:ea typeface="Cambria" pitchFamily="34" charset="-122"/>
                <a:cs typeface="Cambria" pitchFamily="34" charset="-120"/>
              </a:rPr>
              <a:t>Architecture and technology stack</a:t>
            </a:r>
            <a:endParaRPr lang="en-US" sz="3200" dirty="0"/>
          </a:p>
        </p:txBody>
      </p:sp>
      <p:sp>
        <p:nvSpPr>
          <p:cNvPr id="3" name="Text 1"/>
          <p:cNvSpPr txBox="1"/>
          <p:nvPr/>
        </p:nvSpPr>
        <p:spPr>
          <a:xfrm>
            <a:off x="548640" y="1371600"/>
            <a:ext cx="1737360" cy="868680"/>
          </a:xfrm>
          <a:prstGeom prst="rect">
            <a:avLst/>
          </a:prstGeom>
          <a:noFill/>
          <a:ln/>
        </p:spPr>
        <p:txBody>
          <a:bodyPr wrap="square" lIns="0" tIns="0" rIns="0" bIns="0" rtlCol="0" anchor="ctr"/>
          <a:lstStyle/>
          <a:p>
            <a:pPr marL="0" indent="0">
              <a:buNone/>
            </a:pPr>
            <a:r>
              <a:rPr lang="en-US" sz="1700" b="1" dirty="0">
                <a:solidFill>
                  <a:srgbClr val="171A21"/>
                </a:solidFill>
                <a:latin typeface="Cambria" pitchFamily="34" charset="0"/>
                <a:ea typeface="Cambria" pitchFamily="34" charset="-122"/>
                <a:cs typeface="Cambria" pitchFamily="34" charset="-120"/>
              </a:rPr>
              <a:t>Interface</a:t>
            </a:r>
            <a:endParaRPr lang="en-US" sz="1700" dirty="0"/>
          </a:p>
        </p:txBody>
      </p:sp>
      <p:sp>
        <p:nvSpPr>
          <p:cNvPr id="4" name="Text 2"/>
          <p:cNvSpPr txBox="1"/>
          <p:nvPr/>
        </p:nvSpPr>
        <p:spPr>
          <a:xfrm>
            <a:off x="2286000" y="1371600"/>
            <a:ext cx="4572000" cy="868680"/>
          </a:xfrm>
          <a:prstGeom prst="roundRect">
            <a:avLst>
              <a:gd name="adj" fmla="val 10526"/>
            </a:avLst>
          </a:prstGeom>
          <a:solidFill>
            <a:srgbClr val="FFFFFF"/>
          </a:solidFill>
          <a:ln/>
          <a:effectLst>
            <a:outerShdw blurRad="101600" dist="25400" dir="5400000" algn="bl" rotWithShape="0">
              <a:srgbClr val="000000">
                <a:alpha val="12000"/>
              </a:srgbClr>
            </a:outerShdw>
          </a:effectLst>
        </p:spPr>
        <p:txBody>
          <a:bodyPr wrap="square" lIns="101600" tIns="101600" rIns="101600" bIns="101600" rtlCol="0" anchor="ctr"/>
          <a:lstStyle/>
          <a:p>
            <a:pPr marL="0" indent="0" algn="ctr">
              <a:buNone/>
            </a:pPr>
            <a:r>
              <a:rPr lang="en-US" sz="1400" b="1" dirty="0">
                <a:solidFill>
                  <a:srgbClr val="171A21"/>
                </a:solidFill>
                <a:latin typeface="Calibri" pitchFamily="34" charset="0"/>
                <a:ea typeface="Calibri" pitchFamily="34" charset="-122"/>
                <a:cs typeface="Calibri" pitchFamily="34" charset="-120"/>
              </a:rPr>
              <a:t>Web dashboard (HTML / CSS / JS)</a:t>
            </a:r>
            <a:endParaRPr lang="en-US" sz="1400" dirty="0"/>
          </a:p>
        </p:txBody>
      </p:sp>
      <p:sp>
        <p:nvSpPr>
          <p:cNvPr id="5" name="Text 3"/>
          <p:cNvSpPr txBox="1"/>
          <p:nvPr/>
        </p:nvSpPr>
        <p:spPr>
          <a:xfrm>
            <a:off x="7040880" y="1371600"/>
            <a:ext cx="4572000" cy="868680"/>
          </a:xfrm>
          <a:prstGeom prst="roundRect">
            <a:avLst>
              <a:gd name="adj" fmla="val 10526"/>
            </a:avLst>
          </a:prstGeom>
          <a:solidFill>
            <a:srgbClr val="FFFFFF"/>
          </a:solidFill>
          <a:ln/>
          <a:effectLst>
            <a:outerShdw blurRad="101600" dist="25400" dir="5400000" algn="bl" rotWithShape="0">
              <a:srgbClr val="000000">
                <a:alpha val="12000"/>
              </a:srgbClr>
            </a:outerShdw>
          </a:effectLst>
        </p:spPr>
        <p:txBody>
          <a:bodyPr wrap="square" lIns="101600" tIns="101600" rIns="101600" bIns="101600" rtlCol="0" anchor="ctr"/>
          <a:lstStyle/>
          <a:p>
            <a:pPr marL="0" indent="0" algn="ctr">
              <a:buNone/>
            </a:pPr>
            <a:r>
              <a:rPr lang="en-US" sz="1400" b="1" dirty="0">
                <a:solidFill>
                  <a:srgbClr val="171A21"/>
                </a:solidFill>
                <a:latin typeface="Calibri" pitchFamily="34" charset="0"/>
                <a:ea typeface="Calibri" pitchFamily="34" charset="-122"/>
                <a:cs typeface="Calibri" pitchFamily="34" charset="-120"/>
              </a:rPr>
              <a:t>Swagger / OpenAPI docs</a:t>
            </a:r>
            <a:endParaRPr lang="en-US" sz="1400" dirty="0"/>
          </a:p>
        </p:txBody>
      </p:sp>
      <p:sp>
        <p:nvSpPr>
          <p:cNvPr id="6" name="Shape 4"/>
          <p:cNvSpPr/>
          <p:nvPr/>
        </p:nvSpPr>
        <p:spPr>
          <a:xfrm>
            <a:off x="6949440" y="2258568"/>
            <a:ext cx="0" cy="146304"/>
          </a:xfrm>
          <a:prstGeom prst="line">
            <a:avLst/>
          </a:prstGeom>
          <a:noFill/>
          <a:ln w="25400">
            <a:solidFill>
              <a:srgbClr val="6B7280"/>
            </a:solidFill>
            <a:prstDash val="solid"/>
            <a:tailEnd type="triangle"/>
          </a:ln>
        </p:spPr>
      </p:sp>
      <p:sp>
        <p:nvSpPr>
          <p:cNvPr id="7" name="Text 5"/>
          <p:cNvSpPr txBox="1"/>
          <p:nvPr/>
        </p:nvSpPr>
        <p:spPr>
          <a:xfrm>
            <a:off x="548640" y="2423160"/>
            <a:ext cx="1737360" cy="868680"/>
          </a:xfrm>
          <a:prstGeom prst="rect">
            <a:avLst/>
          </a:prstGeom>
          <a:noFill/>
          <a:ln/>
        </p:spPr>
        <p:txBody>
          <a:bodyPr wrap="square" lIns="0" tIns="0" rIns="0" bIns="0" rtlCol="0" anchor="ctr"/>
          <a:lstStyle/>
          <a:p>
            <a:pPr marL="0" indent="0">
              <a:buNone/>
            </a:pPr>
            <a:r>
              <a:rPr lang="en-US" sz="1700" b="1" dirty="0">
                <a:solidFill>
                  <a:srgbClr val="171A21"/>
                </a:solidFill>
                <a:latin typeface="Cambria" pitchFamily="34" charset="0"/>
                <a:ea typeface="Cambria" pitchFamily="34" charset="-122"/>
                <a:cs typeface="Cambria" pitchFamily="34" charset="-120"/>
              </a:rPr>
              <a:t>API layer</a:t>
            </a:r>
            <a:endParaRPr lang="en-US" sz="1700" dirty="0"/>
          </a:p>
        </p:txBody>
      </p:sp>
      <p:sp>
        <p:nvSpPr>
          <p:cNvPr id="8" name="Text 6"/>
          <p:cNvSpPr txBox="1"/>
          <p:nvPr/>
        </p:nvSpPr>
        <p:spPr>
          <a:xfrm>
            <a:off x="2286000" y="2423160"/>
            <a:ext cx="9326880" cy="868680"/>
          </a:xfrm>
          <a:prstGeom prst="roundRect">
            <a:avLst>
              <a:gd name="adj" fmla="val 10526"/>
            </a:avLst>
          </a:prstGeom>
          <a:solidFill>
            <a:srgbClr val="171A21"/>
          </a:solidFill>
          <a:ln/>
          <a:effectLst>
            <a:outerShdw blurRad="101600" dist="25400" dir="5400000" algn="bl" rotWithShape="0">
              <a:srgbClr val="000000">
                <a:alpha val="12000"/>
              </a:srgbClr>
            </a:outerShdw>
          </a:effectLst>
        </p:spPr>
        <p:txBody>
          <a:bodyPr wrap="square" lIns="101600" tIns="101600" rIns="101600" bIns="10160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FastAPI:  /detect   /ingest   /search   /agent/request   /evaluate   /impact/analyze   /impact/evaluate</a:t>
            </a:r>
            <a:endParaRPr lang="en-US" sz="1400" dirty="0"/>
          </a:p>
        </p:txBody>
      </p:sp>
      <p:sp>
        <p:nvSpPr>
          <p:cNvPr id="9" name="Shape 7"/>
          <p:cNvSpPr/>
          <p:nvPr/>
        </p:nvSpPr>
        <p:spPr>
          <a:xfrm>
            <a:off x="6949440" y="3310128"/>
            <a:ext cx="0" cy="146304"/>
          </a:xfrm>
          <a:prstGeom prst="line">
            <a:avLst/>
          </a:prstGeom>
          <a:noFill/>
          <a:ln w="25400">
            <a:solidFill>
              <a:srgbClr val="6B7280"/>
            </a:solidFill>
            <a:prstDash val="solid"/>
            <a:tailEnd type="triangle"/>
          </a:ln>
        </p:spPr>
      </p:sp>
      <p:sp>
        <p:nvSpPr>
          <p:cNvPr id="10" name="Text 8"/>
          <p:cNvSpPr txBox="1"/>
          <p:nvPr/>
        </p:nvSpPr>
        <p:spPr>
          <a:xfrm>
            <a:off x="548640" y="3474720"/>
            <a:ext cx="1737360" cy="868680"/>
          </a:xfrm>
          <a:prstGeom prst="rect">
            <a:avLst/>
          </a:prstGeom>
          <a:noFill/>
          <a:ln/>
        </p:spPr>
        <p:txBody>
          <a:bodyPr wrap="square" lIns="0" tIns="0" rIns="0" bIns="0" rtlCol="0" anchor="ctr"/>
          <a:lstStyle/>
          <a:p>
            <a:pPr marL="0" indent="0">
              <a:buNone/>
            </a:pPr>
            <a:r>
              <a:rPr lang="en-US" sz="1700" b="1" dirty="0">
                <a:solidFill>
                  <a:srgbClr val="171A21"/>
                </a:solidFill>
                <a:latin typeface="Cambria" pitchFamily="34" charset="0"/>
                <a:ea typeface="Cambria" pitchFamily="34" charset="-122"/>
                <a:cs typeface="Cambria" pitchFamily="34" charset="-120"/>
              </a:rPr>
              <a:t>Engines</a:t>
            </a:r>
            <a:endParaRPr lang="en-US" sz="1700" dirty="0"/>
          </a:p>
        </p:txBody>
      </p:sp>
      <p:sp>
        <p:nvSpPr>
          <p:cNvPr id="11" name="Text 9"/>
          <p:cNvSpPr txBox="1"/>
          <p:nvPr/>
        </p:nvSpPr>
        <p:spPr>
          <a:xfrm>
            <a:off x="2286000" y="3474720"/>
            <a:ext cx="1719072" cy="868680"/>
          </a:xfrm>
          <a:prstGeom prst="roundRect">
            <a:avLst>
              <a:gd name="adj" fmla="val 10526"/>
            </a:avLst>
          </a:prstGeom>
          <a:solidFill>
            <a:srgbClr val="0F766E"/>
          </a:solidFill>
          <a:ln/>
          <a:effectLst>
            <a:outerShdw blurRad="101600" dist="25400" dir="5400000" algn="bl" rotWithShape="0">
              <a:srgbClr val="000000">
                <a:alpha val="12000"/>
              </a:srgbClr>
            </a:outerShdw>
          </a:effectLst>
        </p:spPr>
        <p:txBody>
          <a:bodyPr wrap="square" lIns="101600" tIns="101600" rIns="101600" bIns="10160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Security engine</a:t>
            </a:r>
            <a:endParaRPr lang="en-US" sz="1400" dirty="0"/>
          </a:p>
        </p:txBody>
      </p:sp>
      <p:sp>
        <p:nvSpPr>
          <p:cNvPr id="12" name="Text 10"/>
          <p:cNvSpPr txBox="1"/>
          <p:nvPr/>
        </p:nvSpPr>
        <p:spPr>
          <a:xfrm>
            <a:off x="4187952" y="3474720"/>
            <a:ext cx="1719072" cy="868680"/>
          </a:xfrm>
          <a:prstGeom prst="roundRect">
            <a:avLst>
              <a:gd name="adj" fmla="val 10526"/>
            </a:avLst>
          </a:prstGeom>
          <a:solidFill>
            <a:srgbClr val="0F766E"/>
          </a:solidFill>
          <a:ln/>
          <a:effectLst>
            <a:outerShdw blurRad="101600" dist="25400" dir="5400000" algn="bl" rotWithShape="0">
              <a:srgbClr val="000000">
                <a:alpha val="12000"/>
              </a:srgbClr>
            </a:outerShdw>
          </a:effectLst>
        </p:spPr>
        <p:txBody>
          <a:bodyPr wrap="square" lIns="101600" tIns="101600" rIns="101600" bIns="10160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Agent orchestrator</a:t>
            </a:r>
            <a:endParaRPr lang="en-US" sz="1400" dirty="0"/>
          </a:p>
        </p:txBody>
      </p:sp>
      <p:sp>
        <p:nvSpPr>
          <p:cNvPr id="13" name="Text 11"/>
          <p:cNvSpPr txBox="1"/>
          <p:nvPr/>
        </p:nvSpPr>
        <p:spPr>
          <a:xfrm>
            <a:off x="6089904" y="3474720"/>
            <a:ext cx="1719072" cy="868680"/>
          </a:xfrm>
          <a:prstGeom prst="roundRect">
            <a:avLst>
              <a:gd name="adj" fmla="val 10526"/>
            </a:avLst>
          </a:prstGeom>
          <a:solidFill>
            <a:srgbClr val="0F766E"/>
          </a:solidFill>
          <a:ln/>
          <a:effectLst>
            <a:outerShdw blurRad="101600" dist="25400" dir="5400000" algn="bl" rotWithShape="0">
              <a:srgbClr val="000000">
                <a:alpha val="12000"/>
              </a:srgbClr>
            </a:outerShdw>
          </a:effectLst>
        </p:spPr>
        <p:txBody>
          <a:bodyPr wrap="square" lIns="101600" tIns="101600" rIns="101600" bIns="10160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RAG</a:t>
            </a:r>
            <a:endParaRPr lang="en-US" sz="1400" dirty="0"/>
          </a:p>
        </p:txBody>
      </p:sp>
      <p:sp>
        <p:nvSpPr>
          <p:cNvPr id="14" name="Text 12"/>
          <p:cNvSpPr txBox="1"/>
          <p:nvPr/>
        </p:nvSpPr>
        <p:spPr>
          <a:xfrm>
            <a:off x="7991856" y="3474720"/>
            <a:ext cx="1719072" cy="868680"/>
          </a:xfrm>
          <a:prstGeom prst="roundRect">
            <a:avLst>
              <a:gd name="adj" fmla="val 10526"/>
            </a:avLst>
          </a:prstGeom>
          <a:solidFill>
            <a:srgbClr val="0F766E"/>
          </a:solidFill>
          <a:ln/>
          <a:effectLst>
            <a:outerShdw blurRad="101600" dist="25400" dir="5400000" algn="bl" rotWithShape="0">
              <a:srgbClr val="000000">
                <a:alpha val="12000"/>
              </a:srgbClr>
            </a:outerShdw>
          </a:effectLst>
        </p:spPr>
        <p:txBody>
          <a:bodyPr wrap="square" lIns="101600" tIns="101600" rIns="101600" bIns="10160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Impact analyzer</a:t>
            </a:r>
            <a:endParaRPr lang="en-US" sz="1400" dirty="0"/>
          </a:p>
        </p:txBody>
      </p:sp>
      <p:sp>
        <p:nvSpPr>
          <p:cNvPr id="15" name="Text 13"/>
          <p:cNvSpPr txBox="1"/>
          <p:nvPr/>
        </p:nvSpPr>
        <p:spPr>
          <a:xfrm>
            <a:off x="9893808" y="3474720"/>
            <a:ext cx="1719072" cy="868680"/>
          </a:xfrm>
          <a:prstGeom prst="roundRect">
            <a:avLst>
              <a:gd name="adj" fmla="val 10526"/>
            </a:avLst>
          </a:prstGeom>
          <a:solidFill>
            <a:srgbClr val="0F766E"/>
          </a:solidFill>
          <a:ln/>
          <a:effectLst>
            <a:outerShdw blurRad="101600" dist="25400" dir="5400000" algn="bl" rotWithShape="0">
              <a:srgbClr val="000000">
                <a:alpha val="12000"/>
              </a:srgbClr>
            </a:outerShdw>
          </a:effectLst>
        </p:spPr>
        <p:txBody>
          <a:bodyPr wrap="square" lIns="101600" tIns="101600" rIns="101600" bIns="10160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Generator + validator</a:t>
            </a:r>
            <a:endParaRPr lang="en-US" sz="1400" dirty="0"/>
          </a:p>
        </p:txBody>
      </p:sp>
      <p:sp>
        <p:nvSpPr>
          <p:cNvPr id="16" name="Shape 14"/>
          <p:cNvSpPr/>
          <p:nvPr/>
        </p:nvSpPr>
        <p:spPr>
          <a:xfrm>
            <a:off x="6949440" y="4361688"/>
            <a:ext cx="0" cy="146304"/>
          </a:xfrm>
          <a:prstGeom prst="line">
            <a:avLst/>
          </a:prstGeom>
          <a:noFill/>
          <a:ln w="25400">
            <a:solidFill>
              <a:srgbClr val="6B7280"/>
            </a:solidFill>
            <a:prstDash val="solid"/>
            <a:tailEnd type="triangle"/>
          </a:ln>
        </p:spPr>
      </p:sp>
      <p:sp>
        <p:nvSpPr>
          <p:cNvPr id="17" name="Text 15"/>
          <p:cNvSpPr txBox="1"/>
          <p:nvPr/>
        </p:nvSpPr>
        <p:spPr>
          <a:xfrm>
            <a:off x="548640" y="4526280"/>
            <a:ext cx="1737360" cy="868680"/>
          </a:xfrm>
          <a:prstGeom prst="rect">
            <a:avLst/>
          </a:prstGeom>
          <a:noFill/>
          <a:ln/>
        </p:spPr>
        <p:txBody>
          <a:bodyPr wrap="square" lIns="0" tIns="0" rIns="0" bIns="0" rtlCol="0" anchor="ctr"/>
          <a:lstStyle/>
          <a:p>
            <a:pPr marL="0" indent="0">
              <a:buNone/>
            </a:pPr>
            <a:r>
              <a:rPr lang="en-US" sz="1700" b="1" dirty="0">
                <a:solidFill>
                  <a:srgbClr val="171A21"/>
                </a:solidFill>
                <a:latin typeface="Cambria" pitchFamily="34" charset="0"/>
                <a:ea typeface="Cambria" pitchFamily="34" charset="-122"/>
                <a:cs typeface="Cambria" pitchFamily="34" charset="-120"/>
              </a:rPr>
              <a:t>AI &amp; data</a:t>
            </a:r>
            <a:endParaRPr lang="en-US" sz="1700" dirty="0"/>
          </a:p>
        </p:txBody>
      </p:sp>
      <p:sp>
        <p:nvSpPr>
          <p:cNvPr id="18" name="Text 16"/>
          <p:cNvSpPr txBox="1"/>
          <p:nvPr/>
        </p:nvSpPr>
        <p:spPr>
          <a:xfrm>
            <a:off x="2286000" y="4526280"/>
            <a:ext cx="2987040" cy="868680"/>
          </a:xfrm>
          <a:prstGeom prst="roundRect">
            <a:avLst>
              <a:gd name="adj" fmla="val 10526"/>
            </a:avLst>
          </a:prstGeom>
          <a:solidFill>
            <a:srgbClr val="FFFFFF"/>
          </a:solidFill>
          <a:ln/>
          <a:effectLst>
            <a:outerShdw blurRad="101600" dist="25400" dir="5400000" algn="bl" rotWithShape="0">
              <a:srgbClr val="000000">
                <a:alpha val="12000"/>
              </a:srgbClr>
            </a:outerShdw>
          </a:effectLst>
        </p:spPr>
        <p:txBody>
          <a:bodyPr wrap="square" lIns="101600" tIns="101600" rIns="101600" bIns="101600" rtlCol="0" anchor="ctr"/>
          <a:lstStyle/>
          <a:p>
            <a:pPr marL="0" indent="0" algn="ctr">
              <a:buNone/>
            </a:pPr>
            <a:r>
              <a:rPr lang="en-US" sz="1400" b="1" dirty="0">
                <a:solidFill>
                  <a:srgbClr val="171A21"/>
                </a:solidFill>
                <a:latin typeface="Calibri" pitchFamily="34" charset="0"/>
                <a:ea typeface="Calibri" pitchFamily="34" charset="-122"/>
                <a:cs typeface="Calibri" pitchFamily="34" charset="-120"/>
              </a:rPr>
              <a:t>Qdrant (vector search)</a:t>
            </a:r>
            <a:endParaRPr lang="en-US" sz="1400" dirty="0"/>
          </a:p>
        </p:txBody>
      </p:sp>
      <p:sp>
        <p:nvSpPr>
          <p:cNvPr id="19" name="Text 17"/>
          <p:cNvSpPr txBox="1"/>
          <p:nvPr/>
        </p:nvSpPr>
        <p:spPr>
          <a:xfrm>
            <a:off x="5455920" y="4526280"/>
            <a:ext cx="2987040" cy="868680"/>
          </a:xfrm>
          <a:prstGeom prst="roundRect">
            <a:avLst>
              <a:gd name="adj" fmla="val 10526"/>
            </a:avLst>
          </a:prstGeom>
          <a:solidFill>
            <a:srgbClr val="FFFFFF"/>
          </a:solidFill>
          <a:ln/>
          <a:effectLst>
            <a:outerShdw blurRad="101600" dist="25400" dir="5400000" algn="bl" rotWithShape="0">
              <a:srgbClr val="000000">
                <a:alpha val="12000"/>
              </a:srgbClr>
            </a:outerShdw>
          </a:effectLst>
        </p:spPr>
        <p:txBody>
          <a:bodyPr wrap="square" lIns="101600" tIns="101600" rIns="101600" bIns="101600" rtlCol="0" anchor="ctr"/>
          <a:lstStyle/>
          <a:p>
            <a:pPr marL="0" indent="0" algn="ctr">
              <a:buNone/>
            </a:pPr>
            <a:r>
              <a:rPr lang="en-US" sz="1400" b="1" dirty="0">
                <a:solidFill>
                  <a:srgbClr val="171A21"/>
                </a:solidFill>
                <a:latin typeface="Calibri" pitchFamily="34" charset="0"/>
                <a:ea typeface="Calibri" pitchFamily="34" charset="-122"/>
                <a:cs typeface="Calibri" pitchFamily="34" charset="-120"/>
              </a:rPr>
              <a:t>Sentence Transformers</a:t>
            </a:r>
            <a:endParaRPr lang="en-US" sz="1400" dirty="0"/>
          </a:p>
        </p:txBody>
      </p:sp>
      <p:sp>
        <p:nvSpPr>
          <p:cNvPr id="20" name="Text 18"/>
          <p:cNvSpPr txBox="1"/>
          <p:nvPr/>
        </p:nvSpPr>
        <p:spPr>
          <a:xfrm>
            <a:off x="8625840" y="4526280"/>
            <a:ext cx="2987040" cy="868680"/>
          </a:xfrm>
          <a:prstGeom prst="roundRect">
            <a:avLst>
              <a:gd name="adj" fmla="val 10526"/>
            </a:avLst>
          </a:prstGeom>
          <a:solidFill>
            <a:srgbClr val="FFFFFF"/>
          </a:solidFill>
          <a:ln/>
          <a:effectLst>
            <a:outerShdw blurRad="101600" dist="25400" dir="5400000" algn="bl" rotWithShape="0">
              <a:srgbClr val="000000">
                <a:alpha val="12000"/>
              </a:srgbClr>
            </a:outerShdw>
          </a:effectLst>
        </p:spPr>
        <p:txBody>
          <a:bodyPr wrap="square" lIns="101600" tIns="101600" rIns="101600" bIns="101600" rtlCol="0" anchor="ctr"/>
          <a:lstStyle/>
          <a:p>
            <a:pPr marL="0" indent="0" algn="ctr">
              <a:buNone/>
            </a:pPr>
            <a:r>
              <a:rPr lang="en-US" sz="1400" b="1" dirty="0">
                <a:solidFill>
                  <a:srgbClr val="171A21"/>
                </a:solidFill>
                <a:latin typeface="Calibri" pitchFamily="34" charset="0"/>
                <a:ea typeface="Calibri" pitchFamily="34" charset="-122"/>
                <a:cs typeface="Calibri" pitchFamily="34" charset="-120"/>
              </a:rPr>
              <a:t>Google Gemini</a:t>
            </a:r>
            <a:endParaRPr lang="en-US" sz="1400" dirty="0"/>
          </a:p>
        </p:txBody>
      </p:sp>
      <p:sp>
        <p:nvSpPr>
          <p:cNvPr id="21" name="Text 19"/>
          <p:cNvSpPr txBox="1"/>
          <p:nvPr/>
        </p:nvSpPr>
        <p:spPr>
          <a:xfrm>
            <a:off x="548640" y="5623560"/>
            <a:ext cx="11064240" cy="640080"/>
          </a:xfrm>
          <a:prstGeom prst="roundRect">
            <a:avLst>
              <a:gd name="adj" fmla="val 14286"/>
            </a:avLst>
          </a:prstGeom>
          <a:solidFill>
            <a:srgbClr val="171A21"/>
          </a:solidFill>
          <a:ln/>
        </p:spPr>
        <p:txBody>
          <a:bodyPr wrap="square" lIns="76200" tIns="76200" rIns="76200" bIns="76200" rtlCol="0" anchor="ctr"/>
          <a:lstStyle/>
          <a:p>
            <a:pPr marL="0" indent="0" algn="ctr">
              <a:buNone/>
            </a:pPr>
            <a:r>
              <a:rPr lang="en-US" sz="1500" b="1" dirty="0">
                <a:solidFill>
                  <a:srgbClr val="F5A524"/>
                </a:solidFill>
                <a:latin typeface="Calibri" pitchFamily="34" charset="0"/>
                <a:ea typeface="Calibri" pitchFamily="34" charset="-122"/>
                <a:cs typeface="Calibri" pitchFamily="34" charset="-120"/>
              </a:rPr>
              <a:t>Quality &amp; delivery:  GitHub Actions CI security gate   |   pytest test suite</a:t>
            </a:r>
            <a:endParaRPr lang="en-US" sz="1500" dirty="0"/>
          </a:p>
        </p:txBody>
      </p:sp>
      <p:sp>
        <p:nvSpPr>
          <p:cNvPr id="22" name="Text 20"/>
          <p:cNvSpPr txBox="1"/>
          <p:nvPr/>
        </p:nvSpPr>
        <p:spPr>
          <a:xfrm>
            <a:off x="548640" y="6446520"/>
            <a:ext cx="5486400" cy="274320"/>
          </a:xfrm>
          <a:prstGeom prst="rect">
            <a:avLst/>
          </a:prstGeom>
          <a:noFill/>
          <a:ln/>
        </p:spPr>
        <p:txBody>
          <a:bodyPr wrap="square" lIns="0" tIns="0" rIns="0" bIns="0" rtlCol="0" anchor="ctr"/>
          <a:lstStyle/>
          <a:p>
            <a:pPr marL="0" indent="0">
              <a:buNone/>
            </a:pPr>
            <a:r>
              <a:rPr lang="en-US" sz="1000" dirty="0">
                <a:solidFill>
                  <a:srgbClr val="6B7280"/>
                </a:solidFill>
                <a:latin typeface="Calibri" pitchFamily="34" charset="0"/>
                <a:ea typeface="Calibri" pitchFamily="34" charset="-122"/>
                <a:cs typeface="Calibri" pitchFamily="34" charset="-120"/>
              </a:rPr>
              <a:t>KAVACH  |  Project Review</a:t>
            </a:r>
            <a:endParaRPr lang="en-US" sz="1000" dirty="0"/>
          </a:p>
        </p:txBody>
      </p:sp>
      <p:sp>
        <p:nvSpPr>
          <p:cNvPr id="25" name="Slide Number Placeholder 0"/>
          <p:cNvSpPr>
            <a:spLocks noGrp="1"/>
          </p:cNvSpPr>
          <p:nvPr>
            <p:ph type="sldNum" sz="quarter" idx="4294967295"/>
          </p:nvPr>
        </p:nvSpPr>
        <p:spPr>
          <a:xfrm>
            <a:off x="11064240" y="644652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6B7280"/>
                </a:solidFill>
                <a:latin typeface="Calibri"/>
                <a:ea typeface="Calibri"/>
                <a:cs typeface="Calibri"/>
              </a:defRPr>
            </a:lvl1pPr>
          </a:lstStyle>
          <a:p>
            <a:pPr algn="r"/>
            <a:fld id="{F7021451-1387-4CA6-816F-3879F97B5CBC}" type="slidenum">
              <a:rPr lang="en-US" b="0"/>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3F4F6"/>
        </a:solidFill>
        <a:effectLst/>
      </p:bgPr>
    </p:bg>
    <p:spTree>
      <p:nvGrpSpPr>
        <p:cNvPr id="1" name=""/>
        <p:cNvGrpSpPr/>
        <p:nvPr/>
      </p:nvGrpSpPr>
      <p:grpSpPr>
        <a:xfrm>
          <a:off x="0" y="0"/>
          <a:ext cx="0" cy="0"/>
          <a:chOff x="0" y="0"/>
          <a:chExt cx="0" cy="0"/>
        </a:xfrm>
      </p:grpSpPr>
      <p:sp>
        <p:nvSpPr>
          <p:cNvPr id="2" name="Text 0"/>
          <p:cNvSpPr txBox="1"/>
          <p:nvPr/>
        </p:nvSpPr>
        <p:spPr>
          <a:xfrm>
            <a:off x="548640" y="320040"/>
            <a:ext cx="11064240" cy="731520"/>
          </a:xfrm>
          <a:prstGeom prst="rect">
            <a:avLst/>
          </a:prstGeom>
          <a:noFill/>
          <a:ln/>
        </p:spPr>
        <p:txBody>
          <a:bodyPr wrap="square" lIns="0" tIns="0" rIns="0" bIns="0" rtlCol="0" anchor="ctr"/>
          <a:lstStyle/>
          <a:p>
            <a:pPr marL="0" indent="0">
              <a:buNone/>
            </a:pPr>
            <a:r>
              <a:rPr lang="en-US" sz="3200" b="1" dirty="0">
                <a:solidFill>
                  <a:srgbClr val="171A21"/>
                </a:solidFill>
                <a:latin typeface="Cambria" pitchFamily="34" charset="0"/>
                <a:ea typeface="Cambria" pitchFamily="34" charset="-122"/>
                <a:cs typeface="Cambria" pitchFamily="34" charset="-120"/>
              </a:rPr>
              <a:t>Under the hood: chunking</a:t>
            </a:r>
            <a:endParaRPr lang="en-US" sz="3200" dirty="0"/>
          </a:p>
        </p:txBody>
      </p:sp>
      <p:sp>
        <p:nvSpPr>
          <p:cNvPr id="3" name="Text 1"/>
          <p:cNvSpPr txBox="1"/>
          <p:nvPr/>
        </p:nvSpPr>
        <p:spPr>
          <a:xfrm>
            <a:off x="548640" y="1005840"/>
            <a:ext cx="11064240" cy="365760"/>
          </a:xfrm>
          <a:prstGeom prst="rect">
            <a:avLst/>
          </a:prstGeom>
          <a:noFill/>
          <a:ln/>
        </p:spPr>
        <p:txBody>
          <a:bodyPr wrap="square" lIns="0" tIns="0" rIns="0" bIns="0" rtlCol="0" anchor="ctr"/>
          <a:lstStyle/>
          <a:p>
            <a:pPr marL="0" indent="0">
              <a:buNone/>
            </a:pPr>
            <a:r>
              <a:rPr lang="en-US" sz="1600" dirty="0">
                <a:solidFill>
                  <a:srgbClr val="6B7280"/>
                </a:solidFill>
                <a:latin typeface="Calibri" pitchFamily="34" charset="0"/>
                <a:ea typeface="Calibri" pitchFamily="34" charset="-122"/>
                <a:cs typeface="Calibri" pitchFamily="34" charset="-120"/>
              </a:rPr>
              <a:t>Phase 1: how KAVACH breaks a codebase into searchable pieces</a:t>
            </a:r>
            <a:endParaRPr lang="en-US" sz="1600" dirty="0"/>
          </a:p>
        </p:txBody>
      </p:sp>
      <p:sp>
        <p:nvSpPr>
          <p:cNvPr id="4" name="Text 2"/>
          <p:cNvSpPr txBox="1"/>
          <p:nvPr/>
        </p:nvSpPr>
        <p:spPr>
          <a:xfrm>
            <a:off x="548640" y="1600200"/>
            <a:ext cx="6035040" cy="274320"/>
          </a:xfrm>
          <a:prstGeom prst="rect">
            <a:avLst/>
          </a:prstGeom>
          <a:noFill/>
          <a:ln/>
        </p:spPr>
        <p:txBody>
          <a:bodyPr wrap="square" lIns="0" tIns="0" rIns="0" bIns="0" rtlCol="0" anchor="ctr"/>
          <a:lstStyle/>
          <a:p>
            <a:pPr marL="0" indent="0">
              <a:buNone/>
            </a:pPr>
            <a:r>
              <a:rPr lang="en-US" sz="1200" dirty="0">
                <a:solidFill>
                  <a:srgbClr val="6B7280"/>
                </a:solidFill>
                <a:latin typeface="Calibri" pitchFamily="34" charset="0"/>
                <a:ea typeface="Calibri" pitchFamily="34" charset="-122"/>
                <a:cs typeface="Calibri" pitchFamily="34" charset="-120"/>
              </a:rPr>
              <a:t>Example: one 3,200-character source file</a:t>
            </a:r>
            <a:endParaRPr lang="en-US" sz="1200" dirty="0"/>
          </a:p>
        </p:txBody>
      </p:sp>
      <p:sp>
        <p:nvSpPr>
          <p:cNvPr id="5" name="Text 3"/>
          <p:cNvSpPr txBox="1"/>
          <p:nvPr/>
        </p:nvSpPr>
        <p:spPr>
          <a:xfrm>
            <a:off x="548640" y="1920240"/>
            <a:ext cx="6035040" cy="457200"/>
          </a:xfrm>
          <a:prstGeom prst="rect">
            <a:avLst/>
          </a:prstGeom>
          <a:solidFill>
            <a:srgbClr val="262B36"/>
          </a:solid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source file</a:t>
            </a:r>
            <a:endParaRPr lang="en-US" sz="1300" dirty="0"/>
          </a:p>
        </p:txBody>
      </p:sp>
      <p:sp>
        <p:nvSpPr>
          <p:cNvPr id="6" name="Text 4"/>
          <p:cNvSpPr txBox="1"/>
          <p:nvPr/>
        </p:nvSpPr>
        <p:spPr>
          <a:xfrm>
            <a:off x="548640" y="2743200"/>
            <a:ext cx="2263140" cy="548640"/>
          </a:xfrm>
          <a:prstGeom prst="rect">
            <a:avLst/>
          </a:prstGeom>
          <a:solidFill>
            <a:srgbClr val="0F766E"/>
          </a:solid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Chunk 0</a:t>
            </a:r>
            <a:endParaRPr lang="en-US" sz="1300" dirty="0"/>
          </a:p>
        </p:txBody>
      </p:sp>
      <p:sp>
        <p:nvSpPr>
          <p:cNvPr id="7" name="Text 5"/>
          <p:cNvSpPr txBox="1"/>
          <p:nvPr/>
        </p:nvSpPr>
        <p:spPr>
          <a:xfrm>
            <a:off x="2434590" y="3520440"/>
            <a:ext cx="2263140" cy="548640"/>
          </a:xfrm>
          <a:prstGeom prst="rect">
            <a:avLst/>
          </a:prstGeom>
          <a:solidFill>
            <a:srgbClr val="0F766E"/>
          </a:solid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Chunk 1</a:t>
            </a:r>
            <a:endParaRPr lang="en-US" sz="1300" dirty="0"/>
          </a:p>
        </p:txBody>
      </p:sp>
      <p:sp>
        <p:nvSpPr>
          <p:cNvPr id="8" name="Text 6"/>
          <p:cNvSpPr txBox="1"/>
          <p:nvPr/>
        </p:nvSpPr>
        <p:spPr>
          <a:xfrm>
            <a:off x="4320540" y="4297680"/>
            <a:ext cx="2263140" cy="548640"/>
          </a:xfrm>
          <a:prstGeom prst="rect">
            <a:avLst/>
          </a:prstGeom>
          <a:solidFill>
            <a:srgbClr val="0F766E"/>
          </a:solid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Chunk 2</a:t>
            </a:r>
            <a:endParaRPr lang="en-US" sz="1300" dirty="0"/>
          </a:p>
        </p:txBody>
      </p:sp>
      <p:sp>
        <p:nvSpPr>
          <p:cNvPr id="9" name="Shape 7"/>
          <p:cNvSpPr/>
          <p:nvPr/>
        </p:nvSpPr>
        <p:spPr>
          <a:xfrm>
            <a:off x="2434590" y="2743200"/>
            <a:ext cx="377190" cy="548640"/>
          </a:xfrm>
          <a:prstGeom prst="rect">
            <a:avLst/>
          </a:prstGeom>
          <a:solidFill>
            <a:srgbClr val="F5A524"/>
          </a:solidFill>
          <a:ln w="12700">
            <a:solidFill>
              <a:srgbClr val="F5A524"/>
            </a:solidFill>
            <a:prstDash val="solid"/>
          </a:ln>
        </p:spPr>
      </p:sp>
      <p:sp>
        <p:nvSpPr>
          <p:cNvPr id="10" name="Shape 8"/>
          <p:cNvSpPr/>
          <p:nvPr/>
        </p:nvSpPr>
        <p:spPr>
          <a:xfrm>
            <a:off x="2434590" y="3520440"/>
            <a:ext cx="377190" cy="548640"/>
          </a:xfrm>
          <a:prstGeom prst="rect">
            <a:avLst/>
          </a:prstGeom>
          <a:solidFill>
            <a:srgbClr val="F5A524"/>
          </a:solidFill>
          <a:ln w="12700">
            <a:solidFill>
              <a:srgbClr val="F5A524"/>
            </a:solidFill>
            <a:prstDash val="solid"/>
          </a:ln>
        </p:spPr>
      </p:sp>
      <p:sp>
        <p:nvSpPr>
          <p:cNvPr id="11" name="Shape 9"/>
          <p:cNvSpPr/>
          <p:nvPr/>
        </p:nvSpPr>
        <p:spPr>
          <a:xfrm>
            <a:off x="4320540" y="3520440"/>
            <a:ext cx="377190" cy="548640"/>
          </a:xfrm>
          <a:prstGeom prst="rect">
            <a:avLst/>
          </a:prstGeom>
          <a:solidFill>
            <a:srgbClr val="F5A524"/>
          </a:solidFill>
          <a:ln w="12700">
            <a:solidFill>
              <a:srgbClr val="F5A524"/>
            </a:solidFill>
            <a:prstDash val="solid"/>
          </a:ln>
        </p:spPr>
      </p:sp>
      <p:sp>
        <p:nvSpPr>
          <p:cNvPr id="12" name="Shape 10"/>
          <p:cNvSpPr/>
          <p:nvPr/>
        </p:nvSpPr>
        <p:spPr>
          <a:xfrm>
            <a:off x="4320540" y="4297680"/>
            <a:ext cx="377190" cy="548640"/>
          </a:xfrm>
          <a:prstGeom prst="rect">
            <a:avLst/>
          </a:prstGeom>
          <a:solidFill>
            <a:srgbClr val="F5A524"/>
          </a:solidFill>
          <a:ln w="12700">
            <a:solidFill>
              <a:srgbClr val="F5A524"/>
            </a:solidFill>
            <a:prstDash val="solid"/>
          </a:ln>
        </p:spPr>
      </p:sp>
      <p:sp>
        <p:nvSpPr>
          <p:cNvPr id="13" name="Text 11"/>
          <p:cNvSpPr txBox="1"/>
          <p:nvPr/>
        </p:nvSpPr>
        <p:spPr>
          <a:xfrm>
            <a:off x="548640" y="5120640"/>
            <a:ext cx="6217920" cy="274320"/>
          </a:xfrm>
          <a:prstGeom prst="rect">
            <a:avLst/>
          </a:prstGeom>
          <a:noFill/>
          <a:ln/>
        </p:spPr>
        <p:txBody>
          <a:bodyPr wrap="square" lIns="0" tIns="0" rIns="0" bIns="0" rtlCol="0" anchor="ctr"/>
          <a:lstStyle/>
          <a:p>
            <a:pPr marL="0" indent="0">
              <a:buNone/>
            </a:pPr>
            <a:r>
              <a:rPr lang="en-US" sz="1200" dirty="0">
                <a:solidFill>
                  <a:srgbClr val="6B7280"/>
                </a:solidFill>
                <a:latin typeface="Calibri" pitchFamily="34" charset="0"/>
                <a:ea typeface="Calibri" pitchFamily="34" charset="-122"/>
                <a:cs typeface="Calibri" pitchFamily="34" charset="-120"/>
              </a:rPr>
              <a:t>Chunk 0 = chars 0-1,200   |   Chunk 1 = 1,000-2,200   |   Chunk 2 = 2,000-3,200</a:t>
            </a:r>
            <a:endParaRPr lang="en-US" sz="1200" dirty="0"/>
          </a:p>
        </p:txBody>
      </p:sp>
      <p:sp>
        <p:nvSpPr>
          <p:cNvPr id="14" name="Shape 12"/>
          <p:cNvSpPr/>
          <p:nvPr/>
        </p:nvSpPr>
        <p:spPr>
          <a:xfrm>
            <a:off x="548640" y="5577840"/>
            <a:ext cx="274320" cy="201168"/>
          </a:xfrm>
          <a:prstGeom prst="rect">
            <a:avLst/>
          </a:prstGeom>
          <a:solidFill>
            <a:srgbClr val="F5A524"/>
          </a:solidFill>
          <a:ln w="12700">
            <a:solidFill>
              <a:srgbClr val="F5A524"/>
            </a:solidFill>
            <a:prstDash val="solid"/>
          </a:ln>
        </p:spPr>
      </p:sp>
      <p:sp>
        <p:nvSpPr>
          <p:cNvPr id="15" name="Text 13"/>
          <p:cNvSpPr txBox="1"/>
          <p:nvPr/>
        </p:nvSpPr>
        <p:spPr>
          <a:xfrm>
            <a:off x="960120" y="5513832"/>
            <a:ext cx="5669280" cy="329184"/>
          </a:xfrm>
          <a:prstGeom prst="rect">
            <a:avLst/>
          </a:prstGeom>
          <a:noFill/>
          <a:ln/>
        </p:spPr>
        <p:txBody>
          <a:bodyPr wrap="square" lIns="0" tIns="0" rIns="0" bIns="0" rtlCol="0" anchor="ctr"/>
          <a:lstStyle/>
          <a:p>
            <a:pPr marL="0" indent="0">
              <a:buNone/>
            </a:pPr>
            <a:r>
              <a:rPr lang="en-US" sz="1200" dirty="0">
                <a:solidFill>
                  <a:srgbClr val="1F2430"/>
                </a:solidFill>
                <a:latin typeface="Calibri" pitchFamily="34" charset="0"/>
                <a:ea typeface="Calibri" pitchFamily="34" charset="-122"/>
                <a:cs typeface="Calibri" pitchFamily="34" charset="-120"/>
              </a:rPr>
              <a:t>200-character overlap shared with the neighbouring chunk</a:t>
            </a:r>
            <a:endParaRPr lang="en-US" sz="1200" dirty="0"/>
          </a:p>
        </p:txBody>
      </p:sp>
      <p:sp>
        <p:nvSpPr>
          <p:cNvPr id="16" name="Shape 14"/>
          <p:cNvSpPr/>
          <p:nvPr/>
        </p:nvSpPr>
        <p:spPr>
          <a:xfrm>
            <a:off x="7132320" y="1600200"/>
            <a:ext cx="4480560" cy="4526280"/>
          </a:xfrm>
          <a:prstGeom prst="roundRect">
            <a:avLst>
              <a:gd name="adj" fmla="val 2449"/>
            </a:avLst>
          </a:prstGeom>
          <a:solidFill>
            <a:srgbClr val="FFFFFF"/>
          </a:solidFill>
          <a:ln w="12700">
            <a:solidFill>
              <a:srgbClr val="FFFFFF"/>
            </a:solidFill>
            <a:prstDash val="solid"/>
          </a:ln>
          <a:effectLst>
            <a:outerShdw blurRad="101600" dist="25400" dir="5400000" algn="bl" rotWithShape="0">
              <a:srgbClr val="000000">
                <a:alpha val="12000"/>
              </a:srgbClr>
            </a:outerShdw>
          </a:effectLst>
        </p:spPr>
      </p:sp>
      <p:sp>
        <p:nvSpPr>
          <p:cNvPr id="17" name="Text 15"/>
          <p:cNvSpPr txBox="1"/>
          <p:nvPr/>
        </p:nvSpPr>
        <p:spPr>
          <a:xfrm>
            <a:off x="7406640" y="1783080"/>
            <a:ext cx="3977640" cy="4206240"/>
          </a:xfrm>
          <a:prstGeom prst="rect">
            <a:avLst/>
          </a:prstGeom>
          <a:noFill/>
          <a:ln/>
        </p:spPr>
        <p:txBody>
          <a:bodyPr wrap="square" lIns="0" tIns="0" rIns="0" bIns="0" rtlCol="0" anchor="t"/>
          <a:lstStyle/>
          <a:p>
            <a:pPr marL="0" indent="0">
              <a:spcAft>
                <a:spcPts val="400"/>
              </a:spcAft>
              <a:buNone/>
            </a:pPr>
            <a:r>
              <a:rPr lang="en-US" sz="1600" b="1" dirty="0">
                <a:solidFill>
                  <a:srgbClr val="171A21"/>
                </a:solidFill>
                <a:latin typeface="Calibri" pitchFamily="34" charset="0"/>
                <a:ea typeface="Calibri" pitchFamily="34" charset="-122"/>
                <a:cs typeface="Calibri" pitchFamily="34" charset="-120"/>
              </a:rPr>
              <a:t>What happens</a:t>
            </a:r>
            <a:endParaRPr lang="en-US" sz="1600" dirty="0"/>
          </a:p>
          <a:p>
            <a:pPr marL="342900" indent="-342900">
              <a:spcAft>
                <a:spcPts val="400"/>
              </a:spcAft>
              <a:buSzPct val="100000"/>
              <a:buChar char="•"/>
            </a:pPr>
            <a:r>
              <a:rPr lang="en-US" sz="1300" dirty="0">
                <a:solidFill>
                  <a:srgbClr val="1F2430"/>
                </a:solidFill>
                <a:latin typeface="Calibri" pitchFamily="34" charset="0"/>
                <a:ea typeface="Calibri" pitchFamily="34" charset="-122"/>
                <a:cs typeface="Calibri" pitchFamily="34" charset="-120"/>
              </a:rPr>
              <a:t>Reads code and text files (.py .js .ts .md .json .html .css and more); skips .git, venv, node_modules</a:t>
            </a:r>
            <a:endParaRPr lang="en-US" sz="1600" dirty="0"/>
          </a:p>
          <a:p>
            <a:pPr marL="342900" indent="-342900">
              <a:spcAft>
                <a:spcPts val="1200"/>
              </a:spcAft>
              <a:buSzPct val="100000"/>
              <a:buChar char="•"/>
            </a:pPr>
            <a:r>
              <a:rPr lang="en-US" sz="1300" dirty="0">
                <a:solidFill>
                  <a:srgbClr val="1F2430"/>
                </a:solidFill>
                <a:latin typeface="Calibri" pitchFamily="34" charset="0"/>
                <a:ea typeface="Calibri" pitchFamily="34" charset="-122"/>
                <a:cs typeface="Calibri" pitchFamily="34" charset="-120"/>
              </a:rPr>
              <a:t>Cuts each file into 1,200-character chunks, each saved with its file path and chunk number</a:t>
            </a:r>
            <a:endParaRPr lang="en-US" sz="1600" dirty="0"/>
          </a:p>
          <a:p>
            <a:pPr marL="0" indent="0">
              <a:spcAft>
                <a:spcPts val="400"/>
              </a:spcAft>
              <a:buNone/>
            </a:pPr>
            <a:r>
              <a:rPr lang="en-US" sz="1600" b="1" dirty="0">
                <a:solidFill>
                  <a:srgbClr val="171A21"/>
                </a:solidFill>
                <a:latin typeface="Calibri" pitchFamily="34" charset="0"/>
                <a:ea typeface="Calibri" pitchFamily="34" charset="-122"/>
                <a:cs typeface="Calibri" pitchFamily="34" charset="-120"/>
              </a:rPr>
              <a:t>Why the overlap</a:t>
            </a:r>
            <a:endParaRPr lang="en-US" sz="1600" dirty="0"/>
          </a:p>
          <a:p>
            <a:pPr marL="342900" indent="-342900">
              <a:spcAft>
                <a:spcPts val="1200"/>
              </a:spcAft>
              <a:buSzPct val="100000"/>
              <a:buChar char="•"/>
            </a:pPr>
            <a:r>
              <a:rPr lang="en-US" sz="1300" dirty="0">
                <a:solidFill>
                  <a:srgbClr val="1F2430"/>
                </a:solidFill>
                <a:latin typeface="Calibri" pitchFamily="34" charset="0"/>
                <a:ea typeface="Calibri" pitchFamily="34" charset="-122"/>
                <a:cs typeface="Calibri" pitchFamily="34" charset="-120"/>
              </a:rPr>
              <a:t>Code that sits on a cut still appears in full in one neighbouring chunk, so context is not lost at the boundary</a:t>
            </a:r>
            <a:endParaRPr lang="en-US" sz="1600" dirty="0"/>
          </a:p>
          <a:p>
            <a:pPr marL="0" indent="0">
              <a:spcAft>
                <a:spcPts val="400"/>
              </a:spcAft>
              <a:buNone/>
            </a:pPr>
            <a:r>
              <a:rPr lang="en-US" sz="1600" b="1" dirty="0">
                <a:solidFill>
                  <a:srgbClr val="C8372D"/>
                </a:solidFill>
                <a:latin typeface="Calibri" pitchFamily="34" charset="0"/>
                <a:ea typeface="Calibri" pitchFamily="34" charset="-122"/>
                <a:cs typeface="Calibri" pitchFamily="34" charset="-120"/>
              </a:rPr>
              <a:t>Known limitation</a:t>
            </a:r>
            <a:endParaRPr lang="en-US" sz="1600" dirty="0"/>
          </a:p>
          <a:p>
            <a:pPr marL="342900" indent="-342900">
              <a:buSzPct val="100000"/>
              <a:buChar char="•"/>
            </a:pPr>
            <a:r>
              <a:rPr lang="en-US" sz="1300" dirty="0">
                <a:solidFill>
                  <a:srgbClr val="1F2430"/>
                </a:solidFill>
                <a:latin typeface="Calibri" pitchFamily="34" charset="0"/>
                <a:ea typeface="Calibri" pitchFamily="34" charset="-122"/>
                <a:cs typeface="Calibri" pitchFamily="34" charset="-120"/>
              </a:rPr>
              <a:t>Cuts are by character count, not by function, so a chunk can end mid-word. Next step: per-function (AST) chunking</a:t>
            </a:r>
            <a:endParaRPr lang="en-US" sz="1600" dirty="0"/>
          </a:p>
        </p:txBody>
      </p:sp>
      <p:sp>
        <p:nvSpPr>
          <p:cNvPr id="18" name="Text 16"/>
          <p:cNvSpPr txBox="1"/>
          <p:nvPr/>
        </p:nvSpPr>
        <p:spPr>
          <a:xfrm>
            <a:off x="548640" y="6446520"/>
            <a:ext cx="5486400" cy="274320"/>
          </a:xfrm>
          <a:prstGeom prst="rect">
            <a:avLst/>
          </a:prstGeom>
          <a:noFill/>
          <a:ln/>
        </p:spPr>
        <p:txBody>
          <a:bodyPr wrap="square" lIns="0" tIns="0" rIns="0" bIns="0" rtlCol="0" anchor="ctr"/>
          <a:lstStyle/>
          <a:p>
            <a:pPr marL="0" indent="0">
              <a:buNone/>
            </a:pPr>
            <a:r>
              <a:rPr lang="en-US" sz="1000" dirty="0">
                <a:solidFill>
                  <a:srgbClr val="6B7280"/>
                </a:solidFill>
                <a:latin typeface="Calibri" pitchFamily="34" charset="0"/>
                <a:ea typeface="Calibri" pitchFamily="34" charset="-122"/>
                <a:cs typeface="Calibri" pitchFamily="34" charset="-120"/>
              </a:rPr>
              <a:t>KAVACH  |  Project Review</a:t>
            </a:r>
            <a:endParaRPr lang="en-US" sz="1000" dirty="0"/>
          </a:p>
        </p:txBody>
      </p:sp>
      <p:sp>
        <p:nvSpPr>
          <p:cNvPr id="25" name="Slide Number Placeholder 0"/>
          <p:cNvSpPr>
            <a:spLocks noGrp="1"/>
          </p:cNvSpPr>
          <p:nvPr>
            <p:ph type="sldNum" sz="quarter" idx="4294967295"/>
          </p:nvPr>
        </p:nvSpPr>
        <p:spPr>
          <a:xfrm>
            <a:off x="11064240" y="644652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6B7280"/>
                </a:solidFill>
                <a:latin typeface="Calibri"/>
                <a:ea typeface="Calibri"/>
                <a:cs typeface="Calibri"/>
              </a:defRPr>
            </a:lvl1pPr>
          </a:lstStyle>
          <a:p>
            <a:pPr algn="r"/>
            <a:fld id="{F7021451-1387-4CA6-816F-3879F97B5CBC}" type="slidenum">
              <a:rPr lang="en-US" b="0"/>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3F4F6"/>
        </a:solidFill>
        <a:effectLst/>
      </p:bgPr>
    </p:bg>
    <p:spTree>
      <p:nvGrpSpPr>
        <p:cNvPr id="1" name=""/>
        <p:cNvGrpSpPr/>
        <p:nvPr/>
      </p:nvGrpSpPr>
      <p:grpSpPr>
        <a:xfrm>
          <a:off x="0" y="0"/>
          <a:ext cx="0" cy="0"/>
          <a:chOff x="0" y="0"/>
          <a:chExt cx="0" cy="0"/>
        </a:xfrm>
      </p:grpSpPr>
      <p:sp>
        <p:nvSpPr>
          <p:cNvPr id="2" name="Text 0"/>
          <p:cNvSpPr txBox="1"/>
          <p:nvPr/>
        </p:nvSpPr>
        <p:spPr>
          <a:xfrm>
            <a:off x="548640" y="320040"/>
            <a:ext cx="11064240" cy="731520"/>
          </a:xfrm>
          <a:prstGeom prst="rect">
            <a:avLst/>
          </a:prstGeom>
          <a:noFill/>
          <a:ln/>
        </p:spPr>
        <p:txBody>
          <a:bodyPr wrap="square" lIns="0" tIns="0" rIns="0" bIns="0" rtlCol="0" anchor="ctr"/>
          <a:lstStyle/>
          <a:p>
            <a:pPr marL="0" indent="0">
              <a:buNone/>
            </a:pPr>
            <a:r>
              <a:rPr lang="en-US" sz="3200" b="1" dirty="0">
                <a:solidFill>
                  <a:srgbClr val="171A21"/>
                </a:solidFill>
                <a:latin typeface="Cambria" pitchFamily="34" charset="0"/>
                <a:ea typeface="Cambria" pitchFamily="34" charset="-122"/>
                <a:cs typeface="Cambria" pitchFamily="34" charset="-120"/>
              </a:rPr>
              <a:t>Under the hood: embeddings and vector search</a:t>
            </a:r>
            <a:endParaRPr lang="en-US" sz="3200" dirty="0"/>
          </a:p>
        </p:txBody>
      </p:sp>
      <p:sp>
        <p:nvSpPr>
          <p:cNvPr id="3" name="Text 1"/>
          <p:cNvSpPr txBox="1"/>
          <p:nvPr/>
        </p:nvSpPr>
        <p:spPr>
          <a:xfrm>
            <a:off x="548640" y="1005840"/>
            <a:ext cx="11064240" cy="365760"/>
          </a:xfrm>
          <a:prstGeom prst="rect">
            <a:avLst/>
          </a:prstGeom>
          <a:noFill/>
          <a:ln/>
        </p:spPr>
        <p:txBody>
          <a:bodyPr wrap="square" lIns="0" tIns="0" rIns="0" bIns="0" rtlCol="0" anchor="ctr"/>
          <a:lstStyle/>
          <a:p>
            <a:pPr marL="0" indent="0">
              <a:buNone/>
            </a:pPr>
            <a:r>
              <a:rPr lang="en-US" sz="1600" dirty="0">
                <a:solidFill>
                  <a:srgbClr val="6B7280"/>
                </a:solidFill>
                <a:latin typeface="Calibri" pitchFamily="34" charset="0"/>
                <a:ea typeface="Calibri" pitchFamily="34" charset="-122"/>
                <a:cs typeface="Calibri" pitchFamily="34" charset="-120"/>
              </a:rPr>
              <a:t>Phase 1: how KAVACH finds the right code for a request</a:t>
            </a:r>
            <a:endParaRPr lang="en-US" sz="1600" dirty="0"/>
          </a:p>
        </p:txBody>
      </p:sp>
      <p:sp>
        <p:nvSpPr>
          <p:cNvPr id="4" name="Text 2"/>
          <p:cNvSpPr txBox="1"/>
          <p:nvPr/>
        </p:nvSpPr>
        <p:spPr>
          <a:xfrm>
            <a:off x="548640" y="1691640"/>
            <a:ext cx="1645920" cy="1417320"/>
          </a:xfrm>
          <a:prstGeom prst="rect">
            <a:avLst/>
          </a:prstGeom>
          <a:noFill/>
          <a:ln/>
        </p:spPr>
        <p:txBody>
          <a:bodyPr wrap="square" lIns="0" tIns="0" rIns="0" bIns="0" rtlCol="0" anchor="ctr"/>
          <a:lstStyle/>
          <a:p>
            <a:pPr marL="0" indent="0">
              <a:buNone/>
            </a:pPr>
            <a:r>
              <a:rPr lang="en-US" sz="1500" b="1" dirty="0">
                <a:solidFill>
                  <a:srgbClr val="171A21"/>
                </a:solidFill>
                <a:latin typeface="Calibri" pitchFamily="34" charset="0"/>
                <a:ea typeface="Calibri" pitchFamily="34" charset="-122"/>
                <a:cs typeface="Calibri" pitchFamily="34" charset="-120"/>
              </a:rPr>
              <a:t>Ingest</a:t>
            </a:r>
            <a:endParaRPr lang="en-US" sz="1500" dirty="0"/>
          </a:p>
          <a:p>
            <a:pPr marL="0" indent="0">
              <a:buNone/>
            </a:pPr>
            <a:r>
              <a:rPr lang="en-US" sz="1500" b="1" dirty="0">
                <a:solidFill>
                  <a:srgbClr val="171A21"/>
                </a:solidFill>
                <a:latin typeface="Calibri" pitchFamily="34" charset="0"/>
                <a:ea typeface="Calibri" pitchFamily="34" charset="-122"/>
                <a:cs typeface="Calibri" pitchFamily="34" charset="-120"/>
              </a:rPr>
              <a:t>(once per repo)</a:t>
            </a:r>
            <a:endParaRPr lang="en-US" sz="1500" dirty="0"/>
          </a:p>
        </p:txBody>
      </p:sp>
      <p:sp>
        <p:nvSpPr>
          <p:cNvPr id="5" name="Shape 3"/>
          <p:cNvSpPr/>
          <p:nvPr/>
        </p:nvSpPr>
        <p:spPr>
          <a:xfrm>
            <a:off x="2377440" y="1691640"/>
            <a:ext cx="1920240" cy="1417320"/>
          </a:xfrm>
          <a:prstGeom prst="roundRect">
            <a:avLst>
              <a:gd name="adj" fmla="val 6452"/>
            </a:avLst>
          </a:prstGeom>
          <a:solidFill>
            <a:srgbClr val="FFFFFF"/>
          </a:solidFill>
          <a:ln w="12700">
            <a:solidFill>
              <a:srgbClr val="FFFFFF"/>
            </a:solidFill>
            <a:prstDash val="solid"/>
          </a:ln>
          <a:effectLst>
            <a:outerShdw blurRad="101600" dist="25400" dir="5400000" algn="bl" rotWithShape="0">
              <a:srgbClr val="000000">
                <a:alpha val="12000"/>
              </a:srgbClr>
            </a:outerShdw>
          </a:effectLst>
        </p:spPr>
      </p:sp>
      <p:sp>
        <p:nvSpPr>
          <p:cNvPr id="6" name="Text 4"/>
          <p:cNvSpPr txBox="1"/>
          <p:nvPr/>
        </p:nvSpPr>
        <p:spPr>
          <a:xfrm>
            <a:off x="2377440" y="1691640"/>
            <a:ext cx="1920240" cy="1417320"/>
          </a:xfrm>
          <a:prstGeom prst="rect">
            <a:avLst/>
          </a:prstGeom>
          <a:noFill/>
          <a:ln/>
        </p:spPr>
        <p:txBody>
          <a:bodyPr wrap="square" lIns="114300" tIns="114300" rIns="114300" bIns="114300" rtlCol="0" anchor="ctr"/>
          <a:lstStyle/>
          <a:p>
            <a:pPr marL="0" indent="0" algn="l">
              <a:spcAft>
                <a:spcPts val="300"/>
              </a:spcAft>
              <a:buNone/>
            </a:pPr>
            <a:r>
              <a:rPr lang="en-US" sz="1500" b="1" dirty="0">
                <a:solidFill>
                  <a:srgbClr val="171A21"/>
                </a:solidFill>
                <a:latin typeface="Calibri" pitchFamily="34" charset="0"/>
                <a:ea typeface="Calibri" pitchFamily="34" charset="-122"/>
                <a:cs typeface="Calibri" pitchFamily="34" charset="-120"/>
              </a:rPr>
              <a:t>Code chunk</a:t>
            </a:r>
            <a:endParaRPr lang="en-US" sz="1500" dirty="0"/>
          </a:p>
          <a:p>
            <a:pPr marL="0" indent="0" algn="l">
              <a:spcAft>
                <a:spcPts val="300"/>
              </a:spcAft>
              <a:buNone/>
            </a:pPr>
            <a:r>
              <a:rPr lang="en-US" sz="1200" dirty="0">
                <a:solidFill>
                  <a:srgbClr val="6B7280"/>
                </a:solidFill>
                <a:latin typeface="Calibri" pitchFamily="34" charset="0"/>
                <a:ea typeface="Calibri" pitchFamily="34" charset="-122"/>
                <a:cs typeface="Calibri" pitchFamily="34" charset="-120"/>
              </a:rPr>
              <a:t>A 1,200-character piece of a file</a:t>
            </a:r>
            <a:endParaRPr lang="en-US" sz="1500" dirty="0"/>
          </a:p>
        </p:txBody>
      </p:sp>
      <p:sp>
        <p:nvSpPr>
          <p:cNvPr id="7" name="Shape 5"/>
          <p:cNvSpPr/>
          <p:nvPr/>
        </p:nvSpPr>
        <p:spPr>
          <a:xfrm>
            <a:off x="4315968" y="2400300"/>
            <a:ext cx="329184" cy="0"/>
          </a:xfrm>
          <a:prstGeom prst="line">
            <a:avLst/>
          </a:prstGeom>
          <a:noFill/>
          <a:ln w="25400">
            <a:solidFill>
              <a:srgbClr val="171A21"/>
            </a:solidFill>
            <a:prstDash val="solid"/>
            <a:tailEnd type="triangle"/>
          </a:ln>
        </p:spPr>
      </p:sp>
      <p:sp>
        <p:nvSpPr>
          <p:cNvPr id="8" name="Shape 6"/>
          <p:cNvSpPr/>
          <p:nvPr/>
        </p:nvSpPr>
        <p:spPr>
          <a:xfrm>
            <a:off x="4663440" y="1691640"/>
            <a:ext cx="1920240" cy="1417320"/>
          </a:xfrm>
          <a:prstGeom prst="roundRect">
            <a:avLst>
              <a:gd name="adj" fmla="val 6452"/>
            </a:avLst>
          </a:prstGeom>
          <a:solidFill>
            <a:srgbClr val="FFFFFF"/>
          </a:solidFill>
          <a:ln w="12700">
            <a:solidFill>
              <a:srgbClr val="FFFFFF"/>
            </a:solidFill>
            <a:prstDash val="solid"/>
          </a:ln>
          <a:effectLst>
            <a:outerShdw blurRad="101600" dist="25400" dir="5400000" algn="bl" rotWithShape="0">
              <a:srgbClr val="000000">
                <a:alpha val="12000"/>
              </a:srgbClr>
            </a:outerShdw>
          </a:effectLst>
        </p:spPr>
      </p:sp>
      <p:sp>
        <p:nvSpPr>
          <p:cNvPr id="9" name="Text 7"/>
          <p:cNvSpPr txBox="1"/>
          <p:nvPr/>
        </p:nvSpPr>
        <p:spPr>
          <a:xfrm>
            <a:off x="4663440" y="1691640"/>
            <a:ext cx="1920240" cy="1417320"/>
          </a:xfrm>
          <a:prstGeom prst="rect">
            <a:avLst/>
          </a:prstGeom>
          <a:noFill/>
          <a:ln/>
        </p:spPr>
        <p:txBody>
          <a:bodyPr wrap="square" lIns="114300" tIns="114300" rIns="114300" bIns="114300" rtlCol="0" anchor="ctr"/>
          <a:lstStyle/>
          <a:p>
            <a:pPr marL="0" indent="0" algn="l">
              <a:spcAft>
                <a:spcPts val="300"/>
              </a:spcAft>
              <a:buNone/>
            </a:pPr>
            <a:r>
              <a:rPr lang="en-US" sz="1500" b="1" dirty="0">
                <a:solidFill>
                  <a:srgbClr val="171A21"/>
                </a:solidFill>
                <a:latin typeface="Calibri" pitchFamily="34" charset="0"/>
                <a:ea typeface="Calibri" pitchFamily="34" charset="-122"/>
                <a:cs typeface="Calibri" pitchFamily="34" charset="-120"/>
              </a:rPr>
              <a:t>Embedding model</a:t>
            </a:r>
            <a:endParaRPr lang="en-US" sz="1500" dirty="0"/>
          </a:p>
          <a:p>
            <a:pPr marL="0" indent="0" algn="l">
              <a:spcAft>
                <a:spcPts val="300"/>
              </a:spcAft>
              <a:buNone/>
            </a:pPr>
            <a:r>
              <a:rPr lang="en-US" sz="1200" dirty="0">
                <a:solidFill>
                  <a:srgbClr val="6B7280"/>
                </a:solidFill>
                <a:latin typeface="Calibri" pitchFamily="34" charset="0"/>
                <a:ea typeface="Calibri" pitchFamily="34" charset="-122"/>
                <a:cs typeface="Calibri" pitchFamily="34" charset="-120"/>
              </a:rPr>
              <a:t>all-MiniLM-L6-v2 (Sentence Transformers)</a:t>
            </a:r>
            <a:endParaRPr lang="en-US" sz="1500" dirty="0"/>
          </a:p>
        </p:txBody>
      </p:sp>
      <p:sp>
        <p:nvSpPr>
          <p:cNvPr id="10" name="Shape 8"/>
          <p:cNvSpPr/>
          <p:nvPr/>
        </p:nvSpPr>
        <p:spPr>
          <a:xfrm>
            <a:off x="6601968" y="2400300"/>
            <a:ext cx="329184" cy="0"/>
          </a:xfrm>
          <a:prstGeom prst="line">
            <a:avLst/>
          </a:prstGeom>
          <a:noFill/>
          <a:ln w="25400">
            <a:solidFill>
              <a:srgbClr val="171A21"/>
            </a:solidFill>
            <a:prstDash val="solid"/>
            <a:tailEnd type="triangle"/>
          </a:ln>
        </p:spPr>
      </p:sp>
      <p:sp>
        <p:nvSpPr>
          <p:cNvPr id="11" name="Shape 9"/>
          <p:cNvSpPr/>
          <p:nvPr/>
        </p:nvSpPr>
        <p:spPr>
          <a:xfrm>
            <a:off x="6949440" y="1691640"/>
            <a:ext cx="1920240" cy="1417320"/>
          </a:xfrm>
          <a:prstGeom prst="roundRect">
            <a:avLst>
              <a:gd name="adj" fmla="val 6452"/>
            </a:avLst>
          </a:prstGeom>
          <a:solidFill>
            <a:srgbClr val="171A21"/>
          </a:solidFill>
          <a:ln w="12700">
            <a:solidFill>
              <a:srgbClr val="171A21"/>
            </a:solidFill>
            <a:prstDash val="solid"/>
          </a:ln>
          <a:effectLst>
            <a:outerShdw blurRad="101600" dist="25400" dir="5400000" algn="bl" rotWithShape="0">
              <a:srgbClr val="000000">
                <a:alpha val="12000"/>
              </a:srgbClr>
            </a:outerShdw>
          </a:effectLst>
        </p:spPr>
      </p:sp>
      <p:sp>
        <p:nvSpPr>
          <p:cNvPr id="12" name="Text 10"/>
          <p:cNvSpPr txBox="1"/>
          <p:nvPr/>
        </p:nvSpPr>
        <p:spPr>
          <a:xfrm>
            <a:off x="6949440" y="1691640"/>
            <a:ext cx="1920240" cy="1417320"/>
          </a:xfrm>
          <a:prstGeom prst="rect">
            <a:avLst/>
          </a:prstGeom>
          <a:noFill/>
          <a:ln/>
        </p:spPr>
        <p:txBody>
          <a:bodyPr wrap="square" lIns="114300" tIns="114300" rIns="114300" bIns="114300" rtlCol="0" anchor="ctr"/>
          <a:lstStyle/>
          <a:p>
            <a:pPr marL="0" indent="0" algn="l">
              <a:spcAft>
                <a:spcPts val="300"/>
              </a:spcAft>
              <a:buNone/>
            </a:pPr>
            <a:r>
              <a:rPr lang="en-US" sz="1500" b="1" dirty="0">
                <a:solidFill>
                  <a:srgbClr val="F5A524"/>
                </a:solidFill>
                <a:latin typeface="Calibri" pitchFamily="34" charset="0"/>
                <a:ea typeface="Calibri" pitchFamily="34" charset="-122"/>
                <a:cs typeface="Calibri" pitchFamily="34" charset="-120"/>
              </a:rPr>
              <a:t>Qdrant vector DB</a:t>
            </a:r>
            <a:endParaRPr lang="en-US" sz="1500" dirty="0"/>
          </a:p>
          <a:p>
            <a:pPr marL="0" indent="0" algn="l">
              <a:spcAft>
                <a:spcPts val="300"/>
              </a:spcAft>
              <a:buNone/>
            </a:pPr>
            <a:r>
              <a:rPr lang="en-US" sz="1200" dirty="0">
                <a:solidFill>
                  <a:srgbClr val="D5D9E0"/>
                </a:solidFill>
                <a:latin typeface="Calibri" pitchFamily="34" charset="0"/>
                <a:ea typeface="Calibri" pitchFamily="34" charset="-122"/>
                <a:cs typeface="Calibri" pitchFamily="34" charset="-120"/>
              </a:rPr>
              <a:t>384 numbers + file path, saved locally on disk</a:t>
            </a:r>
            <a:endParaRPr lang="en-US" sz="1500" dirty="0"/>
          </a:p>
        </p:txBody>
      </p:sp>
      <p:sp>
        <p:nvSpPr>
          <p:cNvPr id="13" name="Text 11"/>
          <p:cNvSpPr txBox="1"/>
          <p:nvPr/>
        </p:nvSpPr>
        <p:spPr>
          <a:xfrm>
            <a:off x="548640" y="3429000"/>
            <a:ext cx="1645920" cy="1417320"/>
          </a:xfrm>
          <a:prstGeom prst="rect">
            <a:avLst/>
          </a:prstGeom>
          <a:noFill/>
          <a:ln/>
        </p:spPr>
        <p:txBody>
          <a:bodyPr wrap="square" lIns="0" tIns="0" rIns="0" bIns="0" rtlCol="0" anchor="ctr"/>
          <a:lstStyle/>
          <a:p>
            <a:pPr marL="0" indent="0">
              <a:buNone/>
            </a:pPr>
            <a:r>
              <a:rPr lang="en-US" sz="1500" b="1" dirty="0">
                <a:solidFill>
                  <a:srgbClr val="171A21"/>
                </a:solidFill>
                <a:latin typeface="Calibri" pitchFamily="34" charset="0"/>
                <a:ea typeface="Calibri" pitchFamily="34" charset="-122"/>
                <a:cs typeface="Calibri" pitchFamily="34" charset="-120"/>
              </a:rPr>
              <a:t>Search</a:t>
            </a:r>
            <a:endParaRPr lang="en-US" sz="1500" dirty="0"/>
          </a:p>
          <a:p>
            <a:pPr marL="0" indent="0">
              <a:buNone/>
            </a:pPr>
            <a:r>
              <a:rPr lang="en-US" sz="1500" b="1" dirty="0">
                <a:solidFill>
                  <a:srgbClr val="171A21"/>
                </a:solidFill>
                <a:latin typeface="Calibri" pitchFamily="34" charset="0"/>
                <a:ea typeface="Calibri" pitchFamily="34" charset="-122"/>
                <a:cs typeface="Calibri" pitchFamily="34" charset="-120"/>
              </a:rPr>
              <a:t>(every request)</a:t>
            </a:r>
            <a:endParaRPr lang="en-US" sz="1500" dirty="0"/>
          </a:p>
        </p:txBody>
      </p:sp>
      <p:sp>
        <p:nvSpPr>
          <p:cNvPr id="14" name="Shape 12"/>
          <p:cNvSpPr/>
          <p:nvPr/>
        </p:nvSpPr>
        <p:spPr>
          <a:xfrm>
            <a:off x="2377440" y="3429000"/>
            <a:ext cx="1920240" cy="1417320"/>
          </a:xfrm>
          <a:prstGeom prst="roundRect">
            <a:avLst>
              <a:gd name="adj" fmla="val 6452"/>
            </a:avLst>
          </a:prstGeom>
          <a:solidFill>
            <a:srgbClr val="FFFFFF"/>
          </a:solidFill>
          <a:ln w="12700">
            <a:solidFill>
              <a:srgbClr val="FFFFFF"/>
            </a:solidFill>
            <a:prstDash val="solid"/>
          </a:ln>
          <a:effectLst>
            <a:outerShdw blurRad="101600" dist="25400" dir="5400000" algn="bl" rotWithShape="0">
              <a:srgbClr val="000000">
                <a:alpha val="12000"/>
              </a:srgbClr>
            </a:outerShdw>
          </a:effectLst>
        </p:spPr>
      </p:sp>
      <p:sp>
        <p:nvSpPr>
          <p:cNvPr id="15" name="Text 13"/>
          <p:cNvSpPr txBox="1"/>
          <p:nvPr/>
        </p:nvSpPr>
        <p:spPr>
          <a:xfrm>
            <a:off x="2377440" y="3429000"/>
            <a:ext cx="1920240" cy="1417320"/>
          </a:xfrm>
          <a:prstGeom prst="rect">
            <a:avLst/>
          </a:prstGeom>
          <a:noFill/>
          <a:ln/>
        </p:spPr>
        <p:txBody>
          <a:bodyPr wrap="square" lIns="114300" tIns="114300" rIns="114300" bIns="114300" rtlCol="0" anchor="ctr"/>
          <a:lstStyle/>
          <a:p>
            <a:pPr marL="0" indent="0" algn="l">
              <a:spcAft>
                <a:spcPts val="300"/>
              </a:spcAft>
              <a:buNone/>
            </a:pPr>
            <a:r>
              <a:rPr lang="en-US" sz="1500" b="1" dirty="0">
                <a:solidFill>
                  <a:srgbClr val="171A21"/>
                </a:solidFill>
                <a:latin typeface="Calibri" pitchFamily="34" charset="0"/>
                <a:ea typeface="Calibri" pitchFamily="34" charset="-122"/>
                <a:cs typeface="Calibri" pitchFamily="34" charset="-120"/>
              </a:rPr>
              <a:t>Developer request</a:t>
            </a:r>
            <a:endParaRPr lang="en-US" sz="1500" dirty="0"/>
          </a:p>
          <a:p>
            <a:pPr marL="0" indent="0" algn="l">
              <a:spcAft>
                <a:spcPts val="300"/>
              </a:spcAft>
              <a:buNone/>
            </a:pPr>
            <a:r>
              <a:rPr lang="en-US" sz="1200" dirty="0">
                <a:solidFill>
                  <a:srgbClr val="6B7280"/>
                </a:solidFill>
                <a:latin typeface="Calibri" pitchFamily="34" charset="0"/>
                <a:ea typeface="Calibri" pitchFamily="34" charset="-122"/>
                <a:cs typeface="Calibri" pitchFamily="34" charset="-120"/>
              </a:rPr>
              <a:t>Plain-language text</a:t>
            </a:r>
            <a:endParaRPr lang="en-US" sz="1500" dirty="0"/>
          </a:p>
        </p:txBody>
      </p:sp>
      <p:sp>
        <p:nvSpPr>
          <p:cNvPr id="16" name="Shape 14"/>
          <p:cNvSpPr/>
          <p:nvPr/>
        </p:nvSpPr>
        <p:spPr>
          <a:xfrm>
            <a:off x="4315968" y="4137660"/>
            <a:ext cx="329184" cy="0"/>
          </a:xfrm>
          <a:prstGeom prst="line">
            <a:avLst/>
          </a:prstGeom>
          <a:noFill/>
          <a:ln w="25400">
            <a:solidFill>
              <a:srgbClr val="171A21"/>
            </a:solidFill>
            <a:prstDash val="solid"/>
            <a:tailEnd type="triangle"/>
          </a:ln>
        </p:spPr>
      </p:sp>
      <p:sp>
        <p:nvSpPr>
          <p:cNvPr id="17" name="Shape 15"/>
          <p:cNvSpPr/>
          <p:nvPr/>
        </p:nvSpPr>
        <p:spPr>
          <a:xfrm>
            <a:off x="4663440" y="3429000"/>
            <a:ext cx="1920240" cy="1417320"/>
          </a:xfrm>
          <a:prstGeom prst="roundRect">
            <a:avLst>
              <a:gd name="adj" fmla="val 6452"/>
            </a:avLst>
          </a:prstGeom>
          <a:solidFill>
            <a:srgbClr val="FFFFFF"/>
          </a:solidFill>
          <a:ln w="12700">
            <a:solidFill>
              <a:srgbClr val="FFFFFF"/>
            </a:solidFill>
            <a:prstDash val="solid"/>
          </a:ln>
          <a:effectLst>
            <a:outerShdw blurRad="101600" dist="25400" dir="5400000" algn="bl" rotWithShape="0">
              <a:srgbClr val="000000">
                <a:alpha val="12000"/>
              </a:srgbClr>
            </a:outerShdw>
          </a:effectLst>
        </p:spPr>
      </p:sp>
      <p:sp>
        <p:nvSpPr>
          <p:cNvPr id="18" name="Text 16"/>
          <p:cNvSpPr txBox="1"/>
          <p:nvPr/>
        </p:nvSpPr>
        <p:spPr>
          <a:xfrm>
            <a:off x="4663440" y="3429000"/>
            <a:ext cx="1920240" cy="1417320"/>
          </a:xfrm>
          <a:prstGeom prst="rect">
            <a:avLst/>
          </a:prstGeom>
          <a:noFill/>
          <a:ln/>
        </p:spPr>
        <p:txBody>
          <a:bodyPr wrap="square" lIns="114300" tIns="114300" rIns="114300" bIns="114300" rtlCol="0" anchor="ctr"/>
          <a:lstStyle/>
          <a:p>
            <a:pPr marL="0" indent="0" algn="l">
              <a:spcAft>
                <a:spcPts val="300"/>
              </a:spcAft>
              <a:buNone/>
            </a:pPr>
            <a:r>
              <a:rPr lang="en-US" sz="1500" b="1" dirty="0">
                <a:solidFill>
                  <a:srgbClr val="171A21"/>
                </a:solidFill>
                <a:latin typeface="Calibri" pitchFamily="34" charset="0"/>
                <a:ea typeface="Calibri" pitchFamily="34" charset="-122"/>
                <a:cs typeface="Calibri" pitchFamily="34" charset="-120"/>
              </a:rPr>
              <a:t>Same embedding model</a:t>
            </a:r>
            <a:endParaRPr lang="en-US" sz="1500" dirty="0"/>
          </a:p>
          <a:p>
            <a:pPr marL="0" indent="0" algn="l">
              <a:spcAft>
                <a:spcPts val="300"/>
              </a:spcAft>
              <a:buNone/>
            </a:pPr>
            <a:r>
              <a:rPr lang="en-US" sz="1200" dirty="0">
                <a:solidFill>
                  <a:srgbClr val="6B7280"/>
                </a:solidFill>
                <a:latin typeface="Calibri" pitchFamily="34" charset="0"/>
                <a:ea typeface="Calibri" pitchFamily="34" charset="-122"/>
                <a:cs typeface="Calibri" pitchFamily="34" charset="-120"/>
              </a:rPr>
              <a:t>The request becomes 384 numbers</a:t>
            </a:r>
            <a:endParaRPr lang="en-US" sz="1500" dirty="0"/>
          </a:p>
        </p:txBody>
      </p:sp>
      <p:sp>
        <p:nvSpPr>
          <p:cNvPr id="19" name="Shape 17"/>
          <p:cNvSpPr/>
          <p:nvPr/>
        </p:nvSpPr>
        <p:spPr>
          <a:xfrm>
            <a:off x="6601968" y="4137660"/>
            <a:ext cx="329184" cy="0"/>
          </a:xfrm>
          <a:prstGeom prst="line">
            <a:avLst/>
          </a:prstGeom>
          <a:noFill/>
          <a:ln w="25400">
            <a:solidFill>
              <a:srgbClr val="171A21"/>
            </a:solidFill>
            <a:prstDash val="solid"/>
            <a:tailEnd type="triangle"/>
          </a:ln>
        </p:spPr>
      </p:sp>
      <p:sp>
        <p:nvSpPr>
          <p:cNvPr id="20" name="Shape 18"/>
          <p:cNvSpPr/>
          <p:nvPr/>
        </p:nvSpPr>
        <p:spPr>
          <a:xfrm>
            <a:off x="6949440" y="3429000"/>
            <a:ext cx="1920240" cy="1417320"/>
          </a:xfrm>
          <a:prstGeom prst="roundRect">
            <a:avLst>
              <a:gd name="adj" fmla="val 6452"/>
            </a:avLst>
          </a:prstGeom>
          <a:solidFill>
            <a:srgbClr val="FFFFFF"/>
          </a:solidFill>
          <a:ln w="12700">
            <a:solidFill>
              <a:srgbClr val="FFFFFF"/>
            </a:solidFill>
            <a:prstDash val="solid"/>
          </a:ln>
          <a:effectLst>
            <a:outerShdw blurRad="101600" dist="25400" dir="5400000" algn="bl" rotWithShape="0">
              <a:srgbClr val="000000">
                <a:alpha val="12000"/>
              </a:srgbClr>
            </a:outerShdw>
          </a:effectLst>
        </p:spPr>
      </p:sp>
      <p:sp>
        <p:nvSpPr>
          <p:cNvPr id="21" name="Text 19"/>
          <p:cNvSpPr txBox="1"/>
          <p:nvPr/>
        </p:nvSpPr>
        <p:spPr>
          <a:xfrm>
            <a:off x="6949440" y="3429000"/>
            <a:ext cx="1920240" cy="1417320"/>
          </a:xfrm>
          <a:prstGeom prst="rect">
            <a:avLst/>
          </a:prstGeom>
          <a:noFill/>
          <a:ln/>
        </p:spPr>
        <p:txBody>
          <a:bodyPr wrap="square" lIns="114300" tIns="114300" rIns="114300" bIns="114300" rtlCol="0" anchor="ctr"/>
          <a:lstStyle/>
          <a:p>
            <a:pPr marL="0" indent="0" algn="l">
              <a:spcAft>
                <a:spcPts val="300"/>
              </a:spcAft>
              <a:buNone/>
            </a:pPr>
            <a:r>
              <a:rPr lang="en-US" sz="1500" b="1" dirty="0">
                <a:solidFill>
                  <a:srgbClr val="171A21"/>
                </a:solidFill>
                <a:latin typeface="Calibri" pitchFamily="34" charset="0"/>
                <a:ea typeface="Calibri" pitchFamily="34" charset="-122"/>
                <a:cs typeface="Calibri" pitchFamily="34" charset="-120"/>
              </a:rPr>
              <a:t>Nearest match</a:t>
            </a:r>
            <a:endParaRPr lang="en-US" sz="1500" dirty="0"/>
          </a:p>
          <a:p>
            <a:pPr marL="0" indent="0" algn="l">
              <a:spcAft>
                <a:spcPts val="300"/>
              </a:spcAft>
              <a:buNone/>
            </a:pPr>
            <a:r>
              <a:rPr lang="en-US" sz="1200" dirty="0">
                <a:solidFill>
                  <a:srgbClr val="6B7280"/>
                </a:solidFill>
                <a:latin typeface="Calibri" pitchFamily="34" charset="0"/>
                <a:ea typeface="Calibri" pitchFamily="34" charset="-122"/>
                <a:cs typeface="Calibri" pitchFamily="34" charset="-120"/>
              </a:rPr>
              <a:t>Cosine similarity inside Qdrant</a:t>
            </a:r>
            <a:endParaRPr lang="en-US" sz="1500" dirty="0"/>
          </a:p>
        </p:txBody>
      </p:sp>
      <p:sp>
        <p:nvSpPr>
          <p:cNvPr id="22" name="Shape 20"/>
          <p:cNvSpPr/>
          <p:nvPr/>
        </p:nvSpPr>
        <p:spPr>
          <a:xfrm>
            <a:off x="8887968" y="4137660"/>
            <a:ext cx="329184" cy="0"/>
          </a:xfrm>
          <a:prstGeom prst="line">
            <a:avLst/>
          </a:prstGeom>
          <a:noFill/>
          <a:ln w="25400">
            <a:solidFill>
              <a:srgbClr val="171A21"/>
            </a:solidFill>
            <a:prstDash val="solid"/>
            <a:tailEnd type="triangle"/>
          </a:ln>
        </p:spPr>
      </p:sp>
      <p:sp>
        <p:nvSpPr>
          <p:cNvPr id="23" name="Shape 21"/>
          <p:cNvSpPr/>
          <p:nvPr/>
        </p:nvSpPr>
        <p:spPr>
          <a:xfrm>
            <a:off x="9235440" y="3429000"/>
            <a:ext cx="1920240" cy="1417320"/>
          </a:xfrm>
          <a:prstGeom prst="roundRect">
            <a:avLst>
              <a:gd name="adj" fmla="val 6452"/>
            </a:avLst>
          </a:prstGeom>
          <a:solidFill>
            <a:srgbClr val="171A21"/>
          </a:solidFill>
          <a:ln w="12700">
            <a:solidFill>
              <a:srgbClr val="171A21"/>
            </a:solidFill>
            <a:prstDash val="solid"/>
          </a:ln>
          <a:effectLst>
            <a:outerShdw blurRad="101600" dist="25400" dir="5400000" algn="bl" rotWithShape="0">
              <a:srgbClr val="000000">
                <a:alpha val="12000"/>
              </a:srgbClr>
            </a:outerShdw>
          </a:effectLst>
        </p:spPr>
      </p:sp>
      <p:sp>
        <p:nvSpPr>
          <p:cNvPr id="24" name="Text 22"/>
          <p:cNvSpPr txBox="1"/>
          <p:nvPr/>
        </p:nvSpPr>
        <p:spPr>
          <a:xfrm>
            <a:off x="9235440" y="3429000"/>
            <a:ext cx="1920240" cy="1417320"/>
          </a:xfrm>
          <a:prstGeom prst="rect">
            <a:avLst/>
          </a:prstGeom>
          <a:noFill/>
          <a:ln/>
        </p:spPr>
        <p:txBody>
          <a:bodyPr wrap="square" lIns="114300" tIns="114300" rIns="114300" bIns="114300" rtlCol="0" anchor="ctr"/>
          <a:lstStyle/>
          <a:p>
            <a:pPr marL="0" indent="0" algn="l">
              <a:spcAft>
                <a:spcPts val="300"/>
              </a:spcAft>
              <a:buNone/>
            </a:pPr>
            <a:r>
              <a:rPr lang="en-US" sz="1500" b="1" dirty="0">
                <a:solidFill>
                  <a:srgbClr val="F5A524"/>
                </a:solidFill>
                <a:latin typeface="Calibri" pitchFamily="34" charset="0"/>
                <a:ea typeface="Calibri" pitchFamily="34" charset="-122"/>
                <a:cs typeface="Calibri" pitchFamily="34" charset="-120"/>
              </a:rPr>
              <a:t>Top-5 chunks</a:t>
            </a:r>
            <a:endParaRPr lang="en-US" sz="1500" dirty="0"/>
          </a:p>
          <a:p>
            <a:pPr marL="0" indent="0" algn="l">
              <a:spcAft>
                <a:spcPts val="300"/>
              </a:spcAft>
              <a:buNone/>
            </a:pPr>
            <a:r>
              <a:rPr lang="en-US" sz="1200" dirty="0">
                <a:solidFill>
                  <a:srgbClr val="D5D9E0"/>
                </a:solidFill>
                <a:latin typeface="Calibri" pitchFamily="34" charset="0"/>
                <a:ea typeface="Calibri" pitchFamily="34" charset="-122"/>
                <a:cs typeface="Calibri" pitchFamily="34" charset="-120"/>
              </a:rPr>
              <a:t>Each returned with a similarity score</a:t>
            </a:r>
            <a:endParaRPr lang="en-US" sz="1500" dirty="0"/>
          </a:p>
        </p:txBody>
      </p:sp>
      <p:sp>
        <p:nvSpPr>
          <p:cNvPr id="25" name="Shape 23"/>
          <p:cNvSpPr/>
          <p:nvPr/>
        </p:nvSpPr>
        <p:spPr>
          <a:xfrm>
            <a:off x="548640" y="5166360"/>
            <a:ext cx="11064240" cy="1051560"/>
          </a:xfrm>
          <a:prstGeom prst="roundRect">
            <a:avLst>
              <a:gd name="adj" fmla="val 10435"/>
            </a:avLst>
          </a:prstGeom>
          <a:solidFill>
            <a:srgbClr val="171A21"/>
          </a:solidFill>
          <a:ln w="12700">
            <a:solidFill>
              <a:srgbClr val="171A21"/>
            </a:solidFill>
            <a:prstDash val="solid"/>
          </a:ln>
        </p:spPr>
      </p:sp>
      <p:sp>
        <p:nvSpPr>
          <p:cNvPr id="26" name="Text 24"/>
          <p:cNvSpPr txBox="1"/>
          <p:nvPr/>
        </p:nvSpPr>
        <p:spPr>
          <a:xfrm>
            <a:off x="822960" y="5166360"/>
            <a:ext cx="10515600" cy="1051560"/>
          </a:xfrm>
          <a:prstGeom prst="rect">
            <a:avLst/>
          </a:prstGeom>
          <a:noFill/>
          <a:ln/>
        </p:spPr>
        <p:txBody>
          <a:bodyPr wrap="square" lIns="0" tIns="0" rIns="0" bIns="0" rtlCol="0" anchor="ctr"/>
          <a:lstStyle/>
          <a:p>
            <a:pPr marL="0" indent="0">
              <a:buNone/>
            </a:pPr>
            <a:r>
              <a:rPr lang="en-US" sz="1500" b="1" dirty="0">
                <a:solidFill>
                  <a:srgbClr val="F5A524"/>
                </a:solidFill>
                <a:latin typeface="Calibri" pitchFamily="34" charset="0"/>
                <a:ea typeface="Calibri" pitchFamily="34" charset="-122"/>
                <a:cs typeface="Calibri" pitchFamily="34" charset="-120"/>
              </a:rPr>
              <a:t>Think of it as a map</a:t>
            </a:r>
            <a:endParaRPr lang="en-US" sz="1500" dirty="0"/>
          </a:p>
          <a:p>
            <a:pPr marL="0" indent="0">
              <a:buNone/>
            </a:pPr>
            <a:r>
              <a:rPr lang="en-US" sz="1400" dirty="0">
                <a:solidFill>
                  <a:srgbClr val="FFFFFF"/>
                </a:solidFill>
                <a:latin typeface="Calibri" pitchFamily="34" charset="0"/>
                <a:ea typeface="Calibri" pitchFamily="34" charset="-122"/>
                <a:cs typeface="Calibri" pitchFamily="34" charset="-120"/>
              </a:rPr>
              <a:t>Text with similar meaning lands at nearby points. "health check endpoint" lands close to code that does health checks, even when the words differ. A higher score means a closer match.</a:t>
            </a:r>
            <a:endParaRPr lang="en-US" sz="1500" dirty="0"/>
          </a:p>
        </p:txBody>
      </p:sp>
      <p:sp>
        <p:nvSpPr>
          <p:cNvPr id="27" name="Text 25"/>
          <p:cNvSpPr txBox="1"/>
          <p:nvPr/>
        </p:nvSpPr>
        <p:spPr>
          <a:xfrm>
            <a:off x="548640" y="6446520"/>
            <a:ext cx="5486400" cy="274320"/>
          </a:xfrm>
          <a:prstGeom prst="rect">
            <a:avLst/>
          </a:prstGeom>
          <a:noFill/>
          <a:ln/>
        </p:spPr>
        <p:txBody>
          <a:bodyPr wrap="square" lIns="0" tIns="0" rIns="0" bIns="0" rtlCol="0" anchor="ctr"/>
          <a:lstStyle/>
          <a:p>
            <a:pPr marL="0" indent="0">
              <a:buNone/>
            </a:pPr>
            <a:r>
              <a:rPr lang="en-US" sz="1000" dirty="0">
                <a:solidFill>
                  <a:srgbClr val="6B7280"/>
                </a:solidFill>
                <a:latin typeface="Calibri" pitchFamily="34" charset="0"/>
                <a:ea typeface="Calibri" pitchFamily="34" charset="-122"/>
                <a:cs typeface="Calibri" pitchFamily="34" charset="-120"/>
              </a:rPr>
              <a:t>KAVACH  |  Project Review</a:t>
            </a:r>
            <a:endParaRPr lang="en-US" sz="1000" dirty="0"/>
          </a:p>
        </p:txBody>
      </p:sp>
      <p:sp>
        <p:nvSpPr>
          <p:cNvPr id="28" name="Slide Number Placeholder 0"/>
          <p:cNvSpPr>
            <a:spLocks noGrp="1"/>
          </p:cNvSpPr>
          <p:nvPr>
            <p:ph type="sldNum" sz="quarter" idx="4294967295"/>
          </p:nvPr>
        </p:nvSpPr>
        <p:spPr>
          <a:xfrm>
            <a:off x="11064240" y="644652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6B7280"/>
                </a:solidFill>
                <a:latin typeface="Calibri"/>
                <a:ea typeface="Calibri"/>
                <a:cs typeface="Calibri"/>
              </a:defRPr>
            </a:lvl1pPr>
          </a:lstStyle>
          <a:p>
            <a:pPr algn="r"/>
            <a:fld id="{F7021451-1387-4CA6-816F-3879F97B5CBC}" type="slidenum">
              <a:rPr lang="en-US" b="0"/>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3F4F6"/>
        </a:solidFill>
        <a:effectLst/>
      </p:bgPr>
    </p:bg>
    <p:spTree>
      <p:nvGrpSpPr>
        <p:cNvPr id="1" name=""/>
        <p:cNvGrpSpPr/>
        <p:nvPr/>
      </p:nvGrpSpPr>
      <p:grpSpPr>
        <a:xfrm>
          <a:off x="0" y="0"/>
          <a:ext cx="0" cy="0"/>
          <a:chOff x="0" y="0"/>
          <a:chExt cx="0" cy="0"/>
        </a:xfrm>
      </p:grpSpPr>
      <p:sp>
        <p:nvSpPr>
          <p:cNvPr id="2" name="Text 0"/>
          <p:cNvSpPr txBox="1"/>
          <p:nvPr/>
        </p:nvSpPr>
        <p:spPr>
          <a:xfrm>
            <a:off x="548640" y="320040"/>
            <a:ext cx="11064240" cy="731520"/>
          </a:xfrm>
          <a:prstGeom prst="rect">
            <a:avLst/>
          </a:prstGeom>
          <a:noFill/>
          <a:ln/>
        </p:spPr>
        <p:txBody>
          <a:bodyPr wrap="square" lIns="0" tIns="0" rIns="0" bIns="0" rtlCol="0" anchor="ctr"/>
          <a:lstStyle/>
          <a:p>
            <a:pPr marL="0" indent="0">
              <a:buNone/>
            </a:pPr>
            <a:r>
              <a:rPr lang="en-US" sz="3200" b="1" dirty="0">
                <a:solidFill>
                  <a:srgbClr val="171A21"/>
                </a:solidFill>
                <a:latin typeface="Cambria" pitchFamily="34" charset="0"/>
                <a:ea typeface="Cambria" pitchFamily="34" charset="-122"/>
                <a:cs typeface="Cambria" pitchFamily="34" charset="-120"/>
              </a:rPr>
              <a:t>Under the hood: RAG in one picture</a:t>
            </a:r>
            <a:endParaRPr lang="en-US" sz="3200" dirty="0"/>
          </a:p>
        </p:txBody>
      </p:sp>
      <p:sp>
        <p:nvSpPr>
          <p:cNvPr id="3" name="Text 1"/>
          <p:cNvSpPr txBox="1"/>
          <p:nvPr/>
        </p:nvSpPr>
        <p:spPr>
          <a:xfrm>
            <a:off x="548640" y="1005840"/>
            <a:ext cx="11064240" cy="365760"/>
          </a:xfrm>
          <a:prstGeom prst="rect">
            <a:avLst/>
          </a:prstGeom>
          <a:noFill/>
          <a:ln/>
        </p:spPr>
        <p:txBody>
          <a:bodyPr wrap="square" lIns="0" tIns="0" rIns="0" bIns="0" rtlCol="0" anchor="ctr"/>
          <a:lstStyle/>
          <a:p>
            <a:pPr marL="0" indent="0">
              <a:buNone/>
            </a:pPr>
            <a:r>
              <a:rPr lang="en-US" sz="1600" dirty="0">
                <a:solidFill>
                  <a:srgbClr val="6B7280"/>
                </a:solidFill>
                <a:latin typeface="Calibri" pitchFamily="34" charset="0"/>
                <a:ea typeface="Calibri" pitchFamily="34" charset="-122"/>
                <a:cs typeface="Calibri" pitchFamily="34" charset="-120"/>
              </a:rPr>
              <a:t>Phases 1 and 3: retrieve, augment, generate, validate</a:t>
            </a:r>
            <a:endParaRPr lang="en-US" sz="1600" dirty="0"/>
          </a:p>
        </p:txBody>
      </p:sp>
      <p:sp>
        <p:nvSpPr>
          <p:cNvPr id="4" name="Shape 2"/>
          <p:cNvSpPr/>
          <p:nvPr/>
        </p:nvSpPr>
        <p:spPr>
          <a:xfrm>
            <a:off x="548640" y="1600200"/>
            <a:ext cx="2514600" cy="1417320"/>
          </a:xfrm>
          <a:prstGeom prst="roundRect">
            <a:avLst>
              <a:gd name="adj" fmla="val 6452"/>
            </a:avLst>
          </a:prstGeom>
          <a:solidFill>
            <a:srgbClr val="171A21"/>
          </a:solidFill>
          <a:ln w="12700">
            <a:solidFill>
              <a:srgbClr val="171A21"/>
            </a:solidFill>
            <a:prstDash val="solid"/>
          </a:ln>
          <a:effectLst>
            <a:outerShdw blurRad="101600" dist="25400" dir="5400000" algn="bl" rotWithShape="0">
              <a:srgbClr val="000000">
                <a:alpha val="12000"/>
              </a:srgbClr>
            </a:outerShdw>
          </a:effectLst>
        </p:spPr>
      </p:sp>
      <p:sp>
        <p:nvSpPr>
          <p:cNvPr id="5" name="Text 3"/>
          <p:cNvSpPr txBox="1"/>
          <p:nvPr/>
        </p:nvSpPr>
        <p:spPr>
          <a:xfrm>
            <a:off x="548640" y="1600200"/>
            <a:ext cx="2514600" cy="1417320"/>
          </a:xfrm>
          <a:prstGeom prst="rect">
            <a:avLst/>
          </a:prstGeom>
          <a:noFill/>
          <a:ln/>
        </p:spPr>
        <p:txBody>
          <a:bodyPr wrap="square" lIns="114300" tIns="114300" rIns="114300" bIns="114300" rtlCol="0" anchor="t"/>
          <a:lstStyle/>
          <a:p>
            <a:pPr marL="0" indent="0" algn="l">
              <a:spcAft>
                <a:spcPts val="300"/>
              </a:spcAft>
              <a:buNone/>
            </a:pPr>
            <a:r>
              <a:rPr lang="en-US" sz="1100" b="1" dirty="0">
                <a:solidFill>
                  <a:srgbClr val="F5A524"/>
                </a:solidFill>
                <a:latin typeface="Calibri" pitchFamily="34" charset="0"/>
                <a:ea typeface="Calibri" pitchFamily="34" charset="-122"/>
                <a:cs typeface="Calibri" pitchFamily="34" charset="-120"/>
              </a:rPr>
              <a:t>RETRIEVE</a:t>
            </a:r>
            <a:endParaRPr lang="en-US" sz="1100" dirty="0"/>
          </a:p>
          <a:p>
            <a:pPr marL="0" indent="0" algn="l">
              <a:spcAft>
                <a:spcPts val="300"/>
              </a:spcAft>
              <a:buNone/>
            </a:pPr>
            <a:r>
              <a:rPr lang="en-US" sz="1600" b="1" dirty="0">
                <a:solidFill>
                  <a:srgbClr val="FFFFFF"/>
                </a:solidFill>
                <a:latin typeface="Calibri" pitchFamily="34" charset="0"/>
                <a:ea typeface="Calibri" pitchFamily="34" charset="-122"/>
                <a:cs typeface="Calibri" pitchFamily="34" charset="-120"/>
              </a:rPr>
              <a:t>Find the evidence</a:t>
            </a:r>
            <a:endParaRPr lang="en-US" sz="1100" dirty="0"/>
          </a:p>
          <a:p>
            <a:pPr marL="0" indent="0" algn="l">
              <a:spcAft>
                <a:spcPts val="300"/>
              </a:spcAft>
              <a:buNone/>
            </a:pPr>
            <a:r>
              <a:rPr lang="en-US" sz="1300" dirty="0">
                <a:solidFill>
                  <a:srgbClr val="D5D9E0"/>
                </a:solidFill>
                <a:latin typeface="Calibri" pitchFamily="34" charset="0"/>
                <a:ea typeface="Calibri" pitchFamily="34" charset="-122"/>
                <a:cs typeface="Calibri" pitchFamily="34" charset="-120"/>
              </a:rPr>
              <a:t>Top-5 chunks from Qdrant</a:t>
            </a:r>
            <a:endParaRPr lang="en-US" sz="1100" dirty="0"/>
          </a:p>
        </p:txBody>
      </p:sp>
      <p:sp>
        <p:nvSpPr>
          <p:cNvPr id="6" name="Shape 4"/>
          <p:cNvSpPr/>
          <p:nvPr/>
        </p:nvSpPr>
        <p:spPr>
          <a:xfrm>
            <a:off x="3081528" y="2308860"/>
            <a:ext cx="301752" cy="0"/>
          </a:xfrm>
          <a:prstGeom prst="line">
            <a:avLst/>
          </a:prstGeom>
          <a:noFill/>
          <a:ln w="25400">
            <a:solidFill>
              <a:srgbClr val="171A21"/>
            </a:solidFill>
            <a:prstDash val="solid"/>
            <a:tailEnd type="triangle"/>
          </a:ln>
        </p:spPr>
      </p:sp>
      <p:sp>
        <p:nvSpPr>
          <p:cNvPr id="7" name="Shape 5"/>
          <p:cNvSpPr/>
          <p:nvPr/>
        </p:nvSpPr>
        <p:spPr>
          <a:xfrm>
            <a:off x="3401568" y="1600200"/>
            <a:ext cx="2514600" cy="1417320"/>
          </a:xfrm>
          <a:prstGeom prst="roundRect">
            <a:avLst>
              <a:gd name="adj" fmla="val 6452"/>
            </a:avLst>
          </a:prstGeom>
          <a:solidFill>
            <a:srgbClr val="FFFFFF"/>
          </a:solidFill>
          <a:ln w="12700">
            <a:solidFill>
              <a:srgbClr val="FFFFFF"/>
            </a:solidFill>
            <a:prstDash val="solid"/>
          </a:ln>
          <a:effectLst>
            <a:outerShdw blurRad="101600" dist="25400" dir="5400000" algn="bl" rotWithShape="0">
              <a:srgbClr val="000000">
                <a:alpha val="12000"/>
              </a:srgbClr>
            </a:outerShdw>
          </a:effectLst>
        </p:spPr>
      </p:sp>
      <p:sp>
        <p:nvSpPr>
          <p:cNvPr id="8" name="Text 6"/>
          <p:cNvSpPr txBox="1"/>
          <p:nvPr/>
        </p:nvSpPr>
        <p:spPr>
          <a:xfrm>
            <a:off x="3401568" y="1600200"/>
            <a:ext cx="2514600" cy="1417320"/>
          </a:xfrm>
          <a:prstGeom prst="rect">
            <a:avLst/>
          </a:prstGeom>
          <a:noFill/>
          <a:ln/>
        </p:spPr>
        <p:txBody>
          <a:bodyPr wrap="square" lIns="114300" tIns="114300" rIns="114300" bIns="114300" rtlCol="0" anchor="t"/>
          <a:lstStyle/>
          <a:p>
            <a:pPr marL="0" indent="0" algn="l">
              <a:spcAft>
                <a:spcPts val="300"/>
              </a:spcAft>
              <a:buNone/>
            </a:pPr>
            <a:r>
              <a:rPr lang="en-US" sz="1100" b="1" dirty="0">
                <a:solidFill>
                  <a:srgbClr val="0F766E"/>
                </a:solidFill>
                <a:latin typeface="Calibri" pitchFamily="34" charset="0"/>
                <a:ea typeface="Calibri" pitchFamily="34" charset="-122"/>
                <a:cs typeface="Calibri" pitchFamily="34" charset="-120"/>
              </a:rPr>
              <a:t>AUGMENT</a:t>
            </a:r>
            <a:endParaRPr lang="en-US" sz="1100" dirty="0"/>
          </a:p>
          <a:p>
            <a:pPr marL="0" indent="0" algn="l">
              <a:spcAft>
                <a:spcPts val="300"/>
              </a:spcAft>
              <a:buNone/>
            </a:pPr>
            <a:r>
              <a:rPr lang="en-US" sz="1600" b="1" dirty="0">
                <a:solidFill>
                  <a:srgbClr val="171A21"/>
                </a:solidFill>
                <a:latin typeface="Calibri" pitchFamily="34" charset="0"/>
                <a:ea typeface="Calibri" pitchFamily="34" charset="-122"/>
                <a:cs typeface="Calibri" pitchFamily="34" charset="-120"/>
              </a:rPr>
              <a:t>Build the prompt</a:t>
            </a:r>
            <a:endParaRPr lang="en-US" sz="1100" dirty="0"/>
          </a:p>
          <a:p>
            <a:pPr marL="0" indent="0" algn="l">
              <a:spcAft>
                <a:spcPts val="300"/>
              </a:spcAft>
              <a:buNone/>
            </a:pPr>
            <a:r>
              <a:rPr lang="en-US" sz="1300" dirty="0">
                <a:solidFill>
                  <a:srgbClr val="6B7280"/>
                </a:solidFill>
                <a:latin typeface="Calibri" pitchFamily="34" charset="0"/>
                <a:ea typeface="Calibri" pitchFamily="34" charset="-122"/>
                <a:cs typeface="Calibri" pitchFamily="34" charset="-120"/>
              </a:rPr>
              <a:t>Rules + evidence + request become one text</a:t>
            </a:r>
            <a:endParaRPr lang="en-US" sz="1100" dirty="0"/>
          </a:p>
        </p:txBody>
      </p:sp>
      <p:sp>
        <p:nvSpPr>
          <p:cNvPr id="9" name="Shape 7"/>
          <p:cNvSpPr/>
          <p:nvPr/>
        </p:nvSpPr>
        <p:spPr>
          <a:xfrm>
            <a:off x="5934456" y="2308860"/>
            <a:ext cx="301752" cy="0"/>
          </a:xfrm>
          <a:prstGeom prst="line">
            <a:avLst/>
          </a:prstGeom>
          <a:noFill/>
          <a:ln w="25400">
            <a:solidFill>
              <a:srgbClr val="171A21"/>
            </a:solidFill>
            <a:prstDash val="solid"/>
            <a:tailEnd type="triangle"/>
          </a:ln>
        </p:spPr>
      </p:sp>
      <p:sp>
        <p:nvSpPr>
          <p:cNvPr id="10" name="Shape 8"/>
          <p:cNvSpPr/>
          <p:nvPr/>
        </p:nvSpPr>
        <p:spPr>
          <a:xfrm>
            <a:off x="6254496" y="1600200"/>
            <a:ext cx="2514600" cy="1417320"/>
          </a:xfrm>
          <a:prstGeom prst="roundRect">
            <a:avLst>
              <a:gd name="adj" fmla="val 6452"/>
            </a:avLst>
          </a:prstGeom>
          <a:solidFill>
            <a:srgbClr val="FFFFFF"/>
          </a:solidFill>
          <a:ln w="12700">
            <a:solidFill>
              <a:srgbClr val="FFFFFF"/>
            </a:solidFill>
            <a:prstDash val="solid"/>
          </a:ln>
          <a:effectLst>
            <a:outerShdw blurRad="101600" dist="25400" dir="5400000" algn="bl" rotWithShape="0">
              <a:srgbClr val="000000">
                <a:alpha val="12000"/>
              </a:srgbClr>
            </a:outerShdw>
          </a:effectLst>
        </p:spPr>
      </p:sp>
      <p:sp>
        <p:nvSpPr>
          <p:cNvPr id="11" name="Text 9"/>
          <p:cNvSpPr txBox="1"/>
          <p:nvPr/>
        </p:nvSpPr>
        <p:spPr>
          <a:xfrm>
            <a:off x="6254496" y="1600200"/>
            <a:ext cx="2514600" cy="1417320"/>
          </a:xfrm>
          <a:prstGeom prst="rect">
            <a:avLst/>
          </a:prstGeom>
          <a:noFill/>
          <a:ln/>
        </p:spPr>
        <p:txBody>
          <a:bodyPr wrap="square" lIns="114300" tIns="114300" rIns="114300" bIns="114300" rtlCol="0" anchor="t"/>
          <a:lstStyle/>
          <a:p>
            <a:pPr marL="0" indent="0" algn="l">
              <a:spcAft>
                <a:spcPts val="300"/>
              </a:spcAft>
              <a:buNone/>
            </a:pPr>
            <a:r>
              <a:rPr lang="en-US" sz="1100" b="1" dirty="0">
                <a:solidFill>
                  <a:srgbClr val="0F766E"/>
                </a:solidFill>
                <a:latin typeface="Calibri" pitchFamily="34" charset="0"/>
                <a:ea typeface="Calibri" pitchFamily="34" charset="-122"/>
                <a:cs typeface="Calibri" pitchFamily="34" charset="-120"/>
              </a:rPr>
              <a:t>GENERATE</a:t>
            </a:r>
            <a:endParaRPr lang="en-US" sz="1100" dirty="0"/>
          </a:p>
          <a:p>
            <a:pPr marL="0" indent="0" algn="l">
              <a:spcAft>
                <a:spcPts val="300"/>
              </a:spcAft>
              <a:buNone/>
            </a:pPr>
            <a:r>
              <a:rPr lang="en-US" sz="1600" b="1" dirty="0">
                <a:solidFill>
                  <a:srgbClr val="171A21"/>
                </a:solidFill>
                <a:latin typeface="Calibri" pitchFamily="34" charset="0"/>
                <a:ea typeface="Calibri" pitchFamily="34" charset="-122"/>
                <a:cs typeface="Calibri" pitchFamily="34" charset="-120"/>
              </a:rPr>
              <a:t>Ask Gemini</a:t>
            </a:r>
            <a:endParaRPr lang="en-US" sz="1100" dirty="0"/>
          </a:p>
          <a:p>
            <a:pPr marL="0" indent="0" algn="l">
              <a:spcAft>
                <a:spcPts val="300"/>
              </a:spcAft>
              <a:buNone/>
            </a:pPr>
            <a:r>
              <a:rPr lang="en-US" sz="1300" dirty="0">
                <a:solidFill>
                  <a:srgbClr val="6B7280"/>
                </a:solidFill>
                <a:latin typeface="Calibri" pitchFamily="34" charset="0"/>
                <a:ea typeface="Calibri" pitchFamily="34" charset="-122"/>
                <a:cs typeface="Calibri" pitchFamily="34" charset="-120"/>
              </a:rPr>
              <a:t>HTTPS call; API key read from .env</a:t>
            </a:r>
            <a:endParaRPr lang="en-US" sz="1100" dirty="0"/>
          </a:p>
        </p:txBody>
      </p:sp>
      <p:sp>
        <p:nvSpPr>
          <p:cNvPr id="12" name="Shape 10"/>
          <p:cNvSpPr/>
          <p:nvPr/>
        </p:nvSpPr>
        <p:spPr>
          <a:xfrm>
            <a:off x="8787384" y="2308860"/>
            <a:ext cx="301752" cy="0"/>
          </a:xfrm>
          <a:prstGeom prst="line">
            <a:avLst/>
          </a:prstGeom>
          <a:noFill/>
          <a:ln w="25400">
            <a:solidFill>
              <a:srgbClr val="171A21"/>
            </a:solidFill>
            <a:prstDash val="solid"/>
            <a:tailEnd type="triangle"/>
          </a:ln>
        </p:spPr>
      </p:sp>
      <p:sp>
        <p:nvSpPr>
          <p:cNvPr id="13" name="Shape 11"/>
          <p:cNvSpPr/>
          <p:nvPr/>
        </p:nvSpPr>
        <p:spPr>
          <a:xfrm>
            <a:off x="9107424" y="1600200"/>
            <a:ext cx="2514600" cy="1417320"/>
          </a:xfrm>
          <a:prstGeom prst="roundRect">
            <a:avLst>
              <a:gd name="adj" fmla="val 6452"/>
            </a:avLst>
          </a:prstGeom>
          <a:solidFill>
            <a:srgbClr val="171A21"/>
          </a:solidFill>
          <a:ln w="12700">
            <a:solidFill>
              <a:srgbClr val="171A21"/>
            </a:solidFill>
            <a:prstDash val="solid"/>
          </a:ln>
          <a:effectLst>
            <a:outerShdw blurRad="101600" dist="25400" dir="5400000" algn="bl" rotWithShape="0">
              <a:srgbClr val="000000">
                <a:alpha val="12000"/>
              </a:srgbClr>
            </a:outerShdw>
          </a:effectLst>
        </p:spPr>
      </p:sp>
      <p:sp>
        <p:nvSpPr>
          <p:cNvPr id="14" name="Text 12"/>
          <p:cNvSpPr txBox="1"/>
          <p:nvPr/>
        </p:nvSpPr>
        <p:spPr>
          <a:xfrm>
            <a:off x="9107424" y="1600200"/>
            <a:ext cx="2514600" cy="1417320"/>
          </a:xfrm>
          <a:prstGeom prst="rect">
            <a:avLst/>
          </a:prstGeom>
          <a:noFill/>
          <a:ln/>
        </p:spPr>
        <p:txBody>
          <a:bodyPr wrap="square" lIns="114300" tIns="114300" rIns="114300" bIns="114300" rtlCol="0" anchor="t"/>
          <a:lstStyle/>
          <a:p>
            <a:pPr marL="0" indent="0" algn="l">
              <a:spcAft>
                <a:spcPts val="300"/>
              </a:spcAft>
              <a:buNone/>
            </a:pPr>
            <a:r>
              <a:rPr lang="en-US" sz="1100" b="1" dirty="0">
                <a:solidFill>
                  <a:srgbClr val="F5A524"/>
                </a:solidFill>
                <a:latin typeface="Calibri" pitchFamily="34" charset="0"/>
                <a:ea typeface="Calibri" pitchFamily="34" charset="-122"/>
                <a:cs typeface="Calibri" pitchFamily="34" charset="-120"/>
              </a:rPr>
              <a:t>VALIDATE</a:t>
            </a:r>
            <a:endParaRPr lang="en-US" sz="1100" dirty="0"/>
          </a:p>
          <a:p>
            <a:pPr marL="0" indent="0" algn="l">
              <a:spcAft>
                <a:spcPts val="300"/>
              </a:spcAft>
              <a:buNone/>
            </a:pPr>
            <a:r>
              <a:rPr lang="en-US" sz="1600" b="1" dirty="0">
                <a:solidFill>
                  <a:srgbClr val="FFFFFF"/>
                </a:solidFill>
                <a:latin typeface="Calibri" pitchFamily="34" charset="0"/>
                <a:ea typeface="Calibri" pitchFamily="34" charset="-122"/>
                <a:cs typeface="Calibri" pitchFamily="34" charset="-120"/>
              </a:rPr>
              <a:t>Check the code</a:t>
            </a:r>
            <a:endParaRPr lang="en-US" sz="1100" dirty="0"/>
          </a:p>
          <a:p>
            <a:pPr marL="0" indent="0" algn="l">
              <a:spcAft>
                <a:spcPts val="300"/>
              </a:spcAft>
              <a:buNone/>
            </a:pPr>
            <a:r>
              <a:rPr lang="en-US" sz="1300" dirty="0">
                <a:solidFill>
                  <a:srgbClr val="D5D9E0"/>
                </a:solidFill>
                <a:latin typeface="Calibri" pitchFamily="34" charset="0"/>
                <a:ea typeface="Calibri" pitchFamily="34" charset="-122"/>
                <a:cs typeface="Calibri" pitchFamily="34" charset="-120"/>
              </a:rPr>
              <a:t>Extract the Python block, run compile()</a:t>
            </a:r>
            <a:endParaRPr lang="en-US" sz="1100" dirty="0"/>
          </a:p>
        </p:txBody>
      </p:sp>
      <p:sp>
        <p:nvSpPr>
          <p:cNvPr id="15" name="Text 13"/>
          <p:cNvSpPr txBox="1"/>
          <p:nvPr/>
        </p:nvSpPr>
        <p:spPr>
          <a:xfrm>
            <a:off x="548640" y="3291840"/>
            <a:ext cx="7315200" cy="320040"/>
          </a:xfrm>
          <a:prstGeom prst="rect">
            <a:avLst/>
          </a:prstGeom>
          <a:noFill/>
          <a:ln/>
        </p:spPr>
        <p:txBody>
          <a:bodyPr wrap="square" lIns="0" tIns="0" rIns="0" bIns="0" rtlCol="0" anchor="ctr"/>
          <a:lstStyle/>
          <a:p>
            <a:pPr marL="0" indent="0">
              <a:buNone/>
            </a:pPr>
            <a:r>
              <a:rPr lang="en-US" sz="1500" b="1" dirty="0">
                <a:solidFill>
                  <a:srgbClr val="171A21"/>
                </a:solidFill>
                <a:latin typeface="Calibri" pitchFamily="34" charset="0"/>
                <a:ea typeface="Calibri" pitchFamily="34" charset="-122"/>
                <a:cs typeface="Calibri" pitchFamily="34" charset="-120"/>
              </a:rPr>
              <a:t>Anatomy of the grounded prompt</a:t>
            </a:r>
            <a:endParaRPr lang="en-US" sz="1500" dirty="0"/>
          </a:p>
        </p:txBody>
      </p:sp>
      <p:sp>
        <p:nvSpPr>
          <p:cNvPr id="16" name="Shape 14"/>
          <p:cNvSpPr/>
          <p:nvPr/>
        </p:nvSpPr>
        <p:spPr>
          <a:xfrm>
            <a:off x="548640" y="3703320"/>
            <a:ext cx="3383280" cy="1783080"/>
          </a:xfrm>
          <a:prstGeom prst="roundRect">
            <a:avLst>
              <a:gd name="adj" fmla="val 6154"/>
            </a:avLst>
          </a:prstGeom>
          <a:solidFill>
            <a:srgbClr val="FFFFFF"/>
          </a:solidFill>
          <a:ln w="12700">
            <a:solidFill>
              <a:srgbClr val="FFFFFF"/>
            </a:solidFill>
            <a:prstDash val="solid"/>
          </a:ln>
          <a:effectLst>
            <a:outerShdw blurRad="101600" dist="25400" dir="5400000" algn="bl" rotWithShape="0">
              <a:srgbClr val="000000">
                <a:alpha val="12000"/>
              </a:srgbClr>
            </a:outerShdw>
          </a:effectLst>
        </p:spPr>
      </p:sp>
      <p:sp>
        <p:nvSpPr>
          <p:cNvPr id="17" name="Text 15"/>
          <p:cNvSpPr txBox="1"/>
          <p:nvPr/>
        </p:nvSpPr>
        <p:spPr>
          <a:xfrm>
            <a:off x="777240" y="3703320"/>
            <a:ext cx="2926080" cy="1783080"/>
          </a:xfrm>
          <a:prstGeom prst="rect">
            <a:avLst/>
          </a:prstGeom>
          <a:noFill/>
          <a:ln/>
        </p:spPr>
        <p:txBody>
          <a:bodyPr wrap="square" lIns="0" tIns="0" rIns="0" bIns="0" rtlCol="0" anchor="ctr"/>
          <a:lstStyle/>
          <a:p>
            <a:pPr marL="0" indent="0">
              <a:spcAft>
                <a:spcPts val="400"/>
              </a:spcAft>
              <a:buNone/>
            </a:pPr>
            <a:r>
              <a:rPr lang="en-US" sz="1600" b="1" dirty="0">
                <a:solidFill>
                  <a:srgbClr val="171A21"/>
                </a:solidFill>
                <a:latin typeface="Calibri" pitchFamily="34" charset="0"/>
                <a:ea typeface="Calibri" pitchFamily="34" charset="-122"/>
                <a:cs typeface="Calibri" pitchFamily="34" charset="-120"/>
              </a:rPr>
              <a:t>1  Rules</a:t>
            </a:r>
            <a:endParaRPr lang="en-US" sz="1600" dirty="0"/>
          </a:p>
          <a:p>
            <a:pPr marL="0" indent="0">
              <a:buNone/>
            </a:pPr>
            <a:r>
              <a:rPr lang="en-US" sz="1300" dirty="0">
                <a:solidFill>
                  <a:srgbClr val="6B7280"/>
                </a:solidFill>
                <a:latin typeface="Calibri" pitchFamily="34" charset="0"/>
                <a:ea typeface="Calibri" pitchFamily="34" charset="-122"/>
                <a:cs typeface="Calibri" pitchFamily="34" charset="-120"/>
              </a:rPr>
              <a:t>Use ONLY the evidence. Do not invent libraries or APIs. If the evidence is not enough, say so.</a:t>
            </a:r>
            <a:endParaRPr lang="en-US" sz="1600" dirty="0"/>
          </a:p>
        </p:txBody>
      </p:sp>
      <p:sp>
        <p:nvSpPr>
          <p:cNvPr id="18" name="Text 16"/>
          <p:cNvSpPr txBox="1"/>
          <p:nvPr/>
        </p:nvSpPr>
        <p:spPr>
          <a:xfrm>
            <a:off x="3931920" y="4206240"/>
            <a:ext cx="457200" cy="731520"/>
          </a:xfrm>
          <a:prstGeom prst="rect">
            <a:avLst/>
          </a:prstGeom>
          <a:noFill/>
          <a:ln/>
        </p:spPr>
        <p:txBody>
          <a:bodyPr wrap="square" lIns="0" tIns="0" rIns="0" bIns="0" rtlCol="0" anchor="ctr"/>
          <a:lstStyle/>
          <a:p>
            <a:pPr marL="0" indent="0" algn="ctr">
              <a:buNone/>
            </a:pPr>
            <a:r>
              <a:rPr lang="en-US" sz="3000" b="1" dirty="0">
                <a:solidFill>
                  <a:srgbClr val="F5A524"/>
                </a:solidFill>
                <a:latin typeface="Calibri" pitchFamily="34" charset="0"/>
                <a:ea typeface="Calibri" pitchFamily="34" charset="-122"/>
                <a:cs typeface="Calibri" pitchFamily="34" charset="-120"/>
              </a:rPr>
              <a:t>+</a:t>
            </a:r>
            <a:endParaRPr lang="en-US" sz="3000" dirty="0"/>
          </a:p>
        </p:txBody>
      </p:sp>
      <p:sp>
        <p:nvSpPr>
          <p:cNvPr id="19" name="Shape 17"/>
          <p:cNvSpPr/>
          <p:nvPr/>
        </p:nvSpPr>
        <p:spPr>
          <a:xfrm>
            <a:off x="4389120" y="3703320"/>
            <a:ext cx="3383280" cy="1783080"/>
          </a:xfrm>
          <a:prstGeom prst="roundRect">
            <a:avLst>
              <a:gd name="adj" fmla="val 6154"/>
            </a:avLst>
          </a:prstGeom>
          <a:solidFill>
            <a:srgbClr val="FFFFFF"/>
          </a:solidFill>
          <a:ln w="12700">
            <a:solidFill>
              <a:srgbClr val="FFFFFF"/>
            </a:solidFill>
            <a:prstDash val="solid"/>
          </a:ln>
          <a:effectLst>
            <a:outerShdw blurRad="101600" dist="25400" dir="5400000" algn="bl" rotWithShape="0">
              <a:srgbClr val="000000">
                <a:alpha val="12000"/>
              </a:srgbClr>
            </a:outerShdw>
          </a:effectLst>
        </p:spPr>
      </p:sp>
      <p:sp>
        <p:nvSpPr>
          <p:cNvPr id="20" name="Text 18"/>
          <p:cNvSpPr txBox="1"/>
          <p:nvPr/>
        </p:nvSpPr>
        <p:spPr>
          <a:xfrm>
            <a:off x="4617720" y="3703320"/>
            <a:ext cx="2926080" cy="1783080"/>
          </a:xfrm>
          <a:prstGeom prst="rect">
            <a:avLst/>
          </a:prstGeom>
          <a:noFill/>
          <a:ln/>
        </p:spPr>
        <p:txBody>
          <a:bodyPr wrap="square" lIns="0" tIns="0" rIns="0" bIns="0" rtlCol="0" anchor="ctr"/>
          <a:lstStyle/>
          <a:p>
            <a:pPr marL="0" indent="0">
              <a:spcAft>
                <a:spcPts val="400"/>
              </a:spcAft>
              <a:buNone/>
            </a:pPr>
            <a:r>
              <a:rPr lang="en-US" sz="1600" b="1" dirty="0">
                <a:solidFill>
                  <a:srgbClr val="171A21"/>
                </a:solidFill>
                <a:latin typeface="Calibri" pitchFamily="34" charset="0"/>
                <a:ea typeface="Calibri" pitchFamily="34" charset="-122"/>
                <a:cs typeface="Calibri" pitchFamily="34" charset="-120"/>
              </a:rPr>
              <a:t>2  Repository evidence</a:t>
            </a:r>
            <a:endParaRPr lang="en-US" sz="1600" dirty="0"/>
          </a:p>
          <a:p>
            <a:pPr marL="0" indent="0">
              <a:buNone/>
            </a:pPr>
            <a:r>
              <a:rPr lang="en-US" sz="1300" dirty="0">
                <a:solidFill>
                  <a:srgbClr val="6B7280"/>
                </a:solidFill>
                <a:latin typeface="Calibri" pitchFamily="34" charset="0"/>
                <a:ea typeface="Calibri" pitchFamily="34" charset="-122"/>
                <a:cs typeface="Calibri" pitchFamily="34" charset="-120"/>
              </a:rPr>
              <a:t>The top-5 retrieved chunks, each labelled with its file name.</a:t>
            </a:r>
            <a:endParaRPr lang="en-US" sz="1600" dirty="0"/>
          </a:p>
        </p:txBody>
      </p:sp>
      <p:sp>
        <p:nvSpPr>
          <p:cNvPr id="21" name="Text 19"/>
          <p:cNvSpPr txBox="1"/>
          <p:nvPr/>
        </p:nvSpPr>
        <p:spPr>
          <a:xfrm>
            <a:off x="7772400" y="4206240"/>
            <a:ext cx="457200" cy="731520"/>
          </a:xfrm>
          <a:prstGeom prst="rect">
            <a:avLst/>
          </a:prstGeom>
          <a:noFill/>
          <a:ln/>
        </p:spPr>
        <p:txBody>
          <a:bodyPr wrap="square" lIns="0" tIns="0" rIns="0" bIns="0" rtlCol="0" anchor="ctr"/>
          <a:lstStyle/>
          <a:p>
            <a:pPr marL="0" indent="0" algn="ctr">
              <a:buNone/>
            </a:pPr>
            <a:r>
              <a:rPr lang="en-US" sz="3000" b="1" dirty="0">
                <a:solidFill>
                  <a:srgbClr val="F5A524"/>
                </a:solidFill>
                <a:latin typeface="Calibri" pitchFamily="34" charset="0"/>
                <a:ea typeface="Calibri" pitchFamily="34" charset="-122"/>
                <a:cs typeface="Calibri" pitchFamily="34" charset="-120"/>
              </a:rPr>
              <a:t>+</a:t>
            </a:r>
            <a:endParaRPr lang="en-US" sz="3000" dirty="0"/>
          </a:p>
        </p:txBody>
      </p:sp>
      <p:sp>
        <p:nvSpPr>
          <p:cNvPr id="22" name="Shape 20"/>
          <p:cNvSpPr/>
          <p:nvPr/>
        </p:nvSpPr>
        <p:spPr>
          <a:xfrm>
            <a:off x="8229600" y="3703320"/>
            <a:ext cx="3383280" cy="1783080"/>
          </a:xfrm>
          <a:prstGeom prst="roundRect">
            <a:avLst>
              <a:gd name="adj" fmla="val 6154"/>
            </a:avLst>
          </a:prstGeom>
          <a:solidFill>
            <a:srgbClr val="FFFFFF"/>
          </a:solidFill>
          <a:ln w="12700">
            <a:solidFill>
              <a:srgbClr val="FFFFFF"/>
            </a:solidFill>
            <a:prstDash val="solid"/>
          </a:ln>
          <a:effectLst>
            <a:outerShdw blurRad="101600" dist="25400" dir="5400000" algn="bl" rotWithShape="0">
              <a:srgbClr val="000000">
                <a:alpha val="12000"/>
              </a:srgbClr>
            </a:outerShdw>
          </a:effectLst>
        </p:spPr>
      </p:sp>
      <p:sp>
        <p:nvSpPr>
          <p:cNvPr id="23" name="Text 21"/>
          <p:cNvSpPr txBox="1"/>
          <p:nvPr/>
        </p:nvSpPr>
        <p:spPr>
          <a:xfrm>
            <a:off x="8458200" y="3703320"/>
            <a:ext cx="2926080" cy="1783080"/>
          </a:xfrm>
          <a:prstGeom prst="rect">
            <a:avLst/>
          </a:prstGeom>
          <a:noFill/>
          <a:ln/>
        </p:spPr>
        <p:txBody>
          <a:bodyPr wrap="square" lIns="0" tIns="0" rIns="0" bIns="0" rtlCol="0" anchor="ctr"/>
          <a:lstStyle/>
          <a:p>
            <a:pPr marL="0" indent="0">
              <a:spcAft>
                <a:spcPts val="400"/>
              </a:spcAft>
              <a:buNone/>
            </a:pPr>
            <a:r>
              <a:rPr lang="en-US" sz="1600" b="1" dirty="0">
                <a:solidFill>
                  <a:srgbClr val="171A21"/>
                </a:solidFill>
                <a:latin typeface="Calibri" pitchFamily="34" charset="0"/>
                <a:ea typeface="Calibri" pitchFamily="34" charset="-122"/>
                <a:cs typeface="Calibri" pitchFamily="34" charset="-120"/>
              </a:rPr>
              <a:t>3  Developer request</a:t>
            </a:r>
            <a:endParaRPr lang="en-US" sz="1600" dirty="0"/>
          </a:p>
          <a:p>
            <a:pPr marL="0" indent="0">
              <a:buNone/>
            </a:pPr>
            <a:r>
              <a:rPr lang="en-US" sz="1300" dirty="0">
                <a:solidFill>
                  <a:srgbClr val="6B7280"/>
                </a:solidFill>
                <a:latin typeface="Calibri" pitchFamily="34" charset="0"/>
                <a:ea typeface="Calibri" pitchFamily="34" charset="-122"/>
                <a:cs typeface="Calibri" pitchFamily="34" charset="-120"/>
              </a:rPr>
              <a:t>The task itself, plus: add a one-line comment for any assumption made.</a:t>
            </a:r>
            <a:endParaRPr lang="en-US" sz="1600" dirty="0"/>
          </a:p>
        </p:txBody>
      </p:sp>
      <p:sp>
        <p:nvSpPr>
          <p:cNvPr id="24" name="Text 22"/>
          <p:cNvSpPr txBox="1"/>
          <p:nvPr/>
        </p:nvSpPr>
        <p:spPr>
          <a:xfrm>
            <a:off x="548640" y="5715000"/>
            <a:ext cx="11064240" cy="502920"/>
          </a:xfrm>
          <a:prstGeom prst="roundRect">
            <a:avLst>
              <a:gd name="adj" fmla="val 18182"/>
            </a:avLst>
          </a:prstGeom>
          <a:solidFill>
            <a:srgbClr val="F5A524"/>
          </a:solidFill>
          <a:ln/>
        </p:spPr>
        <p:txBody>
          <a:bodyPr wrap="square" lIns="76200" tIns="76200" rIns="76200" bIns="76200" rtlCol="0" anchor="ctr"/>
          <a:lstStyle/>
          <a:p>
            <a:pPr marL="0" indent="0" algn="ctr">
              <a:buNone/>
            </a:pPr>
            <a:r>
              <a:rPr lang="en-US" sz="1500" b="1" dirty="0">
                <a:solidFill>
                  <a:srgbClr val="171A21"/>
                </a:solidFill>
                <a:latin typeface="Calibri" pitchFamily="34" charset="0"/>
                <a:ea typeface="Calibri" pitchFamily="34" charset="-122"/>
                <a:cs typeface="Calibri" pitchFamily="34" charset="-120"/>
              </a:rPr>
              <a:t>Result: the model reuses code that really exists in the repository instead of guessing.</a:t>
            </a:r>
            <a:endParaRPr lang="en-US" sz="1500" dirty="0"/>
          </a:p>
        </p:txBody>
      </p:sp>
      <p:sp>
        <p:nvSpPr>
          <p:cNvPr id="25" name="Text 23"/>
          <p:cNvSpPr txBox="1"/>
          <p:nvPr/>
        </p:nvSpPr>
        <p:spPr>
          <a:xfrm>
            <a:off x="548640" y="6446520"/>
            <a:ext cx="5486400" cy="274320"/>
          </a:xfrm>
          <a:prstGeom prst="rect">
            <a:avLst/>
          </a:prstGeom>
          <a:noFill/>
          <a:ln/>
        </p:spPr>
        <p:txBody>
          <a:bodyPr wrap="square" lIns="0" tIns="0" rIns="0" bIns="0" rtlCol="0" anchor="ctr"/>
          <a:lstStyle/>
          <a:p>
            <a:pPr marL="0" indent="0">
              <a:buNone/>
            </a:pPr>
            <a:r>
              <a:rPr lang="en-US" sz="1000" dirty="0">
                <a:solidFill>
                  <a:srgbClr val="6B7280"/>
                </a:solidFill>
                <a:latin typeface="Calibri" pitchFamily="34" charset="0"/>
                <a:ea typeface="Calibri" pitchFamily="34" charset="-122"/>
                <a:cs typeface="Calibri" pitchFamily="34" charset="-120"/>
              </a:rPr>
              <a:t>KAVACH  |  Project Review</a:t>
            </a:r>
            <a:endParaRPr lang="en-US" sz="1000" dirty="0"/>
          </a:p>
        </p:txBody>
      </p:sp>
      <p:sp>
        <p:nvSpPr>
          <p:cNvPr id="26" name="Slide Number Placeholder 0"/>
          <p:cNvSpPr>
            <a:spLocks noGrp="1"/>
          </p:cNvSpPr>
          <p:nvPr>
            <p:ph type="sldNum" sz="quarter" idx="4294967295"/>
          </p:nvPr>
        </p:nvSpPr>
        <p:spPr>
          <a:xfrm>
            <a:off x="11064240" y="644652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6B7280"/>
                </a:solidFill>
                <a:latin typeface="Calibri"/>
                <a:ea typeface="Calibri"/>
                <a:cs typeface="Calibri"/>
              </a:defRPr>
            </a:lvl1pPr>
          </a:lstStyle>
          <a:p>
            <a:pPr algn="r"/>
            <a:fld id="{F7021451-1387-4CA6-816F-3879F97B5CBC}" type="slidenum">
              <a:rPr lang="en-US" b="0"/>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3F4F6"/>
        </a:solidFill>
        <a:effectLst/>
      </p:bgPr>
    </p:bg>
    <p:spTree>
      <p:nvGrpSpPr>
        <p:cNvPr id="1" name=""/>
        <p:cNvGrpSpPr/>
        <p:nvPr/>
      </p:nvGrpSpPr>
      <p:grpSpPr>
        <a:xfrm>
          <a:off x="0" y="0"/>
          <a:ext cx="0" cy="0"/>
          <a:chOff x="0" y="0"/>
          <a:chExt cx="0" cy="0"/>
        </a:xfrm>
      </p:grpSpPr>
      <p:sp>
        <p:nvSpPr>
          <p:cNvPr id="2" name="Text 0"/>
          <p:cNvSpPr txBox="1"/>
          <p:nvPr/>
        </p:nvSpPr>
        <p:spPr>
          <a:xfrm>
            <a:off x="548640" y="320040"/>
            <a:ext cx="11064240" cy="731520"/>
          </a:xfrm>
          <a:prstGeom prst="rect">
            <a:avLst/>
          </a:prstGeom>
          <a:noFill/>
          <a:ln/>
        </p:spPr>
        <p:txBody>
          <a:bodyPr wrap="square" lIns="0" tIns="0" rIns="0" bIns="0" rtlCol="0" anchor="ctr"/>
          <a:lstStyle/>
          <a:p>
            <a:pPr marL="0" indent="0">
              <a:buNone/>
            </a:pPr>
            <a:r>
              <a:rPr lang="en-US" sz="3200" b="1" dirty="0">
                <a:solidFill>
                  <a:srgbClr val="171A21"/>
                </a:solidFill>
                <a:latin typeface="Cambria" pitchFamily="34" charset="0"/>
                <a:ea typeface="Cambria" pitchFamily="34" charset="-122"/>
                <a:cs typeface="Cambria" pitchFamily="34" charset="-120"/>
              </a:rPr>
              <a:t>End to end: from request to result</a:t>
            </a:r>
            <a:endParaRPr lang="en-US" sz="3200" dirty="0"/>
          </a:p>
        </p:txBody>
      </p:sp>
      <p:sp>
        <p:nvSpPr>
          <p:cNvPr id="3" name="Text 1"/>
          <p:cNvSpPr txBox="1"/>
          <p:nvPr/>
        </p:nvSpPr>
        <p:spPr>
          <a:xfrm>
            <a:off x="548640" y="1005840"/>
            <a:ext cx="11064240" cy="365760"/>
          </a:xfrm>
          <a:prstGeom prst="rect">
            <a:avLst/>
          </a:prstGeom>
          <a:noFill/>
          <a:ln/>
        </p:spPr>
        <p:txBody>
          <a:bodyPr wrap="square" lIns="0" tIns="0" rIns="0" bIns="0" rtlCol="0" anchor="ctr"/>
          <a:lstStyle/>
          <a:p>
            <a:pPr marL="0" indent="0">
              <a:buNone/>
            </a:pPr>
            <a:r>
              <a:rPr lang="en-US" sz="1600" dirty="0">
                <a:solidFill>
                  <a:srgbClr val="6B7280"/>
                </a:solidFill>
                <a:latin typeface="Calibri" pitchFamily="34" charset="0"/>
                <a:ea typeface="Calibri" pitchFamily="34" charset="-122"/>
                <a:cs typeface="Calibri" pitchFamily="34" charset="-120"/>
              </a:rPr>
              <a:t>The code module behind every step (dark boxes are security gates)</a:t>
            </a:r>
            <a:endParaRPr lang="en-US" sz="1600" dirty="0"/>
          </a:p>
        </p:txBody>
      </p:sp>
      <p:sp>
        <p:nvSpPr>
          <p:cNvPr id="4" name="Shape 2"/>
          <p:cNvSpPr/>
          <p:nvPr/>
        </p:nvSpPr>
        <p:spPr>
          <a:xfrm>
            <a:off x="608076" y="1463040"/>
            <a:ext cx="1828800" cy="1691640"/>
          </a:xfrm>
          <a:prstGeom prst="roundRect">
            <a:avLst>
              <a:gd name="adj" fmla="val 5405"/>
            </a:avLst>
          </a:prstGeom>
          <a:solidFill>
            <a:srgbClr val="171A21"/>
          </a:solidFill>
          <a:ln w="12700">
            <a:solidFill>
              <a:srgbClr val="171A21"/>
            </a:solidFill>
            <a:prstDash val="solid"/>
          </a:ln>
          <a:effectLst>
            <a:outerShdw blurRad="101600" dist="25400" dir="5400000" algn="bl" rotWithShape="0">
              <a:srgbClr val="000000">
                <a:alpha val="12000"/>
              </a:srgbClr>
            </a:outerShdw>
          </a:effectLst>
        </p:spPr>
      </p:sp>
      <p:sp>
        <p:nvSpPr>
          <p:cNvPr id="5" name="Text 3"/>
          <p:cNvSpPr txBox="1"/>
          <p:nvPr/>
        </p:nvSpPr>
        <p:spPr>
          <a:xfrm>
            <a:off x="608076" y="1463040"/>
            <a:ext cx="1828800" cy="1691640"/>
          </a:xfrm>
          <a:prstGeom prst="rect">
            <a:avLst/>
          </a:prstGeom>
          <a:noFill/>
          <a:ln/>
        </p:spPr>
        <p:txBody>
          <a:bodyPr wrap="square" lIns="114300" tIns="114300" rIns="114300" bIns="114300" rtlCol="0" anchor="t"/>
          <a:lstStyle/>
          <a:p>
            <a:pPr marL="0" indent="0" algn="l">
              <a:spcAft>
                <a:spcPts val="300"/>
              </a:spcAft>
              <a:buNone/>
            </a:pPr>
            <a:r>
              <a:rPr lang="en-US" sz="1100" b="1" dirty="0">
                <a:solidFill>
                  <a:srgbClr val="F5A524"/>
                </a:solidFill>
                <a:latin typeface="Calibri" pitchFamily="34" charset="0"/>
                <a:ea typeface="Calibri" pitchFamily="34" charset="-122"/>
                <a:cs typeface="Calibri" pitchFamily="34" charset="-120"/>
              </a:rPr>
              <a:t>STEP 1</a:t>
            </a:r>
            <a:endParaRPr lang="en-US" sz="1100" dirty="0"/>
          </a:p>
          <a:p>
            <a:pPr marL="0" indent="0" algn="l">
              <a:spcAft>
                <a:spcPts val="300"/>
              </a:spcAft>
              <a:buNone/>
            </a:pPr>
            <a:r>
              <a:rPr lang="en-US" sz="1400" b="1" dirty="0">
                <a:solidFill>
                  <a:srgbClr val="FFFFFF"/>
                </a:solidFill>
                <a:latin typeface="Calibri" pitchFamily="34" charset="0"/>
                <a:ea typeface="Calibri" pitchFamily="34" charset="-122"/>
                <a:cs typeface="Calibri" pitchFamily="34" charset="-120"/>
              </a:rPr>
              <a:t>Request received</a:t>
            </a:r>
            <a:endParaRPr lang="en-US" sz="1100" dirty="0"/>
          </a:p>
          <a:p>
            <a:pPr marL="0" indent="0" algn="l">
              <a:spcAft>
                <a:spcPts val="300"/>
              </a:spcAft>
              <a:buNone/>
            </a:pPr>
            <a:r>
              <a:rPr lang="en-US" sz="1100" dirty="0">
                <a:solidFill>
                  <a:srgbClr val="D5D9E0"/>
                </a:solidFill>
                <a:latin typeface="Calibri" pitchFamily="34" charset="0"/>
                <a:ea typeface="Calibri" pitchFamily="34" charset="-122"/>
                <a:cs typeface="Calibri" pitchFamily="34" charset="-120"/>
              </a:rPr>
              <a:t>run_workflow() creates the run and an audit-safe redacted copy</a:t>
            </a:r>
            <a:endParaRPr lang="en-US" sz="1100" dirty="0"/>
          </a:p>
        </p:txBody>
      </p:sp>
      <p:sp>
        <p:nvSpPr>
          <p:cNvPr id="6" name="Shape 4"/>
          <p:cNvSpPr/>
          <p:nvPr/>
        </p:nvSpPr>
        <p:spPr>
          <a:xfrm>
            <a:off x="2455164" y="2308860"/>
            <a:ext cx="420624" cy="0"/>
          </a:xfrm>
          <a:prstGeom prst="line">
            <a:avLst/>
          </a:prstGeom>
          <a:noFill/>
          <a:ln w="25400">
            <a:solidFill>
              <a:srgbClr val="171A21"/>
            </a:solidFill>
            <a:prstDash val="solid"/>
            <a:tailEnd type="triangle"/>
          </a:ln>
        </p:spPr>
      </p:sp>
      <p:sp>
        <p:nvSpPr>
          <p:cNvPr id="7" name="Shape 5"/>
          <p:cNvSpPr/>
          <p:nvPr/>
        </p:nvSpPr>
        <p:spPr>
          <a:xfrm>
            <a:off x="2894076" y="1463040"/>
            <a:ext cx="1828800" cy="1691640"/>
          </a:xfrm>
          <a:prstGeom prst="roundRect">
            <a:avLst>
              <a:gd name="adj" fmla="val 5405"/>
            </a:avLst>
          </a:prstGeom>
          <a:solidFill>
            <a:srgbClr val="171A21"/>
          </a:solidFill>
          <a:ln w="12700">
            <a:solidFill>
              <a:srgbClr val="171A21"/>
            </a:solidFill>
            <a:prstDash val="solid"/>
          </a:ln>
          <a:effectLst>
            <a:outerShdw blurRad="101600" dist="25400" dir="5400000" algn="bl" rotWithShape="0">
              <a:srgbClr val="000000">
                <a:alpha val="12000"/>
              </a:srgbClr>
            </a:outerShdw>
          </a:effectLst>
        </p:spPr>
      </p:sp>
      <p:sp>
        <p:nvSpPr>
          <p:cNvPr id="8" name="Text 6"/>
          <p:cNvSpPr txBox="1"/>
          <p:nvPr/>
        </p:nvSpPr>
        <p:spPr>
          <a:xfrm>
            <a:off x="2894076" y="1463040"/>
            <a:ext cx="1828800" cy="1691640"/>
          </a:xfrm>
          <a:prstGeom prst="rect">
            <a:avLst/>
          </a:prstGeom>
          <a:noFill/>
          <a:ln/>
        </p:spPr>
        <p:txBody>
          <a:bodyPr wrap="square" lIns="114300" tIns="114300" rIns="114300" bIns="114300" rtlCol="0" anchor="t"/>
          <a:lstStyle/>
          <a:p>
            <a:pPr marL="0" indent="0" algn="l">
              <a:spcAft>
                <a:spcPts val="300"/>
              </a:spcAft>
              <a:buNone/>
            </a:pPr>
            <a:r>
              <a:rPr lang="en-US" sz="1100" b="1" dirty="0">
                <a:solidFill>
                  <a:srgbClr val="F5A524"/>
                </a:solidFill>
                <a:latin typeface="Calibri" pitchFamily="34" charset="0"/>
                <a:ea typeface="Calibri" pitchFamily="34" charset="-122"/>
                <a:cs typeface="Calibri" pitchFamily="34" charset="-120"/>
              </a:rPr>
              <a:t>STEP 2</a:t>
            </a:r>
            <a:endParaRPr lang="en-US" sz="1100" dirty="0"/>
          </a:p>
          <a:p>
            <a:pPr marL="0" indent="0" algn="l">
              <a:spcAft>
                <a:spcPts val="300"/>
              </a:spcAft>
              <a:buNone/>
            </a:pPr>
            <a:r>
              <a:rPr lang="en-US" sz="1400" b="1" dirty="0">
                <a:solidFill>
                  <a:srgbClr val="F5A524"/>
                </a:solidFill>
                <a:latin typeface="Calibri" pitchFamily="34" charset="0"/>
                <a:ea typeface="Calibri" pitchFamily="34" charset="-122"/>
                <a:cs typeface="Calibri" pitchFamily="34" charset="-120"/>
              </a:rPr>
              <a:t>Security check on request</a:t>
            </a:r>
            <a:endParaRPr lang="en-US" sz="1100" dirty="0"/>
          </a:p>
          <a:p>
            <a:pPr marL="0" indent="0" algn="l">
              <a:spcAft>
                <a:spcPts val="300"/>
              </a:spcAft>
              <a:buNone/>
            </a:pPr>
            <a:r>
              <a:rPr lang="en-US" sz="1100" dirty="0">
                <a:solidFill>
                  <a:srgbClr val="D5D9E0"/>
                </a:solidFill>
                <a:latin typeface="Calibri" pitchFamily="34" charset="0"/>
                <a:ea typeface="Calibri" pitchFamily="34" charset="-122"/>
                <a:cs typeface="Calibri" pitchFamily="34" charset="-120"/>
              </a:rPr>
              <a:t>PII and secret scan, then a risk-based policy decision</a:t>
            </a:r>
            <a:endParaRPr lang="en-US" sz="1100" dirty="0"/>
          </a:p>
          <a:p>
            <a:pPr marL="0" indent="0" algn="l">
              <a:spcAft>
                <a:spcPts val="300"/>
              </a:spcAft>
              <a:buNone/>
            </a:pPr>
            <a:r>
              <a:rPr lang="en-US" sz="1100" b="1" dirty="0">
                <a:solidFill>
                  <a:srgbClr val="F4A6A0"/>
                </a:solidFill>
                <a:latin typeface="Calibri" pitchFamily="34" charset="0"/>
                <a:ea typeface="Calibri" pitchFamily="34" charset="-122"/>
                <a:cs typeface="Calibri" pitchFamily="34" charset="-120"/>
              </a:rPr>
              <a:t>Unsafe: run stops</a:t>
            </a:r>
            <a:endParaRPr lang="en-US" sz="1100" dirty="0"/>
          </a:p>
        </p:txBody>
      </p:sp>
      <p:sp>
        <p:nvSpPr>
          <p:cNvPr id="9" name="Shape 7"/>
          <p:cNvSpPr/>
          <p:nvPr/>
        </p:nvSpPr>
        <p:spPr>
          <a:xfrm>
            <a:off x="4741164" y="2308860"/>
            <a:ext cx="420624" cy="0"/>
          </a:xfrm>
          <a:prstGeom prst="line">
            <a:avLst/>
          </a:prstGeom>
          <a:noFill/>
          <a:ln w="25400">
            <a:solidFill>
              <a:srgbClr val="171A21"/>
            </a:solidFill>
            <a:prstDash val="solid"/>
            <a:tailEnd type="triangle"/>
          </a:ln>
        </p:spPr>
      </p:sp>
      <p:sp>
        <p:nvSpPr>
          <p:cNvPr id="10" name="Shape 8"/>
          <p:cNvSpPr/>
          <p:nvPr/>
        </p:nvSpPr>
        <p:spPr>
          <a:xfrm>
            <a:off x="5180076" y="1463040"/>
            <a:ext cx="1828800" cy="1691640"/>
          </a:xfrm>
          <a:prstGeom prst="roundRect">
            <a:avLst>
              <a:gd name="adj" fmla="val 5405"/>
            </a:avLst>
          </a:prstGeom>
          <a:solidFill>
            <a:srgbClr val="FFFFFF"/>
          </a:solidFill>
          <a:ln w="12700">
            <a:solidFill>
              <a:srgbClr val="FFFFFF"/>
            </a:solidFill>
            <a:prstDash val="solid"/>
          </a:ln>
          <a:effectLst>
            <a:outerShdw blurRad="101600" dist="25400" dir="5400000" algn="bl" rotWithShape="0">
              <a:srgbClr val="000000">
                <a:alpha val="12000"/>
              </a:srgbClr>
            </a:outerShdw>
          </a:effectLst>
        </p:spPr>
      </p:sp>
      <p:sp>
        <p:nvSpPr>
          <p:cNvPr id="11" name="Text 9"/>
          <p:cNvSpPr txBox="1"/>
          <p:nvPr/>
        </p:nvSpPr>
        <p:spPr>
          <a:xfrm>
            <a:off x="5180076" y="1463040"/>
            <a:ext cx="1828800" cy="1691640"/>
          </a:xfrm>
          <a:prstGeom prst="rect">
            <a:avLst/>
          </a:prstGeom>
          <a:noFill/>
          <a:ln/>
        </p:spPr>
        <p:txBody>
          <a:bodyPr wrap="square" lIns="114300" tIns="114300" rIns="114300" bIns="114300" rtlCol="0" anchor="t"/>
          <a:lstStyle/>
          <a:p>
            <a:pPr marL="0" indent="0" algn="l">
              <a:spcAft>
                <a:spcPts val="300"/>
              </a:spcAft>
              <a:buNone/>
            </a:pPr>
            <a:r>
              <a:rPr lang="en-US" sz="1100" b="1" dirty="0">
                <a:solidFill>
                  <a:srgbClr val="0F766E"/>
                </a:solidFill>
                <a:latin typeface="Calibri" pitchFamily="34" charset="0"/>
                <a:ea typeface="Calibri" pitchFamily="34" charset="-122"/>
                <a:cs typeface="Calibri" pitchFamily="34" charset="-120"/>
              </a:rPr>
              <a:t>STEP 3</a:t>
            </a:r>
            <a:endParaRPr lang="en-US" sz="1100" dirty="0"/>
          </a:p>
          <a:p>
            <a:pPr marL="0" indent="0" algn="l">
              <a:spcAft>
                <a:spcPts val="300"/>
              </a:spcAft>
              <a:buNone/>
            </a:pPr>
            <a:r>
              <a:rPr lang="en-US" sz="1400" b="1" dirty="0">
                <a:solidFill>
                  <a:srgbClr val="171A21"/>
                </a:solidFill>
                <a:latin typeface="Calibri" pitchFamily="34" charset="0"/>
                <a:ea typeface="Calibri" pitchFamily="34" charset="-122"/>
                <a:cs typeface="Calibri" pitchFamily="34" charset="-120"/>
              </a:rPr>
              <a:t>Planning</a:t>
            </a:r>
            <a:endParaRPr lang="en-US" sz="1100" dirty="0"/>
          </a:p>
          <a:p>
            <a:pPr marL="0" indent="0" algn="l">
              <a:spcAft>
                <a:spcPts val="300"/>
              </a:spcAft>
              <a:buNone/>
            </a:pPr>
            <a:r>
              <a:rPr lang="en-US" sz="1100" dirty="0">
                <a:solidFill>
                  <a:srgbClr val="6B7280"/>
                </a:solidFill>
                <a:latin typeface="Calibri" pitchFamily="34" charset="0"/>
                <a:ea typeface="Calibri" pitchFamily="34" charset="-122"/>
                <a:cs typeface="Calibri" pitchFamily="34" charset="-120"/>
              </a:rPr>
              <a:t>Planner splits the request into steps</a:t>
            </a:r>
            <a:endParaRPr lang="en-US" sz="1100" dirty="0"/>
          </a:p>
        </p:txBody>
      </p:sp>
      <p:sp>
        <p:nvSpPr>
          <p:cNvPr id="12" name="Shape 10"/>
          <p:cNvSpPr/>
          <p:nvPr/>
        </p:nvSpPr>
        <p:spPr>
          <a:xfrm>
            <a:off x="7027164" y="2308860"/>
            <a:ext cx="420624" cy="0"/>
          </a:xfrm>
          <a:prstGeom prst="line">
            <a:avLst/>
          </a:prstGeom>
          <a:noFill/>
          <a:ln w="25400">
            <a:solidFill>
              <a:srgbClr val="171A21"/>
            </a:solidFill>
            <a:prstDash val="solid"/>
            <a:tailEnd type="triangle"/>
          </a:ln>
        </p:spPr>
      </p:sp>
      <p:sp>
        <p:nvSpPr>
          <p:cNvPr id="13" name="Shape 11"/>
          <p:cNvSpPr/>
          <p:nvPr/>
        </p:nvSpPr>
        <p:spPr>
          <a:xfrm>
            <a:off x="7466076" y="1463040"/>
            <a:ext cx="1828800" cy="1691640"/>
          </a:xfrm>
          <a:prstGeom prst="roundRect">
            <a:avLst>
              <a:gd name="adj" fmla="val 5405"/>
            </a:avLst>
          </a:prstGeom>
          <a:solidFill>
            <a:srgbClr val="FFFFFF"/>
          </a:solidFill>
          <a:ln w="12700">
            <a:solidFill>
              <a:srgbClr val="FFFFFF"/>
            </a:solidFill>
            <a:prstDash val="solid"/>
          </a:ln>
          <a:effectLst>
            <a:outerShdw blurRad="101600" dist="25400" dir="5400000" algn="bl" rotWithShape="0">
              <a:srgbClr val="000000">
                <a:alpha val="12000"/>
              </a:srgbClr>
            </a:outerShdw>
          </a:effectLst>
        </p:spPr>
      </p:sp>
      <p:sp>
        <p:nvSpPr>
          <p:cNvPr id="14" name="Text 12"/>
          <p:cNvSpPr txBox="1"/>
          <p:nvPr/>
        </p:nvSpPr>
        <p:spPr>
          <a:xfrm>
            <a:off x="7466076" y="1463040"/>
            <a:ext cx="1828800" cy="1691640"/>
          </a:xfrm>
          <a:prstGeom prst="rect">
            <a:avLst/>
          </a:prstGeom>
          <a:noFill/>
          <a:ln/>
        </p:spPr>
        <p:txBody>
          <a:bodyPr wrap="square" lIns="114300" tIns="114300" rIns="114300" bIns="114300" rtlCol="0" anchor="t"/>
          <a:lstStyle/>
          <a:p>
            <a:pPr marL="0" indent="0" algn="l">
              <a:spcAft>
                <a:spcPts val="300"/>
              </a:spcAft>
              <a:buNone/>
            </a:pPr>
            <a:r>
              <a:rPr lang="en-US" sz="1100" b="1" dirty="0">
                <a:solidFill>
                  <a:srgbClr val="0F766E"/>
                </a:solidFill>
                <a:latin typeface="Calibri" pitchFamily="34" charset="0"/>
                <a:ea typeface="Calibri" pitchFamily="34" charset="-122"/>
                <a:cs typeface="Calibri" pitchFamily="34" charset="-120"/>
              </a:rPr>
              <a:t>STEP 4</a:t>
            </a:r>
            <a:endParaRPr lang="en-US" sz="1100" dirty="0"/>
          </a:p>
          <a:p>
            <a:pPr marL="0" indent="0" algn="l">
              <a:spcAft>
                <a:spcPts val="300"/>
              </a:spcAft>
              <a:buNone/>
            </a:pPr>
            <a:r>
              <a:rPr lang="en-US" sz="1400" b="1" dirty="0">
                <a:solidFill>
                  <a:srgbClr val="171A21"/>
                </a:solidFill>
                <a:latin typeface="Calibri" pitchFamily="34" charset="0"/>
                <a:ea typeface="Calibri" pitchFamily="34" charset="-122"/>
                <a:cs typeface="Calibri" pitchFamily="34" charset="-120"/>
              </a:rPr>
              <a:t>RAG search</a:t>
            </a:r>
            <a:endParaRPr lang="en-US" sz="1100" dirty="0"/>
          </a:p>
          <a:p>
            <a:pPr marL="0" indent="0" algn="l">
              <a:spcAft>
                <a:spcPts val="300"/>
              </a:spcAft>
              <a:buNone/>
            </a:pPr>
            <a:r>
              <a:rPr lang="en-US" sz="1100" dirty="0">
                <a:solidFill>
                  <a:srgbClr val="6B7280"/>
                </a:solidFill>
                <a:latin typeface="Calibri" pitchFamily="34" charset="0"/>
                <a:ea typeface="Calibri" pitchFamily="34" charset="-122"/>
                <a:cs typeface="Calibri" pitchFamily="34" charset="-120"/>
              </a:rPr>
              <a:t>Top-5 chunks from Qdrant (Phase 1)</a:t>
            </a:r>
            <a:endParaRPr lang="en-US" sz="1100" dirty="0"/>
          </a:p>
        </p:txBody>
      </p:sp>
      <p:sp>
        <p:nvSpPr>
          <p:cNvPr id="15" name="Shape 13"/>
          <p:cNvSpPr/>
          <p:nvPr/>
        </p:nvSpPr>
        <p:spPr>
          <a:xfrm>
            <a:off x="9313164" y="2308860"/>
            <a:ext cx="420624" cy="0"/>
          </a:xfrm>
          <a:prstGeom prst="line">
            <a:avLst/>
          </a:prstGeom>
          <a:noFill/>
          <a:ln w="25400">
            <a:solidFill>
              <a:srgbClr val="171A21"/>
            </a:solidFill>
            <a:prstDash val="solid"/>
            <a:tailEnd type="triangle"/>
          </a:ln>
        </p:spPr>
      </p:sp>
      <p:sp>
        <p:nvSpPr>
          <p:cNvPr id="16" name="Shape 14"/>
          <p:cNvSpPr/>
          <p:nvPr/>
        </p:nvSpPr>
        <p:spPr>
          <a:xfrm>
            <a:off x="9752076" y="1463040"/>
            <a:ext cx="1828800" cy="1691640"/>
          </a:xfrm>
          <a:prstGeom prst="roundRect">
            <a:avLst>
              <a:gd name="adj" fmla="val 5405"/>
            </a:avLst>
          </a:prstGeom>
          <a:solidFill>
            <a:srgbClr val="171A21"/>
          </a:solidFill>
          <a:ln w="12700">
            <a:solidFill>
              <a:srgbClr val="171A21"/>
            </a:solidFill>
            <a:prstDash val="solid"/>
          </a:ln>
          <a:effectLst>
            <a:outerShdw blurRad="101600" dist="25400" dir="5400000" algn="bl" rotWithShape="0">
              <a:srgbClr val="000000">
                <a:alpha val="12000"/>
              </a:srgbClr>
            </a:outerShdw>
          </a:effectLst>
        </p:spPr>
      </p:sp>
      <p:sp>
        <p:nvSpPr>
          <p:cNvPr id="17" name="Text 15"/>
          <p:cNvSpPr txBox="1"/>
          <p:nvPr/>
        </p:nvSpPr>
        <p:spPr>
          <a:xfrm>
            <a:off x="9752076" y="1463040"/>
            <a:ext cx="1828800" cy="1691640"/>
          </a:xfrm>
          <a:prstGeom prst="rect">
            <a:avLst/>
          </a:prstGeom>
          <a:noFill/>
          <a:ln/>
        </p:spPr>
        <p:txBody>
          <a:bodyPr wrap="square" lIns="114300" tIns="114300" rIns="114300" bIns="114300" rtlCol="0" anchor="t"/>
          <a:lstStyle/>
          <a:p>
            <a:pPr marL="0" indent="0" algn="l">
              <a:spcAft>
                <a:spcPts val="300"/>
              </a:spcAft>
              <a:buNone/>
            </a:pPr>
            <a:r>
              <a:rPr lang="en-US" sz="1100" b="1" dirty="0">
                <a:solidFill>
                  <a:srgbClr val="F5A524"/>
                </a:solidFill>
                <a:latin typeface="Calibri" pitchFamily="34" charset="0"/>
                <a:ea typeface="Calibri" pitchFamily="34" charset="-122"/>
                <a:cs typeface="Calibri" pitchFamily="34" charset="-120"/>
              </a:rPr>
              <a:t>STEP 5</a:t>
            </a:r>
            <a:endParaRPr lang="en-US" sz="1100" dirty="0"/>
          </a:p>
          <a:p>
            <a:pPr marL="0" indent="0" algn="l">
              <a:spcAft>
                <a:spcPts val="300"/>
              </a:spcAft>
              <a:buNone/>
            </a:pPr>
            <a:r>
              <a:rPr lang="en-US" sz="1400" b="1" dirty="0">
                <a:solidFill>
                  <a:srgbClr val="F5A524"/>
                </a:solidFill>
                <a:latin typeface="Calibri" pitchFamily="34" charset="0"/>
                <a:ea typeface="Calibri" pitchFamily="34" charset="-122"/>
                <a:cs typeface="Calibri" pitchFamily="34" charset="-120"/>
              </a:rPr>
              <a:t>Security check on chunks</a:t>
            </a:r>
            <a:endParaRPr lang="en-US" sz="1100" dirty="0"/>
          </a:p>
          <a:p>
            <a:pPr marL="0" indent="0" algn="l">
              <a:spcAft>
                <a:spcPts val="300"/>
              </a:spcAft>
              <a:buNone/>
            </a:pPr>
            <a:r>
              <a:rPr lang="en-US" sz="1100" dirty="0">
                <a:solidFill>
                  <a:srgbClr val="D5D9E0"/>
                </a:solidFill>
                <a:latin typeface="Calibri" pitchFamily="34" charset="0"/>
                <a:ea typeface="Calibri" pitchFamily="34" charset="-122"/>
                <a:cs typeface="Calibri" pitchFamily="34" charset="-120"/>
              </a:rPr>
              <a:t>Same scan over the retrieved code</a:t>
            </a:r>
            <a:endParaRPr lang="en-US" sz="1100" dirty="0"/>
          </a:p>
          <a:p>
            <a:pPr marL="0" indent="0" algn="l">
              <a:spcAft>
                <a:spcPts val="300"/>
              </a:spcAft>
              <a:buNone/>
            </a:pPr>
            <a:r>
              <a:rPr lang="en-US" sz="1100" b="1" dirty="0">
                <a:solidFill>
                  <a:srgbClr val="F4A6A0"/>
                </a:solidFill>
                <a:latin typeface="Calibri" pitchFamily="34" charset="0"/>
                <a:ea typeface="Calibri" pitchFamily="34" charset="-122"/>
                <a:cs typeface="Calibri" pitchFamily="34" charset="-120"/>
              </a:rPr>
              <a:t>Unsafe: needs review</a:t>
            </a:r>
            <a:endParaRPr lang="en-US" sz="1100" dirty="0"/>
          </a:p>
        </p:txBody>
      </p:sp>
      <p:sp>
        <p:nvSpPr>
          <p:cNvPr id="18" name="Shape 16"/>
          <p:cNvSpPr/>
          <p:nvPr/>
        </p:nvSpPr>
        <p:spPr>
          <a:xfrm>
            <a:off x="608076" y="3977640"/>
            <a:ext cx="1828800" cy="1691640"/>
          </a:xfrm>
          <a:prstGeom prst="roundRect">
            <a:avLst>
              <a:gd name="adj" fmla="val 5405"/>
            </a:avLst>
          </a:prstGeom>
          <a:solidFill>
            <a:srgbClr val="FFFFFF"/>
          </a:solidFill>
          <a:ln w="12700">
            <a:solidFill>
              <a:srgbClr val="FFFFFF"/>
            </a:solidFill>
            <a:prstDash val="solid"/>
          </a:ln>
          <a:effectLst>
            <a:outerShdw blurRad="101600" dist="25400" dir="5400000" algn="bl" rotWithShape="0">
              <a:srgbClr val="000000">
                <a:alpha val="12000"/>
              </a:srgbClr>
            </a:outerShdw>
          </a:effectLst>
        </p:spPr>
      </p:sp>
      <p:sp>
        <p:nvSpPr>
          <p:cNvPr id="19" name="Text 17"/>
          <p:cNvSpPr txBox="1"/>
          <p:nvPr/>
        </p:nvSpPr>
        <p:spPr>
          <a:xfrm>
            <a:off x="608076" y="3977640"/>
            <a:ext cx="1828800" cy="1691640"/>
          </a:xfrm>
          <a:prstGeom prst="rect">
            <a:avLst/>
          </a:prstGeom>
          <a:noFill/>
          <a:ln/>
        </p:spPr>
        <p:txBody>
          <a:bodyPr wrap="square" lIns="114300" tIns="114300" rIns="114300" bIns="114300" rtlCol="0" anchor="t"/>
          <a:lstStyle/>
          <a:p>
            <a:pPr marL="0" indent="0" algn="l">
              <a:spcAft>
                <a:spcPts val="300"/>
              </a:spcAft>
              <a:buNone/>
            </a:pPr>
            <a:r>
              <a:rPr lang="en-US" sz="1100" b="1" dirty="0">
                <a:solidFill>
                  <a:srgbClr val="0F766E"/>
                </a:solidFill>
                <a:latin typeface="Calibri" pitchFamily="34" charset="0"/>
                <a:ea typeface="Calibri" pitchFamily="34" charset="-122"/>
                <a:cs typeface="Calibri" pitchFamily="34" charset="-120"/>
              </a:rPr>
              <a:t>STEP 6</a:t>
            </a:r>
            <a:endParaRPr lang="en-US" sz="1100" dirty="0"/>
          </a:p>
          <a:p>
            <a:pPr marL="0" indent="0" algn="l">
              <a:spcAft>
                <a:spcPts val="300"/>
              </a:spcAft>
              <a:buNone/>
            </a:pPr>
            <a:r>
              <a:rPr lang="en-US" sz="1400" b="1" dirty="0">
                <a:solidFill>
                  <a:srgbClr val="171A21"/>
                </a:solidFill>
                <a:latin typeface="Calibri" pitchFamily="34" charset="0"/>
                <a:ea typeface="Calibri" pitchFamily="34" charset="-122"/>
                <a:cs typeface="Calibri" pitchFamily="34" charset="-120"/>
              </a:rPr>
              <a:t>Impact analysis</a:t>
            </a:r>
            <a:endParaRPr lang="en-US" sz="1100" dirty="0"/>
          </a:p>
          <a:p>
            <a:pPr marL="0" indent="0" algn="l">
              <a:spcAft>
                <a:spcPts val="300"/>
              </a:spcAft>
              <a:buNone/>
            </a:pPr>
            <a:r>
              <a:rPr lang="en-US" sz="1100" dirty="0">
                <a:solidFill>
                  <a:srgbClr val="6B7280"/>
                </a:solidFill>
                <a:latin typeface="Calibri" pitchFamily="34" charset="0"/>
                <a:ea typeface="Calibri" pitchFamily="34" charset="-122"/>
                <a:cs typeface="Calibri" pitchFamily="34" charset="-120"/>
              </a:rPr>
              <a:t>Semantic search + import graph rank affected files</a:t>
            </a:r>
            <a:endParaRPr lang="en-US" sz="1100" dirty="0"/>
          </a:p>
        </p:txBody>
      </p:sp>
      <p:sp>
        <p:nvSpPr>
          <p:cNvPr id="20" name="Shape 18"/>
          <p:cNvSpPr/>
          <p:nvPr/>
        </p:nvSpPr>
        <p:spPr>
          <a:xfrm>
            <a:off x="2455164" y="4823460"/>
            <a:ext cx="420624" cy="0"/>
          </a:xfrm>
          <a:prstGeom prst="line">
            <a:avLst/>
          </a:prstGeom>
          <a:noFill/>
          <a:ln w="25400">
            <a:solidFill>
              <a:srgbClr val="171A21"/>
            </a:solidFill>
            <a:prstDash val="solid"/>
            <a:tailEnd type="triangle"/>
          </a:ln>
        </p:spPr>
      </p:sp>
      <p:sp>
        <p:nvSpPr>
          <p:cNvPr id="21" name="Shape 19"/>
          <p:cNvSpPr/>
          <p:nvPr/>
        </p:nvSpPr>
        <p:spPr>
          <a:xfrm>
            <a:off x="2894076" y="3977640"/>
            <a:ext cx="1828800" cy="1691640"/>
          </a:xfrm>
          <a:prstGeom prst="roundRect">
            <a:avLst>
              <a:gd name="adj" fmla="val 5405"/>
            </a:avLst>
          </a:prstGeom>
          <a:solidFill>
            <a:srgbClr val="FFFFFF"/>
          </a:solidFill>
          <a:ln w="12700">
            <a:solidFill>
              <a:srgbClr val="FFFFFF"/>
            </a:solidFill>
            <a:prstDash val="solid"/>
          </a:ln>
          <a:effectLst>
            <a:outerShdw blurRad="101600" dist="25400" dir="5400000" algn="bl" rotWithShape="0">
              <a:srgbClr val="000000">
                <a:alpha val="12000"/>
              </a:srgbClr>
            </a:outerShdw>
          </a:effectLst>
        </p:spPr>
      </p:sp>
      <p:sp>
        <p:nvSpPr>
          <p:cNvPr id="22" name="Text 20"/>
          <p:cNvSpPr txBox="1"/>
          <p:nvPr/>
        </p:nvSpPr>
        <p:spPr>
          <a:xfrm>
            <a:off x="2894076" y="3977640"/>
            <a:ext cx="1828800" cy="1691640"/>
          </a:xfrm>
          <a:prstGeom prst="rect">
            <a:avLst/>
          </a:prstGeom>
          <a:noFill/>
          <a:ln/>
        </p:spPr>
        <p:txBody>
          <a:bodyPr wrap="square" lIns="114300" tIns="114300" rIns="114300" bIns="114300" rtlCol="0" anchor="t"/>
          <a:lstStyle/>
          <a:p>
            <a:pPr marL="0" indent="0" algn="l">
              <a:spcAft>
                <a:spcPts val="300"/>
              </a:spcAft>
              <a:buNone/>
            </a:pPr>
            <a:r>
              <a:rPr lang="en-US" sz="1100" b="1" dirty="0">
                <a:solidFill>
                  <a:srgbClr val="0F766E"/>
                </a:solidFill>
                <a:latin typeface="Calibri" pitchFamily="34" charset="0"/>
                <a:ea typeface="Calibri" pitchFamily="34" charset="-122"/>
                <a:cs typeface="Calibri" pitchFamily="34" charset="-120"/>
              </a:rPr>
              <a:t>STEP 7</a:t>
            </a:r>
            <a:endParaRPr lang="en-US" sz="1100" dirty="0"/>
          </a:p>
          <a:p>
            <a:pPr marL="0" indent="0" algn="l">
              <a:spcAft>
                <a:spcPts val="300"/>
              </a:spcAft>
              <a:buNone/>
            </a:pPr>
            <a:r>
              <a:rPr lang="en-US" sz="1400" b="1" dirty="0">
                <a:solidFill>
                  <a:srgbClr val="171A21"/>
                </a:solidFill>
                <a:latin typeface="Calibri" pitchFamily="34" charset="0"/>
                <a:ea typeface="Calibri" pitchFamily="34" charset="-122"/>
                <a:cs typeface="Calibri" pitchFamily="34" charset="-120"/>
              </a:rPr>
              <a:t>Grounded prompt</a:t>
            </a:r>
            <a:endParaRPr lang="en-US" sz="1100" dirty="0"/>
          </a:p>
          <a:p>
            <a:pPr marL="0" indent="0" algn="l">
              <a:spcAft>
                <a:spcPts val="300"/>
              </a:spcAft>
              <a:buNone/>
            </a:pPr>
            <a:r>
              <a:rPr lang="en-US" sz="1100" dirty="0">
                <a:solidFill>
                  <a:srgbClr val="6B7280"/>
                </a:solidFill>
                <a:latin typeface="Calibri" pitchFamily="34" charset="0"/>
                <a:ea typeface="Calibri" pitchFamily="34" charset="-122"/>
                <a:cs typeface="Calibri" pitchFamily="34" charset="-120"/>
              </a:rPr>
              <a:t>Rules + evidence + request (generator.py)</a:t>
            </a:r>
            <a:endParaRPr lang="en-US" sz="1100" dirty="0"/>
          </a:p>
        </p:txBody>
      </p:sp>
      <p:sp>
        <p:nvSpPr>
          <p:cNvPr id="23" name="Shape 21"/>
          <p:cNvSpPr/>
          <p:nvPr/>
        </p:nvSpPr>
        <p:spPr>
          <a:xfrm>
            <a:off x="4741164" y="4823460"/>
            <a:ext cx="420624" cy="0"/>
          </a:xfrm>
          <a:prstGeom prst="line">
            <a:avLst/>
          </a:prstGeom>
          <a:noFill/>
          <a:ln w="25400">
            <a:solidFill>
              <a:srgbClr val="171A21"/>
            </a:solidFill>
            <a:prstDash val="solid"/>
            <a:tailEnd type="triangle"/>
          </a:ln>
        </p:spPr>
      </p:sp>
      <p:sp>
        <p:nvSpPr>
          <p:cNvPr id="24" name="Shape 22"/>
          <p:cNvSpPr/>
          <p:nvPr/>
        </p:nvSpPr>
        <p:spPr>
          <a:xfrm>
            <a:off x="5180076" y="3977640"/>
            <a:ext cx="1828800" cy="1691640"/>
          </a:xfrm>
          <a:prstGeom prst="roundRect">
            <a:avLst>
              <a:gd name="adj" fmla="val 5405"/>
            </a:avLst>
          </a:prstGeom>
          <a:solidFill>
            <a:srgbClr val="FFFFFF"/>
          </a:solidFill>
          <a:ln w="12700">
            <a:solidFill>
              <a:srgbClr val="FFFFFF"/>
            </a:solidFill>
            <a:prstDash val="solid"/>
          </a:ln>
          <a:effectLst>
            <a:outerShdw blurRad="101600" dist="25400" dir="5400000" algn="bl" rotWithShape="0">
              <a:srgbClr val="000000">
                <a:alpha val="12000"/>
              </a:srgbClr>
            </a:outerShdw>
          </a:effectLst>
        </p:spPr>
      </p:sp>
      <p:sp>
        <p:nvSpPr>
          <p:cNvPr id="25" name="Text 23"/>
          <p:cNvSpPr txBox="1"/>
          <p:nvPr/>
        </p:nvSpPr>
        <p:spPr>
          <a:xfrm>
            <a:off x="5180076" y="3977640"/>
            <a:ext cx="1828800" cy="1691640"/>
          </a:xfrm>
          <a:prstGeom prst="rect">
            <a:avLst/>
          </a:prstGeom>
          <a:noFill/>
          <a:ln/>
        </p:spPr>
        <p:txBody>
          <a:bodyPr wrap="square" lIns="114300" tIns="114300" rIns="114300" bIns="114300" rtlCol="0" anchor="t"/>
          <a:lstStyle/>
          <a:p>
            <a:pPr marL="0" indent="0" algn="l">
              <a:spcAft>
                <a:spcPts val="300"/>
              </a:spcAft>
              <a:buNone/>
            </a:pPr>
            <a:r>
              <a:rPr lang="en-US" sz="1100" b="1" dirty="0">
                <a:solidFill>
                  <a:srgbClr val="0F766E"/>
                </a:solidFill>
                <a:latin typeface="Calibri" pitchFamily="34" charset="0"/>
                <a:ea typeface="Calibri" pitchFamily="34" charset="-122"/>
                <a:cs typeface="Calibri" pitchFamily="34" charset="-120"/>
              </a:rPr>
              <a:t>STEP 8</a:t>
            </a:r>
            <a:endParaRPr lang="en-US" sz="1100" dirty="0"/>
          </a:p>
          <a:p>
            <a:pPr marL="0" indent="0" algn="l">
              <a:spcAft>
                <a:spcPts val="300"/>
              </a:spcAft>
              <a:buNone/>
            </a:pPr>
            <a:r>
              <a:rPr lang="en-US" sz="1400" b="1" dirty="0">
                <a:solidFill>
                  <a:srgbClr val="171A21"/>
                </a:solidFill>
                <a:latin typeface="Calibri" pitchFamily="34" charset="0"/>
                <a:ea typeface="Calibri" pitchFamily="34" charset="-122"/>
                <a:cs typeface="Calibri" pitchFamily="34" charset="-120"/>
              </a:rPr>
              <a:t>Gemini call</a:t>
            </a:r>
            <a:endParaRPr lang="en-US" sz="1100" dirty="0"/>
          </a:p>
          <a:p>
            <a:pPr marL="0" indent="0" algn="l">
              <a:spcAft>
                <a:spcPts val="300"/>
              </a:spcAft>
              <a:buNone/>
            </a:pPr>
            <a:r>
              <a:rPr lang="en-US" sz="1100" dirty="0">
                <a:solidFill>
                  <a:srgbClr val="6B7280"/>
                </a:solidFill>
                <a:latin typeface="Calibri" pitchFamily="34" charset="0"/>
                <a:ea typeface="Calibri" pitchFamily="34" charset="-122"/>
                <a:cs typeface="Calibri" pitchFamily="34" charset="-120"/>
              </a:rPr>
              <a:t>llm_client.py sends the prompt and returns the text</a:t>
            </a:r>
            <a:endParaRPr lang="en-US" sz="1100" dirty="0"/>
          </a:p>
        </p:txBody>
      </p:sp>
      <p:sp>
        <p:nvSpPr>
          <p:cNvPr id="26" name="Shape 24"/>
          <p:cNvSpPr/>
          <p:nvPr/>
        </p:nvSpPr>
        <p:spPr>
          <a:xfrm>
            <a:off x="7027164" y="4823460"/>
            <a:ext cx="420624" cy="0"/>
          </a:xfrm>
          <a:prstGeom prst="line">
            <a:avLst/>
          </a:prstGeom>
          <a:noFill/>
          <a:ln w="25400">
            <a:solidFill>
              <a:srgbClr val="171A21"/>
            </a:solidFill>
            <a:prstDash val="solid"/>
            <a:tailEnd type="triangle"/>
          </a:ln>
        </p:spPr>
      </p:sp>
      <p:sp>
        <p:nvSpPr>
          <p:cNvPr id="27" name="Shape 25"/>
          <p:cNvSpPr/>
          <p:nvPr/>
        </p:nvSpPr>
        <p:spPr>
          <a:xfrm>
            <a:off x="7466076" y="3977640"/>
            <a:ext cx="1828800" cy="1691640"/>
          </a:xfrm>
          <a:prstGeom prst="roundRect">
            <a:avLst>
              <a:gd name="adj" fmla="val 5405"/>
            </a:avLst>
          </a:prstGeom>
          <a:solidFill>
            <a:srgbClr val="FFFFFF"/>
          </a:solidFill>
          <a:ln w="12700">
            <a:solidFill>
              <a:srgbClr val="FFFFFF"/>
            </a:solidFill>
            <a:prstDash val="solid"/>
          </a:ln>
          <a:effectLst>
            <a:outerShdw blurRad="101600" dist="25400" dir="5400000" algn="bl" rotWithShape="0">
              <a:srgbClr val="000000">
                <a:alpha val="12000"/>
              </a:srgbClr>
            </a:outerShdw>
          </a:effectLst>
        </p:spPr>
      </p:sp>
      <p:sp>
        <p:nvSpPr>
          <p:cNvPr id="28" name="Text 26"/>
          <p:cNvSpPr txBox="1"/>
          <p:nvPr/>
        </p:nvSpPr>
        <p:spPr>
          <a:xfrm>
            <a:off x="7466076" y="3977640"/>
            <a:ext cx="1828800" cy="1691640"/>
          </a:xfrm>
          <a:prstGeom prst="rect">
            <a:avLst/>
          </a:prstGeom>
          <a:noFill/>
          <a:ln/>
        </p:spPr>
        <p:txBody>
          <a:bodyPr wrap="square" lIns="114300" tIns="114300" rIns="114300" bIns="114300" rtlCol="0" anchor="t"/>
          <a:lstStyle/>
          <a:p>
            <a:pPr marL="0" indent="0" algn="l">
              <a:spcAft>
                <a:spcPts val="300"/>
              </a:spcAft>
              <a:buNone/>
            </a:pPr>
            <a:r>
              <a:rPr lang="en-US" sz="1100" b="1" dirty="0">
                <a:solidFill>
                  <a:srgbClr val="0F766E"/>
                </a:solidFill>
                <a:latin typeface="Calibri" pitchFamily="34" charset="0"/>
                <a:ea typeface="Calibri" pitchFamily="34" charset="-122"/>
                <a:cs typeface="Calibri" pitchFamily="34" charset="-120"/>
              </a:rPr>
              <a:t>STEP 9</a:t>
            </a:r>
            <a:endParaRPr lang="en-US" sz="1100" dirty="0"/>
          </a:p>
          <a:p>
            <a:pPr marL="0" indent="0" algn="l">
              <a:spcAft>
                <a:spcPts val="300"/>
              </a:spcAft>
              <a:buNone/>
            </a:pPr>
            <a:r>
              <a:rPr lang="en-US" sz="1400" b="1" dirty="0">
                <a:solidFill>
                  <a:srgbClr val="171A21"/>
                </a:solidFill>
                <a:latin typeface="Calibri" pitchFamily="34" charset="0"/>
                <a:ea typeface="Calibri" pitchFamily="34" charset="-122"/>
                <a:cs typeface="Calibri" pitchFamily="34" charset="-120"/>
              </a:rPr>
              <a:t>Validation</a:t>
            </a:r>
            <a:endParaRPr lang="en-US" sz="1100" dirty="0"/>
          </a:p>
          <a:p>
            <a:pPr marL="0" indent="0" algn="l">
              <a:spcAft>
                <a:spcPts val="300"/>
              </a:spcAft>
              <a:buNone/>
            </a:pPr>
            <a:r>
              <a:rPr lang="en-US" sz="1100" dirty="0">
                <a:solidFill>
                  <a:srgbClr val="6B7280"/>
                </a:solidFill>
                <a:latin typeface="Calibri" pitchFamily="34" charset="0"/>
                <a:ea typeface="Calibri" pitchFamily="34" charset="-122"/>
                <a:cs typeface="Calibri" pitchFamily="34" charset="-120"/>
              </a:rPr>
              <a:t>Extract the code block, compile() syntax check</a:t>
            </a:r>
            <a:endParaRPr lang="en-US" sz="1100" dirty="0"/>
          </a:p>
        </p:txBody>
      </p:sp>
      <p:sp>
        <p:nvSpPr>
          <p:cNvPr id="29" name="Shape 27"/>
          <p:cNvSpPr/>
          <p:nvPr/>
        </p:nvSpPr>
        <p:spPr>
          <a:xfrm>
            <a:off x="9313164" y="4823460"/>
            <a:ext cx="420624" cy="0"/>
          </a:xfrm>
          <a:prstGeom prst="line">
            <a:avLst/>
          </a:prstGeom>
          <a:noFill/>
          <a:ln w="25400">
            <a:solidFill>
              <a:srgbClr val="171A21"/>
            </a:solidFill>
            <a:prstDash val="solid"/>
            <a:tailEnd type="triangle"/>
          </a:ln>
        </p:spPr>
      </p:sp>
      <p:sp>
        <p:nvSpPr>
          <p:cNvPr id="30" name="Shape 28"/>
          <p:cNvSpPr/>
          <p:nvPr/>
        </p:nvSpPr>
        <p:spPr>
          <a:xfrm>
            <a:off x="9752076" y="3977640"/>
            <a:ext cx="1828800" cy="1691640"/>
          </a:xfrm>
          <a:prstGeom prst="roundRect">
            <a:avLst>
              <a:gd name="adj" fmla="val 5405"/>
            </a:avLst>
          </a:prstGeom>
          <a:solidFill>
            <a:srgbClr val="171A21"/>
          </a:solidFill>
          <a:ln w="12700">
            <a:solidFill>
              <a:srgbClr val="171A21"/>
            </a:solidFill>
            <a:prstDash val="solid"/>
          </a:ln>
          <a:effectLst>
            <a:outerShdw blurRad="101600" dist="25400" dir="5400000" algn="bl" rotWithShape="0">
              <a:srgbClr val="000000">
                <a:alpha val="12000"/>
              </a:srgbClr>
            </a:outerShdw>
          </a:effectLst>
        </p:spPr>
      </p:sp>
      <p:sp>
        <p:nvSpPr>
          <p:cNvPr id="31" name="Text 29"/>
          <p:cNvSpPr txBox="1"/>
          <p:nvPr/>
        </p:nvSpPr>
        <p:spPr>
          <a:xfrm>
            <a:off x="9752076" y="3977640"/>
            <a:ext cx="1828800" cy="1691640"/>
          </a:xfrm>
          <a:prstGeom prst="rect">
            <a:avLst/>
          </a:prstGeom>
          <a:noFill/>
          <a:ln/>
        </p:spPr>
        <p:txBody>
          <a:bodyPr wrap="square" lIns="114300" tIns="114300" rIns="114300" bIns="114300" rtlCol="0" anchor="t"/>
          <a:lstStyle/>
          <a:p>
            <a:pPr marL="0" indent="0" algn="l">
              <a:spcAft>
                <a:spcPts val="300"/>
              </a:spcAft>
              <a:buNone/>
            </a:pPr>
            <a:r>
              <a:rPr lang="en-US" sz="1100" b="1" dirty="0">
                <a:solidFill>
                  <a:srgbClr val="F5A524"/>
                </a:solidFill>
                <a:latin typeface="Calibri" pitchFamily="34" charset="0"/>
                <a:ea typeface="Calibri" pitchFamily="34" charset="-122"/>
                <a:cs typeface="Calibri" pitchFamily="34" charset="-120"/>
              </a:rPr>
              <a:t>STEP 10</a:t>
            </a:r>
            <a:endParaRPr lang="en-US" sz="1100" dirty="0"/>
          </a:p>
          <a:p>
            <a:pPr marL="0" indent="0" algn="l">
              <a:spcAft>
                <a:spcPts val="300"/>
              </a:spcAft>
              <a:buNone/>
            </a:pPr>
            <a:r>
              <a:rPr lang="en-US" sz="1400" b="1" dirty="0">
                <a:solidFill>
                  <a:srgbClr val="FFFFFF"/>
                </a:solidFill>
                <a:latin typeface="Calibri" pitchFamily="34" charset="0"/>
                <a:ea typeface="Calibri" pitchFamily="34" charset="-122"/>
                <a:cs typeface="Calibri" pitchFamily="34" charset="-120"/>
              </a:rPr>
              <a:t>Result + audit trail</a:t>
            </a:r>
            <a:endParaRPr lang="en-US" sz="1100" dirty="0"/>
          </a:p>
          <a:p>
            <a:pPr marL="0" indent="0" algn="l">
              <a:spcAft>
                <a:spcPts val="300"/>
              </a:spcAft>
              <a:buNone/>
            </a:pPr>
            <a:r>
              <a:rPr lang="en-US" sz="1100" dirty="0">
                <a:solidFill>
                  <a:srgbClr val="D5D9E0"/>
                </a:solidFill>
                <a:latin typeface="Calibri" pitchFamily="34" charset="0"/>
                <a:ea typeface="Calibri" pitchFamily="34" charset="-122"/>
                <a:cs typeface="Calibri" pitchFamily="34" charset="-120"/>
              </a:rPr>
              <a:t>Saved run with the full stage history</a:t>
            </a:r>
            <a:endParaRPr lang="en-US" sz="1100" dirty="0"/>
          </a:p>
        </p:txBody>
      </p:sp>
      <p:sp>
        <p:nvSpPr>
          <p:cNvPr id="32" name="Shape 30"/>
          <p:cNvSpPr/>
          <p:nvPr/>
        </p:nvSpPr>
        <p:spPr>
          <a:xfrm>
            <a:off x="10666476" y="3172968"/>
            <a:ext cx="0" cy="393192"/>
          </a:xfrm>
          <a:prstGeom prst="line">
            <a:avLst/>
          </a:prstGeom>
          <a:noFill/>
          <a:ln w="25400">
            <a:solidFill>
              <a:srgbClr val="171A21"/>
            </a:solidFill>
            <a:prstDash val="solid"/>
          </a:ln>
        </p:spPr>
      </p:sp>
      <p:sp>
        <p:nvSpPr>
          <p:cNvPr id="33" name="Shape 31"/>
          <p:cNvSpPr/>
          <p:nvPr/>
        </p:nvSpPr>
        <p:spPr>
          <a:xfrm>
            <a:off x="1522476" y="3566160"/>
            <a:ext cx="9144000" cy="0"/>
          </a:xfrm>
          <a:prstGeom prst="line">
            <a:avLst/>
          </a:prstGeom>
          <a:noFill/>
          <a:ln w="25400">
            <a:solidFill>
              <a:srgbClr val="171A21"/>
            </a:solidFill>
            <a:prstDash val="solid"/>
          </a:ln>
        </p:spPr>
      </p:sp>
      <p:sp>
        <p:nvSpPr>
          <p:cNvPr id="34" name="Shape 32"/>
          <p:cNvSpPr/>
          <p:nvPr/>
        </p:nvSpPr>
        <p:spPr>
          <a:xfrm>
            <a:off x="1522476" y="3566160"/>
            <a:ext cx="0" cy="393192"/>
          </a:xfrm>
          <a:prstGeom prst="line">
            <a:avLst/>
          </a:prstGeom>
          <a:noFill/>
          <a:ln w="25400">
            <a:solidFill>
              <a:srgbClr val="171A21"/>
            </a:solidFill>
            <a:prstDash val="solid"/>
            <a:tailEnd type="triangle"/>
          </a:ln>
        </p:spPr>
      </p:sp>
      <p:sp>
        <p:nvSpPr>
          <p:cNvPr id="35" name="Text 33"/>
          <p:cNvSpPr txBox="1"/>
          <p:nvPr/>
        </p:nvSpPr>
        <p:spPr>
          <a:xfrm>
            <a:off x="548640" y="5897880"/>
            <a:ext cx="11064240" cy="411480"/>
          </a:xfrm>
          <a:prstGeom prst="rect">
            <a:avLst/>
          </a:prstGeom>
          <a:noFill/>
          <a:ln/>
        </p:spPr>
        <p:txBody>
          <a:bodyPr wrap="square" lIns="0" tIns="0" rIns="0" bIns="0" rtlCol="0" anchor="ctr"/>
          <a:lstStyle/>
          <a:p>
            <a:pPr marL="0" indent="0">
              <a:buNone/>
            </a:pPr>
            <a:r>
              <a:rPr lang="en-US" sz="1400" i="1" dirty="0">
                <a:solidFill>
                  <a:srgbClr val="6B7280"/>
                </a:solidFill>
                <a:latin typeface="Calibri" pitchFamily="34" charset="0"/>
                <a:ea typeface="Calibri" pitchFamily="34" charset="-122"/>
                <a:cs typeface="Calibri" pitchFamily="34" charset="-120"/>
              </a:rPr>
              <a:t>A BLOCK or REVIEW verdict at either gate stops the run before Gemini is ever called.</a:t>
            </a:r>
            <a:endParaRPr lang="en-US" sz="1400" dirty="0"/>
          </a:p>
        </p:txBody>
      </p:sp>
      <p:sp>
        <p:nvSpPr>
          <p:cNvPr id="36" name="Text 34"/>
          <p:cNvSpPr txBox="1"/>
          <p:nvPr/>
        </p:nvSpPr>
        <p:spPr>
          <a:xfrm>
            <a:off x="548640" y="6446520"/>
            <a:ext cx="5486400" cy="274320"/>
          </a:xfrm>
          <a:prstGeom prst="rect">
            <a:avLst/>
          </a:prstGeom>
          <a:noFill/>
          <a:ln/>
        </p:spPr>
        <p:txBody>
          <a:bodyPr wrap="square" lIns="0" tIns="0" rIns="0" bIns="0" rtlCol="0" anchor="ctr"/>
          <a:lstStyle/>
          <a:p>
            <a:pPr marL="0" indent="0">
              <a:buNone/>
            </a:pPr>
            <a:r>
              <a:rPr lang="en-US" sz="1000" dirty="0">
                <a:solidFill>
                  <a:srgbClr val="6B7280"/>
                </a:solidFill>
                <a:latin typeface="Calibri" pitchFamily="34" charset="0"/>
                <a:ea typeface="Calibri" pitchFamily="34" charset="-122"/>
                <a:cs typeface="Calibri" pitchFamily="34" charset="-120"/>
              </a:rPr>
              <a:t>KAVACH  |  Project Review</a:t>
            </a:r>
            <a:endParaRPr lang="en-US" sz="1000" dirty="0"/>
          </a:p>
        </p:txBody>
      </p:sp>
      <p:sp>
        <p:nvSpPr>
          <p:cNvPr id="37" name="Slide Number Placeholder 0"/>
          <p:cNvSpPr>
            <a:spLocks noGrp="1"/>
          </p:cNvSpPr>
          <p:nvPr>
            <p:ph type="sldNum" sz="quarter" idx="4294967295"/>
          </p:nvPr>
        </p:nvSpPr>
        <p:spPr>
          <a:xfrm>
            <a:off x="11064240" y="644652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6B7280"/>
                </a:solidFill>
                <a:latin typeface="Calibri"/>
                <a:ea typeface="Calibri"/>
                <a:cs typeface="Calibri"/>
              </a:defRPr>
            </a:lvl1pPr>
          </a:lstStyle>
          <a:p>
            <a:pPr algn="r"/>
            <a:fld id="{F7021451-1387-4CA6-816F-3879F97B5CBC}" type="slidenum">
              <a:rPr lang="en-US" b="0"/>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3F4F6"/>
        </a:solidFill>
        <a:effectLst/>
      </p:bgPr>
    </p:bg>
    <p:spTree>
      <p:nvGrpSpPr>
        <p:cNvPr id="1" name=""/>
        <p:cNvGrpSpPr/>
        <p:nvPr/>
      </p:nvGrpSpPr>
      <p:grpSpPr>
        <a:xfrm>
          <a:off x="0" y="0"/>
          <a:ext cx="0" cy="0"/>
          <a:chOff x="0" y="0"/>
          <a:chExt cx="0" cy="0"/>
        </a:xfrm>
      </p:grpSpPr>
      <p:sp>
        <p:nvSpPr>
          <p:cNvPr id="2" name="Text 0"/>
          <p:cNvSpPr txBox="1"/>
          <p:nvPr/>
        </p:nvSpPr>
        <p:spPr>
          <a:xfrm>
            <a:off x="548640" y="320040"/>
            <a:ext cx="11064240" cy="731520"/>
          </a:xfrm>
          <a:prstGeom prst="rect">
            <a:avLst/>
          </a:prstGeom>
          <a:noFill/>
          <a:ln/>
        </p:spPr>
        <p:txBody>
          <a:bodyPr wrap="square" lIns="0" tIns="0" rIns="0" bIns="0" rtlCol="0" anchor="ctr"/>
          <a:lstStyle/>
          <a:p>
            <a:pPr marL="0" indent="0">
              <a:buNone/>
            </a:pPr>
            <a:r>
              <a:rPr lang="en-US" sz="3200" b="1" dirty="0">
                <a:solidFill>
                  <a:srgbClr val="171A21"/>
                </a:solidFill>
                <a:latin typeface="Cambria" pitchFamily="34" charset="0"/>
                <a:ea typeface="Cambria" pitchFamily="34" charset="-122"/>
                <a:cs typeface="Cambria" pitchFamily="34" charset="-120"/>
              </a:rPr>
              <a:t>The 9-phase roadmap</a:t>
            </a:r>
            <a:endParaRPr lang="en-US" sz="3200" dirty="0"/>
          </a:p>
        </p:txBody>
      </p:sp>
      <p:sp>
        <p:nvSpPr>
          <p:cNvPr id="3" name="Text 1"/>
          <p:cNvSpPr txBox="1"/>
          <p:nvPr/>
        </p:nvSpPr>
        <p:spPr>
          <a:xfrm>
            <a:off x="548640" y="1005840"/>
            <a:ext cx="11064240" cy="365760"/>
          </a:xfrm>
          <a:prstGeom prst="rect">
            <a:avLst/>
          </a:prstGeom>
          <a:noFill/>
          <a:ln/>
        </p:spPr>
        <p:txBody>
          <a:bodyPr wrap="square" lIns="0" tIns="0" rIns="0" bIns="0" rtlCol="0" anchor="ctr"/>
          <a:lstStyle/>
          <a:p>
            <a:pPr marL="0" indent="0">
              <a:buNone/>
            </a:pPr>
            <a:r>
              <a:rPr lang="en-US" sz="1600" dirty="0">
                <a:solidFill>
                  <a:srgbClr val="6B7280"/>
                </a:solidFill>
                <a:latin typeface="Calibri" pitchFamily="34" charset="0"/>
                <a:ea typeface="Calibri" pitchFamily="34" charset="-122"/>
                <a:cs typeface="Calibri" pitchFamily="34" charset="-120"/>
              </a:rPr>
              <a:t>Each phase builds on the one before it</a:t>
            </a:r>
            <a:endParaRPr lang="en-US" sz="1600" dirty="0"/>
          </a:p>
        </p:txBody>
      </p:sp>
      <p:sp>
        <p:nvSpPr>
          <p:cNvPr id="4" name="Shape 2"/>
          <p:cNvSpPr/>
          <p:nvPr/>
        </p:nvSpPr>
        <p:spPr>
          <a:xfrm>
            <a:off x="608076" y="1691640"/>
            <a:ext cx="1828800" cy="1371600"/>
          </a:xfrm>
          <a:prstGeom prst="roundRect">
            <a:avLst>
              <a:gd name="adj" fmla="val 6667"/>
            </a:avLst>
          </a:prstGeom>
          <a:solidFill>
            <a:srgbClr val="171A21"/>
          </a:solidFill>
          <a:ln w="12700">
            <a:solidFill>
              <a:srgbClr val="171A21"/>
            </a:solidFill>
            <a:prstDash val="solid"/>
          </a:ln>
          <a:effectLst>
            <a:outerShdw blurRad="101600" dist="25400" dir="5400000" algn="bl" rotWithShape="0">
              <a:srgbClr val="000000">
                <a:alpha val="12000"/>
              </a:srgbClr>
            </a:outerShdw>
          </a:effectLst>
        </p:spPr>
      </p:sp>
      <p:sp>
        <p:nvSpPr>
          <p:cNvPr id="5" name="Text 3"/>
          <p:cNvSpPr txBox="1"/>
          <p:nvPr/>
        </p:nvSpPr>
        <p:spPr>
          <a:xfrm>
            <a:off x="608076" y="1691640"/>
            <a:ext cx="1828800" cy="1371600"/>
          </a:xfrm>
          <a:prstGeom prst="rect">
            <a:avLst/>
          </a:prstGeom>
          <a:noFill/>
          <a:ln/>
        </p:spPr>
        <p:txBody>
          <a:bodyPr wrap="square" lIns="114300" tIns="114300" rIns="114300" bIns="114300" rtlCol="0" anchor="t"/>
          <a:lstStyle/>
          <a:p>
            <a:pPr marL="0" indent="0" algn="l">
              <a:spcAft>
                <a:spcPts val="300"/>
              </a:spcAft>
              <a:buNone/>
            </a:pPr>
            <a:r>
              <a:rPr lang="en-US" sz="1100" b="1" dirty="0">
                <a:solidFill>
                  <a:srgbClr val="F5A524"/>
                </a:solidFill>
                <a:latin typeface="Calibri" pitchFamily="34" charset="0"/>
                <a:ea typeface="Calibri" pitchFamily="34" charset="-122"/>
                <a:cs typeface="Calibri" pitchFamily="34" charset="-120"/>
              </a:rPr>
              <a:t>PHASE 1</a:t>
            </a:r>
            <a:endParaRPr lang="en-US" sz="1100" dirty="0"/>
          </a:p>
          <a:p>
            <a:pPr marL="0" indent="0" algn="l">
              <a:spcAft>
                <a:spcPts val="300"/>
              </a:spcAft>
              <a:buNone/>
            </a:pPr>
            <a:r>
              <a:rPr lang="en-US" sz="1500" b="1" dirty="0">
                <a:solidFill>
                  <a:srgbClr val="FFFFFF"/>
                </a:solidFill>
                <a:latin typeface="Calibri" pitchFamily="34" charset="0"/>
                <a:ea typeface="Calibri" pitchFamily="34" charset="-122"/>
                <a:cs typeface="Calibri" pitchFamily="34" charset="-120"/>
              </a:rPr>
              <a:t>RAG Foundation</a:t>
            </a:r>
            <a:endParaRPr lang="en-US" sz="1100" dirty="0"/>
          </a:p>
        </p:txBody>
      </p:sp>
      <p:sp>
        <p:nvSpPr>
          <p:cNvPr id="6" name="Shape 4"/>
          <p:cNvSpPr/>
          <p:nvPr/>
        </p:nvSpPr>
        <p:spPr>
          <a:xfrm>
            <a:off x="2455164" y="2377440"/>
            <a:ext cx="420624" cy="0"/>
          </a:xfrm>
          <a:prstGeom prst="line">
            <a:avLst/>
          </a:prstGeom>
          <a:noFill/>
          <a:ln w="25400">
            <a:solidFill>
              <a:srgbClr val="171A21"/>
            </a:solidFill>
            <a:prstDash val="solid"/>
            <a:tailEnd type="triangle"/>
          </a:ln>
        </p:spPr>
      </p:sp>
      <p:sp>
        <p:nvSpPr>
          <p:cNvPr id="7" name="Shape 5"/>
          <p:cNvSpPr/>
          <p:nvPr/>
        </p:nvSpPr>
        <p:spPr>
          <a:xfrm>
            <a:off x="2894076" y="1691640"/>
            <a:ext cx="1828800" cy="1371600"/>
          </a:xfrm>
          <a:prstGeom prst="roundRect">
            <a:avLst>
              <a:gd name="adj" fmla="val 6667"/>
            </a:avLst>
          </a:prstGeom>
          <a:solidFill>
            <a:srgbClr val="171A21"/>
          </a:solidFill>
          <a:ln w="12700">
            <a:solidFill>
              <a:srgbClr val="171A21"/>
            </a:solidFill>
            <a:prstDash val="solid"/>
          </a:ln>
          <a:effectLst>
            <a:outerShdw blurRad="101600" dist="25400" dir="5400000" algn="bl" rotWithShape="0">
              <a:srgbClr val="000000">
                <a:alpha val="12000"/>
              </a:srgbClr>
            </a:outerShdw>
          </a:effectLst>
        </p:spPr>
      </p:sp>
      <p:sp>
        <p:nvSpPr>
          <p:cNvPr id="8" name="Text 6"/>
          <p:cNvSpPr txBox="1"/>
          <p:nvPr/>
        </p:nvSpPr>
        <p:spPr>
          <a:xfrm>
            <a:off x="2894076" y="1691640"/>
            <a:ext cx="1828800" cy="1371600"/>
          </a:xfrm>
          <a:prstGeom prst="rect">
            <a:avLst/>
          </a:prstGeom>
          <a:noFill/>
          <a:ln/>
        </p:spPr>
        <p:txBody>
          <a:bodyPr wrap="square" lIns="114300" tIns="114300" rIns="114300" bIns="114300" rtlCol="0" anchor="t"/>
          <a:lstStyle/>
          <a:p>
            <a:pPr marL="0" indent="0" algn="l">
              <a:spcAft>
                <a:spcPts val="300"/>
              </a:spcAft>
              <a:buNone/>
            </a:pPr>
            <a:r>
              <a:rPr lang="en-US" sz="1100" b="1" dirty="0">
                <a:solidFill>
                  <a:srgbClr val="F5A524"/>
                </a:solidFill>
                <a:latin typeface="Calibri" pitchFamily="34" charset="0"/>
                <a:ea typeface="Calibri" pitchFamily="34" charset="-122"/>
                <a:cs typeface="Calibri" pitchFamily="34" charset="-120"/>
              </a:rPr>
              <a:t>PHASE 2</a:t>
            </a:r>
            <a:endParaRPr lang="en-US" sz="1100" dirty="0"/>
          </a:p>
          <a:p>
            <a:pPr marL="0" indent="0" algn="l">
              <a:spcAft>
                <a:spcPts val="300"/>
              </a:spcAft>
              <a:buNone/>
            </a:pPr>
            <a:r>
              <a:rPr lang="en-US" sz="1500" b="1" dirty="0">
                <a:solidFill>
                  <a:srgbClr val="FFFFFF"/>
                </a:solidFill>
                <a:latin typeface="Calibri" pitchFamily="34" charset="0"/>
                <a:ea typeface="Calibri" pitchFamily="34" charset="-122"/>
                <a:cs typeface="Calibri" pitchFamily="34" charset="-120"/>
              </a:rPr>
              <a:t>Agent Orchestrator</a:t>
            </a:r>
            <a:endParaRPr lang="en-US" sz="1100" dirty="0"/>
          </a:p>
        </p:txBody>
      </p:sp>
      <p:sp>
        <p:nvSpPr>
          <p:cNvPr id="9" name="Shape 7"/>
          <p:cNvSpPr/>
          <p:nvPr/>
        </p:nvSpPr>
        <p:spPr>
          <a:xfrm>
            <a:off x="4741164" y="2377440"/>
            <a:ext cx="420624" cy="0"/>
          </a:xfrm>
          <a:prstGeom prst="line">
            <a:avLst/>
          </a:prstGeom>
          <a:noFill/>
          <a:ln w="25400">
            <a:solidFill>
              <a:srgbClr val="171A21"/>
            </a:solidFill>
            <a:prstDash val="solid"/>
            <a:tailEnd type="triangle"/>
          </a:ln>
        </p:spPr>
      </p:sp>
      <p:sp>
        <p:nvSpPr>
          <p:cNvPr id="10" name="Shape 8"/>
          <p:cNvSpPr/>
          <p:nvPr/>
        </p:nvSpPr>
        <p:spPr>
          <a:xfrm>
            <a:off x="5180076" y="1691640"/>
            <a:ext cx="1828800" cy="1371600"/>
          </a:xfrm>
          <a:prstGeom prst="roundRect">
            <a:avLst>
              <a:gd name="adj" fmla="val 6667"/>
            </a:avLst>
          </a:prstGeom>
          <a:solidFill>
            <a:srgbClr val="171A21"/>
          </a:solidFill>
          <a:ln w="12700">
            <a:solidFill>
              <a:srgbClr val="171A21"/>
            </a:solidFill>
            <a:prstDash val="solid"/>
          </a:ln>
          <a:effectLst>
            <a:outerShdw blurRad="101600" dist="25400" dir="5400000" algn="bl" rotWithShape="0">
              <a:srgbClr val="000000">
                <a:alpha val="12000"/>
              </a:srgbClr>
            </a:outerShdw>
          </a:effectLst>
        </p:spPr>
      </p:sp>
      <p:sp>
        <p:nvSpPr>
          <p:cNvPr id="11" name="Text 9"/>
          <p:cNvSpPr txBox="1"/>
          <p:nvPr/>
        </p:nvSpPr>
        <p:spPr>
          <a:xfrm>
            <a:off x="5180076" y="1691640"/>
            <a:ext cx="1828800" cy="1371600"/>
          </a:xfrm>
          <a:prstGeom prst="rect">
            <a:avLst/>
          </a:prstGeom>
          <a:noFill/>
          <a:ln/>
        </p:spPr>
        <p:txBody>
          <a:bodyPr wrap="square" lIns="114300" tIns="114300" rIns="114300" bIns="114300" rtlCol="0" anchor="t"/>
          <a:lstStyle/>
          <a:p>
            <a:pPr marL="0" indent="0" algn="l">
              <a:spcAft>
                <a:spcPts val="300"/>
              </a:spcAft>
              <a:buNone/>
            </a:pPr>
            <a:r>
              <a:rPr lang="en-US" sz="1100" b="1" dirty="0">
                <a:solidFill>
                  <a:srgbClr val="F5A524"/>
                </a:solidFill>
                <a:latin typeface="Calibri" pitchFamily="34" charset="0"/>
                <a:ea typeface="Calibri" pitchFamily="34" charset="-122"/>
                <a:cs typeface="Calibri" pitchFamily="34" charset="-120"/>
              </a:rPr>
              <a:t>PHASE 3</a:t>
            </a:r>
            <a:endParaRPr lang="en-US" sz="1100" dirty="0"/>
          </a:p>
          <a:p>
            <a:pPr marL="0" indent="0" algn="l">
              <a:spcAft>
                <a:spcPts val="300"/>
              </a:spcAft>
              <a:buNone/>
            </a:pPr>
            <a:r>
              <a:rPr lang="en-US" sz="1500" b="1" dirty="0">
                <a:solidFill>
                  <a:srgbClr val="FFFFFF"/>
                </a:solidFill>
                <a:latin typeface="Calibri" pitchFamily="34" charset="0"/>
                <a:ea typeface="Calibri" pitchFamily="34" charset="-122"/>
                <a:cs typeface="Calibri" pitchFamily="34" charset="-120"/>
              </a:rPr>
              <a:t>Evidence-Grounded Generation</a:t>
            </a:r>
            <a:endParaRPr lang="en-US" sz="1100" dirty="0"/>
          </a:p>
        </p:txBody>
      </p:sp>
      <p:sp>
        <p:nvSpPr>
          <p:cNvPr id="12" name="Shape 10"/>
          <p:cNvSpPr/>
          <p:nvPr/>
        </p:nvSpPr>
        <p:spPr>
          <a:xfrm>
            <a:off x="7027164" y="2377440"/>
            <a:ext cx="420624" cy="0"/>
          </a:xfrm>
          <a:prstGeom prst="line">
            <a:avLst/>
          </a:prstGeom>
          <a:noFill/>
          <a:ln w="25400">
            <a:solidFill>
              <a:srgbClr val="171A21"/>
            </a:solidFill>
            <a:prstDash val="solid"/>
            <a:tailEnd type="triangle"/>
          </a:ln>
        </p:spPr>
      </p:sp>
      <p:sp>
        <p:nvSpPr>
          <p:cNvPr id="13" name="Shape 11"/>
          <p:cNvSpPr/>
          <p:nvPr/>
        </p:nvSpPr>
        <p:spPr>
          <a:xfrm>
            <a:off x="7466076" y="1691640"/>
            <a:ext cx="1828800" cy="1371600"/>
          </a:xfrm>
          <a:prstGeom prst="roundRect">
            <a:avLst>
              <a:gd name="adj" fmla="val 6667"/>
            </a:avLst>
          </a:prstGeom>
          <a:solidFill>
            <a:srgbClr val="FFFFFF"/>
          </a:solidFill>
          <a:ln w="19050">
            <a:solidFill>
              <a:srgbClr val="6B7280"/>
            </a:solidFill>
            <a:prstDash val="solid"/>
          </a:ln>
        </p:spPr>
      </p:sp>
      <p:sp>
        <p:nvSpPr>
          <p:cNvPr id="14" name="Text 12"/>
          <p:cNvSpPr txBox="1"/>
          <p:nvPr/>
        </p:nvSpPr>
        <p:spPr>
          <a:xfrm>
            <a:off x="7466076" y="1691640"/>
            <a:ext cx="1828800" cy="1371600"/>
          </a:xfrm>
          <a:prstGeom prst="rect">
            <a:avLst/>
          </a:prstGeom>
          <a:noFill/>
          <a:ln/>
        </p:spPr>
        <p:txBody>
          <a:bodyPr wrap="square" lIns="114300" tIns="114300" rIns="114300" bIns="114300" rtlCol="0" anchor="t"/>
          <a:lstStyle/>
          <a:p>
            <a:pPr marL="0" indent="0" algn="l">
              <a:spcAft>
                <a:spcPts val="300"/>
              </a:spcAft>
              <a:buNone/>
            </a:pPr>
            <a:r>
              <a:rPr lang="en-US" sz="1100" b="1" dirty="0">
                <a:solidFill>
                  <a:srgbClr val="0F766E"/>
                </a:solidFill>
                <a:latin typeface="Calibri" pitchFamily="34" charset="0"/>
                <a:ea typeface="Calibri" pitchFamily="34" charset="-122"/>
                <a:cs typeface="Calibri" pitchFamily="34" charset="-120"/>
              </a:rPr>
              <a:t>PHASE 4</a:t>
            </a:r>
            <a:endParaRPr lang="en-US" sz="1100" dirty="0"/>
          </a:p>
          <a:p>
            <a:pPr marL="0" indent="0" algn="l">
              <a:spcAft>
                <a:spcPts val="300"/>
              </a:spcAft>
              <a:buNone/>
            </a:pPr>
            <a:r>
              <a:rPr lang="en-US" sz="1500" b="1" dirty="0">
                <a:solidFill>
                  <a:srgbClr val="171A21"/>
                </a:solidFill>
                <a:latin typeface="Calibri" pitchFamily="34" charset="0"/>
                <a:ea typeface="Calibri" pitchFamily="34" charset="-122"/>
                <a:cs typeface="Calibri" pitchFamily="34" charset="-120"/>
              </a:rPr>
              <a:t>Security Engine Hardening</a:t>
            </a:r>
            <a:endParaRPr lang="en-US" sz="1100" dirty="0"/>
          </a:p>
        </p:txBody>
      </p:sp>
      <p:sp>
        <p:nvSpPr>
          <p:cNvPr id="15" name="Shape 13"/>
          <p:cNvSpPr/>
          <p:nvPr/>
        </p:nvSpPr>
        <p:spPr>
          <a:xfrm>
            <a:off x="9313164" y="2377440"/>
            <a:ext cx="420624" cy="0"/>
          </a:xfrm>
          <a:prstGeom prst="line">
            <a:avLst/>
          </a:prstGeom>
          <a:noFill/>
          <a:ln w="25400">
            <a:solidFill>
              <a:srgbClr val="171A21"/>
            </a:solidFill>
            <a:prstDash val="solid"/>
            <a:tailEnd type="triangle"/>
          </a:ln>
        </p:spPr>
      </p:sp>
      <p:sp>
        <p:nvSpPr>
          <p:cNvPr id="16" name="Shape 14"/>
          <p:cNvSpPr/>
          <p:nvPr/>
        </p:nvSpPr>
        <p:spPr>
          <a:xfrm>
            <a:off x="9752076" y="1691640"/>
            <a:ext cx="1828800" cy="1371600"/>
          </a:xfrm>
          <a:prstGeom prst="roundRect">
            <a:avLst>
              <a:gd name="adj" fmla="val 6667"/>
            </a:avLst>
          </a:prstGeom>
          <a:solidFill>
            <a:srgbClr val="FFFFFF"/>
          </a:solidFill>
          <a:ln w="19050">
            <a:solidFill>
              <a:srgbClr val="6B7280"/>
            </a:solidFill>
            <a:prstDash val="solid"/>
          </a:ln>
        </p:spPr>
      </p:sp>
      <p:sp>
        <p:nvSpPr>
          <p:cNvPr id="17" name="Text 15"/>
          <p:cNvSpPr txBox="1"/>
          <p:nvPr/>
        </p:nvSpPr>
        <p:spPr>
          <a:xfrm>
            <a:off x="9752076" y="1691640"/>
            <a:ext cx="1828800" cy="1371600"/>
          </a:xfrm>
          <a:prstGeom prst="rect">
            <a:avLst/>
          </a:prstGeom>
          <a:noFill/>
          <a:ln/>
        </p:spPr>
        <p:txBody>
          <a:bodyPr wrap="square" lIns="114300" tIns="114300" rIns="114300" bIns="114300" rtlCol="0" anchor="t"/>
          <a:lstStyle/>
          <a:p>
            <a:pPr marL="0" indent="0" algn="l">
              <a:spcAft>
                <a:spcPts val="300"/>
              </a:spcAft>
              <a:buNone/>
            </a:pPr>
            <a:r>
              <a:rPr lang="en-US" sz="1100" b="1" dirty="0">
                <a:solidFill>
                  <a:srgbClr val="0F766E"/>
                </a:solidFill>
                <a:latin typeface="Calibri" pitchFamily="34" charset="0"/>
                <a:ea typeface="Calibri" pitchFamily="34" charset="-122"/>
                <a:cs typeface="Calibri" pitchFamily="34" charset="-120"/>
              </a:rPr>
              <a:t>PHASE 5</a:t>
            </a:r>
            <a:endParaRPr lang="en-US" sz="1100" dirty="0"/>
          </a:p>
          <a:p>
            <a:pPr marL="0" indent="0" algn="l">
              <a:spcAft>
                <a:spcPts val="300"/>
              </a:spcAft>
              <a:buNone/>
            </a:pPr>
            <a:r>
              <a:rPr lang="en-US" sz="1500" b="1" dirty="0">
                <a:solidFill>
                  <a:srgbClr val="171A21"/>
                </a:solidFill>
                <a:latin typeface="Calibri" pitchFamily="34" charset="0"/>
                <a:ea typeface="Calibri" pitchFamily="34" charset="-122"/>
                <a:cs typeface="Calibri" pitchFamily="34" charset="-120"/>
              </a:rPr>
              <a:t>Change-Impact Analysis</a:t>
            </a:r>
            <a:endParaRPr lang="en-US" sz="1100" dirty="0"/>
          </a:p>
        </p:txBody>
      </p:sp>
      <p:sp>
        <p:nvSpPr>
          <p:cNvPr id="18" name="Shape 16"/>
          <p:cNvSpPr/>
          <p:nvPr/>
        </p:nvSpPr>
        <p:spPr>
          <a:xfrm>
            <a:off x="608076" y="4069080"/>
            <a:ext cx="1828800" cy="1371600"/>
          </a:xfrm>
          <a:prstGeom prst="roundRect">
            <a:avLst>
              <a:gd name="adj" fmla="val 6667"/>
            </a:avLst>
          </a:prstGeom>
          <a:solidFill>
            <a:srgbClr val="FFFFFF"/>
          </a:solidFill>
          <a:ln w="19050">
            <a:solidFill>
              <a:srgbClr val="6B7280"/>
            </a:solidFill>
            <a:prstDash val="solid"/>
          </a:ln>
        </p:spPr>
      </p:sp>
      <p:sp>
        <p:nvSpPr>
          <p:cNvPr id="19" name="Text 17"/>
          <p:cNvSpPr txBox="1"/>
          <p:nvPr/>
        </p:nvSpPr>
        <p:spPr>
          <a:xfrm>
            <a:off x="608076" y="4069080"/>
            <a:ext cx="1828800" cy="1371600"/>
          </a:xfrm>
          <a:prstGeom prst="rect">
            <a:avLst/>
          </a:prstGeom>
          <a:noFill/>
          <a:ln/>
        </p:spPr>
        <p:txBody>
          <a:bodyPr wrap="square" lIns="114300" tIns="114300" rIns="114300" bIns="114300" rtlCol="0" anchor="t"/>
          <a:lstStyle/>
          <a:p>
            <a:pPr marL="0" indent="0" algn="l">
              <a:spcAft>
                <a:spcPts val="300"/>
              </a:spcAft>
              <a:buNone/>
            </a:pPr>
            <a:r>
              <a:rPr lang="en-US" sz="1100" b="1" dirty="0">
                <a:solidFill>
                  <a:srgbClr val="0F766E"/>
                </a:solidFill>
                <a:latin typeface="Calibri" pitchFamily="34" charset="0"/>
                <a:ea typeface="Calibri" pitchFamily="34" charset="-122"/>
                <a:cs typeface="Calibri" pitchFamily="34" charset="-120"/>
              </a:rPr>
              <a:t>PHASE 6</a:t>
            </a:r>
            <a:endParaRPr lang="en-US" sz="1100" dirty="0"/>
          </a:p>
          <a:p>
            <a:pPr marL="0" indent="0" algn="l">
              <a:spcAft>
                <a:spcPts val="300"/>
              </a:spcAft>
              <a:buNone/>
            </a:pPr>
            <a:r>
              <a:rPr lang="en-US" sz="1500" b="1" dirty="0">
                <a:solidFill>
                  <a:srgbClr val="171A21"/>
                </a:solidFill>
                <a:latin typeface="Calibri" pitchFamily="34" charset="0"/>
                <a:ea typeface="Calibri" pitchFamily="34" charset="-122"/>
                <a:cs typeface="Calibri" pitchFamily="34" charset="-120"/>
              </a:rPr>
              <a:t>Integration Verification</a:t>
            </a:r>
            <a:endParaRPr lang="en-US" sz="1100" dirty="0"/>
          </a:p>
        </p:txBody>
      </p:sp>
      <p:sp>
        <p:nvSpPr>
          <p:cNvPr id="20" name="Shape 18"/>
          <p:cNvSpPr/>
          <p:nvPr/>
        </p:nvSpPr>
        <p:spPr>
          <a:xfrm>
            <a:off x="2455164" y="4754880"/>
            <a:ext cx="420624" cy="0"/>
          </a:xfrm>
          <a:prstGeom prst="line">
            <a:avLst/>
          </a:prstGeom>
          <a:noFill/>
          <a:ln w="25400">
            <a:solidFill>
              <a:srgbClr val="171A21"/>
            </a:solidFill>
            <a:prstDash val="solid"/>
            <a:tailEnd type="triangle"/>
          </a:ln>
        </p:spPr>
      </p:sp>
      <p:sp>
        <p:nvSpPr>
          <p:cNvPr id="21" name="Shape 19"/>
          <p:cNvSpPr/>
          <p:nvPr/>
        </p:nvSpPr>
        <p:spPr>
          <a:xfrm>
            <a:off x="2894076" y="4069080"/>
            <a:ext cx="1828800" cy="1371600"/>
          </a:xfrm>
          <a:prstGeom prst="roundRect">
            <a:avLst>
              <a:gd name="adj" fmla="val 6667"/>
            </a:avLst>
          </a:prstGeom>
          <a:solidFill>
            <a:srgbClr val="FFFFFF"/>
          </a:solidFill>
          <a:ln w="19050">
            <a:solidFill>
              <a:srgbClr val="6B7280"/>
            </a:solidFill>
            <a:prstDash val="solid"/>
          </a:ln>
        </p:spPr>
      </p:sp>
      <p:sp>
        <p:nvSpPr>
          <p:cNvPr id="22" name="Text 20"/>
          <p:cNvSpPr txBox="1"/>
          <p:nvPr/>
        </p:nvSpPr>
        <p:spPr>
          <a:xfrm>
            <a:off x="2894076" y="4069080"/>
            <a:ext cx="1828800" cy="1371600"/>
          </a:xfrm>
          <a:prstGeom prst="rect">
            <a:avLst/>
          </a:prstGeom>
          <a:noFill/>
          <a:ln/>
        </p:spPr>
        <p:txBody>
          <a:bodyPr wrap="square" lIns="114300" tIns="114300" rIns="114300" bIns="114300" rtlCol="0" anchor="t"/>
          <a:lstStyle/>
          <a:p>
            <a:pPr marL="0" indent="0" algn="l">
              <a:spcAft>
                <a:spcPts val="300"/>
              </a:spcAft>
              <a:buNone/>
            </a:pPr>
            <a:r>
              <a:rPr lang="en-US" sz="1100" b="1" dirty="0">
                <a:solidFill>
                  <a:srgbClr val="0F766E"/>
                </a:solidFill>
                <a:latin typeface="Calibri" pitchFamily="34" charset="0"/>
                <a:ea typeface="Calibri" pitchFamily="34" charset="-122"/>
                <a:cs typeface="Calibri" pitchFamily="34" charset="-120"/>
              </a:rPr>
              <a:t>PHASE 7</a:t>
            </a:r>
            <a:endParaRPr lang="en-US" sz="1100" dirty="0"/>
          </a:p>
          <a:p>
            <a:pPr marL="0" indent="0" algn="l">
              <a:spcAft>
                <a:spcPts val="300"/>
              </a:spcAft>
              <a:buNone/>
            </a:pPr>
            <a:r>
              <a:rPr lang="en-US" sz="1500" b="1" dirty="0">
                <a:solidFill>
                  <a:srgbClr val="171A21"/>
                </a:solidFill>
                <a:latin typeface="Calibri" pitchFamily="34" charset="0"/>
                <a:ea typeface="Calibri" pitchFamily="34" charset="-122"/>
                <a:cs typeface="Calibri" pitchFamily="34" charset="-120"/>
              </a:rPr>
              <a:t>CI / Security Gate</a:t>
            </a:r>
            <a:endParaRPr lang="en-US" sz="1100" dirty="0"/>
          </a:p>
        </p:txBody>
      </p:sp>
      <p:sp>
        <p:nvSpPr>
          <p:cNvPr id="23" name="Shape 21"/>
          <p:cNvSpPr/>
          <p:nvPr/>
        </p:nvSpPr>
        <p:spPr>
          <a:xfrm>
            <a:off x="4741164" y="4754880"/>
            <a:ext cx="420624" cy="0"/>
          </a:xfrm>
          <a:prstGeom prst="line">
            <a:avLst/>
          </a:prstGeom>
          <a:noFill/>
          <a:ln w="25400">
            <a:solidFill>
              <a:srgbClr val="171A21"/>
            </a:solidFill>
            <a:prstDash val="solid"/>
            <a:tailEnd type="triangle"/>
          </a:ln>
        </p:spPr>
      </p:sp>
      <p:sp>
        <p:nvSpPr>
          <p:cNvPr id="24" name="Shape 22"/>
          <p:cNvSpPr/>
          <p:nvPr/>
        </p:nvSpPr>
        <p:spPr>
          <a:xfrm>
            <a:off x="5180076" y="4069080"/>
            <a:ext cx="1828800" cy="1371600"/>
          </a:xfrm>
          <a:prstGeom prst="roundRect">
            <a:avLst>
              <a:gd name="adj" fmla="val 6667"/>
            </a:avLst>
          </a:prstGeom>
          <a:solidFill>
            <a:srgbClr val="FFFFFF"/>
          </a:solidFill>
          <a:ln w="19050">
            <a:solidFill>
              <a:srgbClr val="6B7280"/>
            </a:solidFill>
            <a:prstDash val="solid"/>
          </a:ln>
        </p:spPr>
      </p:sp>
      <p:sp>
        <p:nvSpPr>
          <p:cNvPr id="25" name="Text 23"/>
          <p:cNvSpPr txBox="1"/>
          <p:nvPr/>
        </p:nvSpPr>
        <p:spPr>
          <a:xfrm>
            <a:off x="5180076" y="4069080"/>
            <a:ext cx="1828800" cy="1371600"/>
          </a:xfrm>
          <a:prstGeom prst="rect">
            <a:avLst/>
          </a:prstGeom>
          <a:noFill/>
          <a:ln/>
        </p:spPr>
        <p:txBody>
          <a:bodyPr wrap="square" lIns="114300" tIns="114300" rIns="114300" bIns="114300" rtlCol="0" anchor="t"/>
          <a:lstStyle/>
          <a:p>
            <a:pPr marL="0" indent="0" algn="l">
              <a:spcAft>
                <a:spcPts val="300"/>
              </a:spcAft>
              <a:buNone/>
            </a:pPr>
            <a:r>
              <a:rPr lang="en-US" sz="1100" b="1" dirty="0">
                <a:solidFill>
                  <a:srgbClr val="0F766E"/>
                </a:solidFill>
                <a:latin typeface="Calibri" pitchFamily="34" charset="0"/>
                <a:ea typeface="Calibri" pitchFamily="34" charset="-122"/>
                <a:cs typeface="Calibri" pitchFamily="34" charset="-120"/>
              </a:rPr>
              <a:t>PHASE 8</a:t>
            </a:r>
            <a:endParaRPr lang="en-US" sz="1100" dirty="0"/>
          </a:p>
          <a:p>
            <a:pPr marL="0" indent="0" algn="l">
              <a:spcAft>
                <a:spcPts val="300"/>
              </a:spcAft>
              <a:buNone/>
            </a:pPr>
            <a:r>
              <a:rPr lang="en-US" sz="1500" b="1" dirty="0">
                <a:solidFill>
                  <a:srgbClr val="171A21"/>
                </a:solidFill>
                <a:latin typeface="Calibri" pitchFamily="34" charset="0"/>
                <a:ea typeface="Calibri" pitchFamily="34" charset="-122"/>
                <a:cs typeface="Calibri" pitchFamily="34" charset="-120"/>
              </a:rPr>
              <a:t>Frontend &amp; Integrated Workflow</a:t>
            </a:r>
            <a:endParaRPr lang="en-US" sz="1100" dirty="0"/>
          </a:p>
        </p:txBody>
      </p:sp>
      <p:sp>
        <p:nvSpPr>
          <p:cNvPr id="26" name="Shape 24"/>
          <p:cNvSpPr/>
          <p:nvPr/>
        </p:nvSpPr>
        <p:spPr>
          <a:xfrm>
            <a:off x="7027164" y="4754880"/>
            <a:ext cx="420624" cy="0"/>
          </a:xfrm>
          <a:prstGeom prst="line">
            <a:avLst/>
          </a:prstGeom>
          <a:noFill/>
          <a:ln w="25400">
            <a:solidFill>
              <a:srgbClr val="171A21"/>
            </a:solidFill>
            <a:prstDash val="solid"/>
            <a:tailEnd type="triangle"/>
          </a:ln>
        </p:spPr>
      </p:sp>
      <p:sp>
        <p:nvSpPr>
          <p:cNvPr id="27" name="Shape 25"/>
          <p:cNvSpPr/>
          <p:nvPr/>
        </p:nvSpPr>
        <p:spPr>
          <a:xfrm>
            <a:off x="7466076" y="4069080"/>
            <a:ext cx="1828800" cy="1371600"/>
          </a:xfrm>
          <a:prstGeom prst="roundRect">
            <a:avLst>
              <a:gd name="adj" fmla="val 6667"/>
            </a:avLst>
          </a:prstGeom>
          <a:solidFill>
            <a:srgbClr val="FFFFFF"/>
          </a:solidFill>
          <a:ln w="19050">
            <a:solidFill>
              <a:srgbClr val="6B7280"/>
            </a:solidFill>
            <a:prstDash val="solid"/>
          </a:ln>
        </p:spPr>
      </p:sp>
      <p:sp>
        <p:nvSpPr>
          <p:cNvPr id="28" name="Text 26"/>
          <p:cNvSpPr txBox="1"/>
          <p:nvPr/>
        </p:nvSpPr>
        <p:spPr>
          <a:xfrm>
            <a:off x="7466076" y="4069080"/>
            <a:ext cx="1828800" cy="1371600"/>
          </a:xfrm>
          <a:prstGeom prst="rect">
            <a:avLst/>
          </a:prstGeom>
          <a:noFill/>
          <a:ln/>
        </p:spPr>
        <p:txBody>
          <a:bodyPr wrap="square" lIns="114300" tIns="114300" rIns="114300" bIns="114300" rtlCol="0" anchor="t"/>
          <a:lstStyle/>
          <a:p>
            <a:pPr marL="0" indent="0" algn="l">
              <a:spcAft>
                <a:spcPts val="300"/>
              </a:spcAft>
              <a:buNone/>
            </a:pPr>
            <a:r>
              <a:rPr lang="en-US" sz="1100" b="1" dirty="0">
                <a:solidFill>
                  <a:srgbClr val="0F766E"/>
                </a:solidFill>
                <a:latin typeface="Calibri" pitchFamily="34" charset="0"/>
                <a:ea typeface="Calibri" pitchFamily="34" charset="-122"/>
                <a:cs typeface="Calibri" pitchFamily="34" charset="-120"/>
              </a:rPr>
              <a:t>PHASE 9</a:t>
            </a:r>
            <a:endParaRPr lang="en-US" sz="1100" dirty="0"/>
          </a:p>
          <a:p>
            <a:pPr marL="0" indent="0" algn="l">
              <a:spcAft>
                <a:spcPts val="300"/>
              </a:spcAft>
              <a:buNone/>
            </a:pPr>
            <a:r>
              <a:rPr lang="en-US" sz="1500" b="1" dirty="0">
                <a:solidFill>
                  <a:srgbClr val="171A21"/>
                </a:solidFill>
                <a:latin typeface="Calibri" pitchFamily="34" charset="0"/>
                <a:ea typeface="Calibri" pitchFamily="34" charset="-122"/>
                <a:cs typeface="Calibri" pitchFamily="34" charset="-120"/>
              </a:rPr>
              <a:t>Finalization</a:t>
            </a:r>
            <a:endParaRPr lang="en-US" sz="1100" dirty="0"/>
          </a:p>
        </p:txBody>
      </p:sp>
      <p:sp>
        <p:nvSpPr>
          <p:cNvPr id="29" name="Shape 27"/>
          <p:cNvSpPr/>
          <p:nvPr/>
        </p:nvSpPr>
        <p:spPr>
          <a:xfrm>
            <a:off x="10666476" y="3081528"/>
            <a:ext cx="0" cy="484632"/>
          </a:xfrm>
          <a:prstGeom prst="line">
            <a:avLst/>
          </a:prstGeom>
          <a:noFill/>
          <a:ln w="25400">
            <a:solidFill>
              <a:srgbClr val="171A21"/>
            </a:solidFill>
            <a:prstDash val="solid"/>
          </a:ln>
        </p:spPr>
      </p:sp>
      <p:sp>
        <p:nvSpPr>
          <p:cNvPr id="30" name="Shape 28"/>
          <p:cNvSpPr/>
          <p:nvPr/>
        </p:nvSpPr>
        <p:spPr>
          <a:xfrm>
            <a:off x="1522476" y="3566160"/>
            <a:ext cx="9144000" cy="0"/>
          </a:xfrm>
          <a:prstGeom prst="line">
            <a:avLst/>
          </a:prstGeom>
          <a:noFill/>
          <a:ln w="25400">
            <a:solidFill>
              <a:srgbClr val="171A21"/>
            </a:solidFill>
            <a:prstDash val="solid"/>
          </a:ln>
        </p:spPr>
      </p:sp>
      <p:sp>
        <p:nvSpPr>
          <p:cNvPr id="31" name="Shape 29"/>
          <p:cNvSpPr/>
          <p:nvPr/>
        </p:nvSpPr>
        <p:spPr>
          <a:xfrm>
            <a:off x="1522476" y="3566160"/>
            <a:ext cx="0" cy="484632"/>
          </a:xfrm>
          <a:prstGeom prst="line">
            <a:avLst/>
          </a:prstGeom>
          <a:noFill/>
          <a:ln w="25400">
            <a:solidFill>
              <a:srgbClr val="171A21"/>
            </a:solidFill>
            <a:prstDash val="solid"/>
            <a:tailEnd type="triangle"/>
          </a:ln>
        </p:spPr>
      </p:sp>
      <p:sp>
        <p:nvSpPr>
          <p:cNvPr id="32" name="Shape 30"/>
          <p:cNvSpPr/>
          <p:nvPr/>
        </p:nvSpPr>
        <p:spPr>
          <a:xfrm>
            <a:off x="9752076" y="4069080"/>
            <a:ext cx="1828800" cy="1371600"/>
          </a:xfrm>
          <a:prstGeom prst="roundRect">
            <a:avLst>
              <a:gd name="adj" fmla="val 8000"/>
            </a:avLst>
          </a:prstGeom>
          <a:solidFill>
            <a:srgbClr val="FFFFFF"/>
          </a:solidFill>
          <a:ln w="12700">
            <a:solidFill>
              <a:srgbClr val="FFFFFF"/>
            </a:solidFill>
            <a:prstDash val="solid"/>
          </a:ln>
          <a:effectLst>
            <a:outerShdw blurRad="101600" dist="25400" dir="5400000" algn="bl" rotWithShape="0">
              <a:srgbClr val="000000">
                <a:alpha val="12000"/>
              </a:srgbClr>
            </a:outerShdw>
          </a:effectLst>
        </p:spPr>
      </p:sp>
      <p:sp>
        <p:nvSpPr>
          <p:cNvPr id="33" name="Shape 31"/>
          <p:cNvSpPr/>
          <p:nvPr/>
        </p:nvSpPr>
        <p:spPr>
          <a:xfrm>
            <a:off x="9934956" y="4270248"/>
            <a:ext cx="365760" cy="256032"/>
          </a:xfrm>
          <a:prstGeom prst="roundRect">
            <a:avLst>
              <a:gd name="adj" fmla="val 17857"/>
            </a:avLst>
          </a:prstGeom>
          <a:solidFill>
            <a:srgbClr val="171A21"/>
          </a:solidFill>
          <a:ln w="12700">
            <a:solidFill>
              <a:srgbClr val="171A21"/>
            </a:solidFill>
            <a:prstDash val="solid"/>
          </a:ln>
        </p:spPr>
      </p:sp>
      <p:sp>
        <p:nvSpPr>
          <p:cNvPr id="34" name="Text 32"/>
          <p:cNvSpPr txBox="1"/>
          <p:nvPr/>
        </p:nvSpPr>
        <p:spPr>
          <a:xfrm>
            <a:off x="10392156" y="4206240"/>
            <a:ext cx="1143000" cy="411480"/>
          </a:xfrm>
          <a:prstGeom prst="rect">
            <a:avLst/>
          </a:prstGeom>
          <a:noFill/>
          <a:ln/>
        </p:spPr>
        <p:txBody>
          <a:bodyPr wrap="square" lIns="0" tIns="0" rIns="0" bIns="0" rtlCol="0" anchor="ctr"/>
          <a:lstStyle/>
          <a:p>
            <a:pPr marL="0" indent="0">
              <a:buNone/>
            </a:pPr>
            <a:r>
              <a:rPr lang="en-US" sz="1100" dirty="0">
                <a:solidFill>
                  <a:srgbClr val="1F2430"/>
                </a:solidFill>
                <a:latin typeface="Calibri" pitchFamily="34" charset="0"/>
                <a:ea typeface="Calibri" pitchFamily="34" charset="-122"/>
                <a:cs typeface="Calibri" pitchFamily="34" charset="-120"/>
              </a:rPr>
              <a:t>Presented in detail today</a:t>
            </a:r>
            <a:endParaRPr lang="en-US" sz="1100" dirty="0"/>
          </a:p>
        </p:txBody>
      </p:sp>
      <p:sp>
        <p:nvSpPr>
          <p:cNvPr id="35" name="Shape 33"/>
          <p:cNvSpPr/>
          <p:nvPr/>
        </p:nvSpPr>
        <p:spPr>
          <a:xfrm>
            <a:off x="9934956" y="4846320"/>
            <a:ext cx="365760" cy="256032"/>
          </a:xfrm>
          <a:prstGeom prst="roundRect">
            <a:avLst>
              <a:gd name="adj" fmla="val 17857"/>
            </a:avLst>
          </a:prstGeom>
          <a:solidFill>
            <a:srgbClr val="FFFFFF"/>
          </a:solidFill>
          <a:ln w="19050">
            <a:solidFill>
              <a:srgbClr val="6B7280"/>
            </a:solidFill>
            <a:prstDash val="solid"/>
          </a:ln>
        </p:spPr>
      </p:sp>
      <p:sp>
        <p:nvSpPr>
          <p:cNvPr id="36" name="Text 34"/>
          <p:cNvSpPr txBox="1"/>
          <p:nvPr/>
        </p:nvSpPr>
        <p:spPr>
          <a:xfrm>
            <a:off x="10392156" y="4782312"/>
            <a:ext cx="1143000" cy="411480"/>
          </a:xfrm>
          <a:prstGeom prst="rect">
            <a:avLst/>
          </a:prstGeom>
          <a:noFill/>
          <a:ln/>
        </p:spPr>
        <p:txBody>
          <a:bodyPr wrap="square" lIns="0" tIns="0" rIns="0" bIns="0" rtlCol="0" anchor="ctr"/>
          <a:lstStyle/>
          <a:p>
            <a:pPr marL="0" indent="0">
              <a:buNone/>
            </a:pPr>
            <a:r>
              <a:rPr lang="en-US" sz="1100" dirty="0">
                <a:solidFill>
                  <a:srgbClr val="1F2430"/>
                </a:solidFill>
                <a:latin typeface="Calibri" pitchFamily="34" charset="0"/>
                <a:ea typeface="Calibri" pitchFamily="34" charset="-122"/>
                <a:cs typeface="Calibri" pitchFamily="34" charset="-120"/>
              </a:rPr>
              <a:t>Next review</a:t>
            </a:r>
            <a:endParaRPr lang="en-US" sz="1100" dirty="0"/>
          </a:p>
        </p:txBody>
      </p:sp>
      <p:sp>
        <p:nvSpPr>
          <p:cNvPr id="37" name="Text 35"/>
          <p:cNvSpPr txBox="1"/>
          <p:nvPr/>
        </p:nvSpPr>
        <p:spPr>
          <a:xfrm>
            <a:off x="548640" y="6446520"/>
            <a:ext cx="5486400" cy="274320"/>
          </a:xfrm>
          <a:prstGeom prst="rect">
            <a:avLst/>
          </a:prstGeom>
          <a:noFill/>
          <a:ln/>
        </p:spPr>
        <p:txBody>
          <a:bodyPr wrap="square" lIns="0" tIns="0" rIns="0" bIns="0" rtlCol="0" anchor="ctr"/>
          <a:lstStyle/>
          <a:p>
            <a:pPr marL="0" indent="0">
              <a:buNone/>
            </a:pPr>
            <a:r>
              <a:rPr lang="en-US" sz="1000" dirty="0">
                <a:solidFill>
                  <a:srgbClr val="6B7280"/>
                </a:solidFill>
                <a:latin typeface="Calibri" pitchFamily="34" charset="0"/>
                <a:ea typeface="Calibri" pitchFamily="34" charset="-122"/>
                <a:cs typeface="Calibri" pitchFamily="34" charset="-120"/>
              </a:rPr>
              <a:t>KAVACH  |  Project Review</a:t>
            </a:r>
            <a:endParaRPr lang="en-US" sz="1000" dirty="0"/>
          </a:p>
        </p:txBody>
      </p:sp>
      <p:sp>
        <p:nvSpPr>
          <p:cNvPr id="38" name="Slide Number Placeholder 0"/>
          <p:cNvSpPr>
            <a:spLocks noGrp="1"/>
          </p:cNvSpPr>
          <p:nvPr>
            <p:ph type="sldNum" sz="quarter" idx="4294967295"/>
          </p:nvPr>
        </p:nvSpPr>
        <p:spPr>
          <a:xfrm>
            <a:off x="11064240" y="644652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6B7280"/>
                </a:solidFill>
                <a:latin typeface="Calibri"/>
                <a:ea typeface="Calibri"/>
                <a:cs typeface="Calibri"/>
              </a:defRPr>
            </a:lvl1pPr>
          </a:lstStyle>
          <a:p>
            <a:pPr algn="r"/>
            <a:fld id="{F7021451-1387-4CA6-816F-3879F97B5CBC}" type="slidenum">
              <a:rPr lang="en-US" b="0"/>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3F4F6"/>
        </a:solidFill>
        <a:effectLst/>
      </p:bgPr>
    </p:bg>
    <p:spTree>
      <p:nvGrpSpPr>
        <p:cNvPr id="1" name=""/>
        <p:cNvGrpSpPr/>
        <p:nvPr/>
      </p:nvGrpSpPr>
      <p:grpSpPr>
        <a:xfrm>
          <a:off x="0" y="0"/>
          <a:ext cx="0" cy="0"/>
          <a:chOff x="0" y="0"/>
          <a:chExt cx="0" cy="0"/>
        </a:xfrm>
      </p:grpSpPr>
      <p:sp>
        <p:nvSpPr>
          <p:cNvPr id="2" name="Text 0"/>
          <p:cNvSpPr txBox="1"/>
          <p:nvPr/>
        </p:nvSpPr>
        <p:spPr>
          <a:xfrm>
            <a:off x="548640" y="274320"/>
            <a:ext cx="2743200" cy="274320"/>
          </a:xfrm>
          <a:prstGeom prst="rect">
            <a:avLst/>
          </a:prstGeom>
          <a:noFill/>
          <a:ln/>
        </p:spPr>
        <p:txBody>
          <a:bodyPr wrap="square" lIns="0" tIns="0" rIns="0" bIns="0" rtlCol="0" anchor="ctr"/>
          <a:lstStyle/>
          <a:p>
            <a:pPr marL="0" indent="0">
              <a:buNone/>
            </a:pPr>
            <a:r>
              <a:rPr lang="en-US" sz="1300" b="1" dirty="0">
                <a:solidFill>
                  <a:srgbClr val="F5A524"/>
                </a:solidFill>
                <a:latin typeface="Calibri" pitchFamily="34" charset="0"/>
                <a:ea typeface="Calibri" pitchFamily="34" charset="-122"/>
                <a:cs typeface="Calibri" pitchFamily="34" charset="-120"/>
              </a:rPr>
              <a:t>PHASE 1</a:t>
            </a:r>
            <a:endParaRPr lang="en-US" sz="1300" dirty="0"/>
          </a:p>
        </p:txBody>
      </p:sp>
      <p:sp>
        <p:nvSpPr>
          <p:cNvPr id="3" name="Text 1"/>
          <p:cNvSpPr txBox="1"/>
          <p:nvPr/>
        </p:nvSpPr>
        <p:spPr>
          <a:xfrm>
            <a:off x="548640" y="548640"/>
            <a:ext cx="11064240" cy="640080"/>
          </a:xfrm>
          <a:prstGeom prst="rect">
            <a:avLst/>
          </a:prstGeom>
          <a:noFill/>
          <a:ln/>
        </p:spPr>
        <p:txBody>
          <a:bodyPr wrap="square" lIns="0" tIns="0" rIns="0" bIns="0" rtlCol="0" anchor="ctr"/>
          <a:lstStyle/>
          <a:p>
            <a:pPr marL="0" indent="0">
              <a:buNone/>
            </a:pPr>
            <a:r>
              <a:rPr lang="en-US" sz="3200" b="1" dirty="0">
                <a:solidFill>
                  <a:srgbClr val="171A21"/>
                </a:solidFill>
                <a:latin typeface="Cambria" pitchFamily="34" charset="0"/>
                <a:ea typeface="Cambria" pitchFamily="34" charset="-122"/>
                <a:cs typeface="Cambria" pitchFamily="34" charset="-120"/>
              </a:rPr>
              <a:t>RAG Foundation</a:t>
            </a:r>
            <a:endParaRPr lang="en-US" sz="3200" dirty="0"/>
          </a:p>
        </p:txBody>
      </p:sp>
      <p:sp>
        <p:nvSpPr>
          <p:cNvPr id="4" name="Text 2"/>
          <p:cNvSpPr txBox="1"/>
          <p:nvPr/>
        </p:nvSpPr>
        <p:spPr>
          <a:xfrm>
            <a:off x="548640" y="1188720"/>
            <a:ext cx="11064240" cy="365760"/>
          </a:xfrm>
          <a:prstGeom prst="rect">
            <a:avLst/>
          </a:prstGeom>
          <a:noFill/>
          <a:ln/>
        </p:spPr>
        <p:txBody>
          <a:bodyPr wrap="square" lIns="0" tIns="0" rIns="0" bIns="0" rtlCol="0" anchor="ctr"/>
          <a:lstStyle/>
          <a:p>
            <a:pPr marL="0" indent="0">
              <a:buNone/>
            </a:pPr>
            <a:r>
              <a:rPr lang="en-US" sz="1600" dirty="0">
                <a:solidFill>
                  <a:srgbClr val="6B7280"/>
                </a:solidFill>
                <a:latin typeface="Calibri" pitchFamily="34" charset="0"/>
                <a:ea typeface="Calibri" pitchFamily="34" charset="-122"/>
                <a:cs typeface="Calibri" pitchFamily="34" charset="-120"/>
              </a:rPr>
              <a:t>Give the system real understanding of a codebase</a:t>
            </a:r>
            <a:endParaRPr lang="en-US" sz="1600" dirty="0"/>
          </a:p>
        </p:txBody>
      </p:sp>
      <p:sp>
        <p:nvSpPr>
          <p:cNvPr id="5" name="Shape 3"/>
          <p:cNvSpPr/>
          <p:nvPr/>
        </p:nvSpPr>
        <p:spPr>
          <a:xfrm>
            <a:off x="548640" y="1737360"/>
            <a:ext cx="3566160" cy="2697480"/>
          </a:xfrm>
          <a:prstGeom prst="roundRect">
            <a:avLst>
              <a:gd name="adj" fmla="val 4068"/>
            </a:avLst>
          </a:prstGeom>
          <a:solidFill>
            <a:srgbClr val="FFFFFF"/>
          </a:solidFill>
          <a:ln w="12700">
            <a:solidFill>
              <a:srgbClr val="FFFFFF"/>
            </a:solidFill>
            <a:prstDash val="solid"/>
          </a:ln>
          <a:effectLst>
            <a:outerShdw blurRad="101600" dist="25400" dir="5400000" algn="bl" rotWithShape="0">
              <a:srgbClr val="000000">
                <a:alpha val="12000"/>
              </a:srgbClr>
            </a:outerShdw>
          </a:effectLst>
        </p:spPr>
      </p:sp>
      <p:sp>
        <p:nvSpPr>
          <p:cNvPr id="6" name="Shape 4"/>
          <p:cNvSpPr/>
          <p:nvPr/>
        </p:nvSpPr>
        <p:spPr>
          <a:xfrm>
            <a:off x="777240" y="1874520"/>
            <a:ext cx="457200" cy="457200"/>
          </a:xfrm>
          <a:prstGeom prst="ellipse">
            <a:avLst/>
          </a:prstGeom>
          <a:solidFill>
            <a:srgbClr val="171A21"/>
          </a:solidFill>
          <a:ln w="12700">
            <a:solidFill>
              <a:srgbClr val="171A21"/>
            </a:solidFill>
            <a:prstDash val="solid"/>
          </a:ln>
        </p:spPr>
      </p:sp>
      <p:pic>
        <p:nvPicPr>
          <p:cNvPr id="7" name="Image 0" descr="preencoded.png"/>
          <p:cNvPicPr>
            <a:picLocks noChangeAspect="1"/>
          </p:cNvPicPr>
          <p:nvPr/>
        </p:nvPicPr>
        <p:blipFill>
          <a:blip r:embed="rId3"/>
          <a:stretch>
            <a:fillRect/>
          </a:stretch>
        </p:blipFill>
        <p:spPr>
          <a:xfrm>
            <a:off x="896112" y="1993392"/>
            <a:ext cx="219456" cy="219456"/>
          </a:xfrm>
          <a:prstGeom prst="rect">
            <a:avLst/>
          </a:prstGeom>
        </p:spPr>
      </p:pic>
      <p:sp>
        <p:nvSpPr>
          <p:cNvPr id="8" name="Text 5"/>
          <p:cNvSpPr txBox="1"/>
          <p:nvPr/>
        </p:nvSpPr>
        <p:spPr>
          <a:xfrm>
            <a:off x="1371600" y="1874520"/>
            <a:ext cx="2560320" cy="457200"/>
          </a:xfrm>
          <a:prstGeom prst="rect">
            <a:avLst/>
          </a:prstGeom>
          <a:noFill/>
          <a:ln/>
        </p:spPr>
        <p:txBody>
          <a:bodyPr wrap="square" lIns="0" tIns="0" rIns="0" bIns="0" rtlCol="0" anchor="ctr"/>
          <a:lstStyle/>
          <a:p>
            <a:pPr marL="0" indent="0">
              <a:buNone/>
            </a:pPr>
            <a:r>
              <a:rPr lang="en-US" sz="1800" b="1" dirty="0">
                <a:solidFill>
                  <a:srgbClr val="171A21"/>
                </a:solidFill>
                <a:latin typeface="Cambria" pitchFamily="34" charset="0"/>
                <a:ea typeface="Cambria" pitchFamily="34" charset="-122"/>
                <a:cs typeface="Cambria" pitchFamily="34" charset="-120"/>
              </a:rPr>
              <a:t>What we built</a:t>
            </a:r>
            <a:endParaRPr lang="en-US" sz="1800" dirty="0"/>
          </a:p>
        </p:txBody>
      </p:sp>
      <p:sp>
        <p:nvSpPr>
          <p:cNvPr id="9" name="Text 6"/>
          <p:cNvSpPr txBox="1"/>
          <p:nvPr/>
        </p:nvSpPr>
        <p:spPr>
          <a:xfrm>
            <a:off x="777240" y="2468880"/>
            <a:ext cx="3154680" cy="1874520"/>
          </a:xfrm>
          <a:prstGeom prst="rect">
            <a:avLst/>
          </a:prstGeom>
          <a:noFill/>
          <a:ln/>
        </p:spPr>
        <p:txBody>
          <a:bodyPr wrap="square" lIns="0" tIns="0" rIns="0" bIns="0" rtlCol="0" anchor="t"/>
          <a:lstStyle/>
          <a:p>
            <a:pPr marL="342900" indent="-342900">
              <a:spcAft>
                <a:spcPts val="600"/>
              </a:spcAft>
              <a:buSzPct val="100000"/>
              <a:buChar char="•"/>
            </a:pPr>
            <a:r>
              <a:rPr lang="en-US" sz="1300" dirty="0">
                <a:solidFill>
                  <a:srgbClr val="1F2430"/>
                </a:solidFill>
                <a:latin typeface="Calibri" pitchFamily="34" charset="0"/>
                <a:ea typeface="Calibri" pitchFamily="34" charset="-122"/>
                <a:cs typeface="Calibri" pitchFamily="34" charset="-120"/>
              </a:rPr>
              <a:t>Repository ingestion: reads a codebase and splits it into searchable chunks</a:t>
            </a:r>
            <a:endParaRPr lang="en-US" sz="1300" dirty="0"/>
          </a:p>
          <a:p>
            <a:pPr marL="342900" indent="-342900">
              <a:spcAft>
                <a:spcPts val="600"/>
              </a:spcAft>
              <a:buSzPct val="100000"/>
              <a:buChar char="•"/>
            </a:pPr>
            <a:r>
              <a:rPr lang="en-US" sz="1300" dirty="0">
                <a:solidFill>
                  <a:srgbClr val="1F2430"/>
                </a:solidFill>
                <a:latin typeface="Calibri" pitchFamily="34" charset="0"/>
                <a:ea typeface="Calibri" pitchFamily="34" charset="-122"/>
                <a:cs typeface="Calibri" pitchFamily="34" charset="-120"/>
              </a:rPr>
              <a:t>Semantic search over code using vector embeddings</a:t>
            </a:r>
            <a:endParaRPr lang="en-US" sz="1300" dirty="0"/>
          </a:p>
          <a:p>
            <a:pPr marL="342900" indent="-342900">
              <a:spcAft>
                <a:spcPts val="600"/>
              </a:spcAft>
              <a:buSzPct val="100000"/>
              <a:buChar char="•"/>
            </a:pPr>
            <a:r>
              <a:rPr lang="en-US" sz="1300" dirty="0">
                <a:solidFill>
                  <a:srgbClr val="1F2430"/>
                </a:solidFill>
                <a:latin typeface="Calibri" pitchFamily="34" charset="0"/>
                <a:ea typeface="Calibri" pitchFamily="34" charset="-122"/>
                <a:cs typeface="Calibri" pitchFamily="34" charset="-120"/>
              </a:rPr>
              <a:t>A multilingual test corpus to check retrieval</a:t>
            </a:r>
            <a:endParaRPr lang="en-US" sz="1300" dirty="0"/>
          </a:p>
        </p:txBody>
      </p:sp>
      <p:sp>
        <p:nvSpPr>
          <p:cNvPr id="10" name="Shape 7"/>
          <p:cNvSpPr/>
          <p:nvPr/>
        </p:nvSpPr>
        <p:spPr>
          <a:xfrm>
            <a:off x="4343400" y="1737360"/>
            <a:ext cx="3566160" cy="2697480"/>
          </a:xfrm>
          <a:prstGeom prst="roundRect">
            <a:avLst>
              <a:gd name="adj" fmla="val 4068"/>
            </a:avLst>
          </a:prstGeom>
          <a:solidFill>
            <a:srgbClr val="FFFFFF"/>
          </a:solidFill>
          <a:ln w="12700">
            <a:solidFill>
              <a:srgbClr val="FFFFFF"/>
            </a:solidFill>
            <a:prstDash val="solid"/>
          </a:ln>
          <a:effectLst>
            <a:outerShdw blurRad="101600" dist="25400" dir="5400000" algn="bl" rotWithShape="0">
              <a:srgbClr val="000000">
                <a:alpha val="12000"/>
              </a:srgbClr>
            </a:outerShdw>
          </a:effectLst>
        </p:spPr>
      </p:sp>
      <p:sp>
        <p:nvSpPr>
          <p:cNvPr id="11" name="Shape 8"/>
          <p:cNvSpPr/>
          <p:nvPr/>
        </p:nvSpPr>
        <p:spPr>
          <a:xfrm>
            <a:off x="4572000" y="1874520"/>
            <a:ext cx="457200" cy="457200"/>
          </a:xfrm>
          <a:prstGeom prst="ellipse">
            <a:avLst/>
          </a:prstGeom>
          <a:solidFill>
            <a:srgbClr val="0F766E"/>
          </a:solidFill>
          <a:ln w="12700">
            <a:solidFill>
              <a:srgbClr val="0F766E"/>
            </a:solidFill>
            <a:prstDash val="solid"/>
          </a:ln>
        </p:spPr>
      </p:sp>
      <p:pic>
        <p:nvPicPr>
          <p:cNvPr id="12" name="Image 1" descr="preencoded.png"/>
          <p:cNvPicPr>
            <a:picLocks noChangeAspect="1"/>
          </p:cNvPicPr>
          <p:nvPr/>
        </p:nvPicPr>
        <p:blipFill>
          <a:blip r:embed="rId4"/>
          <a:stretch>
            <a:fillRect/>
          </a:stretch>
        </p:blipFill>
        <p:spPr>
          <a:xfrm>
            <a:off x="4690872" y="1993392"/>
            <a:ext cx="219456" cy="219456"/>
          </a:xfrm>
          <a:prstGeom prst="rect">
            <a:avLst/>
          </a:prstGeom>
        </p:spPr>
      </p:pic>
      <p:sp>
        <p:nvSpPr>
          <p:cNvPr id="13" name="Text 9"/>
          <p:cNvSpPr txBox="1"/>
          <p:nvPr/>
        </p:nvSpPr>
        <p:spPr>
          <a:xfrm>
            <a:off x="5166360" y="1874520"/>
            <a:ext cx="2560320" cy="457200"/>
          </a:xfrm>
          <a:prstGeom prst="rect">
            <a:avLst/>
          </a:prstGeom>
          <a:noFill/>
          <a:ln/>
        </p:spPr>
        <p:txBody>
          <a:bodyPr wrap="square" lIns="0" tIns="0" rIns="0" bIns="0" rtlCol="0" anchor="ctr"/>
          <a:lstStyle/>
          <a:p>
            <a:pPr marL="0" indent="0">
              <a:buNone/>
            </a:pPr>
            <a:r>
              <a:rPr lang="en-US" sz="1800" b="1" dirty="0">
                <a:solidFill>
                  <a:srgbClr val="171A21"/>
                </a:solidFill>
                <a:latin typeface="Cambria" pitchFamily="34" charset="0"/>
                <a:ea typeface="Cambria" pitchFamily="34" charset="-122"/>
                <a:cs typeface="Cambria" pitchFamily="34" charset="-120"/>
              </a:rPr>
              <a:t>How we built it</a:t>
            </a:r>
            <a:endParaRPr lang="en-US" sz="1800" dirty="0"/>
          </a:p>
        </p:txBody>
      </p:sp>
      <p:sp>
        <p:nvSpPr>
          <p:cNvPr id="14" name="Text 10"/>
          <p:cNvSpPr txBox="1"/>
          <p:nvPr/>
        </p:nvSpPr>
        <p:spPr>
          <a:xfrm>
            <a:off x="4572000" y="2468880"/>
            <a:ext cx="3154680" cy="1874520"/>
          </a:xfrm>
          <a:prstGeom prst="rect">
            <a:avLst/>
          </a:prstGeom>
          <a:noFill/>
          <a:ln/>
        </p:spPr>
        <p:txBody>
          <a:bodyPr wrap="square" lIns="0" tIns="0" rIns="0" bIns="0" rtlCol="0" anchor="t"/>
          <a:lstStyle/>
          <a:p>
            <a:pPr marL="342900" indent="-342900">
              <a:spcAft>
                <a:spcPts val="600"/>
              </a:spcAft>
              <a:buSzPct val="100000"/>
              <a:buChar char="•"/>
            </a:pPr>
            <a:r>
              <a:rPr lang="en-US" sz="1300" dirty="0">
                <a:solidFill>
                  <a:srgbClr val="1F2430"/>
                </a:solidFill>
                <a:latin typeface="Calibri" pitchFamily="34" charset="0"/>
                <a:ea typeface="Calibri" pitchFamily="34" charset="-122"/>
                <a:cs typeface="Calibri" pitchFamily="34" charset="-120"/>
              </a:rPr>
              <a:t>Sentence Transformers turn each chunk into an embedding</a:t>
            </a:r>
            <a:endParaRPr lang="en-US" sz="1300" dirty="0"/>
          </a:p>
          <a:p>
            <a:pPr marL="342900" indent="-342900">
              <a:spcAft>
                <a:spcPts val="600"/>
              </a:spcAft>
              <a:buSzPct val="100000"/>
              <a:buChar char="•"/>
            </a:pPr>
            <a:r>
              <a:rPr lang="en-US" sz="1300" dirty="0">
                <a:solidFill>
                  <a:srgbClr val="1F2430"/>
                </a:solidFill>
                <a:latin typeface="Calibri" pitchFamily="34" charset="0"/>
                <a:ea typeface="Calibri" pitchFamily="34" charset="-122"/>
                <a:cs typeface="Calibri" pitchFamily="34" charset="-120"/>
              </a:rPr>
              <a:t>Qdrant stores the vectors and returns top matches with similarity scores</a:t>
            </a:r>
            <a:endParaRPr lang="en-US" sz="1300" dirty="0"/>
          </a:p>
          <a:p>
            <a:pPr marL="342900" indent="-342900">
              <a:spcAft>
                <a:spcPts val="600"/>
              </a:spcAft>
              <a:buSzPct val="100000"/>
              <a:buChar char="•"/>
            </a:pPr>
            <a:r>
              <a:rPr lang="en-US" sz="1300" dirty="0">
                <a:solidFill>
                  <a:srgbClr val="1F2430"/>
                </a:solidFill>
                <a:latin typeface="Calibri" pitchFamily="34" charset="0"/>
                <a:ea typeface="Calibri" pitchFamily="34" charset="-122"/>
                <a:cs typeface="Calibri" pitchFamily="34" charset="-120"/>
              </a:rPr>
              <a:t>Exposed through FastAPI endpoints: /ingest and /search</a:t>
            </a:r>
            <a:endParaRPr lang="en-US" sz="1300" dirty="0"/>
          </a:p>
        </p:txBody>
      </p:sp>
      <p:sp>
        <p:nvSpPr>
          <p:cNvPr id="15" name="Shape 11"/>
          <p:cNvSpPr/>
          <p:nvPr/>
        </p:nvSpPr>
        <p:spPr>
          <a:xfrm>
            <a:off x="8138160" y="1737360"/>
            <a:ext cx="3566160" cy="2697480"/>
          </a:xfrm>
          <a:prstGeom prst="roundRect">
            <a:avLst>
              <a:gd name="adj" fmla="val 4068"/>
            </a:avLst>
          </a:prstGeom>
          <a:solidFill>
            <a:srgbClr val="FFFFFF"/>
          </a:solidFill>
          <a:ln w="12700">
            <a:solidFill>
              <a:srgbClr val="FFFFFF"/>
            </a:solidFill>
            <a:prstDash val="solid"/>
          </a:ln>
          <a:effectLst>
            <a:outerShdw blurRad="101600" dist="25400" dir="5400000" algn="bl" rotWithShape="0">
              <a:srgbClr val="000000">
                <a:alpha val="12000"/>
              </a:srgbClr>
            </a:outerShdw>
          </a:effectLst>
        </p:spPr>
      </p:sp>
      <p:sp>
        <p:nvSpPr>
          <p:cNvPr id="16" name="Shape 12"/>
          <p:cNvSpPr/>
          <p:nvPr/>
        </p:nvSpPr>
        <p:spPr>
          <a:xfrm>
            <a:off x="8366760" y="1874520"/>
            <a:ext cx="457200" cy="457200"/>
          </a:xfrm>
          <a:prstGeom prst="ellipse">
            <a:avLst/>
          </a:prstGeom>
          <a:solidFill>
            <a:srgbClr val="262B36"/>
          </a:solidFill>
          <a:ln w="12700">
            <a:solidFill>
              <a:srgbClr val="262B36"/>
            </a:solidFill>
            <a:prstDash val="solid"/>
          </a:ln>
        </p:spPr>
      </p:sp>
      <p:pic>
        <p:nvPicPr>
          <p:cNvPr id="17" name="Image 2" descr="preencoded.png"/>
          <p:cNvPicPr>
            <a:picLocks noChangeAspect="1"/>
          </p:cNvPicPr>
          <p:nvPr/>
        </p:nvPicPr>
        <p:blipFill>
          <a:blip r:embed="rId5"/>
          <a:stretch>
            <a:fillRect/>
          </a:stretch>
        </p:blipFill>
        <p:spPr>
          <a:xfrm>
            <a:off x="8485632" y="1993392"/>
            <a:ext cx="219456" cy="219456"/>
          </a:xfrm>
          <a:prstGeom prst="rect">
            <a:avLst/>
          </a:prstGeom>
        </p:spPr>
      </p:pic>
      <p:sp>
        <p:nvSpPr>
          <p:cNvPr id="18" name="Text 13"/>
          <p:cNvSpPr txBox="1"/>
          <p:nvPr/>
        </p:nvSpPr>
        <p:spPr>
          <a:xfrm>
            <a:off x="8961120" y="1874520"/>
            <a:ext cx="2560320" cy="457200"/>
          </a:xfrm>
          <a:prstGeom prst="rect">
            <a:avLst/>
          </a:prstGeom>
          <a:noFill/>
          <a:ln/>
        </p:spPr>
        <p:txBody>
          <a:bodyPr wrap="square" lIns="0" tIns="0" rIns="0" bIns="0" rtlCol="0" anchor="ctr"/>
          <a:lstStyle/>
          <a:p>
            <a:pPr marL="0" indent="0">
              <a:buNone/>
            </a:pPr>
            <a:r>
              <a:rPr lang="en-US" sz="1800" b="1" dirty="0">
                <a:solidFill>
                  <a:srgbClr val="171A21"/>
                </a:solidFill>
                <a:latin typeface="Cambria" pitchFamily="34" charset="0"/>
                <a:ea typeface="Cambria" pitchFamily="34" charset="-122"/>
                <a:cs typeface="Cambria" pitchFamily="34" charset="-120"/>
              </a:rPr>
              <a:t>Why it matters</a:t>
            </a:r>
            <a:endParaRPr lang="en-US" sz="1800" dirty="0"/>
          </a:p>
        </p:txBody>
      </p:sp>
      <p:sp>
        <p:nvSpPr>
          <p:cNvPr id="19" name="Text 14"/>
          <p:cNvSpPr txBox="1"/>
          <p:nvPr/>
        </p:nvSpPr>
        <p:spPr>
          <a:xfrm>
            <a:off x="8366760" y="2468880"/>
            <a:ext cx="3154680" cy="1874520"/>
          </a:xfrm>
          <a:prstGeom prst="rect">
            <a:avLst/>
          </a:prstGeom>
          <a:noFill/>
          <a:ln/>
        </p:spPr>
        <p:txBody>
          <a:bodyPr wrap="square" lIns="0" tIns="0" rIns="0" bIns="0" rtlCol="0" anchor="t"/>
          <a:lstStyle/>
          <a:p>
            <a:pPr marL="342900" indent="-342900">
              <a:spcAft>
                <a:spcPts val="600"/>
              </a:spcAft>
              <a:buSzPct val="100000"/>
              <a:buChar char="•"/>
            </a:pPr>
            <a:r>
              <a:rPr lang="en-US" sz="1300" dirty="0">
                <a:solidFill>
                  <a:srgbClr val="1F2430"/>
                </a:solidFill>
                <a:latin typeface="Calibri" pitchFamily="34" charset="0"/>
                <a:ea typeface="Calibri" pitchFamily="34" charset="-122"/>
                <a:cs typeface="Calibri" pitchFamily="34" charset="-120"/>
              </a:rPr>
              <a:t>LLMs guess when they cannot see your code; RAG gives them real context</a:t>
            </a:r>
            <a:endParaRPr lang="en-US" sz="1300" dirty="0"/>
          </a:p>
          <a:p>
            <a:pPr marL="342900" indent="-342900">
              <a:spcAft>
                <a:spcPts val="600"/>
              </a:spcAft>
              <a:buSzPct val="100000"/>
              <a:buChar char="•"/>
            </a:pPr>
            <a:r>
              <a:rPr lang="en-US" sz="1300" dirty="0">
                <a:solidFill>
                  <a:srgbClr val="1F2430"/>
                </a:solidFill>
                <a:latin typeface="Calibri" pitchFamily="34" charset="0"/>
                <a:ea typeface="Calibri" pitchFamily="34" charset="-122"/>
                <a:cs typeface="Calibri" pitchFamily="34" charset="-120"/>
              </a:rPr>
              <a:t>Every later phase (security, impact, generation) depends on this evidence layer</a:t>
            </a:r>
            <a:endParaRPr lang="en-US" sz="1300" dirty="0"/>
          </a:p>
          <a:p>
            <a:pPr marL="342900" indent="-342900">
              <a:spcAft>
                <a:spcPts val="600"/>
              </a:spcAft>
              <a:buSzPct val="100000"/>
              <a:buChar char="•"/>
            </a:pPr>
            <a:r>
              <a:rPr lang="en-US" sz="1300" dirty="0">
                <a:solidFill>
                  <a:srgbClr val="1F2430"/>
                </a:solidFill>
                <a:latin typeface="Calibri" pitchFamily="34" charset="0"/>
                <a:ea typeface="Calibri" pitchFamily="34" charset="-122"/>
                <a:cs typeface="Calibri" pitchFamily="34" charset="-120"/>
              </a:rPr>
              <a:t>Similarity scores make retrieval transparent</a:t>
            </a:r>
            <a:endParaRPr lang="en-US" sz="1300" dirty="0"/>
          </a:p>
        </p:txBody>
      </p:sp>
      <p:sp>
        <p:nvSpPr>
          <p:cNvPr id="20" name="Text 15"/>
          <p:cNvSpPr txBox="1"/>
          <p:nvPr/>
        </p:nvSpPr>
        <p:spPr>
          <a:xfrm>
            <a:off x="548640" y="4617720"/>
            <a:ext cx="3657600" cy="320040"/>
          </a:xfrm>
          <a:prstGeom prst="rect">
            <a:avLst/>
          </a:prstGeom>
          <a:noFill/>
          <a:ln/>
        </p:spPr>
        <p:txBody>
          <a:bodyPr wrap="square" lIns="0" tIns="0" rIns="0" bIns="0" rtlCol="0" anchor="ctr"/>
          <a:lstStyle/>
          <a:p>
            <a:pPr marL="0" indent="0">
              <a:buNone/>
            </a:pPr>
            <a:r>
              <a:rPr lang="en-US" sz="1400" b="1" dirty="0">
                <a:solidFill>
                  <a:srgbClr val="171A21"/>
                </a:solidFill>
                <a:latin typeface="Calibri" pitchFamily="34" charset="0"/>
                <a:ea typeface="Calibri" pitchFamily="34" charset="-122"/>
                <a:cs typeface="Calibri" pitchFamily="34" charset="-120"/>
              </a:rPr>
              <a:t>Data flow</a:t>
            </a:r>
            <a:endParaRPr lang="en-US" sz="1400" dirty="0"/>
          </a:p>
        </p:txBody>
      </p:sp>
      <p:sp>
        <p:nvSpPr>
          <p:cNvPr id="21" name="Shape 16"/>
          <p:cNvSpPr/>
          <p:nvPr/>
        </p:nvSpPr>
        <p:spPr>
          <a:xfrm>
            <a:off x="548640" y="5029200"/>
            <a:ext cx="1539240" cy="914400"/>
          </a:xfrm>
          <a:prstGeom prst="roundRect">
            <a:avLst>
              <a:gd name="adj" fmla="val 10000"/>
            </a:avLst>
          </a:prstGeom>
          <a:solidFill>
            <a:srgbClr val="171A21"/>
          </a:solidFill>
          <a:ln w="12700">
            <a:solidFill>
              <a:srgbClr val="171A21"/>
            </a:solidFill>
            <a:prstDash val="solid"/>
          </a:ln>
          <a:effectLst>
            <a:outerShdw blurRad="101600" dist="25400" dir="5400000" algn="bl" rotWithShape="0">
              <a:srgbClr val="000000">
                <a:alpha val="12000"/>
              </a:srgbClr>
            </a:outerShdw>
          </a:effectLst>
        </p:spPr>
      </p:sp>
      <p:sp>
        <p:nvSpPr>
          <p:cNvPr id="22" name="Text 17"/>
          <p:cNvSpPr txBox="1"/>
          <p:nvPr/>
        </p:nvSpPr>
        <p:spPr>
          <a:xfrm>
            <a:off x="548640" y="5029200"/>
            <a:ext cx="1539240" cy="914400"/>
          </a:xfrm>
          <a:prstGeom prst="rect">
            <a:avLst/>
          </a:prstGeom>
          <a:noFill/>
          <a:ln/>
        </p:spPr>
        <p:txBody>
          <a:bodyPr wrap="square" lIns="114300" tIns="114300" rIns="114300" bIns="114300" rtlCol="0" anchor="ctr"/>
          <a:lstStyle/>
          <a:p>
            <a:pPr marL="0" indent="0" algn="l">
              <a:spcAft>
                <a:spcPts val="300"/>
              </a:spcAft>
              <a:buNone/>
            </a:pPr>
            <a:r>
              <a:rPr lang="en-US" sz="1300" b="1" dirty="0">
                <a:solidFill>
                  <a:srgbClr val="FFFFFF"/>
                </a:solidFill>
                <a:latin typeface="Calibri" pitchFamily="34" charset="0"/>
                <a:ea typeface="Calibri" pitchFamily="34" charset="-122"/>
                <a:cs typeface="Calibri" pitchFamily="34" charset="-120"/>
              </a:rPr>
              <a:t>Repository files</a:t>
            </a:r>
            <a:endParaRPr lang="en-US" sz="1300" dirty="0"/>
          </a:p>
        </p:txBody>
      </p:sp>
      <p:sp>
        <p:nvSpPr>
          <p:cNvPr id="23" name="Shape 18"/>
          <p:cNvSpPr/>
          <p:nvPr/>
        </p:nvSpPr>
        <p:spPr>
          <a:xfrm>
            <a:off x="2106168" y="5486400"/>
            <a:ext cx="329184" cy="0"/>
          </a:xfrm>
          <a:prstGeom prst="line">
            <a:avLst/>
          </a:prstGeom>
          <a:noFill/>
          <a:ln w="25400">
            <a:solidFill>
              <a:srgbClr val="171A21"/>
            </a:solidFill>
            <a:prstDash val="solid"/>
            <a:tailEnd type="triangle"/>
          </a:ln>
        </p:spPr>
      </p:sp>
      <p:sp>
        <p:nvSpPr>
          <p:cNvPr id="24" name="Shape 19"/>
          <p:cNvSpPr/>
          <p:nvPr/>
        </p:nvSpPr>
        <p:spPr>
          <a:xfrm>
            <a:off x="2453640" y="5029200"/>
            <a:ext cx="1539240" cy="914400"/>
          </a:xfrm>
          <a:prstGeom prst="roundRect">
            <a:avLst>
              <a:gd name="adj" fmla="val 10000"/>
            </a:avLst>
          </a:prstGeom>
          <a:solidFill>
            <a:srgbClr val="FFFFFF"/>
          </a:solidFill>
          <a:ln w="12700">
            <a:solidFill>
              <a:srgbClr val="FFFFFF"/>
            </a:solidFill>
            <a:prstDash val="solid"/>
          </a:ln>
          <a:effectLst>
            <a:outerShdw blurRad="101600" dist="25400" dir="5400000" algn="bl" rotWithShape="0">
              <a:srgbClr val="000000">
                <a:alpha val="12000"/>
              </a:srgbClr>
            </a:outerShdw>
          </a:effectLst>
        </p:spPr>
      </p:sp>
      <p:sp>
        <p:nvSpPr>
          <p:cNvPr id="25" name="Text 20"/>
          <p:cNvSpPr txBox="1"/>
          <p:nvPr/>
        </p:nvSpPr>
        <p:spPr>
          <a:xfrm>
            <a:off x="2453640" y="5029200"/>
            <a:ext cx="1539240" cy="914400"/>
          </a:xfrm>
          <a:prstGeom prst="rect">
            <a:avLst/>
          </a:prstGeom>
          <a:noFill/>
          <a:ln/>
        </p:spPr>
        <p:txBody>
          <a:bodyPr wrap="square" lIns="114300" tIns="114300" rIns="114300" bIns="114300" rtlCol="0" anchor="ctr"/>
          <a:lstStyle/>
          <a:p>
            <a:pPr marL="0" indent="0" algn="l">
              <a:spcAft>
                <a:spcPts val="300"/>
              </a:spcAft>
              <a:buNone/>
            </a:pPr>
            <a:r>
              <a:rPr lang="en-US" sz="1300" b="1" dirty="0">
                <a:solidFill>
                  <a:srgbClr val="171A21"/>
                </a:solidFill>
                <a:latin typeface="Calibri" pitchFamily="34" charset="0"/>
                <a:ea typeface="Calibri" pitchFamily="34" charset="-122"/>
                <a:cs typeface="Calibri" pitchFamily="34" charset="-120"/>
              </a:rPr>
              <a:t>Chunking</a:t>
            </a:r>
            <a:endParaRPr lang="en-US" sz="1300" dirty="0"/>
          </a:p>
        </p:txBody>
      </p:sp>
      <p:sp>
        <p:nvSpPr>
          <p:cNvPr id="26" name="Shape 21"/>
          <p:cNvSpPr/>
          <p:nvPr/>
        </p:nvSpPr>
        <p:spPr>
          <a:xfrm>
            <a:off x="4011168" y="5486400"/>
            <a:ext cx="329184" cy="0"/>
          </a:xfrm>
          <a:prstGeom prst="line">
            <a:avLst/>
          </a:prstGeom>
          <a:noFill/>
          <a:ln w="25400">
            <a:solidFill>
              <a:srgbClr val="171A21"/>
            </a:solidFill>
            <a:prstDash val="solid"/>
            <a:tailEnd type="triangle"/>
          </a:ln>
        </p:spPr>
      </p:sp>
      <p:sp>
        <p:nvSpPr>
          <p:cNvPr id="27" name="Shape 22"/>
          <p:cNvSpPr/>
          <p:nvPr/>
        </p:nvSpPr>
        <p:spPr>
          <a:xfrm>
            <a:off x="4358640" y="5029200"/>
            <a:ext cx="1539240" cy="914400"/>
          </a:xfrm>
          <a:prstGeom prst="roundRect">
            <a:avLst>
              <a:gd name="adj" fmla="val 10000"/>
            </a:avLst>
          </a:prstGeom>
          <a:solidFill>
            <a:srgbClr val="FFFFFF"/>
          </a:solidFill>
          <a:ln w="12700">
            <a:solidFill>
              <a:srgbClr val="FFFFFF"/>
            </a:solidFill>
            <a:prstDash val="solid"/>
          </a:ln>
          <a:effectLst>
            <a:outerShdw blurRad="101600" dist="25400" dir="5400000" algn="bl" rotWithShape="0">
              <a:srgbClr val="000000">
                <a:alpha val="12000"/>
              </a:srgbClr>
            </a:outerShdw>
          </a:effectLst>
        </p:spPr>
      </p:sp>
      <p:sp>
        <p:nvSpPr>
          <p:cNvPr id="28" name="Text 23"/>
          <p:cNvSpPr txBox="1"/>
          <p:nvPr/>
        </p:nvSpPr>
        <p:spPr>
          <a:xfrm>
            <a:off x="4358640" y="5029200"/>
            <a:ext cx="1539240" cy="914400"/>
          </a:xfrm>
          <a:prstGeom prst="rect">
            <a:avLst/>
          </a:prstGeom>
          <a:noFill/>
          <a:ln/>
        </p:spPr>
        <p:txBody>
          <a:bodyPr wrap="square" lIns="114300" tIns="114300" rIns="114300" bIns="114300" rtlCol="0" anchor="ctr"/>
          <a:lstStyle/>
          <a:p>
            <a:pPr marL="0" indent="0" algn="l">
              <a:spcAft>
                <a:spcPts val="300"/>
              </a:spcAft>
              <a:buNone/>
            </a:pPr>
            <a:r>
              <a:rPr lang="en-US" sz="1300" b="1" dirty="0">
                <a:solidFill>
                  <a:srgbClr val="171A21"/>
                </a:solidFill>
                <a:latin typeface="Calibri" pitchFamily="34" charset="0"/>
                <a:ea typeface="Calibri" pitchFamily="34" charset="-122"/>
                <a:cs typeface="Calibri" pitchFamily="34" charset="-120"/>
              </a:rPr>
              <a:t>Embeddings</a:t>
            </a:r>
            <a:endParaRPr lang="en-US" sz="1300" dirty="0"/>
          </a:p>
        </p:txBody>
      </p:sp>
      <p:sp>
        <p:nvSpPr>
          <p:cNvPr id="29" name="Shape 24"/>
          <p:cNvSpPr/>
          <p:nvPr/>
        </p:nvSpPr>
        <p:spPr>
          <a:xfrm>
            <a:off x="5916168" y="5486400"/>
            <a:ext cx="329184" cy="0"/>
          </a:xfrm>
          <a:prstGeom prst="line">
            <a:avLst/>
          </a:prstGeom>
          <a:noFill/>
          <a:ln w="25400">
            <a:solidFill>
              <a:srgbClr val="171A21"/>
            </a:solidFill>
            <a:prstDash val="solid"/>
            <a:tailEnd type="triangle"/>
          </a:ln>
        </p:spPr>
      </p:sp>
      <p:sp>
        <p:nvSpPr>
          <p:cNvPr id="30" name="Shape 25"/>
          <p:cNvSpPr/>
          <p:nvPr/>
        </p:nvSpPr>
        <p:spPr>
          <a:xfrm>
            <a:off x="6263640" y="5029200"/>
            <a:ext cx="1539240" cy="914400"/>
          </a:xfrm>
          <a:prstGeom prst="roundRect">
            <a:avLst>
              <a:gd name="adj" fmla="val 10000"/>
            </a:avLst>
          </a:prstGeom>
          <a:solidFill>
            <a:srgbClr val="FFFFFF"/>
          </a:solidFill>
          <a:ln w="12700">
            <a:solidFill>
              <a:srgbClr val="FFFFFF"/>
            </a:solidFill>
            <a:prstDash val="solid"/>
          </a:ln>
          <a:effectLst>
            <a:outerShdw blurRad="101600" dist="25400" dir="5400000" algn="bl" rotWithShape="0">
              <a:srgbClr val="000000">
                <a:alpha val="12000"/>
              </a:srgbClr>
            </a:outerShdw>
          </a:effectLst>
        </p:spPr>
      </p:sp>
      <p:sp>
        <p:nvSpPr>
          <p:cNvPr id="31" name="Text 26"/>
          <p:cNvSpPr txBox="1"/>
          <p:nvPr/>
        </p:nvSpPr>
        <p:spPr>
          <a:xfrm>
            <a:off x="6263640" y="5029200"/>
            <a:ext cx="1539240" cy="914400"/>
          </a:xfrm>
          <a:prstGeom prst="rect">
            <a:avLst/>
          </a:prstGeom>
          <a:noFill/>
          <a:ln/>
        </p:spPr>
        <p:txBody>
          <a:bodyPr wrap="square" lIns="114300" tIns="114300" rIns="114300" bIns="114300" rtlCol="0" anchor="ctr"/>
          <a:lstStyle/>
          <a:p>
            <a:pPr marL="0" indent="0" algn="l">
              <a:spcAft>
                <a:spcPts val="300"/>
              </a:spcAft>
              <a:buNone/>
            </a:pPr>
            <a:r>
              <a:rPr lang="en-US" sz="1300" b="1" dirty="0">
                <a:solidFill>
                  <a:srgbClr val="171A21"/>
                </a:solidFill>
                <a:latin typeface="Calibri" pitchFamily="34" charset="0"/>
                <a:ea typeface="Calibri" pitchFamily="34" charset="-122"/>
                <a:cs typeface="Calibri" pitchFamily="34" charset="-120"/>
              </a:rPr>
              <a:t>Qdrant index</a:t>
            </a:r>
            <a:endParaRPr lang="en-US" sz="1300" dirty="0"/>
          </a:p>
        </p:txBody>
      </p:sp>
      <p:sp>
        <p:nvSpPr>
          <p:cNvPr id="32" name="Shape 27"/>
          <p:cNvSpPr/>
          <p:nvPr/>
        </p:nvSpPr>
        <p:spPr>
          <a:xfrm>
            <a:off x="7821168" y="5486400"/>
            <a:ext cx="329184" cy="0"/>
          </a:xfrm>
          <a:prstGeom prst="line">
            <a:avLst/>
          </a:prstGeom>
          <a:noFill/>
          <a:ln w="25400">
            <a:solidFill>
              <a:srgbClr val="171A21"/>
            </a:solidFill>
            <a:prstDash val="solid"/>
            <a:tailEnd type="triangle"/>
          </a:ln>
        </p:spPr>
      </p:sp>
      <p:sp>
        <p:nvSpPr>
          <p:cNvPr id="33" name="Shape 28"/>
          <p:cNvSpPr/>
          <p:nvPr/>
        </p:nvSpPr>
        <p:spPr>
          <a:xfrm>
            <a:off x="8168640" y="5029200"/>
            <a:ext cx="1539240" cy="914400"/>
          </a:xfrm>
          <a:prstGeom prst="roundRect">
            <a:avLst>
              <a:gd name="adj" fmla="val 10000"/>
            </a:avLst>
          </a:prstGeom>
          <a:solidFill>
            <a:srgbClr val="FFFFFF"/>
          </a:solidFill>
          <a:ln w="12700">
            <a:solidFill>
              <a:srgbClr val="FFFFFF"/>
            </a:solidFill>
            <a:prstDash val="solid"/>
          </a:ln>
          <a:effectLst>
            <a:outerShdw blurRad="101600" dist="25400" dir="5400000" algn="bl" rotWithShape="0">
              <a:srgbClr val="000000">
                <a:alpha val="12000"/>
              </a:srgbClr>
            </a:outerShdw>
          </a:effectLst>
        </p:spPr>
      </p:sp>
      <p:sp>
        <p:nvSpPr>
          <p:cNvPr id="34" name="Text 29"/>
          <p:cNvSpPr txBox="1"/>
          <p:nvPr/>
        </p:nvSpPr>
        <p:spPr>
          <a:xfrm>
            <a:off x="8168640" y="5029200"/>
            <a:ext cx="1539240" cy="914400"/>
          </a:xfrm>
          <a:prstGeom prst="rect">
            <a:avLst/>
          </a:prstGeom>
          <a:noFill/>
          <a:ln/>
        </p:spPr>
        <p:txBody>
          <a:bodyPr wrap="square" lIns="114300" tIns="114300" rIns="114300" bIns="114300" rtlCol="0" anchor="ctr"/>
          <a:lstStyle/>
          <a:p>
            <a:pPr marL="0" indent="0" algn="l">
              <a:spcAft>
                <a:spcPts val="300"/>
              </a:spcAft>
              <a:buNone/>
            </a:pPr>
            <a:r>
              <a:rPr lang="en-US" sz="1300" b="1" dirty="0">
                <a:solidFill>
                  <a:srgbClr val="171A21"/>
                </a:solidFill>
                <a:latin typeface="Calibri" pitchFamily="34" charset="0"/>
                <a:ea typeface="Calibri" pitchFamily="34" charset="-122"/>
                <a:cs typeface="Calibri" pitchFamily="34" charset="-120"/>
              </a:rPr>
              <a:t>Search query</a:t>
            </a:r>
            <a:endParaRPr lang="en-US" sz="1300" dirty="0"/>
          </a:p>
        </p:txBody>
      </p:sp>
      <p:sp>
        <p:nvSpPr>
          <p:cNvPr id="35" name="Shape 30"/>
          <p:cNvSpPr/>
          <p:nvPr/>
        </p:nvSpPr>
        <p:spPr>
          <a:xfrm>
            <a:off x="9726168" y="5486400"/>
            <a:ext cx="329184" cy="0"/>
          </a:xfrm>
          <a:prstGeom prst="line">
            <a:avLst/>
          </a:prstGeom>
          <a:noFill/>
          <a:ln w="25400">
            <a:solidFill>
              <a:srgbClr val="171A21"/>
            </a:solidFill>
            <a:prstDash val="solid"/>
            <a:tailEnd type="triangle"/>
          </a:ln>
        </p:spPr>
      </p:sp>
      <p:sp>
        <p:nvSpPr>
          <p:cNvPr id="36" name="Shape 31"/>
          <p:cNvSpPr/>
          <p:nvPr/>
        </p:nvSpPr>
        <p:spPr>
          <a:xfrm>
            <a:off x="10073640" y="5029200"/>
            <a:ext cx="1539240" cy="914400"/>
          </a:xfrm>
          <a:prstGeom prst="roundRect">
            <a:avLst>
              <a:gd name="adj" fmla="val 10000"/>
            </a:avLst>
          </a:prstGeom>
          <a:solidFill>
            <a:srgbClr val="171A21"/>
          </a:solidFill>
          <a:ln w="12700">
            <a:solidFill>
              <a:srgbClr val="171A21"/>
            </a:solidFill>
            <a:prstDash val="solid"/>
          </a:ln>
          <a:effectLst>
            <a:outerShdw blurRad="101600" dist="25400" dir="5400000" algn="bl" rotWithShape="0">
              <a:srgbClr val="000000">
                <a:alpha val="12000"/>
              </a:srgbClr>
            </a:outerShdw>
          </a:effectLst>
        </p:spPr>
      </p:sp>
      <p:sp>
        <p:nvSpPr>
          <p:cNvPr id="37" name="Text 32"/>
          <p:cNvSpPr txBox="1"/>
          <p:nvPr/>
        </p:nvSpPr>
        <p:spPr>
          <a:xfrm>
            <a:off x="10073640" y="5029200"/>
            <a:ext cx="1539240" cy="914400"/>
          </a:xfrm>
          <a:prstGeom prst="rect">
            <a:avLst/>
          </a:prstGeom>
          <a:noFill/>
          <a:ln/>
        </p:spPr>
        <p:txBody>
          <a:bodyPr wrap="square" lIns="114300" tIns="114300" rIns="114300" bIns="114300" rtlCol="0" anchor="ctr"/>
          <a:lstStyle/>
          <a:p>
            <a:pPr marL="0" indent="0" algn="l">
              <a:spcAft>
                <a:spcPts val="300"/>
              </a:spcAft>
              <a:buNone/>
            </a:pPr>
            <a:r>
              <a:rPr lang="en-US" sz="1300" b="1" dirty="0">
                <a:solidFill>
                  <a:srgbClr val="FFFFFF"/>
                </a:solidFill>
                <a:latin typeface="Calibri" pitchFamily="34" charset="0"/>
                <a:ea typeface="Calibri" pitchFamily="34" charset="-122"/>
                <a:cs typeface="Calibri" pitchFamily="34" charset="-120"/>
              </a:rPr>
              <a:t>Top-k evidence</a:t>
            </a:r>
            <a:endParaRPr lang="en-US" sz="1300" dirty="0"/>
          </a:p>
        </p:txBody>
      </p:sp>
      <p:sp>
        <p:nvSpPr>
          <p:cNvPr id="38" name="Text 33"/>
          <p:cNvSpPr txBox="1"/>
          <p:nvPr/>
        </p:nvSpPr>
        <p:spPr>
          <a:xfrm>
            <a:off x="548640" y="6446520"/>
            <a:ext cx="5486400" cy="274320"/>
          </a:xfrm>
          <a:prstGeom prst="rect">
            <a:avLst/>
          </a:prstGeom>
          <a:noFill/>
          <a:ln/>
        </p:spPr>
        <p:txBody>
          <a:bodyPr wrap="square" lIns="0" tIns="0" rIns="0" bIns="0" rtlCol="0" anchor="ctr"/>
          <a:lstStyle/>
          <a:p>
            <a:pPr marL="0" indent="0">
              <a:buNone/>
            </a:pPr>
            <a:r>
              <a:rPr lang="en-US" sz="1000" dirty="0">
                <a:solidFill>
                  <a:srgbClr val="6B7280"/>
                </a:solidFill>
                <a:latin typeface="Calibri" pitchFamily="34" charset="0"/>
                <a:ea typeface="Calibri" pitchFamily="34" charset="-122"/>
                <a:cs typeface="Calibri" pitchFamily="34" charset="-120"/>
              </a:rPr>
              <a:t>KAVACH  |  Project Review</a:t>
            </a:r>
            <a:endParaRPr lang="en-US" sz="1000" dirty="0"/>
          </a:p>
        </p:txBody>
      </p:sp>
      <p:sp>
        <p:nvSpPr>
          <p:cNvPr id="39" name="Slide Number Placeholder 0"/>
          <p:cNvSpPr>
            <a:spLocks noGrp="1"/>
          </p:cNvSpPr>
          <p:nvPr>
            <p:ph type="sldNum" sz="quarter" idx="4294967295"/>
          </p:nvPr>
        </p:nvSpPr>
        <p:spPr>
          <a:xfrm>
            <a:off x="11064240" y="644652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6B7280"/>
                </a:solidFill>
                <a:latin typeface="Calibri"/>
                <a:ea typeface="Calibri"/>
                <a:cs typeface="Calibri"/>
              </a:defRPr>
            </a:lvl1pPr>
          </a:lstStyle>
          <a:p>
            <a:pPr algn="r"/>
            <a:fld id="{F7021451-1387-4CA6-816F-3879F97B5CBC}" type="slidenum">
              <a:rPr lang="en-US" b="0"/>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3F4F6"/>
        </a:solidFill>
        <a:effectLst/>
      </p:bgPr>
    </p:bg>
    <p:spTree>
      <p:nvGrpSpPr>
        <p:cNvPr id="1" name=""/>
        <p:cNvGrpSpPr/>
        <p:nvPr/>
      </p:nvGrpSpPr>
      <p:grpSpPr>
        <a:xfrm>
          <a:off x="0" y="0"/>
          <a:ext cx="0" cy="0"/>
          <a:chOff x="0" y="0"/>
          <a:chExt cx="0" cy="0"/>
        </a:xfrm>
      </p:grpSpPr>
      <p:sp>
        <p:nvSpPr>
          <p:cNvPr id="2" name="Text 0"/>
          <p:cNvSpPr txBox="1"/>
          <p:nvPr/>
        </p:nvSpPr>
        <p:spPr>
          <a:xfrm>
            <a:off x="548640" y="274320"/>
            <a:ext cx="2743200" cy="274320"/>
          </a:xfrm>
          <a:prstGeom prst="rect">
            <a:avLst/>
          </a:prstGeom>
          <a:noFill/>
          <a:ln/>
        </p:spPr>
        <p:txBody>
          <a:bodyPr wrap="square" lIns="0" tIns="0" rIns="0" bIns="0" rtlCol="0" anchor="ctr"/>
          <a:lstStyle/>
          <a:p>
            <a:pPr marL="0" indent="0">
              <a:buNone/>
            </a:pPr>
            <a:r>
              <a:rPr lang="en-US" sz="1300" b="1" dirty="0">
                <a:solidFill>
                  <a:srgbClr val="F5A524"/>
                </a:solidFill>
                <a:latin typeface="Calibri" pitchFamily="34" charset="0"/>
                <a:ea typeface="Calibri" pitchFamily="34" charset="-122"/>
                <a:cs typeface="Calibri" pitchFamily="34" charset="-120"/>
              </a:rPr>
              <a:t>PHASE 2</a:t>
            </a:r>
            <a:endParaRPr lang="en-US" sz="1300" dirty="0"/>
          </a:p>
        </p:txBody>
      </p:sp>
      <p:sp>
        <p:nvSpPr>
          <p:cNvPr id="3" name="Text 1"/>
          <p:cNvSpPr txBox="1"/>
          <p:nvPr/>
        </p:nvSpPr>
        <p:spPr>
          <a:xfrm>
            <a:off x="548640" y="548640"/>
            <a:ext cx="11064240" cy="640080"/>
          </a:xfrm>
          <a:prstGeom prst="rect">
            <a:avLst/>
          </a:prstGeom>
          <a:noFill/>
          <a:ln/>
        </p:spPr>
        <p:txBody>
          <a:bodyPr wrap="square" lIns="0" tIns="0" rIns="0" bIns="0" rtlCol="0" anchor="ctr"/>
          <a:lstStyle/>
          <a:p>
            <a:pPr marL="0" indent="0">
              <a:buNone/>
            </a:pPr>
            <a:r>
              <a:rPr lang="en-US" sz="3200" b="1" dirty="0">
                <a:solidFill>
                  <a:srgbClr val="171A21"/>
                </a:solidFill>
                <a:latin typeface="Cambria" pitchFamily="34" charset="0"/>
                <a:ea typeface="Cambria" pitchFamily="34" charset="-122"/>
                <a:cs typeface="Cambria" pitchFamily="34" charset="-120"/>
              </a:rPr>
              <a:t>Agent Orchestrator</a:t>
            </a:r>
            <a:endParaRPr lang="en-US" sz="3200" dirty="0"/>
          </a:p>
        </p:txBody>
      </p:sp>
      <p:sp>
        <p:nvSpPr>
          <p:cNvPr id="4" name="Text 2"/>
          <p:cNvSpPr txBox="1"/>
          <p:nvPr/>
        </p:nvSpPr>
        <p:spPr>
          <a:xfrm>
            <a:off x="548640" y="1188720"/>
            <a:ext cx="11064240" cy="365760"/>
          </a:xfrm>
          <a:prstGeom prst="rect">
            <a:avLst/>
          </a:prstGeom>
          <a:noFill/>
          <a:ln/>
        </p:spPr>
        <p:txBody>
          <a:bodyPr wrap="square" lIns="0" tIns="0" rIns="0" bIns="0" rtlCol="0" anchor="ctr"/>
          <a:lstStyle/>
          <a:p>
            <a:pPr marL="0" indent="0">
              <a:buNone/>
            </a:pPr>
            <a:r>
              <a:rPr lang="en-US" sz="1600" dirty="0">
                <a:solidFill>
                  <a:srgbClr val="6B7280"/>
                </a:solidFill>
                <a:latin typeface="Calibri" pitchFamily="34" charset="0"/>
                <a:ea typeface="Calibri" pitchFamily="34" charset="-122"/>
                <a:cs typeface="Calibri" pitchFamily="34" charset="-120"/>
              </a:rPr>
              <a:t>A controlled workflow instead of a free-running agent</a:t>
            </a:r>
            <a:endParaRPr lang="en-US" sz="1600" dirty="0"/>
          </a:p>
        </p:txBody>
      </p:sp>
      <p:sp>
        <p:nvSpPr>
          <p:cNvPr id="5" name="Shape 3"/>
          <p:cNvSpPr/>
          <p:nvPr/>
        </p:nvSpPr>
        <p:spPr>
          <a:xfrm>
            <a:off x="548640" y="1737360"/>
            <a:ext cx="3566160" cy="2697480"/>
          </a:xfrm>
          <a:prstGeom prst="roundRect">
            <a:avLst>
              <a:gd name="adj" fmla="val 4068"/>
            </a:avLst>
          </a:prstGeom>
          <a:solidFill>
            <a:srgbClr val="FFFFFF"/>
          </a:solidFill>
          <a:ln w="12700">
            <a:solidFill>
              <a:srgbClr val="FFFFFF"/>
            </a:solidFill>
            <a:prstDash val="solid"/>
          </a:ln>
          <a:effectLst>
            <a:outerShdw blurRad="101600" dist="25400" dir="5400000" algn="bl" rotWithShape="0">
              <a:srgbClr val="000000">
                <a:alpha val="12000"/>
              </a:srgbClr>
            </a:outerShdw>
          </a:effectLst>
        </p:spPr>
      </p:sp>
      <p:sp>
        <p:nvSpPr>
          <p:cNvPr id="6" name="Shape 4"/>
          <p:cNvSpPr/>
          <p:nvPr/>
        </p:nvSpPr>
        <p:spPr>
          <a:xfrm>
            <a:off x="777240" y="1874520"/>
            <a:ext cx="457200" cy="457200"/>
          </a:xfrm>
          <a:prstGeom prst="ellipse">
            <a:avLst/>
          </a:prstGeom>
          <a:solidFill>
            <a:srgbClr val="171A21"/>
          </a:solidFill>
          <a:ln w="12700">
            <a:solidFill>
              <a:srgbClr val="171A21"/>
            </a:solidFill>
            <a:prstDash val="solid"/>
          </a:ln>
        </p:spPr>
      </p:sp>
      <p:pic>
        <p:nvPicPr>
          <p:cNvPr id="7" name="Image 0" descr="preencoded.png"/>
          <p:cNvPicPr>
            <a:picLocks noChangeAspect="1"/>
          </p:cNvPicPr>
          <p:nvPr/>
        </p:nvPicPr>
        <p:blipFill>
          <a:blip r:embed="rId3"/>
          <a:stretch>
            <a:fillRect/>
          </a:stretch>
        </p:blipFill>
        <p:spPr>
          <a:xfrm>
            <a:off x="896112" y="1993392"/>
            <a:ext cx="219456" cy="219456"/>
          </a:xfrm>
          <a:prstGeom prst="rect">
            <a:avLst/>
          </a:prstGeom>
        </p:spPr>
      </p:pic>
      <p:sp>
        <p:nvSpPr>
          <p:cNvPr id="8" name="Text 5"/>
          <p:cNvSpPr txBox="1"/>
          <p:nvPr/>
        </p:nvSpPr>
        <p:spPr>
          <a:xfrm>
            <a:off x="1371600" y="1874520"/>
            <a:ext cx="2560320" cy="457200"/>
          </a:xfrm>
          <a:prstGeom prst="rect">
            <a:avLst/>
          </a:prstGeom>
          <a:noFill/>
          <a:ln/>
        </p:spPr>
        <p:txBody>
          <a:bodyPr wrap="square" lIns="0" tIns="0" rIns="0" bIns="0" rtlCol="0" anchor="ctr"/>
          <a:lstStyle/>
          <a:p>
            <a:pPr marL="0" indent="0">
              <a:buNone/>
            </a:pPr>
            <a:r>
              <a:rPr lang="en-US" sz="1800" b="1" dirty="0">
                <a:solidFill>
                  <a:srgbClr val="171A21"/>
                </a:solidFill>
                <a:latin typeface="Cambria" pitchFamily="34" charset="0"/>
                <a:ea typeface="Cambria" pitchFamily="34" charset="-122"/>
                <a:cs typeface="Cambria" pitchFamily="34" charset="-120"/>
              </a:rPr>
              <a:t>What we built</a:t>
            </a:r>
            <a:endParaRPr lang="en-US" sz="1800" dirty="0"/>
          </a:p>
        </p:txBody>
      </p:sp>
      <p:sp>
        <p:nvSpPr>
          <p:cNvPr id="9" name="Text 6"/>
          <p:cNvSpPr txBox="1"/>
          <p:nvPr/>
        </p:nvSpPr>
        <p:spPr>
          <a:xfrm>
            <a:off x="777240" y="2468880"/>
            <a:ext cx="3154680" cy="1874520"/>
          </a:xfrm>
          <a:prstGeom prst="rect">
            <a:avLst/>
          </a:prstGeom>
          <a:noFill/>
          <a:ln/>
        </p:spPr>
        <p:txBody>
          <a:bodyPr wrap="square" lIns="0" tIns="0" rIns="0" bIns="0" rtlCol="0" anchor="t"/>
          <a:lstStyle/>
          <a:p>
            <a:pPr marL="342900" indent="-342900">
              <a:spcAft>
                <a:spcPts val="600"/>
              </a:spcAft>
              <a:buSzPct val="100000"/>
              <a:buChar char="•"/>
            </a:pPr>
            <a:r>
              <a:rPr lang="en-US" sz="1300" dirty="0">
                <a:solidFill>
                  <a:srgbClr val="1F2430"/>
                </a:solidFill>
                <a:latin typeface="Calibri" pitchFamily="34" charset="0"/>
                <a:ea typeface="Calibri" pitchFamily="34" charset="-122"/>
                <a:cs typeface="Calibri" pitchFamily="34" charset="-120"/>
              </a:rPr>
              <a:t>A workflow state machine that tracks every request through defined stages</a:t>
            </a:r>
            <a:endParaRPr lang="en-US" sz="1300" dirty="0"/>
          </a:p>
          <a:p>
            <a:pPr marL="342900" indent="-342900">
              <a:spcAft>
                <a:spcPts val="600"/>
              </a:spcAft>
              <a:buSzPct val="100000"/>
              <a:buChar char="•"/>
            </a:pPr>
            <a:r>
              <a:rPr lang="en-US" sz="1300" dirty="0">
                <a:solidFill>
                  <a:srgbClr val="1F2430"/>
                </a:solidFill>
                <a:latin typeface="Calibri" pitchFamily="34" charset="0"/>
                <a:ea typeface="Calibri" pitchFamily="34" charset="-122"/>
                <a:cs typeface="Calibri" pitchFamily="34" charset="-120"/>
              </a:rPr>
              <a:t>A planner and an orchestrator that decide and run the steps</a:t>
            </a:r>
            <a:endParaRPr lang="en-US" sz="1300" dirty="0"/>
          </a:p>
          <a:p>
            <a:pPr marL="342900" indent="-342900">
              <a:spcAft>
                <a:spcPts val="600"/>
              </a:spcAft>
              <a:buSzPct val="100000"/>
              <a:buChar char="•"/>
            </a:pPr>
            <a:r>
              <a:rPr lang="en-US" sz="1300" dirty="0">
                <a:solidFill>
                  <a:srgbClr val="1F2430"/>
                </a:solidFill>
                <a:latin typeface="Calibri" pitchFamily="34" charset="0"/>
                <a:ea typeface="Calibri" pitchFamily="34" charset="-122"/>
                <a:cs typeface="Calibri" pitchFamily="34" charset="-120"/>
              </a:rPr>
              <a:t>The sensitive-data detector extracted as a reusable module</a:t>
            </a:r>
            <a:endParaRPr lang="en-US" sz="1300" dirty="0"/>
          </a:p>
        </p:txBody>
      </p:sp>
      <p:sp>
        <p:nvSpPr>
          <p:cNvPr id="10" name="Shape 7"/>
          <p:cNvSpPr/>
          <p:nvPr/>
        </p:nvSpPr>
        <p:spPr>
          <a:xfrm>
            <a:off x="4343400" y="1737360"/>
            <a:ext cx="3566160" cy="2697480"/>
          </a:xfrm>
          <a:prstGeom prst="roundRect">
            <a:avLst>
              <a:gd name="adj" fmla="val 4068"/>
            </a:avLst>
          </a:prstGeom>
          <a:solidFill>
            <a:srgbClr val="FFFFFF"/>
          </a:solidFill>
          <a:ln w="12700">
            <a:solidFill>
              <a:srgbClr val="FFFFFF"/>
            </a:solidFill>
            <a:prstDash val="solid"/>
          </a:ln>
          <a:effectLst>
            <a:outerShdw blurRad="101600" dist="25400" dir="5400000" algn="bl" rotWithShape="0">
              <a:srgbClr val="000000">
                <a:alpha val="12000"/>
              </a:srgbClr>
            </a:outerShdw>
          </a:effectLst>
        </p:spPr>
      </p:sp>
      <p:sp>
        <p:nvSpPr>
          <p:cNvPr id="11" name="Shape 8"/>
          <p:cNvSpPr/>
          <p:nvPr/>
        </p:nvSpPr>
        <p:spPr>
          <a:xfrm>
            <a:off x="4572000" y="1874520"/>
            <a:ext cx="457200" cy="457200"/>
          </a:xfrm>
          <a:prstGeom prst="ellipse">
            <a:avLst/>
          </a:prstGeom>
          <a:solidFill>
            <a:srgbClr val="0F766E"/>
          </a:solidFill>
          <a:ln w="12700">
            <a:solidFill>
              <a:srgbClr val="0F766E"/>
            </a:solidFill>
            <a:prstDash val="solid"/>
          </a:ln>
        </p:spPr>
      </p:sp>
      <p:pic>
        <p:nvPicPr>
          <p:cNvPr id="12" name="Image 1" descr="preencoded.png"/>
          <p:cNvPicPr>
            <a:picLocks noChangeAspect="1"/>
          </p:cNvPicPr>
          <p:nvPr/>
        </p:nvPicPr>
        <p:blipFill>
          <a:blip r:embed="rId4"/>
          <a:stretch>
            <a:fillRect/>
          </a:stretch>
        </p:blipFill>
        <p:spPr>
          <a:xfrm>
            <a:off x="4690872" y="1993392"/>
            <a:ext cx="219456" cy="219456"/>
          </a:xfrm>
          <a:prstGeom prst="rect">
            <a:avLst/>
          </a:prstGeom>
        </p:spPr>
      </p:pic>
      <p:sp>
        <p:nvSpPr>
          <p:cNvPr id="13" name="Text 9"/>
          <p:cNvSpPr txBox="1"/>
          <p:nvPr/>
        </p:nvSpPr>
        <p:spPr>
          <a:xfrm>
            <a:off x="5166360" y="1874520"/>
            <a:ext cx="2560320" cy="457200"/>
          </a:xfrm>
          <a:prstGeom prst="rect">
            <a:avLst/>
          </a:prstGeom>
          <a:noFill/>
          <a:ln/>
        </p:spPr>
        <p:txBody>
          <a:bodyPr wrap="square" lIns="0" tIns="0" rIns="0" bIns="0" rtlCol="0" anchor="ctr"/>
          <a:lstStyle/>
          <a:p>
            <a:pPr marL="0" indent="0">
              <a:buNone/>
            </a:pPr>
            <a:r>
              <a:rPr lang="en-US" sz="1800" b="1" dirty="0">
                <a:solidFill>
                  <a:srgbClr val="171A21"/>
                </a:solidFill>
                <a:latin typeface="Cambria" pitchFamily="34" charset="0"/>
                <a:ea typeface="Cambria" pitchFamily="34" charset="-122"/>
                <a:cs typeface="Cambria" pitchFamily="34" charset="-120"/>
              </a:rPr>
              <a:t>How we built it</a:t>
            </a:r>
            <a:endParaRPr lang="en-US" sz="1800" dirty="0"/>
          </a:p>
        </p:txBody>
      </p:sp>
      <p:sp>
        <p:nvSpPr>
          <p:cNvPr id="14" name="Text 10"/>
          <p:cNvSpPr txBox="1"/>
          <p:nvPr/>
        </p:nvSpPr>
        <p:spPr>
          <a:xfrm>
            <a:off x="4572000" y="2468880"/>
            <a:ext cx="3154680" cy="1874520"/>
          </a:xfrm>
          <a:prstGeom prst="rect">
            <a:avLst/>
          </a:prstGeom>
          <a:noFill/>
          <a:ln/>
        </p:spPr>
        <p:txBody>
          <a:bodyPr wrap="square" lIns="0" tIns="0" rIns="0" bIns="0" rtlCol="0" anchor="t"/>
          <a:lstStyle/>
          <a:p>
            <a:pPr marL="342900" indent="-342900">
              <a:spcAft>
                <a:spcPts val="600"/>
              </a:spcAft>
              <a:buSzPct val="100000"/>
              <a:buChar char="•"/>
            </a:pPr>
            <a:r>
              <a:rPr lang="en-US" sz="1300" dirty="0">
                <a:solidFill>
                  <a:srgbClr val="1F2430"/>
                </a:solidFill>
                <a:latin typeface="Calibri" pitchFamily="34" charset="0"/>
                <a:ea typeface="Calibri" pitchFamily="34" charset="-122"/>
                <a:cs typeface="Calibri" pitchFamily="34" charset="-120"/>
              </a:rPr>
              <a:t>Each request is a state that moves forward, or stops</a:t>
            </a:r>
            <a:endParaRPr lang="en-US" sz="1300" dirty="0"/>
          </a:p>
          <a:p>
            <a:pPr marL="342900" indent="-342900">
              <a:spcAft>
                <a:spcPts val="600"/>
              </a:spcAft>
              <a:buSzPct val="100000"/>
              <a:buChar char="•"/>
            </a:pPr>
            <a:r>
              <a:rPr lang="en-US" sz="1300" dirty="0">
                <a:solidFill>
                  <a:srgbClr val="1F2430"/>
                </a:solidFill>
                <a:latin typeface="Calibri" pitchFamily="34" charset="0"/>
                <a:ea typeface="Calibri" pitchFamily="34" charset="-122"/>
                <a:cs typeface="Calibri" pitchFamily="34" charset="-120"/>
              </a:rPr>
              <a:t>The security verdict decides the path: SAFE continues, BLOCKED skips downstream stages</a:t>
            </a:r>
            <a:endParaRPr lang="en-US" sz="1300" dirty="0"/>
          </a:p>
          <a:p>
            <a:pPr marL="342900" indent="-342900">
              <a:spcAft>
                <a:spcPts val="600"/>
              </a:spcAft>
              <a:buSzPct val="100000"/>
              <a:buChar char="•"/>
            </a:pPr>
            <a:r>
              <a:rPr lang="en-US" sz="1300" dirty="0">
                <a:solidFill>
                  <a:srgbClr val="1F2430"/>
                </a:solidFill>
                <a:latin typeface="Calibri" pitchFamily="34" charset="0"/>
                <a:ea typeface="Calibri" pitchFamily="34" charset="-122"/>
                <a:cs typeface="Calibri" pitchFamily="34" charset="-120"/>
              </a:rPr>
              <a:t>Single entry point: /agent/request</a:t>
            </a:r>
            <a:endParaRPr lang="en-US" sz="1300" dirty="0"/>
          </a:p>
        </p:txBody>
      </p:sp>
      <p:sp>
        <p:nvSpPr>
          <p:cNvPr id="15" name="Shape 11"/>
          <p:cNvSpPr/>
          <p:nvPr/>
        </p:nvSpPr>
        <p:spPr>
          <a:xfrm>
            <a:off x="8138160" y="1737360"/>
            <a:ext cx="3566160" cy="2697480"/>
          </a:xfrm>
          <a:prstGeom prst="roundRect">
            <a:avLst>
              <a:gd name="adj" fmla="val 4068"/>
            </a:avLst>
          </a:prstGeom>
          <a:solidFill>
            <a:srgbClr val="FFFFFF"/>
          </a:solidFill>
          <a:ln w="12700">
            <a:solidFill>
              <a:srgbClr val="FFFFFF"/>
            </a:solidFill>
            <a:prstDash val="solid"/>
          </a:ln>
          <a:effectLst>
            <a:outerShdw blurRad="101600" dist="25400" dir="5400000" algn="bl" rotWithShape="0">
              <a:srgbClr val="000000">
                <a:alpha val="12000"/>
              </a:srgbClr>
            </a:outerShdw>
          </a:effectLst>
        </p:spPr>
      </p:sp>
      <p:sp>
        <p:nvSpPr>
          <p:cNvPr id="16" name="Shape 12"/>
          <p:cNvSpPr/>
          <p:nvPr/>
        </p:nvSpPr>
        <p:spPr>
          <a:xfrm>
            <a:off x="8366760" y="1874520"/>
            <a:ext cx="457200" cy="457200"/>
          </a:xfrm>
          <a:prstGeom prst="ellipse">
            <a:avLst/>
          </a:prstGeom>
          <a:solidFill>
            <a:srgbClr val="262B36"/>
          </a:solidFill>
          <a:ln w="12700">
            <a:solidFill>
              <a:srgbClr val="262B36"/>
            </a:solidFill>
            <a:prstDash val="solid"/>
          </a:ln>
        </p:spPr>
      </p:sp>
      <p:pic>
        <p:nvPicPr>
          <p:cNvPr id="17" name="Image 2" descr="preencoded.png"/>
          <p:cNvPicPr>
            <a:picLocks noChangeAspect="1"/>
          </p:cNvPicPr>
          <p:nvPr/>
        </p:nvPicPr>
        <p:blipFill>
          <a:blip r:embed="rId5"/>
          <a:stretch>
            <a:fillRect/>
          </a:stretch>
        </p:blipFill>
        <p:spPr>
          <a:xfrm>
            <a:off x="8485632" y="1993392"/>
            <a:ext cx="219456" cy="219456"/>
          </a:xfrm>
          <a:prstGeom prst="rect">
            <a:avLst/>
          </a:prstGeom>
        </p:spPr>
      </p:pic>
      <p:sp>
        <p:nvSpPr>
          <p:cNvPr id="18" name="Text 13"/>
          <p:cNvSpPr txBox="1"/>
          <p:nvPr/>
        </p:nvSpPr>
        <p:spPr>
          <a:xfrm>
            <a:off x="8961120" y="1874520"/>
            <a:ext cx="2560320" cy="457200"/>
          </a:xfrm>
          <a:prstGeom prst="rect">
            <a:avLst/>
          </a:prstGeom>
          <a:noFill/>
          <a:ln/>
        </p:spPr>
        <p:txBody>
          <a:bodyPr wrap="square" lIns="0" tIns="0" rIns="0" bIns="0" rtlCol="0" anchor="ctr"/>
          <a:lstStyle/>
          <a:p>
            <a:pPr marL="0" indent="0">
              <a:buNone/>
            </a:pPr>
            <a:r>
              <a:rPr lang="en-US" sz="1800" b="1" dirty="0">
                <a:solidFill>
                  <a:srgbClr val="171A21"/>
                </a:solidFill>
                <a:latin typeface="Cambria" pitchFamily="34" charset="0"/>
                <a:ea typeface="Cambria" pitchFamily="34" charset="-122"/>
                <a:cs typeface="Cambria" pitchFamily="34" charset="-120"/>
              </a:rPr>
              <a:t>Why it matters</a:t>
            </a:r>
            <a:endParaRPr lang="en-US" sz="1800" dirty="0"/>
          </a:p>
        </p:txBody>
      </p:sp>
      <p:sp>
        <p:nvSpPr>
          <p:cNvPr id="19" name="Text 14"/>
          <p:cNvSpPr txBox="1"/>
          <p:nvPr/>
        </p:nvSpPr>
        <p:spPr>
          <a:xfrm>
            <a:off x="8366760" y="2468880"/>
            <a:ext cx="3154680" cy="1874520"/>
          </a:xfrm>
          <a:prstGeom prst="rect">
            <a:avLst/>
          </a:prstGeom>
          <a:noFill/>
          <a:ln/>
        </p:spPr>
        <p:txBody>
          <a:bodyPr wrap="square" lIns="0" tIns="0" rIns="0" bIns="0" rtlCol="0" anchor="t"/>
          <a:lstStyle/>
          <a:p>
            <a:pPr marL="342900" indent="-342900">
              <a:spcAft>
                <a:spcPts val="600"/>
              </a:spcAft>
              <a:buSzPct val="100000"/>
              <a:buChar char="•"/>
            </a:pPr>
            <a:r>
              <a:rPr lang="en-US" sz="1300" dirty="0">
                <a:solidFill>
                  <a:srgbClr val="1F2430"/>
                </a:solidFill>
                <a:latin typeface="Calibri" pitchFamily="34" charset="0"/>
                <a:ea typeface="Calibri" pitchFamily="34" charset="-122"/>
                <a:cs typeface="Calibri" pitchFamily="34" charset="-120"/>
              </a:rPr>
              <a:t>Agents that act freely are hard to trust; a fixed workflow is predictable</a:t>
            </a:r>
            <a:endParaRPr lang="en-US" sz="1300" dirty="0"/>
          </a:p>
          <a:p>
            <a:pPr marL="342900" indent="-342900">
              <a:spcAft>
                <a:spcPts val="600"/>
              </a:spcAft>
              <a:buSzPct val="100000"/>
              <a:buChar char="•"/>
            </a:pPr>
            <a:r>
              <a:rPr lang="en-US" sz="1300" dirty="0">
                <a:solidFill>
                  <a:srgbClr val="1F2430"/>
                </a:solidFill>
                <a:latin typeface="Calibri" pitchFamily="34" charset="0"/>
                <a:ea typeface="Calibri" pitchFamily="34" charset="-122"/>
                <a:cs typeface="Calibri" pitchFamily="34" charset="-120"/>
              </a:rPr>
              <a:t>Every decision is traceable for audit</a:t>
            </a:r>
            <a:endParaRPr lang="en-US" sz="1300" dirty="0"/>
          </a:p>
          <a:p>
            <a:pPr marL="342900" indent="-342900">
              <a:spcAft>
                <a:spcPts val="600"/>
              </a:spcAft>
              <a:buSzPct val="100000"/>
              <a:buChar char="•"/>
            </a:pPr>
            <a:r>
              <a:rPr lang="en-US" sz="1300" dirty="0">
                <a:solidFill>
                  <a:srgbClr val="1F2430"/>
                </a:solidFill>
                <a:latin typeface="Calibri" pitchFamily="34" charset="0"/>
                <a:ea typeface="Calibri" pitchFamily="34" charset="-122"/>
                <a:cs typeface="Calibri" pitchFamily="34" charset="-120"/>
              </a:rPr>
              <a:t>New stages can be added without breaking the flow</a:t>
            </a:r>
            <a:endParaRPr lang="en-US" sz="1300" dirty="0"/>
          </a:p>
        </p:txBody>
      </p:sp>
      <p:sp>
        <p:nvSpPr>
          <p:cNvPr id="20" name="Text 15"/>
          <p:cNvSpPr txBox="1"/>
          <p:nvPr/>
        </p:nvSpPr>
        <p:spPr>
          <a:xfrm>
            <a:off x="548640" y="4617720"/>
            <a:ext cx="3657600" cy="320040"/>
          </a:xfrm>
          <a:prstGeom prst="rect">
            <a:avLst/>
          </a:prstGeom>
          <a:noFill/>
          <a:ln/>
        </p:spPr>
        <p:txBody>
          <a:bodyPr wrap="square" lIns="0" tIns="0" rIns="0" bIns="0" rtlCol="0" anchor="ctr"/>
          <a:lstStyle/>
          <a:p>
            <a:pPr marL="0" indent="0">
              <a:buNone/>
            </a:pPr>
            <a:r>
              <a:rPr lang="en-US" sz="1400" b="1" dirty="0">
                <a:solidFill>
                  <a:srgbClr val="171A21"/>
                </a:solidFill>
                <a:latin typeface="Calibri" pitchFamily="34" charset="0"/>
                <a:ea typeface="Calibri" pitchFamily="34" charset="-122"/>
                <a:cs typeface="Calibri" pitchFamily="34" charset="-120"/>
              </a:rPr>
              <a:t>Data flow</a:t>
            </a:r>
            <a:endParaRPr lang="en-US" sz="1400" dirty="0"/>
          </a:p>
        </p:txBody>
      </p:sp>
      <p:sp>
        <p:nvSpPr>
          <p:cNvPr id="21" name="Shape 16"/>
          <p:cNvSpPr/>
          <p:nvPr/>
        </p:nvSpPr>
        <p:spPr>
          <a:xfrm>
            <a:off x="548640" y="5029200"/>
            <a:ext cx="1539240" cy="914400"/>
          </a:xfrm>
          <a:prstGeom prst="roundRect">
            <a:avLst>
              <a:gd name="adj" fmla="val 10000"/>
            </a:avLst>
          </a:prstGeom>
          <a:solidFill>
            <a:srgbClr val="171A21"/>
          </a:solidFill>
          <a:ln w="12700">
            <a:solidFill>
              <a:srgbClr val="171A21"/>
            </a:solidFill>
            <a:prstDash val="solid"/>
          </a:ln>
          <a:effectLst>
            <a:outerShdw blurRad="101600" dist="25400" dir="5400000" algn="bl" rotWithShape="0">
              <a:srgbClr val="000000">
                <a:alpha val="12000"/>
              </a:srgbClr>
            </a:outerShdw>
          </a:effectLst>
        </p:spPr>
      </p:sp>
      <p:sp>
        <p:nvSpPr>
          <p:cNvPr id="22" name="Text 17"/>
          <p:cNvSpPr txBox="1"/>
          <p:nvPr/>
        </p:nvSpPr>
        <p:spPr>
          <a:xfrm>
            <a:off x="548640" y="5029200"/>
            <a:ext cx="1539240" cy="914400"/>
          </a:xfrm>
          <a:prstGeom prst="rect">
            <a:avLst/>
          </a:prstGeom>
          <a:noFill/>
          <a:ln/>
        </p:spPr>
        <p:txBody>
          <a:bodyPr wrap="square" lIns="114300" tIns="114300" rIns="114300" bIns="114300" rtlCol="0" anchor="ctr"/>
          <a:lstStyle/>
          <a:p>
            <a:pPr marL="0" indent="0" algn="l">
              <a:spcAft>
                <a:spcPts val="300"/>
              </a:spcAft>
              <a:buNone/>
            </a:pPr>
            <a:r>
              <a:rPr lang="en-US" sz="1300" b="1" dirty="0">
                <a:solidFill>
                  <a:srgbClr val="FFFFFF"/>
                </a:solidFill>
                <a:latin typeface="Calibri" pitchFamily="34" charset="0"/>
                <a:ea typeface="Calibri" pitchFamily="34" charset="-122"/>
                <a:cs typeface="Calibri" pitchFamily="34" charset="-120"/>
              </a:rPr>
              <a:t>Request</a:t>
            </a:r>
            <a:endParaRPr lang="en-US" sz="1300" dirty="0"/>
          </a:p>
        </p:txBody>
      </p:sp>
      <p:sp>
        <p:nvSpPr>
          <p:cNvPr id="23" name="Shape 18"/>
          <p:cNvSpPr/>
          <p:nvPr/>
        </p:nvSpPr>
        <p:spPr>
          <a:xfrm>
            <a:off x="2106168" y="5486400"/>
            <a:ext cx="329184" cy="0"/>
          </a:xfrm>
          <a:prstGeom prst="line">
            <a:avLst/>
          </a:prstGeom>
          <a:noFill/>
          <a:ln w="25400">
            <a:solidFill>
              <a:srgbClr val="171A21"/>
            </a:solidFill>
            <a:prstDash val="solid"/>
            <a:tailEnd type="triangle"/>
          </a:ln>
        </p:spPr>
      </p:sp>
      <p:sp>
        <p:nvSpPr>
          <p:cNvPr id="24" name="Shape 19"/>
          <p:cNvSpPr/>
          <p:nvPr/>
        </p:nvSpPr>
        <p:spPr>
          <a:xfrm>
            <a:off x="2453640" y="5029200"/>
            <a:ext cx="1539240" cy="914400"/>
          </a:xfrm>
          <a:prstGeom prst="roundRect">
            <a:avLst>
              <a:gd name="adj" fmla="val 10000"/>
            </a:avLst>
          </a:prstGeom>
          <a:solidFill>
            <a:srgbClr val="FFFFFF"/>
          </a:solidFill>
          <a:ln w="12700">
            <a:solidFill>
              <a:srgbClr val="FFFFFF"/>
            </a:solidFill>
            <a:prstDash val="solid"/>
          </a:ln>
          <a:effectLst>
            <a:outerShdw blurRad="101600" dist="25400" dir="5400000" algn="bl" rotWithShape="0">
              <a:srgbClr val="000000">
                <a:alpha val="12000"/>
              </a:srgbClr>
            </a:outerShdw>
          </a:effectLst>
        </p:spPr>
      </p:sp>
      <p:sp>
        <p:nvSpPr>
          <p:cNvPr id="25" name="Text 20"/>
          <p:cNvSpPr txBox="1"/>
          <p:nvPr/>
        </p:nvSpPr>
        <p:spPr>
          <a:xfrm>
            <a:off x="2453640" y="5029200"/>
            <a:ext cx="1539240" cy="914400"/>
          </a:xfrm>
          <a:prstGeom prst="rect">
            <a:avLst/>
          </a:prstGeom>
          <a:noFill/>
          <a:ln/>
        </p:spPr>
        <p:txBody>
          <a:bodyPr wrap="square" lIns="114300" tIns="114300" rIns="114300" bIns="114300" rtlCol="0" anchor="ctr"/>
          <a:lstStyle/>
          <a:p>
            <a:pPr marL="0" indent="0" algn="l">
              <a:spcAft>
                <a:spcPts val="300"/>
              </a:spcAft>
              <a:buNone/>
            </a:pPr>
            <a:r>
              <a:rPr lang="en-US" sz="1300" b="1" dirty="0">
                <a:solidFill>
                  <a:srgbClr val="171A21"/>
                </a:solidFill>
                <a:latin typeface="Calibri" pitchFamily="34" charset="0"/>
                <a:ea typeface="Calibri" pitchFamily="34" charset="-122"/>
                <a:cs typeface="Calibri" pitchFamily="34" charset="-120"/>
              </a:rPr>
              <a:t>Planner</a:t>
            </a:r>
            <a:endParaRPr lang="en-US" sz="1300" dirty="0"/>
          </a:p>
        </p:txBody>
      </p:sp>
      <p:sp>
        <p:nvSpPr>
          <p:cNvPr id="26" name="Shape 21"/>
          <p:cNvSpPr/>
          <p:nvPr/>
        </p:nvSpPr>
        <p:spPr>
          <a:xfrm>
            <a:off x="4011168" y="5486400"/>
            <a:ext cx="329184" cy="0"/>
          </a:xfrm>
          <a:prstGeom prst="line">
            <a:avLst/>
          </a:prstGeom>
          <a:noFill/>
          <a:ln w="25400">
            <a:solidFill>
              <a:srgbClr val="171A21"/>
            </a:solidFill>
            <a:prstDash val="solid"/>
            <a:tailEnd type="triangle"/>
          </a:ln>
        </p:spPr>
      </p:sp>
      <p:sp>
        <p:nvSpPr>
          <p:cNvPr id="27" name="Shape 22"/>
          <p:cNvSpPr/>
          <p:nvPr/>
        </p:nvSpPr>
        <p:spPr>
          <a:xfrm>
            <a:off x="4358640" y="5029200"/>
            <a:ext cx="1539240" cy="914400"/>
          </a:xfrm>
          <a:prstGeom prst="roundRect">
            <a:avLst>
              <a:gd name="adj" fmla="val 10000"/>
            </a:avLst>
          </a:prstGeom>
          <a:solidFill>
            <a:srgbClr val="FFFFFF"/>
          </a:solidFill>
          <a:ln w="12700">
            <a:solidFill>
              <a:srgbClr val="FFFFFF"/>
            </a:solidFill>
            <a:prstDash val="solid"/>
          </a:ln>
          <a:effectLst>
            <a:outerShdw blurRad="101600" dist="25400" dir="5400000" algn="bl" rotWithShape="0">
              <a:srgbClr val="000000">
                <a:alpha val="12000"/>
              </a:srgbClr>
            </a:outerShdw>
          </a:effectLst>
        </p:spPr>
      </p:sp>
      <p:sp>
        <p:nvSpPr>
          <p:cNvPr id="28" name="Text 23"/>
          <p:cNvSpPr txBox="1"/>
          <p:nvPr/>
        </p:nvSpPr>
        <p:spPr>
          <a:xfrm>
            <a:off x="4358640" y="5029200"/>
            <a:ext cx="1539240" cy="914400"/>
          </a:xfrm>
          <a:prstGeom prst="rect">
            <a:avLst/>
          </a:prstGeom>
          <a:noFill/>
          <a:ln/>
        </p:spPr>
        <p:txBody>
          <a:bodyPr wrap="square" lIns="114300" tIns="114300" rIns="114300" bIns="114300" rtlCol="0" anchor="ctr"/>
          <a:lstStyle/>
          <a:p>
            <a:pPr marL="0" indent="0" algn="l">
              <a:spcAft>
                <a:spcPts val="300"/>
              </a:spcAft>
              <a:buNone/>
            </a:pPr>
            <a:r>
              <a:rPr lang="en-US" sz="1300" b="1" dirty="0">
                <a:solidFill>
                  <a:srgbClr val="171A21"/>
                </a:solidFill>
                <a:latin typeface="Calibri" pitchFamily="34" charset="0"/>
                <a:ea typeface="Calibri" pitchFamily="34" charset="-122"/>
                <a:cs typeface="Calibri" pitchFamily="34" charset="-120"/>
              </a:rPr>
              <a:t>State machine</a:t>
            </a:r>
            <a:endParaRPr lang="en-US" sz="1300" dirty="0"/>
          </a:p>
        </p:txBody>
      </p:sp>
      <p:sp>
        <p:nvSpPr>
          <p:cNvPr id="29" name="Shape 24"/>
          <p:cNvSpPr/>
          <p:nvPr/>
        </p:nvSpPr>
        <p:spPr>
          <a:xfrm>
            <a:off x="5916168" y="5486400"/>
            <a:ext cx="329184" cy="0"/>
          </a:xfrm>
          <a:prstGeom prst="line">
            <a:avLst/>
          </a:prstGeom>
          <a:noFill/>
          <a:ln w="25400">
            <a:solidFill>
              <a:srgbClr val="171A21"/>
            </a:solidFill>
            <a:prstDash val="solid"/>
            <a:tailEnd type="triangle"/>
          </a:ln>
        </p:spPr>
      </p:sp>
      <p:sp>
        <p:nvSpPr>
          <p:cNvPr id="30" name="Shape 25"/>
          <p:cNvSpPr/>
          <p:nvPr/>
        </p:nvSpPr>
        <p:spPr>
          <a:xfrm>
            <a:off x="6263640" y="5029200"/>
            <a:ext cx="1539240" cy="914400"/>
          </a:xfrm>
          <a:prstGeom prst="roundRect">
            <a:avLst>
              <a:gd name="adj" fmla="val 10000"/>
            </a:avLst>
          </a:prstGeom>
          <a:solidFill>
            <a:srgbClr val="FFFFFF"/>
          </a:solidFill>
          <a:ln w="12700">
            <a:solidFill>
              <a:srgbClr val="FFFFFF"/>
            </a:solidFill>
            <a:prstDash val="solid"/>
          </a:ln>
          <a:effectLst>
            <a:outerShdw blurRad="101600" dist="25400" dir="5400000" algn="bl" rotWithShape="0">
              <a:srgbClr val="000000">
                <a:alpha val="12000"/>
              </a:srgbClr>
            </a:outerShdw>
          </a:effectLst>
        </p:spPr>
      </p:sp>
      <p:sp>
        <p:nvSpPr>
          <p:cNvPr id="31" name="Text 26"/>
          <p:cNvSpPr txBox="1"/>
          <p:nvPr/>
        </p:nvSpPr>
        <p:spPr>
          <a:xfrm>
            <a:off x="6263640" y="5029200"/>
            <a:ext cx="1539240" cy="914400"/>
          </a:xfrm>
          <a:prstGeom prst="rect">
            <a:avLst/>
          </a:prstGeom>
          <a:noFill/>
          <a:ln/>
        </p:spPr>
        <p:txBody>
          <a:bodyPr wrap="square" lIns="114300" tIns="114300" rIns="114300" bIns="114300" rtlCol="0" anchor="ctr"/>
          <a:lstStyle/>
          <a:p>
            <a:pPr marL="0" indent="0" algn="l">
              <a:spcAft>
                <a:spcPts val="300"/>
              </a:spcAft>
              <a:buNone/>
            </a:pPr>
            <a:r>
              <a:rPr lang="en-US" sz="1300" b="1" dirty="0">
                <a:solidFill>
                  <a:srgbClr val="171A21"/>
                </a:solidFill>
                <a:latin typeface="Calibri" pitchFamily="34" charset="0"/>
                <a:ea typeface="Calibri" pitchFamily="34" charset="-122"/>
                <a:cs typeface="Calibri" pitchFamily="34" charset="-120"/>
              </a:rPr>
              <a:t>Security verdict</a:t>
            </a:r>
            <a:endParaRPr lang="en-US" sz="1300" dirty="0"/>
          </a:p>
        </p:txBody>
      </p:sp>
      <p:sp>
        <p:nvSpPr>
          <p:cNvPr id="32" name="Shape 27"/>
          <p:cNvSpPr/>
          <p:nvPr/>
        </p:nvSpPr>
        <p:spPr>
          <a:xfrm>
            <a:off x="7821168" y="5486400"/>
            <a:ext cx="329184" cy="0"/>
          </a:xfrm>
          <a:prstGeom prst="line">
            <a:avLst/>
          </a:prstGeom>
          <a:noFill/>
          <a:ln w="25400">
            <a:solidFill>
              <a:srgbClr val="171A21"/>
            </a:solidFill>
            <a:prstDash val="solid"/>
            <a:tailEnd type="triangle"/>
          </a:ln>
        </p:spPr>
      </p:sp>
      <p:sp>
        <p:nvSpPr>
          <p:cNvPr id="33" name="Shape 28"/>
          <p:cNvSpPr/>
          <p:nvPr/>
        </p:nvSpPr>
        <p:spPr>
          <a:xfrm>
            <a:off x="8168640" y="5029200"/>
            <a:ext cx="1539240" cy="914400"/>
          </a:xfrm>
          <a:prstGeom prst="roundRect">
            <a:avLst>
              <a:gd name="adj" fmla="val 10000"/>
            </a:avLst>
          </a:prstGeom>
          <a:solidFill>
            <a:srgbClr val="FFFFFF"/>
          </a:solidFill>
          <a:ln w="12700">
            <a:solidFill>
              <a:srgbClr val="FFFFFF"/>
            </a:solidFill>
            <a:prstDash val="solid"/>
          </a:ln>
          <a:effectLst>
            <a:outerShdw blurRad="101600" dist="25400" dir="5400000" algn="bl" rotWithShape="0">
              <a:srgbClr val="000000">
                <a:alpha val="12000"/>
              </a:srgbClr>
            </a:outerShdw>
          </a:effectLst>
        </p:spPr>
      </p:sp>
      <p:sp>
        <p:nvSpPr>
          <p:cNvPr id="34" name="Text 29"/>
          <p:cNvSpPr txBox="1"/>
          <p:nvPr/>
        </p:nvSpPr>
        <p:spPr>
          <a:xfrm>
            <a:off x="8168640" y="5029200"/>
            <a:ext cx="1539240" cy="914400"/>
          </a:xfrm>
          <a:prstGeom prst="rect">
            <a:avLst/>
          </a:prstGeom>
          <a:noFill/>
          <a:ln/>
        </p:spPr>
        <p:txBody>
          <a:bodyPr wrap="square" lIns="114300" tIns="114300" rIns="114300" bIns="114300" rtlCol="0" anchor="ctr"/>
          <a:lstStyle/>
          <a:p>
            <a:pPr marL="0" indent="0" algn="l">
              <a:spcAft>
                <a:spcPts val="300"/>
              </a:spcAft>
              <a:buNone/>
            </a:pPr>
            <a:r>
              <a:rPr lang="en-US" sz="1300" b="1" dirty="0">
                <a:solidFill>
                  <a:srgbClr val="171A21"/>
                </a:solidFill>
                <a:latin typeface="Calibri" pitchFamily="34" charset="0"/>
                <a:ea typeface="Calibri" pitchFamily="34" charset="-122"/>
                <a:cs typeface="Calibri" pitchFamily="34" charset="-120"/>
              </a:rPr>
              <a:t>Orchestrator</a:t>
            </a:r>
            <a:endParaRPr lang="en-US" sz="1300" dirty="0"/>
          </a:p>
        </p:txBody>
      </p:sp>
      <p:sp>
        <p:nvSpPr>
          <p:cNvPr id="35" name="Shape 30"/>
          <p:cNvSpPr/>
          <p:nvPr/>
        </p:nvSpPr>
        <p:spPr>
          <a:xfrm>
            <a:off x="9726168" y="5486400"/>
            <a:ext cx="329184" cy="0"/>
          </a:xfrm>
          <a:prstGeom prst="line">
            <a:avLst/>
          </a:prstGeom>
          <a:noFill/>
          <a:ln w="25400">
            <a:solidFill>
              <a:srgbClr val="171A21"/>
            </a:solidFill>
            <a:prstDash val="solid"/>
            <a:tailEnd type="triangle"/>
          </a:ln>
        </p:spPr>
      </p:sp>
      <p:sp>
        <p:nvSpPr>
          <p:cNvPr id="36" name="Shape 31"/>
          <p:cNvSpPr/>
          <p:nvPr/>
        </p:nvSpPr>
        <p:spPr>
          <a:xfrm>
            <a:off x="10073640" y="5029200"/>
            <a:ext cx="1539240" cy="914400"/>
          </a:xfrm>
          <a:prstGeom prst="roundRect">
            <a:avLst>
              <a:gd name="adj" fmla="val 10000"/>
            </a:avLst>
          </a:prstGeom>
          <a:solidFill>
            <a:srgbClr val="171A21"/>
          </a:solidFill>
          <a:ln w="12700">
            <a:solidFill>
              <a:srgbClr val="171A21"/>
            </a:solidFill>
            <a:prstDash val="solid"/>
          </a:ln>
          <a:effectLst>
            <a:outerShdw blurRad="101600" dist="25400" dir="5400000" algn="bl" rotWithShape="0">
              <a:srgbClr val="000000">
                <a:alpha val="12000"/>
              </a:srgbClr>
            </a:outerShdw>
          </a:effectLst>
        </p:spPr>
      </p:sp>
      <p:sp>
        <p:nvSpPr>
          <p:cNvPr id="37" name="Text 32"/>
          <p:cNvSpPr txBox="1"/>
          <p:nvPr/>
        </p:nvSpPr>
        <p:spPr>
          <a:xfrm>
            <a:off x="10073640" y="5029200"/>
            <a:ext cx="1539240" cy="914400"/>
          </a:xfrm>
          <a:prstGeom prst="rect">
            <a:avLst/>
          </a:prstGeom>
          <a:noFill/>
          <a:ln/>
        </p:spPr>
        <p:txBody>
          <a:bodyPr wrap="square" lIns="114300" tIns="114300" rIns="114300" bIns="114300" rtlCol="0" anchor="ctr"/>
          <a:lstStyle/>
          <a:p>
            <a:pPr marL="0" indent="0" algn="l">
              <a:spcAft>
                <a:spcPts val="300"/>
              </a:spcAft>
              <a:buNone/>
            </a:pPr>
            <a:r>
              <a:rPr lang="en-US" sz="1300" b="1" dirty="0">
                <a:solidFill>
                  <a:srgbClr val="FFFFFF"/>
                </a:solidFill>
                <a:latin typeface="Calibri" pitchFamily="34" charset="0"/>
                <a:ea typeface="Calibri" pitchFamily="34" charset="-122"/>
                <a:cs typeface="Calibri" pitchFamily="34" charset="-120"/>
              </a:rPr>
              <a:t>Result</a:t>
            </a:r>
            <a:endParaRPr lang="en-US" sz="1300" dirty="0"/>
          </a:p>
        </p:txBody>
      </p:sp>
      <p:sp>
        <p:nvSpPr>
          <p:cNvPr id="38" name="Text 33"/>
          <p:cNvSpPr txBox="1"/>
          <p:nvPr/>
        </p:nvSpPr>
        <p:spPr>
          <a:xfrm>
            <a:off x="548640" y="6446520"/>
            <a:ext cx="5486400" cy="274320"/>
          </a:xfrm>
          <a:prstGeom prst="rect">
            <a:avLst/>
          </a:prstGeom>
          <a:noFill/>
          <a:ln/>
        </p:spPr>
        <p:txBody>
          <a:bodyPr wrap="square" lIns="0" tIns="0" rIns="0" bIns="0" rtlCol="0" anchor="ctr"/>
          <a:lstStyle/>
          <a:p>
            <a:pPr marL="0" indent="0">
              <a:buNone/>
            </a:pPr>
            <a:r>
              <a:rPr lang="en-US" sz="1000" dirty="0">
                <a:solidFill>
                  <a:srgbClr val="6B7280"/>
                </a:solidFill>
                <a:latin typeface="Calibri" pitchFamily="34" charset="0"/>
                <a:ea typeface="Calibri" pitchFamily="34" charset="-122"/>
                <a:cs typeface="Calibri" pitchFamily="34" charset="-120"/>
              </a:rPr>
              <a:t>KAVACH  |  Project Review</a:t>
            </a:r>
            <a:endParaRPr lang="en-US" sz="1000" dirty="0"/>
          </a:p>
        </p:txBody>
      </p:sp>
      <p:sp>
        <p:nvSpPr>
          <p:cNvPr id="39" name="Slide Number Placeholder 0"/>
          <p:cNvSpPr>
            <a:spLocks noGrp="1"/>
          </p:cNvSpPr>
          <p:nvPr>
            <p:ph type="sldNum" sz="quarter" idx="4294967295"/>
          </p:nvPr>
        </p:nvSpPr>
        <p:spPr>
          <a:xfrm>
            <a:off x="11064240" y="644652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6B7280"/>
                </a:solidFill>
                <a:latin typeface="Calibri"/>
                <a:ea typeface="Calibri"/>
                <a:cs typeface="Calibri"/>
              </a:defRPr>
            </a:lvl1pPr>
          </a:lstStyle>
          <a:p>
            <a:pPr algn="r"/>
            <a:fld id="{F7021451-1387-4CA6-816F-3879F97B5CBC}" type="slidenum">
              <a:rPr lang="en-US" b="0"/>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3F4F6"/>
        </a:solidFill>
        <a:effectLst/>
      </p:bgPr>
    </p:bg>
    <p:spTree>
      <p:nvGrpSpPr>
        <p:cNvPr id="1" name=""/>
        <p:cNvGrpSpPr/>
        <p:nvPr/>
      </p:nvGrpSpPr>
      <p:grpSpPr>
        <a:xfrm>
          <a:off x="0" y="0"/>
          <a:ext cx="0" cy="0"/>
          <a:chOff x="0" y="0"/>
          <a:chExt cx="0" cy="0"/>
        </a:xfrm>
      </p:grpSpPr>
      <p:sp>
        <p:nvSpPr>
          <p:cNvPr id="2" name="Text 0"/>
          <p:cNvSpPr txBox="1"/>
          <p:nvPr/>
        </p:nvSpPr>
        <p:spPr>
          <a:xfrm>
            <a:off x="548640" y="274320"/>
            <a:ext cx="2743200" cy="274320"/>
          </a:xfrm>
          <a:prstGeom prst="rect">
            <a:avLst/>
          </a:prstGeom>
          <a:noFill/>
          <a:ln/>
        </p:spPr>
        <p:txBody>
          <a:bodyPr wrap="square" lIns="0" tIns="0" rIns="0" bIns="0" rtlCol="0" anchor="ctr"/>
          <a:lstStyle/>
          <a:p>
            <a:pPr marL="0" indent="0">
              <a:buNone/>
            </a:pPr>
            <a:r>
              <a:rPr lang="en-US" sz="1300" b="1" dirty="0">
                <a:solidFill>
                  <a:srgbClr val="F5A524"/>
                </a:solidFill>
                <a:latin typeface="Calibri" pitchFamily="34" charset="0"/>
                <a:ea typeface="Calibri" pitchFamily="34" charset="-122"/>
                <a:cs typeface="Calibri" pitchFamily="34" charset="-120"/>
              </a:rPr>
              <a:t>PHASE 3</a:t>
            </a:r>
            <a:endParaRPr lang="en-US" sz="1300" dirty="0"/>
          </a:p>
        </p:txBody>
      </p:sp>
      <p:sp>
        <p:nvSpPr>
          <p:cNvPr id="3" name="Text 1"/>
          <p:cNvSpPr txBox="1"/>
          <p:nvPr/>
        </p:nvSpPr>
        <p:spPr>
          <a:xfrm>
            <a:off x="548640" y="548640"/>
            <a:ext cx="11064240" cy="640080"/>
          </a:xfrm>
          <a:prstGeom prst="rect">
            <a:avLst/>
          </a:prstGeom>
          <a:noFill/>
          <a:ln/>
        </p:spPr>
        <p:txBody>
          <a:bodyPr wrap="square" lIns="0" tIns="0" rIns="0" bIns="0" rtlCol="0" anchor="ctr"/>
          <a:lstStyle/>
          <a:p>
            <a:pPr marL="0" indent="0">
              <a:buNone/>
            </a:pPr>
            <a:r>
              <a:rPr lang="en-US" sz="3200" b="1" dirty="0">
                <a:solidFill>
                  <a:srgbClr val="171A21"/>
                </a:solidFill>
                <a:latin typeface="Cambria" pitchFamily="34" charset="0"/>
                <a:ea typeface="Cambria" pitchFamily="34" charset="-122"/>
                <a:cs typeface="Cambria" pitchFamily="34" charset="-120"/>
              </a:rPr>
              <a:t>Evidence-Grounded Generation</a:t>
            </a:r>
            <a:endParaRPr lang="en-US" sz="3200" dirty="0"/>
          </a:p>
        </p:txBody>
      </p:sp>
      <p:sp>
        <p:nvSpPr>
          <p:cNvPr id="4" name="Text 2"/>
          <p:cNvSpPr txBox="1"/>
          <p:nvPr/>
        </p:nvSpPr>
        <p:spPr>
          <a:xfrm>
            <a:off x="548640" y="1188720"/>
            <a:ext cx="11064240" cy="365760"/>
          </a:xfrm>
          <a:prstGeom prst="rect">
            <a:avLst/>
          </a:prstGeom>
          <a:noFill/>
          <a:ln/>
        </p:spPr>
        <p:txBody>
          <a:bodyPr wrap="square" lIns="0" tIns="0" rIns="0" bIns="0" rtlCol="0" anchor="ctr"/>
          <a:lstStyle/>
          <a:p>
            <a:pPr marL="0" indent="0">
              <a:buNone/>
            </a:pPr>
            <a:r>
              <a:rPr lang="en-US" sz="1600" dirty="0">
                <a:solidFill>
                  <a:srgbClr val="6B7280"/>
                </a:solidFill>
                <a:latin typeface="Calibri" pitchFamily="34" charset="0"/>
                <a:ea typeface="Calibri" pitchFamily="34" charset="-122"/>
                <a:cs typeface="Calibri" pitchFamily="34" charset="-120"/>
              </a:rPr>
              <a:t>AI-written code tied to what actually exists in the repository</a:t>
            </a:r>
            <a:endParaRPr lang="en-US" sz="1600" dirty="0"/>
          </a:p>
        </p:txBody>
      </p:sp>
      <p:sp>
        <p:nvSpPr>
          <p:cNvPr id="5" name="Shape 3"/>
          <p:cNvSpPr/>
          <p:nvPr/>
        </p:nvSpPr>
        <p:spPr>
          <a:xfrm>
            <a:off x="548640" y="1737360"/>
            <a:ext cx="3566160" cy="2697480"/>
          </a:xfrm>
          <a:prstGeom prst="roundRect">
            <a:avLst>
              <a:gd name="adj" fmla="val 4068"/>
            </a:avLst>
          </a:prstGeom>
          <a:solidFill>
            <a:srgbClr val="FFFFFF"/>
          </a:solidFill>
          <a:ln w="12700">
            <a:solidFill>
              <a:srgbClr val="FFFFFF"/>
            </a:solidFill>
            <a:prstDash val="solid"/>
          </a:ln>
          <a:effectLst>
            <a:outerShdw blurRad="101600" dist="25400" dir="5400000" algn="bl" rotWithShape="0">
              <a:srgbClr val="000000">
                <a:alpha val="12000"/>
              </a:srgbClr>
            </a:outerShdw>
          </a:effectLst>
        </p:spPr>
      </p:sp>
      <p:sp>
        <p:nvSpPr>
          <p:cNvPr id="6" name="Shape 4"/>
          <p:cNvSpPr/>
          <p:nvPr/>
        </p:nvSpPr>
        <p:spPr>
          <a:xfrm>
            <a:off x="777240" y="1874520"/>
            <a:ext cx="457200" cy="457200"/>
          </a:xfrm>
          <a:prstGeom prst="ellipse">
            <a:avLst/>
          </a:prstGeom>
          <a:solidFill>
            <a:srgbClr val="171A21"/>
          </a:solidFill>
          <a:ln w="12700">
            <a:solidFill>
              <a:srgbClr val="171A21"/>
            </a:solidFill>
            <a:prstDash val="solid"/>
          </a:ln>
        </p:spPr>
      </p:sp>
      <p:pic>
        <p:nvPicPr>
          <p:cNvPr id="7" name="Image 0" descr="preencoded.png"/>
          <p:cNvPicPr>
            <a:picLocks noChangeAspect="1"/>
          </p:cNvPicPr>
          <p:nvPr/>
        </p:nvPicPr>
        <p:blipFill>
          <a:blip r:embed="rId3"/>
          <a:stretch>
            <a:fillRect/>
          </a:stretch>
        </p:blipFill>
        <p:spPr>
          <a:xfrm>
            <a:off x="896112" y="1993392"/>
            <a:ext cx="219456" cy="219456"/>
          </a:xfrm>
          <a:prstGeom prst="rect">
            <a:avLst/>
          </a:prstGeom>
        </p:spPr>
      </p:pic>
      <p:sp>
        <p:nvSpPr>
          <p:cNvPr id="8" name="Text 5"/>
          <p:cNvSpPr txBox="1"/>
          <p:nvPr/>
        </p:nvSpPr>
        <p:spPr>
          <a:xfrm>
            <a:off x="1371600" y="1874520"/>
            <a:ext cx="2560320" cy="457200"/>
          </a:xfrm>
          <a:prstGeom prst="rect">
            <a:avLst/>
          </a:prstGeom>
          <a:noFill/>
          <a:ln/>
        </p:spPr>
        <p:txBody>
          <a:bodyPr wrap="square" lIns="0" tIns="0" rIns="0" bIns="0" rtlCol="0" anchor="ctr"/>
          <a:lstStyle/>
          <a:p>
            <a:pPr marL="0" indent="0">
              <a:buNone/>
            </a:pPr>
            <a:r>
              <a:rPr lang="en-US" sz="1800" b="1" dirty="0">
                <a:solidFill>
                  <a:srgbClr val="171A21"/>
                </a:solidFill>
                <a:latin typeface="Cambria" pitchFamily="34" charset="0"/>
                <a:ea typeface="Cambria" pitchFamily="34" charset="-122"/>
                <a:cs typeface="Cambria" pitchFamily="34" charset="-120"/>
              </a:rPr>
              <a:t>What we built</a:t>
            </a:r>
            <a:endParaRPr lang="en-US" sz="1800" dirty="0"/>
          </a:p>
        </p:txBody>
      </p:sp>
      <p:sp>
        <p:nvSpPr>
          <p:cNvPr id="9" name="Text 6"/>
          <p:cNvSpPr txBox="1"/>
          <p:nvPr/>
        </p:nvSpPr>
        <p:spPr>
          <a:xfrm>
            <a:off x="777240" y="2468880"/>
            <a:ext cx="3154680" cy="1874520"/>
          </a:xfrm>
          <a:prstGeom prst="rect">
            <a:avLst/>
          </a:prstGeom>
          <a:noFill/>
          <a:ln/>
        </p:spPr>
        <p:txBody>
          <a:bodyPr wrap="square" lIns="0" tIns="0" rIns="0" bIns="0" rtlCol="0" anchor="t"/>
          <a:lstStyle/>
          <a:p>
            <a:pPr marL="342900" indent="-342900">
              <a:spcAft>
                <a:spcPts val="600"/>
              </a:spcAft>
              <a:buSzPct val="100000"/>
              <a:buChar char="•"/>
            </a:pPr>
            <a:r>
              <a:rPr lang="en-US" sz="1300" dirty="0">
                <a:solidFill>
                  <a:srgbClr val="1F2430"/>
                </a:solidFill>
                <a:latin typeface="Calibri" pitchFamily="34" charset="0"/>
                <a:ea typeface="Calibri" pitchFamily="34" charset="-122"/>
                <a:cs typeface="Calibri" pitchFamily="34" charset="-120"/>
              </a:rPr>
              <a:t>Google Gemini integration for code generation</a:t>
            </a:r>
            <a:endParaRPr lang="en-US" sz="1300" dirty="0"/>
          </a:p>
          <a:p>
            <a:pPr marL="342900" indent="-342900">
              <a:spcAft>
                <a:spcPts val="600"/>
              </a:spcAft>
              <a:buSzPct val="100000"/>
              <a:buChar char="•"/>
            </a:pPr>
            <a:r>
              <a:rPr lang="en-US" sz="1300" dirty="0">
                <a:solidFill>
                  <a:srgbClr val="1F2430"/>
                </a:solidFill>
                <a:latin typeface="Calibri" pitchFamily="34" charset="0"/>
                <a:ea typeface="Calibri" pitchFamily="34" charset="-122"/>
                <a:cs typeface="Calibri" pitchFamily="34" charset="-120"/>
              </a:rPr>
              <a:t>Prompts built only from retrieved repository evidence</a:t>
            </a:r>
            <a:endParaRPr lang="en-US" sz="1300" dirty="0"/>
          </a:p>
          <a:p>
            <a:pPr marL="342900" indent="-342900">
              <a:spcAft>
                <a:spcPts val="600"/>
              </a:spcAft>
              <a:buSzPct val="100000"/>
              <a:buChar char="•"/>
            </a:pPr>
            <a:r>
              <a:rPr lang="en-US" sz="1300" dirty="0">
                <a:solidFill>
                  <a:srgbClr val="1F2430"/>
                </a:solidFill>
                <a:latin typeface="Calibri" pitchFamily="34" charset="0"/>
                <a:ea typeface="Calibri" pitchFamily="34" charset="-122"/>
                <a:cs typeface="Calibri" pitchFamily="34" charset="-120"/>
              </a:rPr>
              <a:t>Syntax validation of generated code, with a stub fallback if Gemini is unavailable</a:t>
            </a:r>
            <a:endParaRPr lang="en-US" sz="1300" dirty="0"/>
          </a:p>
        </p:txBody>
      </p:sp>
      <p:sp>
        <p:nvSpPr>
          <p:cNvPr id="10" name="Shape 7"/>
          <p:cNvSpPr/>
          <p:nvPr/>
        </p:nvSpPr>
        <p:spPr>
          <a:xfrm>
            <a:off x="4343400" y="1737360"/>
            <a:ext cx="3566160" cy="2697480"/>
          </a:xfrm>
          <a:prstGeom prst="roundRect">
            <a:avLst>
              <a:gd name="adj" fmla="val 4068"/>
            </a:avLst>
          </a:prstGeom>
          <a:solidFill>
            <a:srgbClr val="FFFFFF"/>
          </a:solidFill>
          <a:ln w="12700">
            <a:solidFill>
              <a:srgbClr val="FFFFFF"/>
            </a:solidFill>
            <a:prstDash val="solid"/>
          </a:ln>
          <a:effectLst>
            <a:outerShdw blurRad="101600" dist="25400" dir="5400000" algn="bl" rotWithShape="0">
              <a:srgbClr val="000000">
                <a:alpha val="12000"/>
              </a:srgbClr>
            </a:outerShdw>
          </a:effectLst>
        </p:spPr>
      </p:sp>
      <p:sp>
        <p:nvSpPr>
          <p:cNvPr id="11" name="Shape 8"/>
          <p:cNvSpPr/>
          <p:nvPr/>
        </p:nvSpPr>
        <p:spPr>
          <a:xfrm>
            <a:off x="4572000" y="1874520"/>
            <a:ext cx="457200" cy="457200"/>
          </a:xfrm>
          <a:prstGeom prst="ellipse">
            <a:avLst/>
          </a:prstGeom>
          <a:solidFill>
            <a:srgbClr val="0F766E"/>
          </a:solidFill>
          <a:ln w="12700">
            <a:solidFill>
              <a:srgbClr val="0F766E"/>
            </a:solidFill>
            <a:prstDash val="solid"/>
          </a:ln>
        </p:spPr>
      </p:sp>
      <p:pic>
        <p:nvPicPr>
          <p:cNvPr id="12" name="Image 1" descr="preencoded.png"/>
          <p:cNvPicPr>
            <a:picLocks noChangeAspect="1"/>
          </p:cNvPicPr>
          <p:nvPr/>
        </p:nvPicPr>
        <p:blipFill>
          <a:blip r:embed="rId4"/>
          <a:stretch>
            <a:fillRect/>
          </a:stretch>
        </p:blipFill>
        <p:spPr>
          <a:xfrm>
            <a:off x="4690872" y="1993392"/>
            <a:ext cx="219456" cy="219456"/>
          </a:xfrm>
          <a:prstGeom prst="rect">
            <a:avLst/>
          </a:prstGeom>
        </p:spPr>
      </p:pic>
      <p:sp>
        <p:nvSpPr>
          <p:cNvPr id="13" name="Text 9"/>
          <p:cNvSpPr txBox="1"/>
          <p:nvPr/>
        </p:nvSpPr>
        <p:spPr>
          <a:xfrm>
            <a:off x="5166360" y="1874520"/>
            <a:ext cx="2560320" cy="457200"/>
          </a:xfrm>
          <a:prstGeom prst="rect">
            <a:avLst/>
          </a:prstGeom>
          <a:noFill/>
          <a:ln/>
        </p:spPr>
        <p:txBody>
          <a:bodyPr wrap="square" lIns="0" tIns="0" rIns="0" bIns="0" rtlCol="0" anchor="ctr"/>
          <a:lstStyle/>
          <a:p>
            <a:pPr marL="0" indent="0">
              <a:buNone/>
            </a:pPr>
            <a:r>
              <a:rPr lang="en-US" sz="1800" b="1" dirty="0">
                <a:solidFill>
                  <a:srgbClr val="171A21"/>
                </a:solidFill>
                <a:latin typeface="Cambria" pitchFamily="34" charset="0"/>
                <a:ea typeface="Cambria" pitchFamily="34" charset="-122"/>
                <a:cs typeface="Cambria" pitchFamily="34" charset="-120"/>
              </a:rPr>
              <a:t>How we built it</a:t>
            </a:r>
            <a:endParaRPr lang="en-US" sz="1800" dirty="0"/>
          </a:p>
        </p:txBody>
      </p:sp>
      <p:sp>
        <p:nvSpPr>
          <p:cNvPr id="14" name="Text 10"/>
          <p:cNvSpPr txBox="1"/>
          <p:nvPr/>
        </p:nvSpPr>
        <p:spPr>
          <a:xfrm>
            <a:off x="4572000" y="2468880"/>
            <a:ext cx="3154680" cy="1874520"/>
          </a:xfrm>
          <a:prstGeom prst="rect">
            <a:avLst/>
          </a:prstGeom>
          <a:noFill/>
          <a:ln/>
        </p:spPr>
        <p:txBody>
          <a:bodyPr wrap="square" lIns="0" tIns="0" rIns="0" bIns="0" rtlCol="0" anchor="t"/>
          <a:lstStyle/>
          <a:p>
            <a:pPr marL="342900" indent="-342900">
              <a:spcAft>
                <a:spcPts val="600"/>
              </a:spcAft>
              <a:buSzPct val="100000"/>
              <a:buChar char="•"/>
            </a:pPr>
            <a:r>
              <a:rPr lang="en-US" sz="1300" dirty="0">
                <a:solidFill>
                  <a:srgbClr val="1F2430"/>
                </a:solidFill>
                <a:latin typeface="Calibri" pitchFamily="34" charset="0"/>
                <a:ea typeface="Calibri" pitchFamily="34" charset="-122"/>
                <a:cs typeface="Calibri" pitchFamily="34" charset="-120"/>
              </a:rPr>
              <a:t>Top evidence chunks plus the request are assembled into a grounded prompt</a:t>
            </a:r>
            <a:endParaRPr lang="en-US" sz="1300" dirty="0"/>
          </a:p>
          <a:p>
            <a:pPr marL="342900" indent="-342900">
              <a:spcAft>
                <a:spcPts val="600"/>
              </a:spcAft>
              <a:buSzPct val="100000"/>
              <a:buChar char="•"/>
            </a:pPr>
            <a:r>
              <a:rPr lang="en-US" sz="1300" dirty="0">
                <a:solidFill>
                  <a:srgbClr val="1F2430"/>
                </a:solidFill>
                <a:latin typeface="Calibri" pitchFamily="34" charset="0"/>
                <a:ea typeface="Calibri" pitchFamily="34" charset="-122"/>
                <a:cs typeface="Calibri" pitchFamily="34" charset="-120"/>
              </a:rPr>
              <a:t>Gemini generates and the output is checked before it is returned</a:t>
            </a:r>
            <a:endParaRPr lang="en-US" sz="1300" dirty="0"/>
          </a:p>
          <a:p>
            <a:pPr marL="342900" indent="-342900">
              <a:spcAft>
                <a:spcPts val="600"/>
              </a:spcAft>
              <a:buSzPct val="100000"/>
              <a:buChar char="•"/>
            </a:pPr>
            <a:r>
              <a:rPr lang="en-US" sz="1300" dirty="0">
                <a:solidFill>
                  <a:srgbClr val="1F2430"/>
                </a:solidFill>
                <a:latin typeface="Calibri" pitchFamily="34" charset="0"/>
                <a:ea typeface="Calibri" pitchFamily="34" charset="-122"/>
                <a:cs typeface="Calibri" pitchFamily="34" charset="-120"/>
              </a:rPr>
              <a:t>API key kept in a local .env file, never committed</a:t>
            </a:r>
            <a:endParaRPr lang="en-US" sz="1300" dirty="0"/>
          </a:p>
        </p:txBody>
      </p:sp>
      <p:sp>
        <p:nvSpPr>
          <p:cNvPr id="15" name="Shape 11"/>
          <p:cNvSpPr/>
          <p:nvPr/>
        </p:nvSpPr>
        <p:spPr>
          <a:xfrm>
            <a:off x="8138160" y="1737360"/>
            <a:ext cx="3566160" cy="2697480"/>
          </a:xfrm>
          <a:prstGeom prst="roundRect">
            <a:avLst>
              <a:gd name="adj" fmla="val 4068"/>
            </a:avLst>
          </a:prstGeom>
          <a:solidFill>
            <a:srgbClr val="FFFFFF"/>
          </a:solidFill>
          <a:ln w="12700">
            <a:solidFill>
              <a:srgbClr val="FFFFFF"/>
            </a:solidFill>
            <a:prstDash val="solid"/>
          </a:ln>
          <a:effectLst>
            <a:outerShdw blurRad="101600" dist="25400" dir="5400000" algn="bl" rotWithShape="0">
              <a:srgbClr val="000000">
                <a:alpha val="12000"/>
              </a:srgbClr>
            </a:outerShdw>
          </a:effectLst>
        </p:spPr>
      </p:sp>
      <p:sp>
        <p:nvSpPr>
          <p:cNvPr id="16" name="Shape 12"/>
          <p:cNvSpPr/>
          <p:nvPr/>
        </p:nvSpPr>
        <p:spPr>
          <a:xfrm>
            <a:off x="8366760" y="1874520"/>
            <a:ext cx="457200" cy="457200"/>
          </a:xfrm>
          <a:prstGeom prst="ellipse">
            <a:avLst/>
          </a:prstGeom>
          <a:solidFill>
            <a:srgbClr val="262B36"/>
          </a:solidFill>
          <a:ln w="12700">
            <a:solidFill>
              <a:srgbClr val="262B36"/>
            </a:solidFill>
            <a:prstDash val="solid"/>
          </a:ln>
        </p:spPr>
      </p:sp>
      <p:pic>
        <p:nvPicPr>
          <p:cNvPr id="17" name="Image 2" descr="preencoded.png"/>
          <p:cNvPicPr>
            <a:picLocks noChangeAspect="1"/>
          </p:cNvPicPr>
          <p:nvPr/>
        </p:nvPicPr>
        <p:blipFill>
          <a:blip r:embed="rId5"/>
          <a:stretch>
            <a:fillRect/>
          </a:stretch>
        </p:blipFill>
        <p:spPr>
          <a:xfrm>
            <a:off x="8485632" y="1993392"/>
            <a:ext cx="219456" cy="219456"/>
          </a:xfrm>
          <a:prstGeom prst="rect">
            <a:avLst/>
          </a:prstGeom>
        </p:spPr>
      </p:pic>
      <p:sp>
        <p:nvSpPr>
          <p:cNvPr id="18" name="Text 13"/>
          <p:cNvSpPr txBox="1"/>
          <p:nvPr/>
        </p:nvSpPr>
        <p:spPr>
          <a:xfrm>
            <a:off x="8961120" y="1874520"/>
            <a:ext cx="2560320" cy="457200"/>
          </a:xfrm>
          <a:prstGeom prst="rect">
            <a:avLst/>
          </a:prstGeom>
          <a:noFill/>
          <a:ln/>
        </p:spPr>
        <p:txBody>
          <a:bodyPr wrap="square" lIns="0" tIns="0" rIns="0" bIns="0" rtlCol="0" anchor="ctr"/>
          <a:lstStyle/>
          <a:p>
            <a:pPr marL="0" indent="0">
              <a:buNone/>
            </a:pPr>
            <a:r>
              <a:rPr lang="en-US" sz="1800" b="1" dirty="0">
                <a:solidFill>
                  <a:srgbClr val="171A21"/>
                </a:solidFill>
                <a:latin typeface="Cambria" pitchFamily="34" charset="0"/>
                <a:ea typeface="Cambria" pitchFamily="34" charset="-122"/>
                <a:cs typeface="Cambria" pitchFamily="34" charset="-120"/>
              </a:rPr>
              <a:t>Why it matters</a:t>
            </a:r>
            <a:endParaRPr lang="en-US" sz="1800" dirty="0"/>
          </a:p>
        </p:txBody>
      </p:sp>
      <p:sp>
        <p:nvSpPr>
          <p:cNvPr id="19" name="Text 14"/>
          <p:cNvSpPr txBox="1"/>
          <p:nvPr/>
        </p:nvSpPr>
        <p:spPr>
          <a:xfrm>
            <a:off x="8366760" y="2468880"/>
            <a:ext cx="3154680" cy="1874520"/>
          </a:xfrm>
          <a:prstGeom prst="rect">
            <a:avLst/>
          </a:prstGeom>
          <a:noFill/>
          <a:ln/>
        </p:spPr>
        <p:txBody>
          <a:bodyPr wrap="square" lIns="0" tIns="0" rIns="0" bIns="0" rtlCol="0" anchor="t"/>
          <a:lstStyle/>
          <a:p>
            <a:pPr marL="342900" indent="-342900">
              <a:spcAft>
                <a:spcPts val="600"/>
              </a:spcAft>
              <a:buSzPct val="100000"/>
              <a:buChar char="•"/>
            </a:pPr>
            <a:r>
              <a:rPr lang="en-US" sz="1300" dirty="0">
                <a:solidFill>
                  <a:srgbClr val="1F2430"/>
                </a:solidFill>
                <a:latin typeface="Calibri" pitchFamily="34" charset="0"/>
                <a:ea typeface="Calibri" pitchFamily="34" charset="-122"/>
                <a:cs typeface="Calibri" pitchFamily="34" charset="-120"/>
              </a:rPr>
              <a:t>Answers are tied to the real codebase, not guesses</a:t>
            </a:r>
            <a:endParaRPr lang="en-US" sz="1300" dirty="0"/>
          </a:p>
          <a:p>
            <a:pPr marL="342900" indent="-342900">
              <a:spcAft>
                <a:spcPts val="600"/>
              </a:spcAft>
              <a:buSzPct val="100000"/>
              <a:buChar char="•"/>
            </a:pPr>
            <a:r>
              <a:rPr lang="en-US" sz="1300" dirty="0">
                <a:solidFill>
                  <a:srgbClr val="1F2430"/>
                </a:solidFill>
                <a:latin typeface="Calibri" pitchFamily="34" charset="0"/>
                <a:ea typeface="Calibri" pitchFamily="34" charset="-122"/>
                <a:cs typeface="Calibri" pitchFamily="34" charset="-120"/>
              </a:rPr>
              <a:t>Broken output is caught early</a:t>
            </a:r>
            <a:endParaRPr lang="en-US" sz="1300" dirty="0"/>
          </a:p>
          <a:p>
            <a:pPr marL="342900" indent="-342900">
              <a:spcAft>
                <a:spcPts val="600"/>
              </a:spcAft>
              <a:buSzPct val="100000"/>
              <a:buChar char="•"/>
            </a:pPr>
            <a:r>
              <a:rPr lang="en-US" sz="1300" dirty="0">
                <a:solidFill>
                  <a:srgbClr val="1F2430"/>
                </a:solidFill>
                <a:latin typeface="Calibri" pitchFamily="34" charset="0"/>
                <a:ea typeface="Calibri" pitchFamily="34" charset="-122"/>
                <a:cs typeface="Calibri" pitchFamily="34" charset="-120"/>
              </a:rPr>
              <a:t>The system keeps working even if the API is down</a:t>
            </a:r>
            <a:endParaRPr lang="en-US" sz="1300" dirty="0"/>
          </a:p>
        </p:txBody>
      </p:sp>
      <p:sp>
        <p:nvSpPr>
          <p:cNvPr id="20" name="Text 15"/>
          <p:cNvSpPr txBox="1"/>
          <p:nvPr/>
        </p:nvSpPr>
        <p:spPr>
          <a:xfrm>
            <a:off x="548640" y="4617720"/>
            <a:ext cx="3657600" cy="320040"/>
          </a:xfrm>
          <a:prstGeom prst="rect">
            <a:avLst/>
          </a:prstGeom>
          <a:noFill/>
          <a:ln/>
        </p:spPr>
        <p:txBody>
          <a:bodyPr wrap="square" lIns="0" tIns="0" rIns="0" bIns="0" rtlCol="0" anchor="ctr"/>
          <a:lstStyle/>
          <a:p>
            <a:pPr marL="0" indent="0">
              <a:buNone/>
            </a:pPr>
            <a:r>
              <a:rPr lang="en-US" sz="1400" b="1" dirty="0">
                <a:solidFill>
                  <a:srgbClr val="171A21"/>
                </a:solidFill>
                <a:latin typeface="Calibri" pitchFamily="34" charset="0"/>
                <a:ea typeface="Calibri" pitchFamily="34" charset="-122"/>
                <a:cs typeface="Calibri" pitchFamily="34" charset="-120"/>
              </a:rPr>
              <a:t>Data flow</a:t>
            </a:r>
            <a:endParaRPr lang="en-US" sz="1400" dirty="0"/>
          </a:p>
        </p:txBody>
      </p:sp>
      <p:sp>
        <p:nvSpPr>
          <p:cNvPr id="21" name="Shape 16"/>
          <p:cNvSpPr/>
          <p:nvPr/>
        </p:nvSpPr>
        <p:spPr>
          <a:xfrm>
            <a:off x="548640" y="5029200"/>
            <a:ext cx="1920240" cy="914400"/>
          </a:xfrm>
          <a:prstGeom prst="roundRect">
            <a:avLst>
              <a:gd name="adj" fmla="val 10000"/>
            </a:avLst>
          </a:prstGeom>
          <a:solidFill>
            <a:srgbClr val="171A21"/>
          </a:solidFill>
          <a:ln w="12700">
            <a:solidFill>
              <a:srgbClr val="171A21"/>
            </a:solidFill>
            <a:prstDash val="solid"/>
          </a:ln>
          <a:effectLst>
            <a:outerShdw blurRad="101600" dist="25400" dir="5400000" algn="bl" rotWithShape="0">
              <a:srgbClr val="000000">
                <a:alpha val="12000"/>
              </a:srgbClr>
            </a:outerShdw>
          </a:effectLst>
        </p:spPr>
      </p:sp>
      <p:sp>
        <p:nvSpPr>
          <p:cNvPr id="22" name="Text 17"/>
          <p:cNvSpPr txBox="1"/>
          <p:nvPr/>
        </p:nvSpPr>
        <p:spPr>
          <a:xfrm>
            <a:off x="548640" y="5029200"/>
            <a:ext cx="1920240" cy="914400"/>
          </a:xfrm>
          <a:prstGeom prst="rect">
            <a:avLst/>
          </a:prstGeom>
          <a:noFill/>
          <a:ln/>
        </p:spPr>
        <p:txBody>
          <a:bodyPr wrap="square" lIns="114300" tIns="114300" rIns="114300" bIns="114300" rtlCol="0" anchor="ctr"/>
          <a:lstStyle/>
          <a:p>
            <a:pPr marL="0" indent="0" algn="l">
              <a:spcAft>
                <a:spcPts val="300"/>
              </a:spcAft>
              <a:buNone/>
            </a:pPr>
            <a:r>
              <a:rPr lang="en-US" sz="1300" b="1" dirty="0">
                <a:solidFill>
                  <a:srgbClr val="FFFFFF"/>
                </a:solidFill>
                <a:latin typeface="Calibri" pitchFamily="34" charset="0"/>
                <a:ea typeface="Calibri" pitchFamily="34" charset="-122"/>
                <a:cs typeface="Calibri" pitchFamily="34" charset="-120"/>
              </a:rPr>
              <a:t>Retrieved evidence</a:t>
            </a:r>
            <a:endParaRPr lang="en-US" sz="1300" dirty="0"/>
          </a:p>
        </p:txBody>
      </p:sp>
      <p:sp>
        <p:nvSpPr>
          <p:cNvPr id="23" name="Shape 18"/>
          <p:cNvSpPr/>
          <p:nvPr/>
        </p:nvSpPr>
        <p:spPr>
          <a:xfrm>
            <a:off x="2487168" y="5486400"/>
            <a:ext cx="329184" cy="0"/>
          </a:xfrm>
          <a:prstGeom prst="line">
            <a:avLst/>
          </a:prstGeom>
          <a:noFill/>
          <a:ln w="25400">
            <a:solidFill>
              <a:srgbClr val="171A21"/>
            </a:solidFill>
            <a:prstDash val="solid"/>
            <a:tailEnd type="triangle"/>
          </a:ln>
        </p:spPr>
      </p:sp>
      <p:sp>
        <p:nvSpPr>
          <p:cNvPr id="24" name="Shape 19"/>
          <p:cNvSpPr/>
          <p:nvPr/>
        </p:nvSpPr>
        <p:spPr>
          <a:xfrm>
            <a:off x="2834640" y="5029200"/>
            <a:ext cx="1920240" cy="914400"/>
          </a:xfrm>
          <a:prstGeom prst="roundRect">
            <a:avLst>
              <a:gd name="adj" fmla="val 10000"/>
            </a:avLst>
          </a:prstGeom>
          <a:solidFill>
            <a:srgbClr val="FFFFFF"/>
          </a:solidFill>
          <a:ln w="12700">
            <a:solidFill>
              <a:srgbClr val="FFFFFF"/>
            </a:solidFill>
            <a:prstDash val="solid"/>
          </a:ln>
          <a:effectLst>
            <a:outerShdw blurRad="101600" dist="25400" dir="5400000" algn="bl" rotWithShape="0">
              <a:srgbClr val="000000">
                <a:alpha val="12000"/>
              </a:srgbClr>
            </a:outerShdw>
          </a:effectLst>
        </p:spPr>
      </p:sp>
      <p:sp>
        <p:nvSpPr>
          <p:cNvPr id="25" name="Text 20"/>
          <p:cNvSpPr txBox="1"/>
          <p:nvPr/>
        </p:nvSpPr>
        <p:spPr>
          <a:xfrm>
            <a:off x="2834640" y="5029200"/>
            <a:ext cx="1920240" cy="914400"/>
          </a:xfrm>
          <a:prstGeom prst="rect">
            <a:avLst/>
          </a:prstGeom>
          <a:noFill/>
          <a:ln/>
        </p:spPr>
        <p:txBody>
          <a:bodyPr wrap="square" lIns="114300" tIns="114300" rIns="114300" bIns="114300" rtlCol="0" anchor="ctr"/>
          <a:lstStyle/>
          <a:p>
            <a:pPr marL="0" indent="0" algn="l">
              <a:spcAft>
                <a:spcPts val="300"/>
              </a:spcAft>
              <a:buNone/>
            </a:pPr>
            <a:r>
              <a:rPr lang="en-US" sz="1300" b="1" dirty="0">
                <a:solidFill>
                  <a:srgbClr val="171A21"/>
                </a:solidFill>
                <a:latin typeface="Calibri" pitchFamily="34" charset="0"/>
                <a:ea typeface="Calibri" pitchFamily="34" charset="-122"/>
                <a:cs typeface="Calibri" pitchFamily="34" charset="-120"/>
              </a:rPr>
              <a:t>Prompt builder</a:t>
            </a:r>
            <a:endParaRPr lang="en-US" sz="1300" dirty="0"/>
          </a:p>
        </p:txBody>
      </p:sp>
      <p:sp>
        <p:nvSpPr>
          <p:cNvPr id="26" name="Shape 21"/>
          <p:cNvSpPr/>
          <p:nvPr/>
        </p:nvSpPr>
        <p:spPr>
          <a:xfrm>
            <a:off x="4773168" y="5486400"/>
            <a:ext cx="329184" cy="0"/>
          </a:xfrm>
          <a:prstGeom prst="line">
            <a:avLst/>
          </a:prstGeom>
          <a:noFill/>
          <a:ln w="25400">
            <a:solidFill>
              <a:srgbClr val="171A21"/>
            </a:solidFill>
            <a:prstDash val="solid"/>
            <a:tailEnd type="triangle"/>
          </a:ln>
        </p:spPr>
      </p:sp>
      <p:sp>
        <p:nvSpPr>
          <p:cNvPr id="27" name="Shape 22"/>
          <p:cNvSpPr/>
          <p:nvPr/>
        </p:nvSpPr>
        <p:spPr>
          <a:xfrm>
            <a:off x="5120640" y="5029200"/>
            <a:ext cx="1920240" cy="914400"/>
          </a:xfrm>
          <a:prstGeom prst="roundRect">
            <a:avLst>
              <a:gd name="adj" fmla="val 10000"/>
            </a:avLst>
          </a:prstGeom>
          <a:solidFill>
            <a:srgbClr val="FFFFFF"/>
          </a:solidFill>
          <a:ln w="12700">
            <a:solidFill>
              <a:srgbClr val="FFFFFF"/>
            </a:solidFill>
            <a:prstDash val="solid"/>
          </a:ln>
          <a:effectLst>
            <a:outerShdw blurRad="101600" dist="25400" dir="5400000" algn="bl" rotWithShape="0">
              <a:srgbClr val="000000">
                <a:alpha val="12000"/>
              </a:srgbClr>
            </a:outerShdw>
          </a:effectLst>
        </p:spPr>
      </p:sp>
      <p:sp>
        <p:nvSpPr>
          <p:cNvPr id="28" name="Text 23"/>
          <p:cNvSpPr txBox="1"/>
          <p:nvPr/>
        </p:nvSpPr>
        <p:spPr>
          <a:xfrm>
            <a:off x="5120640" y="5029200"/>
            <a:ext cx="1920240" cy="914400"/>
          </a:xfrm>
          <a:prstGeom prst="rect">
            <a:avLst/>
          </a:prstGeom>
          <a:noFill/>
          <a:ln/>
        </p:spPr>
        <p:txBody>
          <a:bodyPr wrap="square" lIns="114300" tIns="114300" rIns="114300" bIns="114300" rtlCol="0" anchor="ctr"/>
          <a:lstStyle/>
          <a:p>
            <a:pPr marL="0" indent="0" algn="l">
              <a:spcAft>
                <a:spcPts val="300"/>
              </a:spcAft>
              <a:buNone/>
            </a:pPr>
            <a:r>
              <a:rPr lang="en-US" sz="1300" b="1" dirty="0">
                <a:solidFill>
                  <a:srgbClr val="171A21"/>
                </a:solidFill>
                <a:latin typeface="Calibri" pitchFamily="34" charset="0"/>
                <a:ea typeface="Calibri" pitchFamily="34" charset="-122"/>
                <a:cs typeface="Calibri" pitchFamily="34" charset="-120"/>
              </a:rPr>
              <a:t>Gemini</a:t>
            </a:r>
            <a:endParaRPr lang="en-US" sz="1300" dirty="0"/>
          </a:p>
        </p:txBody>
      </p:sp>
      <p:sp>
        <p:nvSpPr>
          <p:cNvPr id="29" name="Shape 24"/>
          <p:cNvSpPr/>
          <p:nvPr/>
        </p:nvSpPr>
        <p:spPr>
          <a:xfrm>
            <a:off x="7059168" y="5486400"/>
            <a:ext cx="329184" cy="0"/>
          </a:xfrm>
          <a:prstGeom prst="line">
            <a:avLst/>
          </a:prstGeom>
          <a:noFill/>
          <a:ln w="25400">
            <a:solidFill>
              <a:srgbClr val="171A21"/>
            </a:solidFill>
            <a:prstDash val="solid"/>
            <a:tailEnd type="triangle"/>
          </a:ln>
        </p:spPr>
      </p:sp>
      <p:sp>
        <p:nvSpPr>
          <p:cNvPr id="30" name="Shape 25"/>
          <p:cNvSpPr/>
          <p:nvPr/>
        </p:nvSpPr>
        <p:spPr>
          <a:xfrm>
            <a:off x="7406640" y="5029200"/>
            <a:ext cx="1920240" cy="914400"/>
          </a:xfrm>
          <a:prstGeom prst="roundRect">
            <a:avLst>
              <a:gd name="adj" fmla="val 10000"/>
            </a:avLst>
          </a:prstGeom>
          <a:solidFill>
            <a:srgbClr val="FFFFFF"/>
          </a:solidFill>
          <a:ln w="12700">
            <a:solidFill>
              <a:srgbClr val="FFFFFF"/>
            </a:solidFill>
            <a:prstDash val="solid"/>
          </a:ln>
          <a:effectLst>
            <a:outerShdw blurRad="101600" dist="25400" dir="5400000" algn="bl" rotWithShape="0">
              <a:srgbClr val="000000">
                <a:alpha val="12000"/>
              </a:srgbClr>
            </a:outerShdw>
          </a:effectLst>
        </p:spPr>
      </p:sp>
      <p:sp>
        <p:nvSpPr>
          <p:cNvPr id="31" name="Text 26"/>
          <p:cNvSpPr txBox="1"/>
          <p:nvPr/>
        </p:nvSpPr>
        <p:spPr>
          <a:xfrm>
            <a:off x="7406640" y="5029200"/>
            <a:ext cx="1920240" cy="914400"/>
          </a:xfrm>
          <a:prstGeom prst="rect">
            <a:avLst/>
          </a:prstGeom>
          <a:noFill/>
          <a:ln/>
        </p:spPr>
        <p:txBody>
          <a:bodyPr wrap="square" lIns="114300" tIns="114300" rIns="114300" bIns="114300" rtlCol="0" anchor="ctr"/>
          <a:lstStyle/>
          <a:p>
            <a:pPr marL="0" indent="0" algn="l">
              <a:spcAft>
                <a:spcPts val="300"/>
              </a:spcAft>
              <a:buNone/>
            </a:pPr>
            <a:r>
              <a:rPr lang="en-US" sz="1300" b="1" dirty="0">
                <a:solidFill>
                  <a:srgbClr val="171A21"/>
                </a:solidFill>
                <a:latin typeface="Calibri" pitchFamily="34" charset="0"/>
                <a:ea typeface="Calibri" pitchFamily="34" charset="-122"/>
                <a:cs typeface="Calibri" pitchFamily="34" charset="-120"/>
              </a:rPr>
              <a:t>Syntax validation</a:t>
            </a:r>
            <a:endParaRPr lang="en-US" sz="1300" dirty="0"/>
          </a:p>
        </p:txBody>
      </p:sp>
      <p:sp>
        <p:nvSpPr>
          <p:cNvPr id="32" name="Shape 27"/>
          <p:cNvSpPr/>
          <p:nvPr/>
        </p:nvSpPr>
        <p:spPr>
          <a:xfrm>
            <a:off x="9345168" y="5486400"/>
            <a:ext cx="329184" cy="0"/>
          </a:xfrm>
          <a:prstGeom prst="line">
            <a:avLst/>
          </a:prstGeom>
          <a:noFill/>
          <a:ln w="25400">
            <a:solidFill>
              <a:srgbClr val="171A21"/>
            </a:solidFill>
            <a:prstDash val="solid"/>
            <a:tailEnd type="triangle"/>
          </a:ln>
        </p:spPr>
      </p:sp>
      <p:sp>
        <p:nvSpPr>
          <p:cNvPr id="33" name="Shape 28"/>
          <p:cNvSpPr/>
          <p:nvPr/>
        </p:nvSpPr>
        <p:spPr>
          <a:xfrm>
            <a:off x="9692640" y="5029200"/>
            <a:ext cx="1920240" cy="914400"/>
          </a:xfrm>
          <a:prstGeom prst="roundRect">
            <a:avLst>
              <a:gd name="adj" fmla="val 10000"/>
            </a:avLst>
          </a:prstGeom>
          <a:solidFill>
            <a:srgbClr val="171A21"/>
          </a:solidFill>
          <a:ln w="12700">
            <a:solidFill>
              <a:srgbClr val="171A21"/>
            </a:solidFill>
            <a:prstDash val="solid"/>
          </a:ln>
          <a:effectLst>
            <a:outerShdw blurRad="101600" dist="25400" dir="5400000" algn="bl" rotWithShape="0">
              <a:srgbClr val="000000">
                <a:alpha val="12000"/>
              </a:srgbClr>
            </a:outerShdw>
          </a:effectLst>
        </p:spPr>
      </p:sp>
      <p:sp>
        <p:nvSpPr>
          <p:cNvPr id="34" name="Text 29"/>
          <p:cNvSpPr txBox="1"/>
          <p:nvPr/>
        </p:nvSpPr>
        <p:spPr>
          <a:xfrm>
            <a:off x="9692640" y="5029200"/>
            <a:ext cx="1920240" cy="914400"/>
          </a:xfrm>
          <a:prstGeom prst="rect">
            <a:avLst/>
          </a:prstGeom>
          <a:noFill/>
          <a:ln/>
        </p:spPr>
        <p:txBody>
          <a:bodyPr wrap="square" lIns="114300" tIns="114300" rIns="114300" bIns="114300" rtlCol="0" anchor="ctr"/>
          <a:lstStyle/>
          <a:p>
            <a:pPr marL="0" indent="0" algn="l">
              <a:spcAft>
                <a:spcPts val="300"/>
              </a:spcAft>
              <a:buNone/>
            </a:pPr>
            <a:r>
              <a:rPr lang="en-US" sz="1300" b="1" dirty="0">
                <a:solidFill>
                  <a:srgbClr val="FFFFFF"/>
                </a:solidFill>
                <a:latin typeface="Calibri" pitchFamily="34" charset="0"/>
                <a:ea typeface="Calibri" pitchFamily="34" charset="-122"/>
                <a:cs typeface="Calibri" pitchFamily="34" charset="-120"/>
              </a:rPr>
              <a:t>Output</a:t>
            </a:r>
            <a:endParaRPr lang="en-US" sz="1300" dirty="0"/>
          </a:p>
        </p:txBody>
      </p:sp>
      <p:sp>
        <p:nvSpPr>
          <p:cNvPr id="35" name="Text 30"/>
          <p:cNvSpPr txBox="1"/>
          <p:nvPr/>
        </p:nvSpPr>
        <p:spPr>
          <a:xfrm>
            <a:off x="548640" y="6446520"/>
            <a:ext cx="5486400" cy="274320"/>
          </a:xfrm>
          <a:prstGeom prst="rect">
            <a:avLst/>
          </a:prstGeom>
          <a:noFill/>
          <a:ln/>
        </p:spPr>
        <p:txBody>
          <a:bodyPr wrap="square" lIns="0" tIns="0" rIns="0" bIns="0" rtlCol="0" anchor="ctr"/>
          <a:lstStyle/>
          <a:p>
            <a:pPr marL="0" indent="0">
              <a:buNone/>
            </a:pPr>
            <a:r>
              <a:rPr lang="en-US" sz="1000" dirty="0">
                <a:solidFill>
                  <a:srgbClr val="6B7280"/>
                </a:solidFill>
                <a:latin typeface="Calibri" pitchFamily="34" charset="0"/>
                <a:ea typeface="Calibri" pitchFamily="34" charset="-122"/>
                <a:cs typeface="Calibri" pitchFamily="34" charset="-120"/>
              </a:rPr>
              <a:t>KAVACH  |  Project Review</a:t>
            </a:r>
            <a:endParaRPr lang="en-US" sz="1000" dirty="0"/>
          </a:p>
        </p:txBody>
      </p:sp>
      <p:sp>
        <p:nvSpPr>
          <p:cNvPr id="36" name="Slide Number Placeholder 0"/>
          <p:cNvSpPr>
            <a:spLocks noGrp="1"/>
          </p:cNvSpPr>
          <p:nvPr>
            <p:ph type="sldNum" sz="quarter" idx="4294967295"/>
          </p:nvPr>
        </p:nvSpPr>
        <p:spPr>
          <a:xfrm>
            <a:off x="11064240" y="644652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6B7280"/>
                </a:solidFill>
                <a:latin typeface="Calibri"/>
                <a:ea typeface="Calibri"/>
                <a:cs typeface="Calibri"/>
              </a:defRPr>
            </a:lvl1pPr>
          </a:lstStyle>
          <a:p>
            <a:pPr algn="r"/>
            <a:fld id="{F7021451-1387-4CA6-816F-3879F97B5CBC}" type="slidenum">
              <a:rPr lang="en-US" b="0"/>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3F4F6"/>
        </a:solidFill>
        <a:effectLst/>
      </p:bgPr>
    </p:bg>
    <p:spTree>
      <p:nvGrpSpPr>
        <p:cNvPr id="1" name=""/>
        <p:cNvGrpSpPr/>
        <p:nvPr/>
      </p:nvGrpSpPr>
      <p:grpSpPr>
        <a:xfrm>
          <a:off x="0" y="0"/>
          <a:ext cx="0" cy="0"/>
          <a:chOff x="0" y="0"/>
          <a:chExt cx="0" cy="0"/>
        </a:xfrm>
      </p:grpSpPr>
      <p:sp>
        <p:nvSpPr>
          <p:cNvPr id="2" name="Text 0"/>
          <p:cNvSpPr txBox="1"/>
          <p:nvPr/>
        </p:nvSpPr>
        <p:spPr>
          <a:xfrm>
            <a:off x="548640" y="320040"/>
            <a:ext cx="11064240" cy="731520"/>
          </a:xfrm>
          <a:prstGeom prst="rect">
            <a:avLst/>
          </a:prstGeom>
          <a:noFill/>
          <a:ln/>
        </p:spPr>
        <p:txBody>
          <a:bodyPr wrap="square" lIns="0" tIns="0" rIns="0" bIns="0" rtlCol="0" anchor="ctr"/>
          <a:lstStyle/>
          <a:p>
            <a:pPr marL="0" indent="0">
              <a:buNone/>
            </a:pPr>
            <a:r>
              <a:rPr lang="en-US" sz="3200" b="1" dirty="0">
                <a:solidFill>
                  <a:srgbClr val="171A21"/>
                </a:solidFill>
                <a:latin typeface="Cambria" pitchFamily="34" charset="0"/>
                <a:ea typeface="Cambria" pitchFamily="34" charset="-122"/>
                <a:cs typeface="Cambria" pitchFamily="34" charset="-120"/>
              </a:rPr>
              <a:t>Phases 4 to 9: what comes next</a:t>
            </a:r>
            <a:endParaRPr lang="en-US" sz="3200" dirty="0"/>
          </a:p>
        </p:txBody>
      </p:sp>
      <p:sp>
        <p:nvSpPr>
          <p:cNvPr id="3" name="Text 1"/>
          <p:cNvSpPr txBox="1"/>
          <p:nvPr/>
        </p:nvSpPr>
        <p:spPr>
          <a:xfrm>
            <a:off x="548640" y="1005840"/>
            <a:ext cx="11064240" cy="365760"/>
          </a:xfrm>
          <a:prstGeom prst="rect">
            <a:avLst/>
          </a:prstGeom>
          <a:noFill/>
          <a:ln/>
        </p:spPr>
        <p:txBody>
          <a:bodyPr wrap="square" lIns="0" tIns="0" rIns="0" bIns="0" rtlCol="0" anchor="ctr"/>
          <a:lstStyle/>
          <a:p>
            <a:pPr marL="0" indent="0">
              <a:buNone/>
            </a:pPr>
            <a:r>
              <a:rPr lang="en-US" sz="1600" dirty="0">
                <a:solidFill>
                  <a:srgbClr val="6B7280"/>
                </a:solidFill>
                <a:latin typeface="Calibri" pitchFamily="34" charset="0"/>
                <a:ea typeface="Calibri" pitchFamily="34" charset="-122"/>
                <a:cs typeface="Calibri" pitchFamily="34" charset="-120"/>
              </a:rPr>
              <a:t>Each one hardens, connects or ships the platform</a:t>
            </a:r>
            <a:endParaRPr lang="en-US" sz="1600" dirty="0"/>
          </a:p>
        </p:txBody>
      </p:sp>
      <p:sp>
        <p:nvSpPr>
          <p:cNvPr id="4" name="Shape 2"/>
          <p:cNvSpPr/>
          <p:nvPr/>
        </p:nvSpPr>
        <p:spPr>
          <a:xfrm>
            <a:off x="548640" y="1645920"/>
            <a:ext cx="3566160" cy="2194560"/>
          </a:xfrm>
          <a:prstGeom prst="roundRect">
            <a:avLst>
              <a:gd name="adj" fmla="val 5000"/>
            </a:avLst>
          </a:prstGeom>
          <a:solidFill>
            <a:srgbClr val="FFFFFF"/>
          </a:solidFill>
          <a:ln w="12700">
            <a:solidFill>
              <a:srgbClr val="FFFFFF"/>
            </a:solidFill>
            <a:prstDash val="solid"/>
          </a:ln>
          <a:effectLst>
            <a:outerShdw blurRad="101600" dist="25400" dir="5400000" algn="bl" rotWithShape="0">
              <a:srgbClr val="000000">
                <a:alpha val="12000"/>
              </a:srgbClr>
            </a:outerShdw>
          </a:effectLst>
        </p:spPr>
      </p:sp>
      <p:sp>
        <p:nvSpPr>
          <p:cNvPr id="5" name="Shape 3"/>
          <p:cNvSpPr/>
          <p:nvPr/>
        </p:nvSpPr>
        <p:spPr>
          <a:xfrm>
            <a:off x="777240" y="1874520"/>
            <a:ext cx="594360" cy="594360"/>
          </a:xfrm>
          <a:prstGeom prst="ellipse">
            <a:avLst/>
          </a:prstGeom>
          <a:solidFill>
            <a:srgbClr val="171A21"/>
          </a:solidFill>
          <a:ln w="12700">
            <a:solidFill>
              <a:srgbClr val="171A21"/>
            </a:solidFill>
            <a:prstDash val="solid"/>
          </a:ln>
        </p:spPr>
      </p:sp>
      <p:pic>
        <p:nvPicPr>
          <p:cNvPr id="6" name="Image 0" descr="preencoded.png"/>
          <p:cNvPicPr>
            <a:picLocks noChangeAspect="1"/>
          </p:cNvPicPr>
          <p:nvPr/>
        </p:nvPicPr>
        <p:blipFill>
          <a:blip r:embed="rId3"/>
          <a:stretch>
            <a:fillRect/>
          </a:stretch>
        </p:blipFill>
        <p:spPr>
          <a:xfrm>
            <a:off x="931774" y="2029054"/>
            <a:ext cx="285293" cy="285293"/>
          </a:xfrm>
          <a:prstGeom prst="rect">
            <a:avLst/>
          </a:prstGeom>
        </p:spPr>
      </p:pic>
      <p:sp>
        <p:nvSpPr>
          <p:cNvPr id="7" name="Text 4"/>
          <p:cNvSpPr txBox="1"/>
          <p:nvPr/>
        </p:nvSpPr>
        <p:spPr>
          <a:xfrm>
            <a:off x="1554480" y="1874520"/>
            <a:ext cx="2377440" cy="274320"/>
          </a:xfrm>
          <a:prstGeom prst="rect">
            <a:avLst/>
          </a:prstGeom>
          <a:noFill/>
          <a:ln/>
        </p:spPr>
        <p:txBody>
          <a:bodyPr wrap="square" lIns="0" tIns="0" rIns="0" bIns="0" rtlCol="0" anchor="ctr"/>
          <a:lstStyle/>
          <a:p>
            <a:pPr marL="0" indent="0">
              <a:buNone/>
            </a:pPr>
            <a:r>
              <a:rPr lang="en-US" sz="1100" b="1" dirty="0">
                <a:solidFill>
                  <a:srgbClr val="0F766E"/>
                </a:solidFill>
                <a:latin typeface="Calibri" pitchFamily="34" charset="0"/>
                <a:ea typeface="Calibri" pitchFamily="34" charset="-122"/>
                <a:cs typeface="Calibri" pitchFamily="34" charset="-120"/>
              </a:rPr>
              <a:t>PHASE 4</a:t>
            </a:r>
            <a:endParaRPr lang="en-US" sz="1100" dirty="0"/>
          </a:p>
        </p:txBody>
      </p:sp>
      <p:sp>
        <p:nvSpPr>
          <p:cNvPr id="8" name="Text 5"/>
          <p:cNvSpPr txBox="1"/>
          <p:nvPr/>
        </p:nvSpPr>
        <p:spPr>
          <a:xfrm>
            <a:off x="1554480" y="2103120"/>
            <a:ext cx="2423160" cy="502920"/>
          </a:xfrm>
          <a:prstGeom prst="rect">
            <a:avLst/>
          </a:prstGeom>
          <a:noFill/>
          <a:ln/>
        </p:spPr>
        <p:txBody>
          <a:bodyPr wrap="square" lIns="0" tIns="0" rIns="0" bIns="0" rtlCol="0" anchor="t"/>
          <a:lstStyle/>
          <a:p>
            <a:pPr marL="0" indent="0">
              <a:buNone/>
            </a:pPr>
            <a:r>
              <a:rPr lang="en-US" sz="1500" b="1" dirty="0">
                <a:solidFill>
                  <a:srgbClr val="171A21"/>
                </a:solidFill>
                <a:latin typeface="Cambria" pitchFamily="34" charset="0"/>
                <a:ea typeface="Cambria" pitchFamily="34" charset="-122"/>
                <a:cs typeface="Cambria" pitchFamily="34" charset="-120"/>
              </a:rPr>
              <a:t>Security Engine Hardening</a:t>
            </a:r>
            <a:endParaRPr lang="en-US" sz="1500" dirty="0"/>
          </a:p>
        </p:txBody>
      </p:sp>
      <p:sp>
        <p:nvSpPr>
          <p:cNvPr id="9" name="Text 6"/>
          <p:cNvSpPr txBox="1"/>
          <p:nvPr/>
        </p:nvSpPr>
        <p:spPr>
          <a:xfrm>
            <a:off x="777240" y="2743200"/>
            <a:ext cx="3108960" cy="1005840"/>
          </a:xfrm>
          <a:prstGeom prst="rect">
            <a:avLst/>
          </a:prstGeom>
          <a:noFill/>
          <a:ln/>
        </p:spPr>
        <p:txBody>
          <a:bodyPr wrap="square" lIns="0" tIns="0" rIns="0" bIns="0" rtlCol="0" anchor="t"/>
          <a:lstStyle/>
          <a:p>
            <a:pPr marL="0" indent="0">
              <a:buNone/>
            </a:pPr>
            <a:r>
              <a:rPr lang="en-US" sz="1300" dirty="0">
                <a:solidFill>
                  <a:srgbClr val="6B7280"/>
                </a:solidFill>
                <a:latin typeface="Calibri" pitchFamily="34" charset="0"/>
                <a:ea typeface="Calibri" pitchFamily="34" charset="-122"/>
                <a:cs typeface="Calibri" pitchFamily="34" charset="-120"/>
              </a:rPr>
              <a:t>Multilingual PII detection with severity, confidence and explainability, plus an evaluation script</a:t>
            </a:r>
            <a:endParaRPr lang="en-US" sz="1300" dirty="0"/>
          </a:p>
        </p:txBody>
      </p:sp>
      <p:sp>
        <p:nvSpPr>
          <p:cNvPr id="10" name="Shape 7"/>
          <p:cNvSpPr/>
          <p:nvPr/>
        </p:nvSpPr>
        <p:spPr>
          <a:xfrm>
            <a:off x="4343400" y="1645920"/>
            <a:ext cx="3566160" cy="2194560"/>
          </a:xfrm>
          <a:prstGeom prst="roundRect">
            <a:avLst>
              <a:gd name="adj" fmla="val 5000"/>
            </a:avLst>
          </a:prstGeom>
          <a:solidFill>
            <a:srgbClr val="FFFFFF"/>
          </a:solidFill>
          <a:ln w="12700">
            <a:solidFill>
              <a:srgbClr val="FFFFFF"/>
            </a:solidFill>
            <a:prstDash val="solid"/>
          </a:ln>
          <a:effectLst>
            <a:outerShdw blurRad="101600" dist="25400" dir="5400000" algn="bl" rotWithShape="0">
              <a:srgbClr val="000000">
                <a:alpha val="12000"/>
              </a:srgbClr>
            </a:outerShdw>
          </a:effectLst>
        </p:spPr>
      </p:sp>
      <p:sp>
        <p:nvSpPr>
          <p:cNvPr id="11" name="Shape 8"/>
          <p:cNvSpPr/>
          <p:nvPr/>
        </p:nvSpPr>
        <p:spPr>
          <a:xfrm>
            <a:off x="4572000" y="1874520"/>
            <a:ext cx="594360" cy="594360"/>
          </a:xfrm>
          <a:prstGeom prst="ellipse">
            <a:avLst/>
          </a:prstGeom>
          <a:solidFill>
            <a:srgbClr val="171A21"/>
          </a:solidFill>
          <a:ln w="12700">
            <a:solidFill>
              <a:srgbClr val="171A21"/>
            </a:solidFill>
            <a:prstDash val="solid"/>
          </a:ln>
        </p:spPr>
      </p:sp>
      <p:pic>
        <p:nvPicPr>
          <p:cNvPr id="12" name="Image 1" descr="preencoded.png"/>
          <p:cNvPicPr>
            <a:picLocks noChangeAspect="1"/>
          </p:cNvPicPr>
          <p:nvPr/>
        </p:nvPicPr>
        <p:blipFill>
          <a:blip r:embed="rId4"/>
          <a:stretch>
            <a:fillRect/>
          </a:stretch>
        </p:blipFill>
        <p:spPr>
          <a:xfrm>
            <a:off x="4726534" y="2029054"/>
            <a:ext cx="285293" cy="285293"/>
          </a:xfrm>
          <a:prstGeom prst="rect">
            <a:avLst/>
          </a:prstGeom>
        </p:spPr>
      </p:pic>
      <p:sp>
        <p:nvSpPr>
          <p:cNvPr id="13" name="Text 9"/>
          <p:cNvSpPr txBox="1"/>
          <p:nvPr/>
        </p:nvSpPr>
        <p:spPr>
          <a:xfrm>
            <a:off x="5349240" y="1874520"/>
            <a:ext cx="2377440" cy="274320"/>
          </a:xfrm>
          <a:prstGeom prst="rect">
            <a:avLst/>
          </a:prstGeom>
          <a:noFill/>
          <a:ln/>
        </p:spPr>
        <p:txBody>
          <a:bodyPr wrap="square" lIns="0" tIns="0" rIns="0" bIns="0" rtlCol="0" anchor="ctr"/>
          <a:lstStyle/>
          <a:p>
            <a:pPr marL="0" indent="0">
              <a:buNone/>
            </a:pPr>
            <a:r>
              <a:rPr lang="en-US" sz="1100" b="1" dirty="0">
                <a:solidFill>
                  <a:srgbClr val="0F766E"/>
                </a:solidFill>
                <a:latin typeface="Calibri" pitchFamily="34" charset="0"/>
                <a:ea typeface="Calibri" pitchFamily="34" charset="-122"/>
                <a:cs typeface="Calibri" pitchFamily="34" charset="-120"/>
              </a:rPr>
              <a:t>PHASE 5</a:t>
            </a:r>
            <a:endParaRPr lang="en-US" sz="1100" dirty="0"/>
          </a:p>
        </p:txBody>
      </p:sp>
      <p:sp>
        <p:nvSpPr>
          <p:cNvPr id="14" name="Text 10"/>
          <p:cNvSpPr txBox="1"/>
          <p:nvPr/>
        </p:nvSpPr>
        <p:spPr>
          <a:xfrm>
            <a:off x="5349240" y="2103120"/>
            <a:ext cx="2423160" cy="502920"/>
          </a:xfrm>
          <a:prstGeom prst="rect">
            <a:avLst/>
          </a:prstGeom>
          <a:noFill/>
          <a:ln/>
        </p:spPr>
        <p:txBody>
          <a:bodyPr wrap="square" lIns="0" tIns="0" rIns="0" bIns="0" rtlCol="0" anchor="t"/>
          <a:lstStyle/>
          <a:p>
            <a:pPr marL="0" indent="0">
              <a:buNone/>
            </a:pPr>
            <a:r>
              <a:rPr lang="en-US" sz="1500" b="1" dirty="0">
                <a:solidFill>
                  <a:srgbClr val="171A21"/>
                </a:solidFill>
                <a:latin typeface="Cambria" pitchFamily="34" charset="0"/>
                <a:ea typeface="Cambria" pitchFamily="34" charset="-122"/>
                <a:cs typeface="Cambria" pitchFamily="34" charset="-120"/>
              </a:rPr>
              <a:t>Change-Impact Analysis</a:t>
            </a:r>
            <a:endParaRPr lang="en-US" sz="1500" dirty="0"/>
          </a:p>
        </p:txBody>
      </p:sp>
      <p:sp>
        <p:nvSpPr>
          <p:cNvPr id="15" name="Text 11"/>
          <p:cNvSpPr txBox="1"/>
          <p:nvPr/>
        </p:nvSpPr>
        <p:spPr>
          <a:xfrm>
            <a:off x="4572000" y="2743200"/>
            <a:ext cx="3108960" cy="1005840"/>
          </a:xfrm>
          <a:prstGeom prst="rect">
            <a:avLst/>
          </a:prstGeom>
          <a:noFill/>
          <a:ln/>
        </p:spPr>
        <p:txBody>
          <a:bodyPr wrap="square" lIns="0" tIns="0" rIns="0" bIns="0" rtlCol="0" anchor="t"/>
          <a:lstStyle/>
          <a:p>
            <a:pPr marL="0" indent="0">
              <a:buNone/>
            </a:pPr>
            <a:r>
              <a:rPr lang="en-US" sz="1300" dirty="0">
                <a:solidFill>
                  <a:srgbClr val="6B7280"/>
                </a:solidFill>
                <a:latin typeface="Calibri" pitchFamily="34" charset="0"/>
                <a:ea typeface="Calibri" pitchFamily="34" charset="-122"/>
                <a:cs typeface="Calibri" pitchFamily="34" charset="-120"/>
              </a:rPr>
              <a:t>Dependency graph built with Python's ast, combined with semantic search to rank affected files</a:t>
            </a:r>
            <a:endParaRPr lang="en-US" sz="1300" dirty="0"/>
          </a:p>
        </p:txBody>
      </p:sp>
      <p:sp>
        <p:nvSpPr>
          <p:cNvPr id="16" name="Shape 12"/>
          <p:cNvSpPr/>
          <p:nvPr/>
        </p:nvSpPr>
        <p:spPr>
          <a:xfrm>
            <a:off x="8138160" y="1645920"/>
            <a:ext cx="3566160" cy="2194560"/>
          </a:xfrm>
          <a:prstGeom prst="roundRect">
            <a:avLst>
              <a:gd name="adj" fmla="val 5000"/>
            </a:avLst>
          </a:prstGeom>
          <a:solidFill>
            <a:srgbClr val="FFFFFF"/>
          </a:solidFill>
          <a:ln w="12700">
            <a:solidFill>
              <a:srgbClr val="FFFFFF"/>
            </a:solidFill>
            <a:prstDash val="solid"/>
          </a:ln>
          <a:effectLst>
            <a:outerShdw blurRad="101600" dist="25400" dir="5400000" algn="bl" rotWithShape="0">
              <a:srgbClr val="000000">
                <a:alpha val="12000"/>
              </a:srgbClr>
            </a:outerShdw>
          </a:effectLst>
        </p:spPr>
      </p:sp>
      <p:sp>
        <p:nvSpPr>
          <p:cNvPr id="17" name="Shape 13"/>
          <p:cNvSpPr/>
          <p:nvPr/>
        </p:nvSpPr>
        <p:spPr>
          <a:xfrm>
            <a:off x="8366760" y="1874520"/>
            <a:ext cx="594360" cy="594360"/>
          </a:xfrm>
          <a:prstGeom prst="ellipse">
            <a:avLst/>
          </a:prstGeom>
          <a:solidFill>
            <a:srgbClr val="171A21"/>
          </a:solidFill>
          <a:ln w="12700">
            <a:solidFill>
              <a:srgbClr val="171A21"/>
            </a:solidFill>
            <a:prstDash val="solid"/>
          </a:ln>
        </p:spPr>
      </p:sp>
      <p:pic>
        <p:nvPicPr>
          <p:cNvPr id="18" name="Image 2" descr="preencoded.png"/>
          <p:cNvPicPr>
            <a:picLocks noChangeAspect="1"/>
          </p:cNvPicPr>
          <p:nvPr/>
        </p:nvPicPr>
        <p:blipFill>
          <a:blip r:embed="rId5"/>
          <a:stretch>
            <a:fillRect/>
          </a:stretch>
        </p:blipFill>
        <p:spPr>
          <a:xfrm>
            <a:off x="8521294" y="2029054"/>
            <a:ext cx="285293" cy="285293"/>
          </a:xfrm>
          <a:prstGeom prst="rect">
            <a:avLst/>
          </a:prstGeom>
        </p:spPr>
      </p:pic>
      <p:sp>
        <p:nvSpPr>
          <p:cNvPr id="19" name="Text 14"/>
          <p:cNvSpPr txBox="1"/>
          <p:nvPr/>
        </p:nvSpPr>
        <p:spPr>
          <a:xfrm>
            <a:off x="9144000" y="1874520"/>
            <a:ext cx="2377440" cy="274320"/>
          </a:xfrm>
          <a:prstGeom prst="rect">
            <a:avLst/>
          </a:prstGeom>
          <a:noFill/>
          <a:ln/>
        </p:spPr>
        <p:txBody>
          <a:bodyPr wrap="square" lIns="0" tIns="0" rIns="0" bIns="0" rtlCol="0" anchor="ctr"/>
          <a:lstStyle/>
          <a:p>
            <a:pPr marL="0" indent="0">
              <a:buNone/>
            </a:pPr>
            <a:r>
              <a:rPr lang="en-US" sz="1100" b="1" dirty="0">
                <a:solidFill>
                  <a:srgbClr val="0F766E"/>
                </a:solidFill>
                <a:latin typeface="Calibri" pitchFamily="34" charset="0"/>
                <a:ea typeface="Calibri" pitchFamily="34" charset="-122"/>
                <a:cs typeface="Calibri" pitchFamily="34" charset="-120"/>
              </a:rPr>
              <a:t>PHASE 6</a:t>
            </a:r>
            <a:endParaRPr lang="en-US" sz="1100" dirty="0"/>
          </a:p>
        </p:txBody>
      </p:sp>
      <p:sp>
        <p:nvSpPr>
          <p:cNvPr id="20" name="Text 15"/>
          <p:cNvSpPr txBox="1"/>
          <p:nvPr/>
        </p:nvSpPr>
        <p:spPr>
          <a:xfrm>
            <a:off x="9144000" y="2103120"/>
            <a:ext cx="2423160" cy="502920"/>
          </a:xfrm>
          <a:prstGeom prst="rect">
            <a:avLst/>
          </a:prstGeom>
          <a:noFill/>
          <a:ln/>
        </p:spPr>
        <p:txBody>
          <a:bodyPr wrap="square" lIns="0" tIns="0" rIns="0" bIns="0" rtlCol="0" anchor="t"/>
          <a:lstStyle/>
          <a:p>
            <a:pPr marL="0" indent="0">
              <a:buNone/>
            </a:pPr>
            <a:r>
              <a:rPr lang="en-US" sz="1500" b="1" dirty="0">
                <a:solidFill>
                  <a:srgbClr val="171A21"/>
                </a:solidFill>
                <a:latin typeface="Cambria" pitchFamily="34" charset="0"/>
                <a:ea typeface="Cambria" pitchFamily="34" charset="-122"/>
                <a:cs typeface="Cambria" pitchFamily="34" charset="-120"/>
              </a:rPr>
              <a:t>Integration Verification</a:t>
            </a:r>
            <a:endParaRPr lang="en-US" sz="1500" dirty="0"/>
          </a:p>
        </p:txBody>
      </p:sp>
      <p:sp>
        <p:nvSpPr>
          <p:cNvPr id="21" name="Text 16"/>
          <p:cNvSpPr txBox="1"/>
          <p:nvPr/>
        </p:nvSpPr>
        <p:spPr>
          <a:xfrm>
            <a:off x="8366760" y="2743200"/>
            <a:ext cx="3108960" cy="1005840"/>
          </a:xfrm>
          <a:prstGeom prst="rect">
            <a:avLst/>
          </a:prstGeom>
          <a:noFill/>
          <a:ln/>
        </p:spPr>
        <p:txBody>
          <a:bodyPr wrap="square" lIns="0" tIns="0" rIns="0" bIns="0" rtlCol="0" anchor="t"/>
          <a:lstStyle/>
          <a:p>
            <a:pPr marL="0" indent="0">
              <a:buNone/>
            </a:pPr>
            <a:r>
              <a:rPr lang="en-US" sz="1300" dirty="0">
                <a:solidFill>
                  <a:srgbClr val="6B7280"/>
                </a:solidFill>
                <a:latin typeface="Calibri" pitchFamily="34" charset="0"/>
                <a:ea typeface="Calibri" pitchFamily="34" charset="-122"/>
                <a:cs typeface="Calibri" pitchFamily="34" charset="-120"/>
              </a:rPr>
              <a:t>End-to-end checks that every component works together as one system</a:t>
            </a:r>
            <a:endParaRPr lang="en-US" sz="1300" dirty="0"/>
          </a:p>
        </p:txBody>
      </p:sp>
      <p:sp>
        <p:nvSpPr>
          <p:cNvPr id="22" name="Shape 17"/>
          <p:cNvSpPr/>
          <p:nvPr/>
        </p:nvSpPr>
        <p:spPr>
          <a:xfrm>
            <a:off x="548640" y="4023360"/>
            <a:ext cx="3566160" cy="2194560"/>
          </a:xfrm>
          <a:prstGeom prst="roundRect">
            <a:avLst>
              <a:gd name="adj" fmla="val 5000"/>
            </a:avLst>
          </a:prstGeom>
          <a:solidFill>
            <a:srgbClr val="FFFFFF"/>
          </a:solidFill>
          <a:ln w="12700">
            <a:solidFill>
              <a:srgbClr val="FFFFFF"/>
            </a:solidFill>
            <a:prstDash val="solid"/>
          </a:ln>
          <a:effectLst>
            <a:outerShdw blurRad="101600" dist="25400" dir="5400000" algn="bl" rotWithShape="0">
              <a:srgbClr val="000000">
                <a:alpha val="12000"/>
              </a:srgbClr>
            </a:outerShdw>
          </a:effectLst>
        </p:spPr>
      </p:sp>
      <p:sp>
        <p:nvSpPr>
          <p:cNvPr id="23" name="Shape 18"/>
          <p:cNvSpPr/>
          <p:nvPr/>
        </p:nvSpPr>
        <p:spPr>
          <a:xfrm>
            <a:off x="777240" y="4251960"/>
            <a:ext cx="594360" cy="594360"/>
          </a:xfrm>
          <a:prstGeom prst="ellipse">
            <a:avLst/>
          </a:prstGeom>
          <a:solidFill>
            <a:srgbClr val="171A21"/>
          </a:solidFill>
          <a:ln w="12700">
            <a:solidFill>
              <a:srgbClr val="171A21"/>
            </a:solidFill>
            <a:prstDash val="solid"/>
          </a:ln>
        </p:spPr>
      </p:sp>
      <p:pic>
        <p:nvPicPr>
          <p:cNvPr id="24" name="Image 3" descr="preencoded.png"/>
          <p:cNvPicPr>
            <a:picLocks noChangeAspect="1"/>
          </p:cNvPicPr>
          <p:nvPr/>
        </p:nvPicPr>
        <p:blipFill>
          <a:blip r:embed="rId6"/>
          <a:stretch>
            <a:fillRect/>
          </a:stretch>
        </p:blipFill>
        <p:spPr>
          <a:xfrm>
            <a:off x="931774" y="4406494"/>
            <a:ext cx="285293" cy="285293"/>
          </a:xfrm>
          <a:prstGeom prst="rect">
            <a:avLst/>
          </a:prstGeom>
        </p:spPr>
      </p:pic>
      <p:sp>
        <p:nvSpPr>
          <p:cNvPr id="25" name="Text 19"/>
          <p:cNvSpPr txBox="1"/>
          <p:nvPr/>
        </p:nvSpPr>
        <p:spPr>
          <a:xfrm>
            <a:off x="1554480" y="4251960"/>
            <a:ext cx="2377440" cy="274320"/>
          </a:xfrm>
          <a:prstGeom prst="rect">
            <a:avLst/>
          </a:prstGeom>
          <a:noFill/>
          <a:ln/>
        </p:spPr>
        <p:txBody>
          <a:bodyPr wrap="square" lIns="0" tIns="0" rIns="0" bIns="0" rtlCol="0" anchor="ctr"/>
          <a:lstStyle/>
          <a:p>
            <a:pPr marL="0" indent="0">
              <a:buNone/>
            </a:pPr>
            <a:r>
              <a:rPr lang="en-US" sz="1100" b="1" dirty="0">
                <a:solidFill>
                  <a:srgbClr val="0F766E"/>
                </a:solidFill>
                <a:latin typeface="Calibri" pitchFamily="34" charset="0"/>
                <a:ea typeface="Calibri" pitchFamily="34" charset="-122"/>
                <a:cs typeface="Calibri" pitchFamily="34" charset="-120"/>
              </a:rPr>
              <a:t>PHASE 7</a:t>
            </a:r>
            <a:endParaRPr lang="en-US" sz="1100" dirty="0"/>
          </a:p>
        </p:txBody>
      </p:sp>
      <p:sp>
        <p:nvSpPr>
          <p:cNvPr id="26" name="Text 20"/>
          <p:cNvSpPr txBox="1"/>
          <p:nvPr/>
        </p:nvSpPr>
        <p:spPr>
          <a:xfrm>
            <a:off x="1554480" y="4480560"/>
            <a:ext cx="2423160" cy="502920"/>
          </a:xfrm>
          <a:prstGeom prst="rect">
            <a:avLst/>
          </a:prstGeom>
          <a:noFill/>
          <a:ln/>
        </p:spPr>
        <p:txBody>
          <a:bodyPr wrap="square" lIns="0" tIns="0" rIns="0" bIns="0" rtlCol="0" anchor="t"/>
          <a:lstStyle/>
          <a:p>
            <a:pPr marL="0" indent="0">
              <a:buNone/>
            </a:pPr>
            <a:r>
              <a:rPr lang="en-US" sz="1500" b="1" dirty="0">
                <a:solidFill>
                  <a:srgbClr val="171A21"/>
                </a:solidFill>
                <a:latin typeface="Cambria" pitchFamily="34" charset="0"/>
                <a:ea typeface="Cambria" pitchFamily="34" charset="-122"/>
                <a:cs typeface="Cambria" pitchFamily="34" charset="-120"/>
              </a:rPr>
              <a:t>CI / Security Gate</a:t>
            </a:r>
            <a:endParaRPr lang="en-US" sz="1500" dirty="0"/>
          </a:p>
        </p:txBody>
      </p:sp>
      <p:sp>
        <p:nvSpPr>
          <p:cNvPr id="27" name="Text 21"/>
          <p:cNvSpPr txBox="1"/>
          <p:nvPr/>
        </p:nvSpPr>
        <p:spPr>
          <a:xfrm>
            <a:off x="777240" y="5120640"/>
            <a:ext cx="3108960" cy="1005840"/>
          </a:xfrm>
          <a:prstGeom prst="rect">
            <a:avLst/>
          </a:prstGeom>
          <a:noFill/>
          <a:ln/>
        </p:spPr>
        <p:txBody>
          <a:bodyPr wrap="square" lIns="0" tIns="0" rIns="0" bIns="0" rtlCol="0" anchor="t"/>
          <a:lstStyle/>
          <a:p>
            <a:pPr marL="0" indent="0">
              <a:buNone/>
            </a:pPr>
            <a:r>
              <a:rPr lang="en-US" sz="1300" dirty="0">
                <a:solidFill>
                  <a:srgbClr val="6B7280"/>
                </a:solidFill>
                <a:latin typeface="Calibri" pitchFamily="34" charset="0"/>
                <a:ea typeface="Calibri" pitchFamily="34" charset="-122"/>
                <a:cs typeface="Calibri" pitchFamily="34" charset="-120"/>
              </a:rPr>
              <a:t>A GitHub Actions gate that runs the evaluators and blocks unsafe changes</a:t>
            </a:r>
            <a:endParaRPr lang="en-US" sz="1300" dirty="0"/>
          </a:p>
        </p:txBody>
      </p:sp>
      <p:sp>
        <p:nvSpPr>
          <p:cNvPr id="28" name="Shape 22"/>
          <p:cNvSpPr/>
          <p:nvPr/>
        </p:nvSpPr>
        <p:spPr>
          <a:xfrm>
            <a:off x="4343400" y="4023360"/>
            <a:ext cx="3566160" cy="2194560"/>
          </a:xfrm>
          <a:prstGeom prst="roundRect">
            <a:avLst>
              <a:gd name="adj" fmla="val 5000"/>
            </a:avLst>
          </a:prstGeom>
          <a:solidFill>
            <a:srgbClr val="FFFFFF"/>
          </a:solidFill>
          <a:ln w="12700">
            <a:solidFill>
              <a:srgbClr val="FFFFFF"/>
            </a:solidFill>
            <a:prstDash val="solid"/>
          </a:ln>
          <a:effectLst>
            <a:outerShdw blurRad="101600" dist="25400" dir="5400000" algn="bl" rotWithShape="0">
              <a:srgbClr val="000000">
                <a:alpha val="12000"/>
              </a:srgbClr>
            </a:outerShdw>
          </a:effectLst>
        </p:spPr>
      </p:sp>
      <p:sp>
        <p:nvSpPr>
          <p:cNvPr id="29" name="Shape 23"/>
          <p:cNvSpPr/>
          <p:nvPr/>
        </p:nvSpPr>
        <p:spPr>
          <a:xfrm>
            <a:off x="4572000" y="4251960"/>
            <a:ext cx="594360" cy="594360"/>
          </a:xfrm>
          <a:prstGeom prst="ellipse">
            <a:avLst/>
          </a:prstGeom>
          <a:solidFill>
            <a:srgbClr val="171A21"/>
          </a:solidFill>
          <a:ln w="12700">
            <a:solidFill>
              <a:srgbClr val="171A21"/>
            </a:solidFill>
            <a:prstDash val="solid"/>
          </a:ln>
        </p:spPr>
      </p:sp>
      <p:pic>
        <p:nvPicPr>
          <p:cNvPr id="30" name="Image 4" descr="preencoded.png"/>
          <p:cNvPicPr>
            <a:picLocks noChangeAspect="1"/>
          </p:cNvPicPr>
          <p:nvPr/>
        </p:nvPicPr>
        <p:blipFill>
          <a:blip r:embed="rId7"/>
          <a:stretch>
            <a:fillRect/>
          </a:stretch>
        </p:blipFill>
        <p:spPr>
          <a:xfrm>
            <a:off x="4726534" y="4406494"/>
            <a:ext cx="285293" cy="285293"/>
          </a:xfrm>
          <a:prstGeom prst="rect">
            <a:avLst/>
          </a:prstGeom>
        </p:spPr>
      </p:pic>
      <p:sp>
        <p:nvSpPr>
          <p:cNvPr id="31" name="Text 24"/>
          <p:cNvSpPr txBox="1"/>
          <p:nvPr/>
        </p:nvSpPr>
        <p:spPr>
          <a:xfrm>
            <a:off x="5349240" y="4251960"/>
            <a:ext cx="2377440" cy="274320"/>
          </a:xfrm>
          <a:prstGeom prst="rect">
            <a:avLst/>
          </a:prstGeom>
          <a:noFill/>
          <a:ln/>
        </p:spPr>
        <p:txBody>
          <a:bodyPr wrap="square" lIns="0" tIns="0" rIns="0" bIns="0" rtlCol="0" anchor="ctr"/>
          <a:lstStyle/>
          <a:p>
            <a:pPr marL="0" indent="0">
              <a:buNone/>
            </a:pPr>
            <a:r>
              <a:rPr lang="en-US" sz="1100" b="1" dirty="0">
                <a:solidFill>
                  <a:srgbClr val="0F766E"/>
                </a:solidFill>
                <a:latin typeface="Calibri" pitchFamily="34" charset="0"/>
                <a:ea typeface="Calibri" pitchFamily="34" charset="-122"/>
                <a:cs typeface="Calibri" pitchFamily="34" charset="-120"/>
              </a:rPr>
              <a:t>PHASE 8</a:t>
            </a:r>
            <a:endParaRPr lang="en-US" sz="1100" dirty="0"/>
          </a:p>
        </p:txBody>
      </p:sp>
      <p:sp>
        <p:nvSpPr>
          <p:cNvPr id="32" name="Text 25"/>
          <p:cNvSpPr txBox="1"/>
          <p:nvPr/>
        </p:nvSpPr>
        <p:spPr>
          <a:xfrm>
            <a:off x="5349240" y="4480560"/>
            <a:ext cx="2423160" cy="502920"/>
          </a:xfrm>
          <a:prstGeom prst="rect">
            <a:avLst/>
          </a:prstGeom>
          <a:noFill/>
          <a:ln/>
        </p:spPr>
        <p:txBody>
          <a:bodyPr wrap="square" lIns="0" tIns="0" rIns="0" bIns="0" rtlCol="0" anchor="t"/>
          <a:lstStyle/>
          <a:p>
            <a:pPr marL="0" indent="0">
              <a:buNone/>
            </a:pPr>
            <a:r>
              <a:rPr lang="en-US" sz="1500" b="1" dirty="0">
                <a:solidFill>
                  <a:srgbClr val="171A21"/>
                </a:solidFill>
                <a:latin typeface="Cambria" pitchFamily="34" charset="0"/>
                <a:ea typeface="Cambria" pitchFamily="34" charset="-122"/>
                <a:cs typeface="Cambria" pitchFamily="34" charset="-120"/>
              </a:rPr>
              <a:t>Frontend &amp; Integrated Workflow</a:t>
            </a:r>
            <a:endParaRPr lang="en-US" sz="1500" dirty="0"/>
          </a:p>
        </p:txBody>
      </p:sp>
      <p:sp>
        <p:nvSpPr>
          <p:cNvPr id="33" name="Text 26"/>
          <p:cNvSpPr txBox="1"/>
          <p:nvPr/>
        </p:nvSpPr>
        <p:spPr>
          <a:xfrm>
            <a:off x="4572000" y="5120640"/>
            <a:ext cx="3108960" cy="1005840"/>
          </a:xfrm>
          <a:prstGeom prst="rect">
            <a:avLst/>
          </a:prstGeom>
          <a:noFill/>
          <a:ln/>
        </p:spPr>
        <p:txBody>
          <a:bodyPr wrap="square" lIns="0" tIns="0" rIns="0" bIns="0" rtlCol="0" anchor="t"/>
          <a:lstStyle/>
          <a:p>
            <a:pPr marL="0" indent="0">
              <a:buNone/>
            </a:pPr>
            <a:r>
              <a:rPr lang="en-US" sz="1300" dirty="0">
                <a:solidFill>
                  <a:srgbClr val="6B7280"/>
                </a:solidFill>
                <a:latin typeface="Calibri" pitchFamily="34" charset="0"/>
                <a:ea typeface="Calibri" pitchFamily="34" charset="-122"/>
                <a:cs typeface="Calibri" pitchFamily="34" charset="-120"/>
              </a:rPr>
              <a:t>A dashboard showing verdicts, evidence, impact and the workflow trace in one place</a:t>
            </a:r>
            <a:endParaRPr lang="en-US" sz="1300" dirty="0"/>
          </a:p>
        </p:txBody>
      </p:sp>
      <p:sp>
        <p:nvSpPr>
          <p:cNvPr id="34" name="Shape 27"/>
          <p:cNvSpPr/>
          <p:nvPr/>
        </p:nvSpPr>
        <p:spPr>
          <a:xfrm>
            <a:off x="8138160" y="4023360"/>
            <a:ext cx="3566160" cy="2194560"/>
          </a:xfrm>
          <a:prstGeom prst="roundRect">
            <a:avLst>
              <a:gd name="adj" fmla="val 5000"/>
            </a:avLst>
          </a:prstGeom>
          <a:solidFill>
            <a:srgbClr val="FFFFFF"/>
          </a:solidFill>
          <a:ln w="12700">
            <a:solidFill>
              <a:srgbClr val="FFFFFF"/>
            </a:solidFill>
            <a:prstDash val="solid"/>
          </a:ln>
          <a:effectLst>
            <a:outerShdw blurRad="101600" dist="25400" dir="5400000" algn="bl" rotWithShape="0">
              <a:srgbClr val="000000">
                <a:alpha val="12000"/>
              </a:srgbClr>
            </a:outerShdw>
          </a:effectLst>
        </p:spPr>
      </p:sp>
      <p:sp>
        <p:nvSpPr>
          <p:cNvPr id="35" name="Shape 28"/>
          <p:cNvSpPr/>
          <p:nvPr/>
        </p:nvSpPr>
        <p:spPr>
          <a:xfrm>
            <a:off x="8366760" y="4251960"/>
            <a:ext cx="594360" cy="594360"/>
          </a:xfrm>
          <a:prstGeom prst="ellipse">
            <a:avLst/>
          </a:prstGeom>
          <a:solidFill>
            <a:srgbClr val="171A21"/>
          </a:solidFill>
          <a:ln w="12700">
            <a:solidFill>
              <a:srgbClr val="171A21"/>
            </a:solidFill>
            <a:prstDash val="solid"/>
          </a:ln>
        </p:spPr>
      </p:sp>
      <p:pic>
        <p:nvPicPr>
          <p:cNvPr id="36" name="Image 5" descr="preencoded.png"/>
          <p:cNvPicPr>
            <a:picLocks noChangeAspect="1"/>
          </p:cNvPicPr>
          <p:nvPr/>
        </p:nvPicPr>
        <p:blipFill>
          <a:blip r:embed="rId8"/>
          <a:stretch>
            <a:fillRect/>
          </a:stretch>
        </p:blipFill>
        <p:spPr>
          <a:xfrm>
            <a:off x="8521294" y="4406494"/>
            <a:ext cx="285293" cy="285293"/>
          </a:xfrm>
          <a:prstGeom prst="rect">
            <a:avLst/>
          </a:prstGeom>
        </p:spPr>
      </p:pic>
      <p:sp>
        <p:nvSpPr>
          <p:cNvPr id="37" name="Text 29"/>
          <p:cNvSpPr txBox="1"/>
          <p:nvPr/>
        </p:nvSpPr>
        <p:spPr>
          <a:xfrm>
            <a:off x="9144000" y="4251960"/>
            <a:ext cx="2377440" cy="274320"/>
          </a:xfrm>
          <a:prstGeom prst="rect">
            <a:avLst/>
          </a:prstGeom>
          <a:noFill/>
          <a:ln/>
        </p:spPr>
        <p:txBody>
          <a:bodyPr wrap="square" lIns="0" tIns="0" rIns="0" bIns="0" rtlCol="0" anchor="ctr"/>
          <a:lstStyle/>
          <a:p>
            <a:pPr marL="0" indent="0">
              <a:buNone/>
            </a:pPr>
            <a:r>
              <a:rPr lang="en-US" sz="1100" b="1" dirty="0">
                <a:solidFill>
                  <a:srgbClr val="0F766E"/>
                </a:solidFill>
                <a:latin typeface="Calibri" pitchFamily="34" charset="0"/>
                <a:ea typeface="Calibri" pitchFamily="34" charset="-122"/>
                <a:cs typeface="Calibri" pitchFamily="34" charset="-120"/>
              </a:rPr>
              <a:t>PHASE 9</a:t>
            </a:r>
            <a:endParaRPr lang="en-US" sz="1100" dirty="0"/>
          </a:p>
        </p:txBody>
      </p:sp>
      <p:sp>
        <p:nvSpPr>
          <p:cNvPr id="38" name="Text 30"/>
          <p:cNvSpPr txBox="1"/>
          <p:nvPr/>
        </p:nvSpPr>
        <p:spPr>
          <a:xfrm>
            <a:off x="9144000" y="4480560"/>
            <a:ext cx="2423160" cy="502920"/>
          </a:xfrm>
          <a:prstGeom prst="rect">
            <a:avLst/>
          </a:prstGeom>
          <a:noFill/>
          <a:ln/>
        </p:spPr>
        <p:txBody>
          <a:bodyPr wrap="square" lIns="0" tIns="0" rIns="0" bIns="0" rtlCol="0" anchor="t"/>
          <a:lstStyle/>
          <a:p>
            <a:pPr marL="0" indent="0">
              <a:buNone/>
            </a:pPr>
            <a:r>
              <a:rPr lang="en-US" sz="1500" b="1" dirty="0">
                <a:solidFill>
                  <a:srgbClr val="171A21"/>
                </a:solidFill>
                <a:latin typeface="Cambria" pitchFamily="34" charset="0"/>
                <a:ea typeface="Cambria" pitchFamily="34" charset="-122"/>
                <a:cs typeface="Cambria" pitchFamily="34" charset="-120"/>
              </a:rPr>
              <a:t>Finalization</a:t>
            </a:r>
            <a:endParaRPr lang="en-US" sz="1500" dirty="0"/>
          </a:p>
        </p:txBody>
      </p:sp>
      <p:sp>
        <p:nvSpPr>
          <p:cNvPr id="39" name="Text 31"/>
          <p:cNvSpPr txBox="1"/>
          <p:nvPr/>
        </p:nvSpPr>
        <p:spPr>
          <a:xfrm>
            <a:off x="8366760" y="5120640"/>
            <a:ext cx="3108960" cy="1005840"/>
          </a:xfrm>
          <a:prstGeom prst="rect">
            <a:avLst/>
          </a:prstGeom>
          <a:noFill/>
          <a:ln/>
        </p:spPr>
        <p:txBody>
          <a:bodyPr wrap="square" lIns="0" tIns="0" rIns="0" bIns="0" rtlCol="0" anchor="t"/>
          <a:lstStyle/>
          <a:p>
            <a:pPr marL="0" indent="0">
              <a:buNone/>
            </a:pPr>
            <a:r>
              <a:rPr lang="en-US" sz="1300" dirty="0">
                <a:solidFill>
                  <a:srgbClr val="6B7280"/>
                </a:solidFill>
                <a:latin typeface="Calibri" pitchFamily="34" charset="0"/>
                <a:ea typeface="Calibri" pitchFamily="34" charset="-122"/>
                <a:cs typeface="Calibri" pitchFamily="34" charset="-120"/>
              </a:rPr>
              <a:t>Full test run, documentation and cleanup so the project is ready to hand over</a:t>
            </a:r>
            <a:endParaRPr lang="en-US" sz="1300" dirty="0"/>
          </a:p>
        </p:txBody>
      </p:sp>
      <p:sp>
        <p:nvSpPr>
          <p:cNvPr id="40" name="Text 32"/>
          <p:cNvSpPr txBox="1"/>
          <p:nvPr/>
        </p:nvSpPr>
        <p:spPr>
          <a:xfrm>
            <a:off x="548640" y="6446520"/>
            <a:ext cx="5486400" cy="274320"/>
          </a:xfrm>
          <a:prstGeom prst="rect">
            <a:avLst/>
          </a:prstGeom>
          <a:noFill/>
          <a:ln/>
        </p:spPr>
        <p:txBody>
          <a:bodyPr wrap="square" lIns="0" tIns="0" rIns="0" bIns="0" rtlCol="0" anchor="ctr"/>
          <a:lstStyle/>
          <a:p>
            <a:pPr marL="0" indent="0">
              <a:buNone/>
            </a:pPr>
            <a:r>
              <a:rPr lang="en-US" sz="1000" dirty="0">
                <a:solidFill>
                  <a:srgbClr val="6B7280"/>
                </a:solidFill>
                <a:latin typeface="Calibri" pitchFamily="34" charset="0"/>
                <a:ea typeface="Calibri" pitchFamily="34" charset="-122"/>
                <a:cs typeface="Calibri" pitchFamily="34" charset="-120"/>
              </a:rPr>
              <a:t>KAVACH  |  Project Review</a:t>
            </a:r>
            <a:endParaRPr lang="en-US" sz="1000" dirty="0"/>
          </a:p>
        </p:txBody>
      </p:sp>
      <p:sp>
        <p:nvSpPr>
          <p:cNvPr id="41" name="Slide Number Placeholder 0"/>
          <p:cNvSpPr>
            <a:spLocks noGrp="1"/>
          </p:cNvSpPr>
          <p:nvPr>
            <p:ph type="sldNum" sz="quarter" idx="4294967295"/>
          </p:nvPr>
        </p:nvSpPr>
        <p:spPr>
          <a:xfrm>
            <a:off x="11064240" y="644652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6B7280"/>
                </a:solidFill>
                <a:latin typeface="Calibri"/>
                <a:ea typeface="Calibri"/>
                <a:cs typeface="Calibri"/>
              </a:defRPr>
            </a:lvl1pPr>
          </a:lstStyle>
          <a:p>
            <a:pPr algn="r"/>
            <a:fld id="{F7021451-1387-4CA6-816F-3879F97B5CBC}" type="slidenum">
              <a:rPr lang="en-US" b="0"/>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3F4F6"/>
        </a:solidFill>
        <a:effectLst/>
      </p:bgPr>
    </p:bg>
    <p:spTree>
      <p:nvGrpSpPr>
        <p:cNvPr id="1" name=""/>
        <p:cNvGrpSpPr/>
        <p:nvPr/>
      </p:nvGrpSpPr>
      <p:grpSpPr>
        <a:xfrm>
          <a:off x="0" y="0"/>
          <a:ext cx="0" cy="0"/>
          <a:chOff x="0" y="0"/>
          <a:chExt cx="0" cy="0"/>
        </a:xfrm>
      </p:grpSpPr>
      <p:sp>
        <p:nvSpPr>
          <p:cNvPr id="2" name="Text 0"/>
          <p:cNvSpPr txBox="1"/>
          <p:nvPr/>
        </p:nvSpPr>
        <p:spPr>
          <a:xfrm>
            <a:off x="548640" y="320040"/>
            <a:ext cx="11064240" cy="731520"/>
          </a:xfrm>
          <a:prstGeom prst="rect">
            <a:avLst/>
          </a:prstGeom>
          <a:noFill/>
          <a:ln/>
        </p:spPr>
        <p:txBody>
          <a:bodyPr wrap="square" lIns="0" tIns="0" rIns="0" bIns="0" rtlCol="0" anchor="ctr"/>
          <a:lstStyle/>
          <a:p>
            <a:pPr marL="0" indent="0">
              <a:buNone/>
            </a:pPr>
            <a:r>
              <a:rPr lang="en-US" sz="3200" b="1" dirty="0">
                <a:solidFill>
                  <a:srgbClr val="171A21"/>
                </a:solidFill>
                <a:latin typeface="Cambria" pitchFamily="34" charset="0"/>
                <a:ea typeface="Cambria" pitchFamily="34" charset="-122"/>
                <a:cs typeface="Cambria" pitchFamily="34" charset="-120"/>
              </a:rPr>
              <a:t>Under the hood: security and policy</a:t>
            </a:r>
            <a:endParaRPr lang="en-US" sz="3200" dirty="0"/>
          </a:p>
        </p:txBody>
      </p:sp>
      <p:sp>
        <p:nvSpPr>
          <p:cNvPr id="3" name="Text 1"/>
          <p:cNvSpPr txBox="1"/>
          <p:nvPr/>
        </p:nvSpPr>
        <p:spPr>
          <a:xfrm>
            <a:off x="548640" y="1005840"/>
            <a:ext cx="11064240" cy="365760"/>
          </a:xfrm>
          <a:prstGeom prst="rect">
            <a:avLst/>
          </a:prstGeom>
          <a:noFill/>
          <a:ln/>
        </p:spPr>
        <p:txBody>
          <a:bodyPr wrap="square" lIns="0" tIns="0" rIns="0" bIns="0" rtlCol="0" anchor="ctr"/>
          <a:lstStyle/>
          <a:p>
            <a:pPr marL="0" indent="0">
              <a:buNone/>
            </a:pPr>
            <a:r>
              <a:rPr lang="en-US" sz="1600" dirty="0">
                <a:solidFill>
                  <a:srgbClr val="6B7280"/>
                </a:solidFill>
                <a:latin typeface="Calibri" pitchFamily="34" charset="0"/>
                <a:ea typeface="Calibri" pitchFamily="34" charset="-122"/>
                <a:cs typeface="Calibri" pitchFamily="34" charset="-120"/>
              </a:rPr>
              <a:t>Preview of Phases 4-5 (full walkthrough at the next review)</a:t>
            </a:r>
            <a:endParaRPr lang="en-US" sz="1600" dirty="0"/>
          </a:p>
        </p:txBody>
      </p:sp>
      <p:sp>
        <p:nvSpPr>
          <p:cNvPr id="4" name="Shape 2"/>
          <p:cNvSpPr/>
          <p:nvPr/>
        </p:nvSpPr>
        <p:spPr>
          <a:xfrm>
            <a:off x="548640" y="1600200"/>
            <a:ext cx="3566160" cy="3337560"/>
          </a:xfrm>
          <a:prstGeom prst="roundRect">
            <a:avLst>
              <a:gd name="adj" fmla="val 3288"/>
            </a:avLst>
          </a:prstGeom>
          <a:solidFill>
            <a:srgbClr val="FFFFFF"/>
          </a:solidFill>
          <a:ln w="12700">
            <a:solidFill>
              <a:srgbClr val="FFFFFF"/>
            </a:solidFill>
            <a:prstDash val="solid"/>
          </a:ln>
          <a:effectLst>
            <a:outerShdw blurRad="101600" dist="25400" dir="5400000" algn="bl" rotWithShape="0">
              <a:srgbClr val="000000">
                <a:alpha val="12000"/>
              </a:srgbClr>
            </a:outerShdw>
          </a:effectLst>
        </p:spPr>
      </p:sp>
      <p:sp>
        <p:nvSpPr>
          <p:cNvPr id="5" name="Text 3"/>
          <p:cNvSpPr txBox="1"/>
          <p:nvPr/>
        </p:nvSpPr>
        <p:spPr>
          <a:xfrm>
            <a:off x="777240" y="1737360"/>
            <a:ext cx="3108960" cy="457200"/>
          </a:xfrm>
          <a:prstGeom prst="rect">
            <a:avLst/>
          </a:prstGeom>
          <a:noFill/>
          <a:ln/>
        </p:spPr>
        <p:txBody>
          <a:bodyPr wrap="square" lIns="0" tIns="0" rIns="0" bIns="0" rtlCol="0" anchor="ctr"/>
          <a:lstStyle/>
          <a:p>
            <a:pPr marL="0" indent="0">
              <a:buNone/>
            </a:pPr>
            <a:r>
              <a:rPr lang="en-US" sz="1700" b="1" dirty="0">
                <a:solidFill>
                  <a:srgbClr val="171A21"/>
                </a:solidFill>
                <a:latin typeface="Cambria" pitchFamily="34" charset="0"/>
                <a:ea typeface="Cambria" pitchFamily="34" charset="-122"/>
                <a:cs typeface="Cambria" pitchFamily="34" charset="-120"/>
              </a:rPr>
              <a:t>Detecting sensitive data</a:t>
            </a:r>
            <a:endParaRPr lang="en-US" sz="1700" dirty="0"/>
          </a:p>
        </p:txBody>
      </p:sp>
      <p:sp>
        <p:nvSpPr>
          <p:cNvPr id="6" name="Text 4"/>
          <p:cNvSpPr txBox="1"/>
          <p:nvPr/>
        </p:nvSpPr>
        <p:spPr>
          <a:xfrm>
            <a:off x="777240" y="2286000"/>
            <a:ext cx="3108960" cy="2514600"/>
          </a:xfrm>
          <a:prstGeom prst="rect">
            <a:avLst/>
          </a:prstGeom>
          <a:noFill/>
          <a:ln/>
        </p:spPr>
        <p:txBody>
          <a:bodyPr wrap="square" lIns="0" tIns="0" rIns="0" bIns="0" rtlCol="0" anchor="t"/>
          <a:lstStyle/>
          <a:p>
            <a:pPr marL="342900" indent="-342900">
              <a:spcAft>
                <a:spcPts val="600"/>
              </a:spcAft>
              <a:buSzPct val="100000"/>
              <a:buChar char="•"/>
            </a:pPr>
            <a:r>
              <a:rPr lang="en-US" sz="1300" dirty="0">
                <a:solidFill>
                  <a:srgbClr val="1F2430"/>
                </a:solidFill>
                <a:latin typeface="Calibri" pitchFamily="34" charset="0"/>
                <a:ea typeface="Calibri" pitchFamily="34" charset="-122"/>
                <a:cs typeface="Calibri" pitchFamily="34" charset="-120"/>
              </a:rPr>
              <a:t>Pattern plus context, never pattern alone</a:t>
            </a:r>
            <a:endParaRPr lang="en-US" sz="1300" dirty="0"/>
          </a:p>
          <a:p>
            <a:pPr marL="342900" indent="-342900">
              <a:spcAft>
                <a:spcPts val="600"/>
              </a:spcAft>
              <a:buSzPct val="100000"/>
              <a:buChar char="•"/>
            </a:pPr>
            <a:r>
              <a:rPr lang="en-US" sz="1300" dirty="0">
                <a:solidFill>
                  <a:srgbClr val="1F2430"/>
                </a:solidFill>
                <a:latin typeface="Calibri" pitchFamily="34" charset="0"/>
                <a:ea typeface="Calibri" pitchFamily="34" charset="-122"/>
                <a:cs typeface="Calibri" pitchFamily="34" charset="-120"/>
              </a:rPr>
              <a:t>PAN: 5 letters + 4 digits + 1 letter</a:t>
            </a:r>
            <a:endParaRPr lang="en-US" sz="1300" dirty="0"/>
          </a:p>
          <a:p>
            <a:pPr marL="342900" indent="-342900">
              <a:spcAft>
                <a:spcPts val="600"/>
              </a:spcAft>
              <a:buSzPct val="100000"/>
              <a:buChar char="•"/>
            </a:pPr>
            <a:r>
              <a:rPr lang="en-US" sz="1300" dirty="0">
                <a:solidFill>
                  <a:srgbClr val="1F2430"/>
                </a:solidFill>
                <a:latin typeface="Calibri" pitchFamily="34" charset="0"/>
                <a:ea typeface="Calibri" pitchFamily="34" charset="-122"/>
                <a:cs typeface="Calibri" pitchFamily="34" charset="-120"/>
              </a:rPr>
              <a:t>Aadhaar-like: 12 digits AND the word Aadhaar (or its Hindi form) nearby</a:t>
            </a:r>
            <a:endParaRPr lang="en-US" sz="1300" dirty="0"/>
          </a:p>
          <a:p>
            <a:pPr marL="342900" indent="-342900">
              <a:spcAft>
                <a:spcPts val="600"/>
              </a:spcAft>
              <a:buSzPct val="100000"/>
              <a:buChar char="•"/>
            </a:pPr>
            <a:r>
              <a:rPr lang="en-US" sz="1300" dirty="0">
                <a:solidFill>
                  <a:srgbClr val="1F2430"/>
                </a:solidFill>
                <a:latin typeface="Calibri" pitchFamily="34" charset="0"/>
                <a:ea typeface="Calibri" pitchFamily="34" charset="-122"/>
                <a:cs typeface="Calibri" pitchFamily="34" charset="-120"/>
              </a:rPr>
              <a:t>Every finding carries severity, confidence and a reason</a:t>
            </a:r>
            <a:endParaRPr lang="en-US" sz="1300" dirty="0"/>
          </a:p>
        </p:txBody>
      </p:sp>
      <p:sp>
        <p:nvSpPr>
          <p:cNvPr id="7" name="Shape 5"/>
          <p:cNvSpPr/>
          <p:nvPr/>
        </p:nvSpPr>
        <p:spPr>
          <a:xfrm>
            <a:off x="4297680" y="1600200"/>
            <a:ext cx="3566160" cy="3337560"/>
          </a:xfrm>
          <a:prstGeom prst="roundRect">
            <a:avLst>
              <a:gd name="adj" fmla="val 3288"/>
            </a:avLst>
          </a:prstGeom>
          <a:solidFill>
            <a:srgbClr val="FFFFFF"/>
          </a:solidFill>
          <a:ln w="12700">
            <a:solidFill>
              <a:srgbClr val="FFFFFF"/>
            </a:solidFill>
            <a:prstDash val="solid"/>
          </a:ln>
          <a:effectLst>
            <a:outerShdw blurRad="101600" dist="25400" dir="5400000" algn="bl" rotWithShape="0">
              <a:srgbClr val="000000">
                <a:alpha val="12000"/>
              </a:srgbClr>
            </a:outerShdw>
          </a:effectLst>
        </p:spPr>
      </p:sp>
      <p:sp>
        <p:nvSpPr>
          <p:cNvPr id="8" name="Text 6"/>
          <p:cNvSpPr txBox="1"/>
          <p:nvPr/>
        </p:nvSpPr>
        <p:spPr>
          <a:xfrm>
            <a:off x="4526280" y="1737360"/>
            <a:ext cx="3108960" cy="457200"/>
          </a:xfrm>
          <a:prstGeom prst="rect">
            <a:avLst/>
          </a:prstGeom>
          <a:noFill/>
          <a:ln/>
        </p:spPr>
        <p:txBody>
          <a:bodyPr wrap="square" lIns="0" tIns="0" rIns="0" bIns="0" rtlCol="0" anchor="ctr"/>
          <a:lstStyle/>
          <a:p>
            <a:pPr marL="0" indent="0">
              <a:buNone/>
            </a:pPr>
            <a:r>
              <a:rPr lang="en-US" sz="1700" b="1" dirty="0">
                <a:solidFill>
                  <a:srgbClr val="171A21"/>
                </a:solidFill>
                <a:latin typeface="Cambria" pitchFamily="34" charset="0"/>
                <a:ea typeface="Cambria" pitchFamily="34" charset="-122"/>
                <a:cs typeface="Cambria" pitchFamily="34" charset="-120"/>
              </a:rPr>
              <a:t>Deciding what to do</a:t>
            </a:r>
            <a:endParaRPr lang="en-US" sz="1700" dirty="0"/>
          </a:p>
        </p:txBody>
      </p:sp>
      <p:sp>
        <p:nvSpPr>
          <p:cNvPr id="9" name="Text 7"/>
          <p:cNvSpPr txBox="1"/>
          <p:nvPr/>
        </p:nvSpPr>
        <p:spPr>
          <a:xfrm>
            <a:off x="4526280" y="2240280"/>
            <a:ext cx="3108960" cy="365760"/>
          </a:xfrm>
          <a:prstGeom prst="rect">
            <a:avLst/>
          </a:prstGeom>
          <a:noFill/>
          <a:ln/>
        </p:spPr>
        <p:txBody>
          <a:bodyPr wrap="square" lIns="0" tIns="0" rIns="0" bIns="0" rtlCol="0" anchor="ctr"/>
          <a:lstStyle/>
          <a:p>
            <a:pPr marL="0" indent="0">
              <a:buNone/>
            </a:pPr>
            <a:r>
              <a:rPr lang="en-US" sz="1100" b="1" dirty="0">
                <a:solidFill>
                  <a:srgbClr val="0F766E"/>
                </a:solidFill>
                <a:latin typeface="Courier New" pitchFamily="34" charset="0"/>
                <a:ea typeface="Courier New" pitchFamily="34" charset="-122"/>
                <a:cs typeface="Courier New" pitchFamily="34" charset="-120"/>
              </a:rPr>
              <a:t>risk = data risk x (0.7 + 0.3 x action risk)</a:t>
            </a:r>
            <a:endParaRPr lang="en-US" sz="1100" dirty="0"/>
          </a:p>
        </p:txBody>
      </p:sp>
      <p:sp>
        <p:nvSpPr>
          <p:cNvPr id="10" name="Text 8"/>
          <p:cNvSpPr txBox="1"/>
          <p:nvPr/>
        </p:nvSpPr>
        <p:spPr>
          <a:xfrm>
            <a:off x="4526280" y="2743200"/>
            <a:ext cx="1600200" cy="365760"/>
          </a:xfrm>
          <a:prstGeom prst="roundRect">
            <a:avLst>
              <a:gd name="adj" fmla="val 15000"/>
            </a:avLst>
          </a:prstGeom>
          <a:solidFill>
            <a:srgbClr val="F3F4F6"/>
          </a:solidFill>
          <a:ln/>
        </p:spPr>
        <p:txBody>
          <a:bodyPr wrap="square" lIns="25400" tIns="25400" rIns="25400" bIns="25400" rtlCol="0" anchor="ctr"/>
          <a:lstStyle/>
          <a:p>
            <a:pPr marL="0" indent="0" algn="ctr">
              <a:buNone/>
            </a:pPr>
            <a:r>
              <a:rPr lang="en-US" sz="1200" dirty="0">
                <a:solidFill>
                  <a:srgbClr val="1F2430"/>
                </a:solidFill>
                <a:latin typeface="Calibri" pitchFamily="34" charset="0"/>
                <a:ea typeface="Calibri" pitchFamily="34" charset="-122"/>
                <a:cs typeface="Calibri" pitchFamily="34" charset="-120"/>
              </a:rPr>
              <a:t>0.75 and above</a:t>
            </a:r>
            <a:endParaRPr lang="en-US" sz="1200" dirty="0"/>
          </a:p>
        </p:txBody>
      </p:sp>
      <p:sp>
        <p:nvSpPr>
          <p:cNvPr id="11" name="Text 9"/>
          <p:cNvSpPr txBox="1"/>
          <p:nvPr/>
        </p:nvSpPr>
        <p:spPr>
          <a:xfrm>
            <a:off x="6217920" y="2743200"/>
            <a:ext cx="1417320" cy="365760"/>
          </a:xfrm>
          <a:prstGeom prst="roundRect">
            <a:avLst>
              <a:gd name="adj" fmla="val 15000"/>
            </a:avLst>
          </a:prstGeom>
          <a:solidFill>
            <a:srgbClr val="C8372D"/>
          </a:solidFill>
          <a:ln/>
        </p:spPr>
        <p:txBody>
          <a:bodyPr wrap="square" lIns="25400" tIns="25400" rIns="25400" bIns="2540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BLOCK</a:t>
            </a:r>
            <a:endParaRPr lang="en-US" sz="1200" dirty="0"/>
          </a:p>
        </p:txBody>
      </p:sp>
      <p:sp>
        <p:nvSpPr>
          <p:cNvPr id="12" name="Text 10"/>
          <p:cNvSpPr txBox="1"/>
          <p:nvPr/>
        </p:nvSpPr>
        <p:spPr>
          <a:xfrm>
            <a:off x="4526280" y="3172968"/>
            <a:ext cx="1600200" cy="365760"/>
          </a:xfrm>
          <a:prstGeom prst="roundRect">
            <a:avLst>
              <a:gd name="adj" fmla="val 15000"/>
            </a:avLst>
          </a:prstGeom>
          <a:solidFill>
            <a:srgbClr val="F3F4F6"/>
          </a:solidFill>
          <a:ln/>
        </p:spPr>
        <p:txBody>
          <a:bodyPr wrap="square" lIns="25400" tIns="25400" rIns="25400" bIns="25400" rtlCol="0" anchor="ctr"/>
          <a:lstStyle/>
          <a:p>
            <a:pPr marL="0" indent="0" algn="ctr">
              <a:buNone/>
            </a:pPr>
            <a:r>
              <a:rPr lang="en-US" sz="1200" dirty="0">
                <a:solidFill>
                  <a:srgbClr val="1F2430"/>
                </a:solidFill>
                <a:latin typeface="Calibri" pitchFamily="34" charset="0"/>
                <a:ea typeface="Calibri" pitchFamily="34" charset="-122"/>
                <a:cs typeface="Calibri" pitchFamily="34" charset="-120"/>
              </a:rPr>
              <a:t>0.45 to 0.75</a:t>
            </a:r>
            <a:endParaRPr lang="en-US" sz="1200" dirty="0"/>
          </a:p>
        </p:txBody>
      </p:sp>
      <p:sp>
        <p:nvSpPr>
          <p:cNvPr id="13" name="Text 11"/>
          <p:cNvSpPr txBox="1"/>
          <p:nvPr/>
        </p:nvSpPr>
        <p:spPr>
          <a:xfrm>
            <a:off x="6217920" y="3172968"/>
            <a:ext cx="1417320" cy="365760"/>
          </a:xfrm>
          <a:prstGeom prst="roundRect">
            <a:avLst>
              <a:gd name="adj" fmla="val 15000"/>
            </a:avLst>
          </a:prstGeom>
          <a:solidFill>
            <a:srgbClr val="F5A524"/>
          </a:solidFill>
          <a:ln/>
        </p:spPr>
        <p:txBody>
          <a:bodyPr wrap="square" lIns="25400" tIns="25400" rIns="25400" bIns="25400" rtlCol="0" anchor="ctr"/>
          <a:lstStyle/>
          <a:p>
            <a:pPr marL="0" indent="0" algn="ctr">
              <a:buNone/>
            </a:pPr>
            <a:r>
              <a:rPr lang="en-US" sz="1200" b="1" dirty="0">
                <a:solidFill>
                  <a:srgbClr val="171A21"/>
                </a:solidFill>
                <a:latin typeface="Calibri" pitchFamily="34" charset="0"/>
                <a:ea typeface="Calibri" pitchFamily="34" charset="-122"/>
                <a:cs typeface="Calibri" pitchFamily="34" charset="-120"/>
              </a:rPr>
              <a:t>REVIEW</a:t>
            </a:r>
            <a:endParaRPr lang="en-US" sz="1200" dirty="0"/>
          </a:p>
        </p:txBody>
      </p:sp>
      <p:sp>
        <p:nvSpPr>
          <p:cNvPr id="14" name="Text 12"/>
          <p:cNvSpPr txBox="1"/>
          <p:nvPr/>
        </p:nvSpPr>
        <p:spPr>
          <a:xfrm>
            <a:off x="4526280" y="3602736"/>
            <a:ext cx="1600200" cy="365760"/>
          </a:xfrm>
          <a:prstGeom prst="roundRect">
            <a:avLst>
              <a:gd name="adj" fmla="val 15000"/>
            </a:avLst>
          </a:prstGeom>
          <a:solidFill>
            <a:srgbClr val="F3F4F6"/>
          </a:solidFill>
          <a:ln/>
        </p:spPr>
        <p:txBody>
          <a:bodyPr wrap="square" lIns="25400" tIns="25400" rIns="25400" bIns="25400" rtlCol="0" anchor="ctr"/>
          <a:lstStyle/>
          <a:p>
            <a:pPr marL="0" indent="0" algn="ctr">
              <a:buNone/>
            </a:pPr>
            <a:r>
              <a:rPr lang="en-US" sz="1200" dirty="0">
                <a:solidFill>
                  <a:srgbClr val="1F2430"/>
                </a:solidFill>
                <a:latin typeface="Calibri" pitchFamily="34" charset="0"/>
                <a:ea typeface="Calibri" pitchFamily="34" charset="-122"/>
                <a:cs typeface="Calibri" pitchFamily="34" charset="-120"/>
              </a:rPr>
              <a:t>0.15 to 0.45</a:t>
            </a:r>
            <a:endParaRPr lang="en-US" sz="1200" dirty="0"/>
          </a:p>
        </p:txBody>
      </p:sp>
      <p:sp>
        <p:nvSpPr>
          <p:cNvPr id="15" name="Text 13"/>
          <p:cNvSpPr txBox="1"/>
          <p:nvPr/>
        </p:nvSpPr>
        <p:spPr>
          <a:xfrm>
            <a:off x="6217920" y="3602736"/>
            <a:ext cx="1417320" cy="365760"/>
          </a:xfrm>
          <a:prstGeom prst="roundRect">
            <a:avLst>
              <a:gd name="adj" fmla="val 15000"/>
            </a:avLst>
          </a:prstGeom>
          <a:solidFill>
            <a:srgbClr val="0F766E"/>
          </a:solidFill>
          <a:ln/>
        </p:spPr>
        <p:txBody>
          <a:bodyPr wrap="square" lIns="25400" tIns="25400" rIns="25400" bIns="2540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REDACT</a:t>
            </a:r>
            <a:endParaRPr lang="en-US" sz="1200" dirty="0"/>
          </a:p>
        </p:txBody>
      </p:sp>
      <p:sp>
        <p:nvSpPr>
          <p:cNvPr id="16" name="Text 14"/>
          <p:cNvSpPr txBox="1"/>
          <p:nvPr/>
        </p:nvSpPr>
        <p:spPr>
          <a:xfrm>
            <a:off x="4526280" y="4032504"/>
            <a:ext cx="1600200" cy="365760"/>
          </a:xfrm>
          <a:prstGeom prst="roundRect">
            <a:avLst>
              <a:gd name="adj" fmla="val 15000"/>
            </a:avLst>
          </a:prstGeom>
          <a:solidFill>
            <a:srgbClr val="F3F4F6"/>
          </a:solidFill>
          <a:ln/>
        </p:spPr>
        <p:txBody>
          <a:bodyPr wrap="square" lIns="25400" tIns="25400" rIns="25400" bIns="25400" rtlCol="0" anchor="ctr"/>
          <a:lstStyle/>
          <a:p>
            <a:pPr marL="0" indent="0" algn="ctr">
              <a:buNone/>
            </a:pPr>
            <a:r>
              <a:rPr lang="en-US" sz="1200" dirty="0">
                <a:solidFill>
                  <a:srgbClr val="1F2430"/>
                </a:solidFill>
                <a:latin typeface="Calibri" pitchFamily="34" charset="0"/>
                <a:ea typeface="Calibri" pitchFamily="34" charset="-122"/>
                <a:cs typeface="Calibri" pitchFamily="34" charset="-120"/>
              </a:rPr>
              <a:t>below 0.15</a:t>
            </a:r>
            <a:endParaRPr lang="en-US" sz="1200" dirty="0"/>
          </a:p>
        </p:txBody>
      </p:sp>
      <p:sp>
        <p:nvSpPr>
          <p:cNvPr id="17" name="Text 15"/>
          <p:cNvSpPr txBox="1"/>
          <p:nvPr/>
        </p:nvSpPr>
        <p:spPr>
          <a:xfrm>
            <a:off x="6217920" y="4032504"/>
            <a:ext cx="1417320" cy="365760"/>
          </a:xfrm>
          <a:prstGeom prst="roundRect">
            <a:avLst>
              <a:gd name="adj" fmla="val 15000"/>
            </a:avLst>
          </a:prstGeom>
          <a:solidFill>
            <a:srgbClr val="6B7280"/>
          </a:solidFill>
          <a:ln/>
        </p:spPr>
        <p:txBody>
          <a:bodyPr wrap="square" lIns="25400" tIns="25400" rIns="25400" bIns="2540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ALLOW</a:t>
            </a:r>
            <a:endParaRPr lang="en-US" sz="1200" dirty="0"/>
          </a:p>
        </p:txBody>
      </p:sp>
      <p:sp>
        <p:nvSpPr>
          <p:cNvPr id="18" name="Text 16"/>
          <p:cNvSpPr txBox="1"/>
          <p:nvPr/>
        </p:nvSpPr>
        <p:spPr>
          <a:xfrm>
            <a:off x="4526280" y="4526280"/>
            <a:ext cx="3108960" cy="320040"/>
          </a:xfrm>
          <a:prstGeom prst="rect">
            <a:avLst/>
          </a:prstGeom>
          <a:noFill/>
          <a:ln/>
        </p:spPr>
        <p:txBody>
          <a:bodyPr wrap="square" lIns="0" tIns="0" rIns="0" bIns="0" rtlCol="0" anchor="ctr"/>
          <a:lstStyle/>
          <a:p>
            <a:pPr marL="0" indent="0">
              <a:buNone/>
            </a:pPr>
            <a:r>
              <a:rPr lang="en-US" sz="1200" b="1" dirty="0">
                <a:solidFill>
                  <a:srgbClr val="C8372D"/>
                </a:solidFill>
                <a:latin typeface="Calibri" pitchFamily="34" charset="0"/>
                <a:ea typeface="Calibri" pitchFamily="34" charset="-122"/>
                <a:cs typeface="Calibri" pitchFamily="34" charset="-120"/>
              </a:rPr>
              <a:t>Credentials and keys: always BLOCK</a:t>
            </a:r>
            <a:endParaRPr lang="en-US" sz="1200" dirty="0"/>
          </a:p>
        </p:txBody>
      </p:sp>
      <p:sp>
        <p:nvSpPr>
          <p:cNvPr id="19" name="Shape 17"/>
          <p:cNvSpPr/>
          <p:nvPr/>
        </p:nvSpPr>
        <p:spPr>
          <a:xfrm>
            <a:off x="8046720" y="1600200"/>
            <a:ext cx="3566160" cy="3337560"/>
          </a:xfrm>
          <a:prstGeom prst="roundRect">
            <a:avLst>
              <a:gd name="adj" fmla="val 3288"/>
            </a:avLst>
          </a:prstGeom>
          <a:solidFill>
            <a:srgbClr val="FFFFFF"/>
          </a:solidFill>
          <a:ln w="12700">
            <a:solidFill>
              <a:srgbClr val="FFFFFF"/>
            </a:solidFill>
            <a:prstDash val="solid"/>
          </a:ln>
          <a:effectLst>
            <a:outerShdw blurRad="101600" dist="25400" dir="5400000" algn="bl" rotWithShape="0">
              <a:srgbClr val="000000">
                <a:alpha val="12000"/>
              </a:srgbClr>
            </a:outerShdw>
          </a:effectLst>
        </p:spPr>
      </p:sp>
      <p:sp>
        <p:nvSpPr>
          <p:cNvPr id="20" name="Text 18"/>
          <p:cNvSpPr txBox="1"/>
          <p:nvPr/>
        </p:nvSpPr>
        <p:spPr>
          <a:xfrm>
            <a:off x="8275320" y="1737360"/>
            <a:ext cx="3108960" cy="457200"/>
          </a:xfrm>
          <a:prstGeom prst="rect">
            <a:avLst/>
          </a:prstGeom>
          <a:noFill/>
          <a:ln/>
        </p:spPr>
        <p:txBody>
          <a:bodyPr wrap="square" lIns="0" tIns="0" rIns="0" bIns="0" rtlCol="0" anchor="ctr"/>
          <a:lstStyle/>
          <a:p>
            <a:pPr marL="0" indent="0">
              <a:buNone/>
            </a:pPr>
            <a:r>
              <a:rPr lang="en-US" sz="1700" b="1" dirty="0">
                <a:solidFill>
                  <a:srgbClr val="171A21"/>
                </a:solidFill>
                <a:latin typeface="Cambria" pitchFamily="34" charset="0"/>
                <a:ea typeface="Cambria" pitchFamily="34" charset="-122"/>
                <a:cs typeface="Cambria" pitchFamily="34" charset="-120"/>
              </a:rPr>
              <a:t>Worked examples</a:t>
            </a:r>
            <a:endParaRPr lang="en-US" sz="1700" dirty="0"/>
          </a:p>
        </p:txBody>
      </p:sp>
      <p:sp>
        <p:nvSpPr>
          <p:cNvPr id="21" name="Text 19"/>
          <p:cNvSpPr txBox="1"/>
          <p:nvPr/>
        </p:nvSpPr>
        <p:spPr>
          <a:xfrm>
            <a:off x="8275320" y="2331720"/>
            <a:ext cx="3108960" cy="1097280"/>
          </a:xfrm>
          <a:prstGeom prst="rect">
            <a:avLst/>
          </a:prstGeom>
          <a:noFill/>
          <a:ln/>
        </p:spPr>
        <p:txBody>
          <a:bodyPr wrap="square" lIns="0" tIns="0" rIns="0" bIns="0" rtlCol="0" anchor="t"/>
          <a:lstStyle/>
          <a:p>
            <a:pPr marL="0" indent="0">
              <a:spcAft>
                <a:spcPts val="400"/>
              </a:spcAft>
              <a:buNone/>
            </a:pPr>
            <a:r>
              <a:rPr lang="en-US" sz="1200" i="1" dirty="0">
                <a:solidFill>
                  <a:srgbClr val="1F2430"/>
                </a:solidFill>
                <a:latin typeface="Calibri" pitchFamily="34" charset="0"/>
                <a:ea typeface="Calibri" pitchFamily="34" charset="-122"/>
                <a:cs typeface="Calibri" pitchFamily="34" charset="-120"/>
              </a:rPr>
              <a:t>"Delete all customer records for Aadhaar ..."</a:t>
            </a:r>
            <a:endParaRPr lang="en-US" sz="1200" dirty="0"/>
          </a:p>
          <a:p>
            <a:pPr marL="0" indent="0">
              <a:buNone/>
            </a:pPr>
            <a:r>
              <a:rPr lang="en-US" sz="1400" b="1" dirty="0">
                <a:solidFill>
                  <a:srgbClr val="C8372D"/>
                </a:solidFill>
                <a:latin typeface="Calibri" pitchFamily="34" charset="0"/>
                <a:ea typeface="Calibri" pitchFamily="34" charset="-122"/>
                <a:cs typeface="Calibri" pitchFamily="34" charset="-120"/>
              </a:rPr>
              <a:t>risk 0.776  =  BLOCKED</a:t>
            </a:r>
            <a:endParaRPr lang="en-US" sz="1200" dirty="0"/>
          </a:p>
        </p:txBody>
      </p:sp>
      <p:sp>
        <p:nvSpPr>
          <p:cNvPr id="22" name="Text 20"/>
          <p:cNvSpPr txBox="1"/>
          <p:nvPr/>
        </p:nvSpPr>
        <p:spPr>
          <a:xfrm>
            <a:off x="8275320" y="3611880"/>
            <a:ext cx="3108960" cy="1097280"/>
          </a:xfrm>
          <a:prstGeom prst="rect">
            <a:avLst/>
          </a:prstGeom>
          <a:noFill/>
          <a:ln/>
        </p:spPr>
        <p:txBody>
          <a:bodyPr wrap="square" lIns="0" tIns="0" rIns="0" bIns="0" rtlCol="0" anchor="t"/>
          <a:lstStyle/>
          <a:p>
            <a:pPr marL="0" indent="0">
              <a:spcAft>
                <a:spcPts val="400"/>
              </a:spcAft>
              <a:buNone/>
            </a:pPr>
            <a:r>
              <a:rPr lang="en-US" sz="1200" i="1" dirty="0">
                <a:solidFill>
                  <a:srgbClr val="1F2430"/>
                </a:solidFill>
                <a:latin typeface="Calibri" pitchFamily="34" charset="0"/>
                <a:ea typeface="Calibri" pitchFamily="34" charset="-122"/>
                <a:cs typeface="Calibri" pitchFamily="34" charset="-120"/>
              </a:rPr>
              <a:t>"Fix the KYC bug for customer Aadhaar ..."</a:t>
            </a:r>
            <a:endParaRPr lang="en-US" sz="1200" dirty="0"/>
          </a:p>
          <a:p>
            <a:pPr marL="0" indent="0">
              <a:buNone/>
            </a:pPr>
            <a:r>
              <a:rPr lang="en-US" sz="1400" b="1" dirty="0">
                <a:solidFill>
                  <a:srgbClr val="B7791F"/>
                </a:solidFill>
                <a:latin typeface="Calibri" pitchFamily="34" charset="0"/>
                <a:ea typeface="Calibri" pitchFamily="34" charset="-122"/>
                <a:cs typeface="Calibri" pitchFamily="34" charset="-120"/>
              </a:rPr>
              <a:t>risk 0.584  =  NEEDS REVIEW</a:t>
            </a:r>
            <a:endParaRPr lang="en-US" sz="1200" dirty="0"/>
          </a:p>
        </p:txBody>
      </p:sp>
      <p:sp>
        <p:nvSpPr>
          <p:cNvPr id="23" name="Text 21"/>
          <p:cNvSpPr txBox="1"/>
          <p:nvPr/>
        </p:nvSpPr>
        <p:spPr>
          <a:xfrm>
            <a:off x="8275320" y="4526280"/>
            <a:ext cx="3108960" cy="320040"/>
          </a:xfrm>
          <a:prstGeom prst="rect">
            <a:avLst/>
          </a:prstGeom>
          <a:noFill/>
          <a:ln/>
        </p:spPr>
        <p:txBody>
          <a:bodyPr wrap="square" lIns="0" tIns="0" rIns="0" bIns="0" rtlCol="0" anchor="ctr"/>
          <a:lstStyle/>
          <a:p>
            <a:pPr marL="0" indent="0">
              <a:buNone/>
            </a:pPr>
            <a:r>
              <a:rPr lang="en-US" sz="1200" dirty="0">
                <a:solidFill>
                  <a:srgbClr val="6B7280"/>
                </a:solidFill>
                <a:latin typeface="Calibri" pitchFamily="34" charset="0"/>
                <a:ea typeface="Calibri" pitchFamily="34" charset="-122"/>
                <a:cs typeface="Calibri" pitchFamily="34" charset="-120"/>
              </a:rPr>
              <a:t>Same data, different action: delete is riskier than fix.</a:t>
            </a:r>
            <a:endParaRPr lang="en-US" sz="1200" dirty="0"/>
          </a:p>
        </p:txBody>
      </p:sp>
      <p:sp>
        <p:nvSpPr>
          <p:cNvPr id="24" name="Text 22"/>
          <p:cNvSpPr txBox="1"/>
          <p:nvPr/>
        </p:nvSpPr>
        <p:spPr>
          <a:xfrm>
            <a:off x="548640" y="5212080"/>
            <a:ext cx="11064240" cy="868680"/>
          </a:xfrm>
          <a:prstGeom prst="roundRect">
            <a:avLst>
              <a:gd name="adj" fmla="val 12632"/>
            </a:avLst>
          </a:prstGeom>
          <a:solidFill>
            <a:srgbClr val="171A21"/>
          </a:solidFill>
          <a:ln/>
        </p:spPr>
        <p:txBody>
          <a:bodyPr wrap="square" lIns="228600" tIns="228600" rIns="228600" bIns="228600" rtlCol="0" anchor="ctr"/>
          <a:lstStyle/>
          <a:p>
            <a:pPr marL="0" indent="0">
              <a:buNone/>
            </a:pPr>
            <a:r>
              <a:rPr lang="en-US" sz="1500" b="1" dirty="0">
                <a:solidFill>
                  <a:srgbClr val="FFFFFF"/>
                </a:solidFill>
                <a:latin typeface="Calibri" pitchFamily="34" charset="0"/>
                <a:ea typeface="Calibri" pitchFamily="34" charset="-122"/>
                <a:cs typeface="Calibri" pitchFamily="34" charset="-120"/>
              </a:rPr>
              <a:t>Impact analysis: relevance combines semantic similarity (weight 0.6) with import-graph dependency (weight 0.4), where the graph is built from Python's ast module.</a:t>
            </a:r>
            <a:endParaRPr lang="en-US" sz="1500" dirty="0"/>
          </a:p>
        </p:txBody>
      </p:sp>
      <p:sp>
        <p:nvSpPr>
          <p:cNvPr id="25" name="Text 23"/>
          <p:cNvSpPr txBox="1"/>
          <p:nvPr/>
        </p:nvSpPr>
        <p:spPr>
          <a:xfrm>
            <a:off x="548640" y="6446520"/>
            <a:ext cx="5486400" cy="274320"/>
          </a:xfrm>
          <a:prstGeom prst="rect">
            <a:avLst/>
          </a:prstGeom>
          <a:noFill/>
          <a:ln/>
        </p:spPr>
        <p:txBody>
          <a:bodyPr wrap="square" lIns="0" tIns="0" rIns="0" bIns="0" rtlCol="0" anchor="ctr"/>
          <a:lstStyle/>
          <a:p>
            <a:pPr marL="0" indent="0">
              <a:buNone/>
            </a:pPr>
            <a:r>
              <a:rPr lang="en-US" sz="1000" dirty="0">
                <a:solidFill>
                  <a:srgbClr val="6B7280"/>
                </a:solidFill>
                <a:latin typeface="Calibri" pitchFamily="34" charset="0"/>
                <a:ea typeface="Calibri" pitchFamily="34" charset="-122"/>
                <a:cs typeface="Calibri" pitchFamily="34" charset="-120"/>
              </a:rPr>
              <a:t>KAVACH  |  Project Review</a:t>
            </a:r>
            <a:endParaRPr lang="en-US" sz="1000" dirty="0"/>
          </a:p>
        </p:txBody>
      </p:sp>
      <p:sp>
        <p:nvSpPr>
          <p:cNvPr id="26" name="Slide Number Placeholder 0"/>
          <p:cNvSpPr>
            <a:spLocks noGrp="1"/>
          </p:cNvSpPr>
          <p:nvPr>
            <p:ph type="sldNum" sz="quarter" idx="4294967295"/>
          </p:nvPr>
        </p:nvSpPr>
        <p:spPr>
          <a:xfrm>
            <a:off x="11064240" y="644652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6B7280"/>
                </a:solidFill>
                <a:latin typeface="Calibri"/>
                <a:ea typeface="Calibri"/>
                <a:cs typeface="Calibri"/>
              </a:defRPr>
            </a:lvl1pPr>
          </a:lstStyle>
          <a:p>
            <a:pPr algn="r"/>
            <a:fld id="{F7021451-1387-4CA6-816F-3879F97B5CBC}" type="slidenum">
              <a:rPr lang="en-US" b="0"/>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3F4F6"/>
        </a:solidFill>
        <a:effectLst/>
      </p:bgPr>
    </p:bg>
    <p:spTree>
      <p:nvGrpSpPr>
        <p:cNvPr id="1" name=""/>
        <p:cNvGrpSpPr/>
        <p:nvPr/>
      </p:nvGrpSpPr>
      <p:grpSpPr>
        <a:xfrm>
          <a:off x="0" y="0"/>
          <a:ext cx="0" cy="0"/>
          <a:chOff x="0" y="0"/>
          <a:chExt cx="0" cy="0"/>
        </a:xfrm>
      </p:grpSpPr>
      <p:sp>
        <p:nvSpPr>
          <p:cNvPr id="2" name="Text 0"/>
          <p:cNvSpPr txBox="1"/>
          <p:nvPr/>
        </p:nvSpPr>
        <p:spPr>
          <a:xfrm>
            <a:off x="548640" y="320040"/>
            <a:ext cx="11064240" cy="731520"/>
          </a:xfrm>
          <a:prstGeom prst="rect">
            <a:avLst/>
          </a:prstGeom>
          <a:noFill/>
          <a:ln/>
        </p:spPr>
        <p:txBody>
          <a:bodyPr wrap="square" lIns="0" tIns="0" rIns="0" bIns="0" rtlCol="0" anchor="ctr"/>
          <a:lstStyle/>
          <a:p>
            <a:pPr marL="0" indent="0">
              <a:buNone/>
            </a:pPr>
            <a:r>
              <a:rPr lang="en-US" sz="3200" b="1" dirty="0">
                <a:solidFill>
                  <a:srgbClr val="171A21"/>
                </a:solidFill>
                <a:latin typeface="Cambria" pitchFamily="34" charset="0"/>
                <a:ea typeface="Cambria" pitchFamily="34" charset="-122"/>
                <a:cs typeface="Cambria" pitchFamily="34" charset="-120"/>
              </a:rPr>
              <a:t>Live demo: the working prototype</a:t>
            </a:r>
            <a:endParaRPr lang="en-US" sz="3200" dirty="0"/>
          </a:p>
        </p:txBody>
      </p:sp>
      <p:sp>
        <p:nvSpPr>
          <p:cNvPr id="3" name="Text 1"/>
          <p:cNvSpPr txBox="1"/>
          <p:nvPr/>
        </p:nvSpPr>
        <p:spPr>
          <a:xfrm>
            <a:off x="548640" y="1005840"/>
            <a:ext cx="11064240" cy="365760"/>
          </a:xfrm>
          <a:prstGeom prst="rect">
            <a:avLst/>
          </a:prstGeom>
          <a:noFill/>
          <a:ln/>
        </p:spPr>
        <p:txBody>
          <a:bodyPr wrap="square" lIns="0" tIns="0" rIns="0" bIns="0" rtlCol="0" anchor="ctr"/>
          <a:lstStyle/>
          <a:p>
            <a:pPr marL="0" indent="0">
              <a:buNone/>
            </a:pPr>
            <a:r>
              <a:rPr lang="en-US" sz="1600" dirty="0">
                <a:solidFill>
                  <a:srgbClr val="6B7280"/>
                </a:solidFill>
                <a:latin typeface="Calibri" pitchFamily="34" charset="0"/>
                <a:ea typeface="Calibri" pitchFamily="34" charset="-122"/>
                <a:cs typeface="Calibri" pitchFamily="34" charset="-120"/>
              </a:rPr>
              <a:t>What we built, how we built it, and why</a:t>
            </a:r>
            <a:endParaRPr lang="en-US" sz="1600" dirty="0"/>
          </a:p>
        </p:txBody>
      </p:sp>
      <p:sp>
        <p:nvSpPr>
          <p:cNvPr id="4" name="Shape 2"/>
          <p:cNvSpPr/>
          <p:nvPr/>
        </p:nvSpPr>
        <p:spPr>
          <a:xfrm>
            <a:off x="548640" y="1645920"/>
            <a:ext cx="7040880" cy="804672"/>
          </a:xfrm>
          <a:prstGeom prst="roundRect">
            <a:avLst>
              <a:gd name="adj" fmla="val 13636"/>
            </a:avLst>
          </a:prstGeom>
          <a:solidFill>
            <a:srgbClr val="FFFFFF"/>
          </a:solidFill>
          <a:ln w="12700">
            <a:solidFill>
              <a:srgbClr val="FFFFFF"/>
            </a:solidFill>
            <a:prstDash val="solid"/>
          </a:ln>
          <a:effectLst>
            <a:outerShdw blurRad="101600" dist="25400" dir="5400000" algn="bl" rotWithShape="0">
              <a:srgbClr val="000000">
                <a:alpha val="12000"/>
              </a:srgbClr>
            </a:outerShdw>
          </a:effectLst>
        </p:spPr>
      </p:sp>
      <p:sp>
        <p:nvSpPr>
          <p:cNvPr id="5" name="Text 3"/>
          <p:cNvSpPr txBox="1"/>
          <p:nvPr/>
        </p:nvSpPr>
        <p:spPr>
          <a:xfrm>
            <a:off x="731520" y="1801368"/>
            <a:ext cx="493776" cy="493776"/>
          </a:xfrm>
          <a:prstGeom prst="ellipse">
            <a:avLst/>
          </a:prstGeom>
          <a:solidFill>
            <a:srgbClr val="171A21"/>
          </a:solid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1</a:t>
            </a:r>
            <a:endParaRPr lang="en-US" sz="1600" dirty="0"/>
          </a:p>
        </p:txBody>
      </p:sp>
      <p:sp>
        <p:nvSpPr>
          <p:cNvPr id="6" name="Text 4"/>
          <p:cNvSpPr txBox="1"/>
          <p:nvPr/>
        </p:nvSpPr>
        <p:spPr>
          <a:xfrm>
            <a:off x="1463040" y="1645920"/>
            <a:ext cx="5989320" cy="804672"/>
          </a:xfrm>
          <a:prstGeom prst="rect">
            <a:avLst/>
          </a:prstGeom>
          <a:noFill/>
          <a:ln/>
        </p:spPr>
        <p:txBody>
          <a:bodyPr wrap="square" lIns="0" tIns="0" rIns="0" bIns="0" rtlCol="0" anchor="ctr"/>
          <a:lstStyle/>
          <a:p>
            <a:pPr marL="0" indent="0">
              <a:buNone/>
            </a:pPr>
            <a:r>
              <a:rPr lang="en-US" sz="1600" b="1" dirty="0">
                <a:solidFill>
                  <a:srgbClr val="171A21"/>
                </a:solidFill>
                <a:latin typeface="Calibri" pitchFamily="34" charset="0"/>
                <a:ea typeface="Calibri" pitchFamily="34" charset="-122"/>
                <a:cs typeface="Calibri" pitchFamily="34" charset="-120"/>
              </a:rPr>
              <a:t>Start the platform</a:t>
            </a:r>
            <a:endParaRPr lang="en-US" sz="1600" dirty="0"/>
          </a:p>
          <a:p>
            <a:pPr marL="0" indent="0">
              <a:buNone/>
            </a:pPr>
            <a:r>
              <a:rPr lang="en-US" sz="1300" dirty="0">
                <a:solidFill>
                  <a:srgbClr val="6B7280"/>
                </a:solidFill>
                <a:latin typeface="Calibri" pitchFamily="34" charset="0"/>
                <a:ea typeface="Calibri" pitchFamily="34" charset="-122"/>
                <a:cs typeface="Calibri" pitchFamily="34" charset="-120"/>
              </a:rPr>
              <a:t>Launch the FastAPI backend and open the dashboard or API docs</a:t>
            </a:r>
            <a:endParaRPr lang="en-US" sz="1600" dirty="0"/>
          </a:p>
        </p:txBody>
      </p:sp>
      <p:sp>
        <p:nvSpPr>
          <p:cNvPr id="7" name="Shape 5"/>
          <p:cNvSpPr/>
          <p:nvPr/>
        </p:nvSpPr>
        <p:spPr>
          <a:xfrm>
            <a:off x="548640" y="2560320"/>
            <a:ext cx="7040880" cy="804672"/>
          </a:xfrm>
          <a:prstGeom prst="roundRect">
            <a:avLst>
              <a:gd name="adj" fmla="val 13636"/>
            </a:avLst>
          </a:prstGeom>
          <a:solidFill>
            <a:srgbClr val="FFFFFF"/>
          </a:solidFill>
          <a:ln w="12700">
            <a:solidFill>
              <a:srgbClr val="FFFFFF"/>
            </a:solidFill>
            <a:prstDash val="solid"/>
          </a:ln>
          <a:effectLst>
            <a:outerShdw blurRad="101600" dist="25400" dir="5400000" algn="bl" rotWithShape="0">
              <a:srgbClr val="000000">
                <a:alpha val="12000"/>
              </a:srgbClr>
            </a:outerShdw>
          </a:effectLst>
        </p:spPr>
      </p:sp>
      <p:sp>
        <p:nvSpPr>
          <p:cNvPr id="8" name="Text 6"/>
          <p:cNvSpPr txBox="1"/>
          <p:nvPr/>
        </p:nvSpPr>
        <p:spPr>
          <a:xfrm>
            <a:off x="731520" y="2715768"/>
            <a:ext cx="493776" cy="493776"/>
          </a:xfrm>
          <a:prstGeom prst="ellipse">
            <a:avLst/>
          </a:prstGeom>
          <a:solidFill>
            <a:srgbClr val="171A21"/>
          </a:solid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2</a:t>
            </a:r>
            <a:endParaRPr lang="en-US" sz="1600" dirty="0"/>
          </a:p>
        </p:txBody>
      </p:sp>
      <p:sp>
        <p:nvSpPr>
          <p:cNvPr id="9" name="Text 7"/>
          <p:cNvSpPr txBox="1"/>
          <p:nvPr/>
        </p:nvSpPr>
        <p:spPr>
          <a:xfrm>
            <a:off x="1463040" y="2560320"/>
            <a:ext cx="5989320" cy="804672"/>
          </a:xfrm>
          <a:prstGeom prst="rect">
            <a:avLst/>
          </a:prstGeom>
          <a:noFill/>
          <a:ln/>
        </p:spPr>
        <p:txBody>
          <a:bodyPr wrap="square" lIns="0" tIns="0" rIns="0" bIns="0" rtlCol="0" anchor="ctr"/>
          <a:lstStyle/>
          <a:p>
            <a:pPr marL="0" indent="0">
              <a:buNone/>
            </a:pPr>
            <a:r>
              <a:rPr lang="en-US" sz="1600" b="1" dirty="0">
                <a:solidFill>
                  <a:srgbClr val="171A21"/>
                </a:solidFill>
                <a:latin typeface="Calibri" pitchFamily="34" charset="0"/>
                <a:ea typeface="Calibri" pitchFamily="34" charset="-122"/>
                <a:cs typeface="Calibri" pitchFamily="34" charset="-120"/>
              </a:rPr>
              <a:t>Index the repository</a:t>
            </a:r>
            <a:endParaRPr lang="en-US" sz="1600" dirty="0"/>
          </a:p>
          <a:p>
            <a:pPr marL="0" indent="0">
              <a:buNone/>
            </a:pPr>
            <a:r>
              <a:rPr lang="en-US" sz="1300" dirty="0">
                <a:solidFill>
                  <a:srgbClr val="6B7280"/>
                </a:solidFill>
                <a:latin typeface="Calibri" pitchFamily="34" charset="0"/>
                <a:ea typeface="Calibri" pitchFamily="34" charset="-122"/>
                <a:cs typeface="Calibri" pitchFamily="34" charset="-120"/>
              </a:rPr>
              <a:t>POST /ingest: code chunks are embedded and stored in Qdrant</a:t>
            </a:r>
            <a:endParaRPr lang="en-US" sz="1600" dirty="0"/>
          </a:p>
        </p:txBody>
      </p:sp>
      <p:sp>
        <p:nvSpPr>
          <p:cNvPr id="10" name="Shape 8"/>
          <p:cNvSpPr/>
          <p:nvPr/>
        </p:nvSpPr>
        <p:spPr>
          <a:xfrm>
            <a:off x="548640" y="3474720"/>
            <a:ext cx="7040880" cy="804672"/>
          </a:xfrm>
          <a:prstGeom prst="roundRect">
            <a:avLst>
              <a:gd name="adj" fmla="val 13636"/>
            </a:avLst>
          </a:prstGeom>
          <a:solidFill>
            <a:srgbClr val="FFFFFF"/>
          </a:solidFill>
          <a:ln w="12700">
            <a:solidFill>
              <a:srgbClr val="FFFFFF"/>
            </a:solidFill>
            <a:prstDash val="solid"/>
          </a:ln>
          <a:effectLst>
            <a:outerShdw blurRad="101600" dist="25400" dir="5400000" algn="bl" rotWithShape="0">
              <a:srgbClr val="000000">
                <a:alpha val="12000"/>
              </a:srgbClr>
            </a:outerShdw>
          </a:effectLst>
        </p:spPr>
      </p:sp>
      <p:sp>
        <p:nvSpPr>
          <p:cNvPr id="11" name="Text 9"/>
          <p:cNvSpPr txBox="1"/>
          <p:nvPr/>
        </p:nvSpPr>
        <p:spPr>
          <a:xfrm>
            <a:off x="731520" y="3630168"/>
            <a:ext cx="493776" cy="493776"/>
          </a:xfrm>
          <a:prstGeom prst="ellipse">
            <a:avLst/>
          </a:prstGeom>
          <a:solidFill>
            <a:srgbClr val="171A21"/>
          </a:solid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3</a:t>
            </a:r>
            <a:endParaRPr lang="en-US" sz="1600" dirty="0"/>
          </a:p>
        </p:txBody>
      </p:sp>
      <p:sp>
        <p:nvSpPr>
          <p:cNvPr id="12" name="Text 10"/>
          <p:cNvSpPr txBox="1"/>
          <p:nvPr/>
        </p:nvSpPr>
        <p:spPr>
          <a:xfrm>
            <a:off x="1463040" y="3474720"/>
            <a:ext cx="5989320" cy="804672"/>
          </a:xfrm>
          <a:prstGeom prst="rect">
            <a:avLst/>
          </a:prstGeom>
          <a:noFill/>
          <a:ln/>
        </p:spPr>
        <p:txBody>
          <a:bodyPr wrap="square" lIns="0" tIns="0" rIns="0" bIns="0" rtlCol="0" anchor="ctr"/>
          <a:lstStyle/>
          <a:p>
            <a:pPr marL="0" indent="0">
              <a:buNone/>
            </a:pPr>
            <a:r>
              <a:rPr lang="en-US" sz="1600" b="1" dirty="0">
                <a:solidFill>
                  <a:srgbClr val="171A21"/>
                </a:solidFill>
                <a:latin typeface="Calibri" pitchFamily="34" charset="0"/>
                <a:ea typeface="Calibri" pitchFamily="34" charset="-122"/>
                <a:cs typeface="Calibri" pitchFamily="34" charset="-120"/>
              </a:rPr>
              <a:t>Search for evidence</a:t>
            </a:r>
            <a:endParaRPr lang="en-US" sz="1600" dirty="0"/>
          </a:p>
          <a:p>
            <a:pPr marL="0" indent="0">
              <a:buNone/>
            </a:pPr>
            <a:r>
              <a:rPr lang="en-US" sz="1300" dirty="0">
                <a:solidFill>
                  <a:srgbClr val="6B7280"/>
                </a:solidFill>
                <a:latin typeface="Calibri" pitchFamily="34" charset="0"/>
                <a:ea typeface="Calibri" pitchFamily="34" charset="-122"/>
                <a:cs typeface="Calibri" pitchFamily="34" charset="-120"/>
              </a:rPr>
              <a:t>Show the similarity-scored chunks the system retrieves</a:t>
            </a:r>
            <a:endParaRPr lang="en-US" sz="1600" dirty="0"/>
          </a:p>
        </p:txBody>
      </p:sp>
      <p:sp>
        <p:nvSpPr>
          <p:cNvPr id="13" name="Shape 11"/>
          <p:cNvSpPr/>
          <p:nvPr/>
        </p:nvSpPr>
        <p:spPr>
          <a:xfrm>
            <a:off x="548640" y="4389120"/>
            <a:ext cx="7040880" cy="804672"/>
          </a:xfrm>
          <a:prstGeom prst="roundRect">
            <a:avLst>
              <a:gd name="adj" fmla="val 13636"/>
            </a:avLst>
          </a:prstGeom>
          <a:solidFill>
            <a:srgbClr val="FFFFFF"/>
          </a:solidFill>
          <a:ln w="12700">
            <a:solidFill>
              <a:srgbClr val="FFFFFF"/>
            </a:solidFill>
            <a:prstDash val="solid"/>
          </a:ln>
          <a:effectLst>
            <a:outerShdw blurRad="101600" dist="25400" dir="5400000" algn="bl" rotWithShape="0">
              <a:srgbClr val="000000">
                <a:alpha val="12000"/>
              </a:srgbClr>
            </a:outerShdw>
          </a:effectLst>
        </p:spPr>
      </p:sp>
      <p:sp>
        <p:nvSpPr>
          <p:cNvPr id="14" name="Text 12"/>
          <p:cNvSpPr txBox="1"/>
          <p:nvPr/>
        </p:nvSpPr>
        <p:spPr>
          <a:xfrm>
            <a:off x="731520" y="4544568"/>
            <a:ext cx="493776" cy="493776"/>
          </a:xfrm>
          <a:prstGeom prst="ellipse">
            <a:avLst/>
          </a:prstGeom>
          <a:solidFill>
            <a:srgbClr val="171A21"/>
          </a:solid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4</a:t>
            </a:r>
            <a:endParaRPr lang="en-US" sz="1600" dirty="0"/>
          </a:p>
        </p:txBody>
      </p:sp>
      <p:sp>
        <p:nvSpPr>
          <p:cNvPr id="15" name="Text 13"/>
          <p:cNvSpPr txBox="1"/>
          <p:nvPr/>
        </p:nvSpPr>
        <p:spPr>
          <a:xfrm>
            <a:off x="1463040" y="4389120"/>
            <a:ext cx="5989320" cy="804672"/>
          </a:xfrm>
          <a:prstGeom prst="rect">
            <a:avLst/>
          </a:prstGeom>
          <a:noFill/>
          <a:ln/>
        </p:spPr>
        <p:txBody>
          <a:bodyPr wrap="square" lIns="0" tIns="0" rIns="0" bIns="0" rtlCol="0" anchor="ctr"/>
          <a:lstStyle/>
          <a:p>
            <a:pPr marL="0" indent="0">
              <a:buNone/>
            </a:pPr>
            <a:r>
              <a:rPr lang="en-US" sz="1600" b="1" dirty="0">
                <a:solidFill>
                  <a:srgbClr val="171A21"/>
                </a:solidFill>
                <a:latin typeface="Calibri" pitchFamily="34" charset="0"/>
                <a:ea typeface="Calibri" pitchFamily="34" charset="-122"/>
                <a:cs typeface="Calibri" pitchFamily="34" charset="-120"/>
              </a:rPr>
              <a:t>Send a safe request</a:t>
            </a:r>
            <a:endParaRPr lang="en-US" sz="1600" dirty="0"/>
          </a:p>
          <a:p>
            <a:pPr marL="0" indent="0">
              <a:buNone/>
            </a:pPr>
            <a:r>
              <a:rPr lang="en-US" sz="1300" dirty="0">
                <a:solidFill>
                  <a:srgbClr val="6B7280"/>
                </a:solidFill>
                <a:latin typeface="Calibri" pitchFamily="34" charset="0"/>
                <a:ea typeface="Calibri" pitchFamily="34" charset="-122"/>
                <a:cs typeface="Calibri" pitchFamily="34" charset="-120"/>
              </a:rPr>
              <a:t>Verdict SAFE, then generation, validation and the workflow trace</a:t>
            </a:r>
            <a:endParaRPr lang="en-US" sz="1600" dirty="0"/>
          </a:p>
        </p:txBody>
      </p:sp>
      <p:sp>
        <p:nvSpPr>
          <p:cNvPr id="16" name="Shape 14"/>
          <p:cNvSpPr/>
          <p:nvPr/>
        </p:nvSpPr>
        <p:spPr>
          <a:xfrm>
            <a:off x="548640" y="5303520"/>
            <a:ext cx="7040880" cy="804672"/>
          </a:xfrm>
          <a:prstGeom prst="roundRect">
            <a:avLst>
              <a:gd name="adj" fmla="val 13636"/>
            </a:avLst>
          </a:prstGeom>
          <a:solidFill>
            <a:srgbClr val="FFFFFF"/>
          </a:solidFill>
          <a:ln w="12700">
            <a:solidFill>
              <a:srgbClr val="FFFFFF"/>
            </a:solidFill>
            <a:prstDash val="solid"/>
          </a:ln>
          <a:effectLst>
            <a:outerShdw blurRad="101600" dist="25400" dir="5400000" algn="bl" rotWithShape="0">
              <a:srgbClr val="000000">
                <a:alpha val="12000"/>
              </a:srgbClr>
            </a:outerShdw>
          </a:effectLst>
        </p:spPr>
      </p:sp>
      <p:sp>
        <p:nvSpPr>
          <p:cNvPr id="17" name="Text 15"/>
          <p:cNvSpPr txBox="1"/>
          <p:nvPr/>
        </p:nvSpPr>
        <p:spPr>
          <a:xfrm>
            <a:off x="731520" y="5458968"/>
            <a:ext cx="493776" cy="493776"/>
          </a:xfrm>
          <a:prstGeom prst="ellipse">
            <a:avLst/>
          </a:prstGeom>
          <a:solidFill>
            <a:srgbClr val="C8372D"/>
          </a:solid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5</a:t>
            </a:r>
            <a:endParaRPr lang="en-US" sz="1600" dirty="0"/>
          </a:p>
        </p:txBody>
      </p:sp>
      <p:sp>
        <p:nvSpPr>
          <p:cNvPr id="18" name="Text 16"/>
          <p:cNvSpPr txBox="1"/>
          <p:nvPr/>
        </p:nvSpPr>
        <p:spPr>
          <a:xfrm>
            <a:off x="1463040" y="5303520"/>
            <a:ext cx="5989320" cy="804672"/>
          </a:xfrm>
          <a:prstGeom prst="rect">
            <a:avLst/>
          </a:prstGeom>
          <a:noFill/>
          <a:ln/>
        </p:spPr>
        <p:txBody>
          <a:bodyPr wrap="square" lIns="0" tIns="0" rIns="0" bIns="0" rtlCol="0" anchor="ctr"/>
          <a:lstStyle/>
          <a:p>
            <a:pPr marL="0" indent="0">
              <a:buNone/>
            </a:pPr>
            <a:r>
              <a:rPr lang="en-US" sz="1600" b="1" dirty="0">
                <a:solidFill>
                  <a:srgbClr val="171A21"/>
                </a:solidFill>
                <a:latin typeface="Calibri" pitchFamily="34" charset="0"/>
                <a:ea typeface="Calibri" pitchFamily="34" charset="-122"/>
                <a:cs typeface="Calibri" pitchFamily="34" charset="-120"/>
              </a:rPr>
              <a:t>Send an unsafe request</a:t>
            </a:r>
            <a:endParaRPr lang="en-US" sz="1600" dirty="0"/>
          </a:p>
          <a:p>
            <a:pPr marL="0" indent="0">
              <a:buNone/>
            </a:pPr>
            <a:r>
              <a:rPr lang="en-US" sz="1300" dirty="0">
                <a:solidFill>
                  <a:srgbClr val="6B7280"/>
                </a:solidFill>
                <a:latin typeface="Calibri" pitchFamily="34" charset="0"/>
                <a:ea typeface="Calibri" pitchFamily="34" charset="-122"/>
                <a:cs typeface="Calibri" pitchFamily="34" charset="-120"/>
              </a:rPr>
              <a:t>'Delete records for Aadhaar…' gives BLOCKED; downstream stages skipped</a:t>
            </a:r>
            <a:endParaRPr lang="en-US" sz="1600" dirty="0"/>
          </a:p>
        </p:txBody>
      </p:sp>
      <p:sp>
        <p:nvSpPr>
          <p:cNvPr id="19" name="Shape 17"/>
          <p:cNvSpPr/>
          <p:nvPr/>
        </p:nvSpPr>
        <p:spPr>
          <a:xfrm>
            <a:off x="7955280" y="1645920"/>
            <a:ext cx="3657600" cy="4389120"/>
          </a:xfrm>
          <a:prstGeom prst="roundRect">
            <a:avLst>
              <a:gd name="adj" fmla="val 3000"/>
            </a:avLst>
          </a:prstGeom>
          <a:solidFill>
            <a:srgbClr val="171A21"/>
          </a:solidFill>
          <a:ln w="12700">
            <a:solidFill>
              <a:srgbClr val="171A21"/>
            </a:solidFill>
            <a:prstDash val="solid"/>
          </a:ln>
          <a:effectLst>
            <a:outerShdw blurRad="101600" dist="25400" dir="5400000" algn="bl" rotWithShape="0">
              <a:srgbClr val="000000">
                <a:alpha val="12000"/>
              </a:srgbClr>
            </a:outerShdw>
          </a:effectLst>
        </p:spPr>
      </p:sp>
      <p:sp>
        <p:nvSpPr>
          <p:cNvPr id="20" name="Text 18"/>
          <p:cNvSpPr txBox="1"/>
          <p:nvPr/>
        </p:nvSpPr>
        <p:spPr>
          <a:xfrm>
            <a:off x="8229600" y="1874520"/>
            <a:ext cx="3108960" cy="4023360"/>
          </a:xfrm>
          <a:prstGeom prst="rect">
            <a:avLst/>
          </a:prstGeom>
          <a:noFill/>
          <a:ln/>
        </p:spPr>
        <p:txBody>
          <a:bodyPr wrap="square" lIns="0" tIns="0" rIns="0" bIns="0" rtlCol="0" anchor="t"/>
          <a:lstStyle/>
          <a:p>
            <a:pPr marL="0" indent="0">
              <a:spcAft>
                <a:spcPts val="1400"/>
              </a:spcAft>
              <a:buNone/>
            </a:pPr>
            <a:r>
              <a:rPr lang="en-US" sz="1800" b="1" dirty="0">
                <a:solidFill>
                  <a:srgbClr val="F5A524"/>
                </a:solidFill>
                <a:latin typeface="Calibri" pitchFamily="34" charset="0"/>
                <a:ea typeface="Calibri" pitchFamily="34" charset="-122"/>
                <a:cs typeface="Calibri" pitchFamily="34" charset="-120"/>
              </a:rPr>
              <a:t>What this proves</a:t>
            </a:r>
            <a:endParaRPr lang="en-US" sz="1800" dirty="0"/>
          </a:p>
          <a:p>
            <a:pPr marL="0" indent="0">
              <a:buNone/>
            </a:pPr>
            <a:r>
              <a:rPr lang="en-US" sz="1600" b="1" dirty="0">
                <a:solidFill>
                  <a:srgbClr val="FFFFFF"/>
                </a:solidFill>
                <a:latin typeface="Calibri" pitchFamily="34" charset="0"/>
                <a:ea typeface="Calibri" pitchFamily="34" charset="-122"/>
                <a:cs typeface="Calibri" pitchFamily="34" charset="-120"/>
              </a:rPr>
              <a:t>Grounded</a:t>
            </a:r>
            <a:endParaRPr lang="en-US" sz="1800" dirty="0"/>
          </a:p>
          <a:p>
            <a:pPr marL="0" indent="0">
              <a:spcAft>
                <a:spcPts val="1200"/>
              </a:spcAft>
              <a:buNone/>
            </a:pPr>
            <a:r>
              <a:rPr lang="en-US" sz="1300" dirty="0">
                <a:solidFill>
                  <a:srgbClr val="D5D9E0"/>
                </a:solidFill>
                <a:latin typeface="Calibri" pitchFamily="34" charset="0"/>
                <a:ea typeface="Calibri" pitchFamily="34" charset="-122"/>
                <a:cs typeface="Calibri" pitchFamily="34" charset="-120"/>
              </a:rPr>
              <a:t>Answers come from real repository evidence.</a:t>
            </a:r>
            <a:endParaRPr lang="en-US" sz="1800" dirty="0"/>
          </a:p>
          <a:p>
            <a:pPr marL="0" indent="0">
              <a:buNone/>
            </a:pPr>
            <a:r>
              <a:rPr lang="en-US" sz="1600" b="1" dirty="0">
                <a:solidFill>
                  <a:srgbClr val="FFFFFF"/>
                </a:solidFill>
                <a:latin typeface="Calibri" pitchFamily="34" charset="0"/>
                <a:ea typeface="Calibri" pitchFamily="34" charset="-122"/>
                <a:cs typeface="Calibri" pitchFamily="34" charset="-120"/>
              </a:rPr>
              <a:t>Secure by default</a:t>
            </a:r>
            <a:endParaRPr lang="en-US" sz="1800" dirty="0"/>
          </a:p>
          <a:p>
            <a:pPr marL="0" indent="0">
              <a:spcAft>
                <a:spcPts val="1200"/>
              </a:spcAft>
              <a:buNone/>
            </a:pPr>
            <a:r>
              <a:rPr lang="en-US" sz="1300" dirty="0">
                <a:solidFill>
                  <a:srgbClr val="D5D9E0"/>
                </a:solidFill>
                <a:latin typeface="Calibri" pitchFamily="34" charset="0"/>
                <a:ea typeface="Calibri" pitchFamily="34" charset="-122"/>
                <a:cs typeface="Calibri" pitchFamily="34" charset="-120"/>
              </a:rPr>
              <a:t>Sensitive input is stopped before it reaches the LLM.</a:t>
            </a:r>
            <a:endParaRPr lang="en-US" sz="1800" dirty="0"/>
          </a:p>
          <a:p>
            <a:pPr marL="0" indent="0">
              <a:buNone/>
            </a:pPr>
            <a:r>
              <a:rPr lang="en-US" sz="1600" b="1" dirty="0">
                <a:solidFill>
                  <a:srgbClr val="FFFFFF"/>
                </a:solidFill>
                <a:latin typeface="Calibri" pitchFamily="34" charset="0"/>
                <a:ea typeface="Calibri" pitchFamily="34" charset="-122"/>
                <a:cs typeface="Calibri" pitchFamily="34" charset="-120"/>
              </a:rPr>
              <a:t>Transparent</a:t>
            </a:r>
            <a:endParaRPr lang="en-US" sz="1800" dirty="0"/>
          </a:p>
          <a:p>
            <a:pPr marL="0" indent="0">
              <a:buNone/>
            </a:pPr>
            <a:r>
              <a:rPr lang="en-US" sz="1300" dirty="0">
                <a:solidFill>
                  <a:srgbClr val="D5D9E0"/>
                </a:solidFill>
                <a:latin typeface="Calibri" pitchFamily="34" charset="0"/>
                <a:ea typeface="Calibri" pitchFamily="34" charset="-122"/>
                <a:cs typeface="Calibri" pitchFamily="34" charset="-120"/>
              </a:rPr>
              <a:t>Every stage's decision is visible in the trace.</a:t>
            </a:r>
            <a:endParaRPr lang="en-US" sz="1800" dirty="0"/>
          </a:p>
        </p:txBody>
      </p:sp>
      <p:sp>
        <p:nvSpPr>
          <p:cNvPr id="21" name="Text 19"/>
          <p:cNvSpPr txBox="1"/>
          <p:nvPr/>
        </p:nvSpPr>
        <p:spPr>
          <a:xfrm>
            <a:off x="548640" y="6446520"/>
            <a:ext cx="5486400" cy="274320"/>
          </a:xfrm>
          <a:prstGeom prst="rect">
            <a:avLst/>
          </a:prstGeom>
          <a:noFill/>
          <a:ln/>
        </p:spPr>
        <p:txBody>
          <a:bodyPr wrap="square" lIns="0" tIns="0" rIns="0" bIns="0" rtlCol="0" anchor="ctr"/>
          <a:lstStyle/>
          <a:p>
            <a:pPr marL="0" indent="0">
              <a:buNone/>
            </a:pPr>
            <a:r>
              <a:rPr lang="en-US" sz="1000" dirty="0">
                <a:solidFill>
                  <a:srgbClr val="6B7280"/>
                </a:solidFill>
                <a:latin typeface="Calibri" pitchFamily="34" charset="0"/>
                <a:ea typeface="Calibri" pitchFamily="34" charset="-122"/>
                <a:cs typeface="Calibri" pitchFamily="34" charset="-120"/>
              </a:rPr>
              <a:t>KAVACH  |  Project Review</a:t>
            </a:r>
            <a:endParaRPr lang="en-US" sz="1000" dirty="0"/>
          </a:p>
        </p:txBody>
      </p:sp>
      <p:sp>
        <p:nvSpPr>
          <p:cNvPr id="25" name="Slide Number Placeholder 0"/>
          <p:cNvSpPr>
            <a:spLocks noGrp="1"/>
          </p:cNvSpPr>
          <p:nvPr>
            <p:ph type="sldNum" sz="quarter" idx="4294967295"/>
          </p:nvPr>
        </p:nvSpPr>
        <p:spPr>
          <a:xfrm>
            <a:off x="11064240" y="644652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6B7280"/>
                </a:solidFill>
                <a:latin typeface="Calibri"/>
                <a:ea typeface="Calibri"/>
                <a:cs typeface="Calibri"/>
              </a:defRPr>
            </a:lvl1pPr>
          </a:lstStyle>
          <a:p>
            <a:pPr algn="r"/>
            <a:fld id="{F7021451-1387-4CA6-816F-3879F97B5CBC}" type="slidenum">
              <a:rPr lang="en-US" b="0"/>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3F4F6"/>
        </a:solidFill>
        <a:effectLst/>
      </p:bgPr>
    </p:bg>
    <p:spTree>
      <p:nvGrpSpPr>
        <p:cNvPr id="1" name=""/>
        <p:cNvGrpSpPr/>
        <p:nvPr/>
      </p:nvGrpSpPr>
      <p:grpSpPr>
        <a:xfrm>
          <a:off x="0" y="0"/>
          <a:ext cx="0" cy="0"/>
          <a:chOff x="0" y="0"/>
          <a:chExt cx="0" cy="0"/>
        </a:xfrm>
      </p:grpSpPr>
      <p:sp>
        <p:nvSpPr>
          <p:cNvPr id="2" name="Text 0"/>
          <p:cNvSpPr txBox="1"/>
          <p:nvPr/>
        </p:nvSpPr>
        <p:spPr>
          <a:xfrm>
            <a:off x="548640" y="320040"/>
            <a:ext cx="11064240" cy="731520"/>
          </a:xfrm>
          <a:prstGeom prst="rect">
            <a:avLst/>
          </a:prstGeom>
          <a:noFill/>
          <a:ln/>
        </p:spPr>
        <p:txBody>
          <a:bodyPr wrap="square" lIns="0" tIns="0" rIns="0" bIns="0" rtlCol="0" anchor="ctr"/>
          <a:lstStyle/>
          <a:p>
            <a:pPr marL="0" indent="0">
              <a:buNone/>
            </a:pPr>
            <a:r>
              <a:rPr lang="en-US" sz="3200" b="1" dirty="0">
                <a:solidFill>
                  <a:srgbClr val="171A21"/>
                </a:solidFill>
                <a:latin typeface="Cambria" pitchFamily="34" charset="0"/>
                <a:ea typeface="Cambria" pitchFamily="34" charset="-122"/>
                <a:cs typeface="Cambria" pitchFamily="34" charset="-120"/>
              </a:rPr>
              <a:t>Where we are, and why</a:t>
            </a:r>
            <a:endParaRPr lang="en-US" sz="3200" dirty="0"/>
          </a:p>
        </p:txBody>
      </p:sp>
      <p:sp>
        <p:nvSpPr>
          <p:cNvPr id="3" name="Text 1"/>
          <p:cNvSpPr txBox="1"/>
          <p:nvPr/>
        </p:nvSpPr>
        <p:spPr>
          <a:xfrm>
            <a:off x="548640" y="1005840"/>
            <a:ext cx="11064240" cy="365760"/>
          </a:xfrm>
          <a:prstGeom prst="rect">
            <a:avLst/>
          </a:prstGeom>
          <a:noFill/>
          <a:ln/>
        </p:spPr>
        <p:txBody>
          <a:bodyPr wrap="square" lIns="0" tIns="0" rIns="0" bIns="0" rtlCol="0" anchor="ctr"/>
          <a:lstStyle/>
          <a:p>
            <a:pPr marL="0" indent="0">
              <a:buNone/>
            </a:pPr>
            <a:r>
              <a:rPr lang="en-US" sz="1600" dirty="0">
                <a:solidFill>
                  <a:srgbClr val="6B7280"/>
                </a:solidFill>
                <a:latin typeface="Calibri" pitchFamily="34" charset="0"/>
                <a:ea typeface="Calibri" pitchFamily="34" charset="-122"/>
                <a:cs typeface="Calibri" pitchFamily="34" charset="-120"/>
              </a:rPr>
              <a:t>Depth over speed: a niche problem deserves careful groundwork</a:t>
            </a:r>
            <a:endParaRPr lang="en-US" sz="1600" dirty="0"/>
          </a:p>
        </p:txBody>
      </p:sp>
      <p:sp>
        <p:nvSpPr>
          <p:cNvPr id="4" name="Text 2"/>
          <p:cNvSpPr txBox="1"/>
          <p:nvPr/>
        </p:nvSpPr>
        <p:spPr>
          <a:xfrm>
            <a:off x="822960" y="1783080"/>
            <a:ext cx="640080" cy="640080"/>
          </a:xfrm>
          <a:prstGeom prst="ellipse">
            <a:avLst/>
          </a:prstGeom>
          <a:solidFill>
            <a:srgbClr val="171A21"/>
          </a:solidFill>
          <a:ln w="19050">
            <a:solidFill>
              <a:srgbClr val="171A21"/>
            </a:solidFill>
          </a:ln>
        </p:spPr>
        <p:txBody>
          <a:bodyPr wrap="square" lIns="0" tIns="0" rIns="0" bIns="0" rtlCol="0" anchor="ctr"/>
          <a:lstStyle/>
          <a:p>
            <a:pPr marL="0" indent="0" algn="ctr">
              <a:buNone/>
            </a:pPr>
            <a:r>
              <a:rPr lang="en-US" sz="1600" b="1" dirty="0">
                <a:solidFill>
                  <a:srgbClr val="F5A524"/>
                </a:solidFill>
                <a:latin typeface="Calibri" pitchFamily="34" charset="0"/>
                <a:ea typeface="Calibri" pitchFamily="34" charset="-122"/>
                <a:cs typeface="Calibri" pitchFamily="34" charset="-120"/>
              </a:rPr>
              <a:t>1</a:t>
            </a:r>
            <a:endParaRPr lang="en-US" sz="1600" dirty="0"/>
          </a:p>
        </p:txBody>
      </p:sp>
      <p:sp>
        <p:nvSpPr>
          <p:cNvPr id="5" name="Shape 3"/>
          <p:cNvSpPr/>
          <p:nvPr/>
        </p:nvSpPr>
        <p:spPr>
          <a:xfrm>
            <a:off x="1490472" y="2103120"/>
            <a:ext cx="585216" cy="0"/>
          </a:xfrm>
          <a:prstGeom prst="line">
            <a:avLst/>
          </a:prstGeom>
          <a:noFill/>
          <a:ln w="25400">
            <a:solidFill>
              <a:srgbClr val="171A21"/>
            </a:solidFill>
            <a:prstDash val="solid"/>
          </a:ln>
        </p:spPr>
      </p:sp>
      <p:sp>
        <p:nvSpPr>
          <p:cNvPr id="6" name="Text 4"/>
          <p:cNvSpPr txBox="1"/>
          <p:nvPr/>
        </p:nvSpPr>
        <p:spPr>
          <a:xfrm>
            <a:off x="2103120" y="1783080"/>
            <a:ext cx="640080" cy="640080"/>
          </a:xfrm>
          <a:prstGeom prst="ellipse">
            <a:avLst/>
          </a:prstGeom>
          <a:solidFill>
            <a:srgbClr val="171A21"/>
          </a:solidFill>
          <a:ln w="19050">
            <a:solidFill>
              <a:srgbClr val="171A21"/>
            </a:solidFill>
          </a:ln>
        </p:spPr>
        <p:txBody>
          <a:bodyPr wrap="square" lIns="0" tIns="0" rIns="0" bIns="0" rtlCol="0" anchor="ctr"/>
          <a:lstStyle/>
          <a:p>
            <a:pPr marL="0" indent="0" algn="ctr">
              <a:buNone/>
            </a:pPr>
            <a:r>
              <a:rPr lang="en-US" sz="1600" b="1" dirty="0">
                <a:solidFill>
                  <a:srgbClr val="F5A524"/>
                </a:solidFill>
                <a:latin typeface="Calibri" pitchFamily="34" charset="0"/>
                <a:ea typeface="Calibri" pitchFamily="34" charset="-122"/>
                <a:cs typeface="Calibri" pitchFamily="34" charset="-120"/>
              </a:rPr>
              <a:t>2</a:t>
            </a:r>
            <a:endParaRPr lang="en-US" sz="1600" dirty="0"/>
          </a:p>
        </p:txBody>
      </p:sp>
      <p:sp>
        <p:nvSpPr>
          <p:cNvPr id="7" name="Shape 5"/>
          <p:cNvSpPr/>
          <p:nvPr/>
        </p:nvSpPr>
        <p:spPr>
          <a:xfrm>
            <a:off x="2770632" y="2103120"/>
            <a:ext cx="585216" cy="0"/>
          </a:xfrm>
          <a:prstGeom prst="line">
            <a:avLst/>
          </a:prstGeom>
          <a:noFill/>
          <a:ln w="25400">
            <a:solidFill>
              <a:srgbClr val="171A21"/>
            </a:solidFill>
            <a:prstDash val="solid"/>
          </a:ln>
        </p:spPr>
      </p:sp>
      <p:sp>
        <p:nvSpPr>
          <p:cNvPr id="8" name="Text 6"/>
          <p:cNvSpPr txBox="1"/>
          <p:nvPr/>
        </p:nvSpPr>
        <p:spPr>
          <a:xfrm>
            <a:off x="3383280" y="1783080"/>
            <a:ext cx="640080" cy="640080"/>
          </a:xfrm>
          <a:prstGeom prst="ellipse">
            <a:avLst/>
          </a:prstGeom>
          <a:solidFill>
            <a:srgbClr val="171A21"/>
          </a:solidFill>
          <a:ln w="19050">
            <a:solidFill>
              <a:srgbClr val="171A21"/>
            </a:solidFill>
          </a:ln>
        </p:spPr>
        <p:txBody>
          <a:bodyPr wrap="square" lIns="0" tIns="0" rIns="0" bIns="0" rtlCol="0" anchor="ctr"/>
          <a:lstStyle/>
          <a:p>
            <a:pPr marL="0" indent="0" algn="ctr">
              <a:buNone/>
            </a:pPr>
            <a:r>
              <a:rPr lang="en-US" sz="1600" b="1" dirty="0">
                <a:solidFill>
                  <a:srgbClr val="F5A524"/>
                </a:solidFill>
                <a:latin typeface="Calibri" pitchFamily="34" charset="0"/>
                <a:ea typeface="Calibri" pitchFamily="34" charset="-122"/>
                <a:cs typeface="Calibri" pitchFamily="34" charset="-120"/>
              </a:rPr>
              <a:t>3</a:t>
            </a:r>
            <a:endParaRPr lang="en-US" sz="1600" dirty="0"/>
          </a:p>
        </p:txBody>
      </p:sp>
      <p:sp>
        <p:nvSpPr>
          <p:cNvPr id="9" name="Shape 7"/>
          <p:cNvSpPr/>
          <p:nvPr/>
        </p:nvSpPr>
        <p:spPr>
          <a:xfrm>
            <a:off x="4050792" y="2103120"/>
            <a:ext cx="585216" cy="0"/>
          </a:xfrm>
          <a:prstGeom prst="line">
            <a:avLst/>
          </a:prstGeom>
          <a:noFill/>
          <a:ln w="25400">
            <a:solidFill>
              <a:srgbClr val="6B7280"/>
            </a:solidFill>
            <a:prstDash val="dash"/>
          </a:ln>
        </p:spPr>
      </p:sp>
      <p:sp>
        <p:nvSpPr>
          <p:cNvPr id="10" name="Text 8"/>
          <p:cNvSpPr txBox="1"/>
          <p:nvPr/>
        </p:nvSpPr>
        <p:spPr>
          <a:xfrm>
            <a:off x="4663440" y="1783080"/>
            <a:ext cx="640080" cy="640080"/>
          </a:xfrm>
          <a:prstGeom prst="ellipse">
            <a:avLst/>
          </a:prstGeom>
          <a:solidFill>
            <a:srgbClr val="FFFFFF"/>
          </a:solidFill>
          <a:ln w="19050">
            <a:solidFill>
              <a:srgbClr val="6B7280"/>
            </a:solidFill>
          </a:ln>
        </p:spPr>
        <p:txBody>
          <a:bodyPr wrap="square" lIns="0" tIns="0" rIns="0" bIns="0" rtlCol="0" anchor="ctr"/>
          <a:lstStyle/>
          <a:p>
            <a:pPr marL="0" indent="0" algn="ctr">
              <a:buNone/>
            </a:pPr>
            <a:r>
              <a:rPr lang="en-US" sz="1600" b="1" dirty="0">
                <a:solidFill>
                  <a:srgbClr val="6B7280"/>
                </a:solidFill>
                <a:latin typeface="Calibri" pitchFamily="34" charset="0"/>
                <a:ea typeface="Calibri" pitchFamily="34" charset="-122"/>
                <a:cs typeface="Calibri" pitchFamily="34" charset="-120"/>
              </a:rPr>
              <a:t>4</a:t>
            </a:r>
            <a:endParaRPr lang="en-US" sz="1600" dirty="0"/>
          </a:p>
        </p:txBody>
      </p:sp>
      <p:sp>
        <p:nvSpPr>
          <p:cNvPr id="11" name="Shape 9"/>
          <p:cNvSpPr/>
          <p:nvPr/>
        </p:nvSpPr>
        <p:spPr>
          <a:xfrm>
            <a:off x="5330952" y="2103120"/>
            <a:ext cx="585216" cy="0"/>
          </a:xfrm>
          <a:prstGeom prst="line">
            <a:avLst/>
          </a:prstGeom>
          <a:noFill/>
          <a:ln w="25400">
            <a:solidFill>
              <a:srgbClr val="6B7280"/>
            </a:solidFill>
            <a:prstDash val="dash"/>
          </a:ln>
        </p:spPr>
      </p:sp>
      <p:sp>
        <p:nvSpPr>
          <p:cNvPr id="12" name="Text 10"/>
          <p:cNvSpPr txBox="1"/>
          <p:nvPr/>
        </p:nvSpPr>
        <p:spPr>
          <a:xfrm>
            <a:off x="5943600" y="1783080"/>
            <a:ext cx="640080" cy="640080"/>
          </a:xfrm>
          <a:prstGeom prst="ellipse">
            <a:avLst/>
          </a:prstGeom>
          <a:solidFill>
            <a:srgbClr val="FFFFFF"/>
          </a:solidFill>
          <a:ln w="19050">
            <a:solidFill>
              <a:srgbClr val="6B7280"/>
            </a:solidFill>
          </a:ln>
        </p:spPr>
        <p:txBody>
          <a:bodyPr wrap="square" lIns="0" tIns="0" rIns="0" bIns="0" rtlCol="0" anchor="ctr"/>
          <a:lstStyle/>
          <a:p>
            <a:pPr marL="0" indent="0" algn="ctr">
              <a:buNone/>
            </a:pPr>
            <a:r>
              <a:rPr lang="en-US" sz="1600" b="1" dirty="0">
                <a:solidFill>
                  <a:srgbClr val="6B7280"/>
                </a:solidFill>
                <a:latin typeface="Calibri" pitchFamily="34" charset="0"/>
                <a:ea typeface="Calibri" pitchFamily="34" charset="-122"/>
                <a:cs typeface="Calibri" pitchFamily="34" charset="-120"/>
              </a:rPr>
              <a:t>5</a:t>
            </a:r>
            <a:endParaRPr lang="en-US" sz="1600" dirty="0"/>
          </a:p>
        </p:txBody>
      </p:sp>
      <p:sp>
        <p:nvSpPr>
          <p:cNvPr id="13" name="Shape 11"/>
          <p:cNvSpPr/>
          <p:nvPr/>
        </p:nvSpPr>
        <p:spPr>
          <a:xfrm>
            <a:off x="6611112" y="2103120"/>
            <a:ext cx="585216" cy="0"/>
          </a:xfrm>
          <a:prstGeom prst="line">
            <a:avLst/>
          </a:prstGeom>
          <a:noFill/>
          <a:ln w="25400">
            <a:solidFill>
              <a:srgbClr val="6B7280"/>
            </a:solidFill>
            <a:prstDash val="dash"/>
          </a:ln>
        </p:spPr>
      </p:sp>
      <p:sp>
        <p:nvSpPr>
          <p:cNvPr id="14" name="Text 12"/>
          <p:cNvSpPr txBox="1"/>
          <p:nvPr/>
        </p:nvSpPr>
        <p:spPr>
          <a:xfrm>
            <a:off x="7223760" y="1783080"/>
            <a:ext cx="640080" cy="640080"/>
          </a:xfrm>
          <a:prstGeom prst="ellipse">
            <a:avLst/>
          </a:prstGeom>
          <a:solidFill>
            <a:srgbClr val="FFFFFF"/>
          </a:solidFill>
          <a:ln w="19050">
            <a:solidFill>
              <a:srgbClr val="6B7280"/>
            </a:solidFill>
          </a:ln>
        </p:spPr>
        <p:txBody>
          <a:bodyPr wrap="square" lIns="0" tIns="0" rIns="0" bIns="0" rtlCol="0" anchor="ctr"/>
          <a:lstStyle/>
          <a:p>
            <a:pPr marL="0" indent="0" algn="ctr">
              <a:buNone/>
            </a:pPr>
            <a:r>
              <a:rPr lang="en-US" sz="1600" b="1" dirty="0">
                <a:solidFill>
                  <a:srgbClr val="6B7280"/>
                </a:solidFill>
                <a:latin typeface="Calibri" pitchFamily="34" charset="0"/>
                <a:ea typeface="Calibri" pitchFamily="34" charset="-122"/>
                <a:cs typeface="Calibri" pitchFamily="34" charset="-120"/>
              </a:rPr>
              <a:t>6</a:t>
            </a:r>
            <a:endParaRPr lang="en-US" sz="1600" dirty="0"/>
          </a:p>
        </p:txBody>
      </p:sp>
      <p:sp>
        <p:nvSpPr>
          <p:cNvPr id="15" name="Shape 13"/>
          <p:cNvSpPr/>
          <p:nvPr/>
        </p:nvSpPr>
        <p:spPr>
          <a:xfrm>
            <a:off x="7891272" y="2103120"/>
            <a:ext cx="585216" cy="0"/>
          </a:xfrm>
          <a:prstGeom prst="line">
            <a:avLst/>
          </a:prstGeom>
          <a:noFill/>
          <a:ln w="25400">
            <a:solidFill>
              <a:srgbClr val="6B7280"/>
            </a:solidFill>
            <a:prstDash val="dash"/>
          </a:ln>
        </p:spPr>
      </p:sp>
      <p:sp>
        <p:nvSpPr>
          <p:cNvPr id="16" name="Text 14"/>
          <p:cNvSpPr txBox="1"/>
          <p:nvPr/>
        </p:nvSpPr>
        <p:spPr>
          <a:xfrm>
            <a:off x="8503920" y="1783080"/>
            <a:ext cx="640080" cy="640080"/>
          </a:xfrm>
          <a:prstGeom prst="ellipse">
            <a:avLst/>
          </a:prstGeom>
          <a:solidFill>
            <a:srgbClr val="FFFFFF"/>
          </a:solidFill>
          <a:ln w="19050">
            <a:solidFill>
              <a:srgbClr val="6B7280"/>
            </a:solidFill>
          </a:ln>
        </p:spPr>
        <p:txBody>
          <a:bodyPr wrap="square" lIns="0" tIns="0" rIns="0" bIns="0" rtlCol="0" anchor="ctr"/>
          <a:lstStyle/>
          <a:p>
            <a:pPr marL="0" indent="0" algn="ctr">
              <a:buNone/>
            </a:pPr>
            <a:r>
              <a:rPr lang="en-US" sz="1600" b="1" dirty="0">
                <a:solidFill>
                  <a:srgbClr val="6B7280"/>
                </a:solidFill>
                <a:latin typeface="Calibri" pitchFamily="34" charset="0"/>
                <a:ea typeface="Calibri" pitchFamily="34" charset="-122"/>
                <a:cs typeface="Calibri" pitchFamily="34" charset="-120"/>
              </a:rPr>
              <a:t>7</a:t>
            </a:r>
            <a:endParaRPr lang="en-US" sz="1600" dirty="0"/>
          </a:p>
        </p:txBody>
      </p:sp>
      <p:sp>
        <p:nvSpPr>
          <p:cNvPr id="17" name="Shape 15"/>
          <p:cNvSpPr/>
          <p:nvPr/>
        </p:nvSpPr>
        <p:spPr>
          <a:xfrm>
            <a:off x="9171432" y="2103120"/>
            <a:ext cx="585216" cy="0"/>
          </a:xfrm>
          <a:prstGeom prst="line">
            <a:avLst/>
          </a:prstGeom>
          <a:noFill/>
          <a:ln w="25400">
            <a:solidFill>
              <a:srgbClr val="6B7280"/>
            </a:solidFill>
            <a:prstDash val="dash"/>
          </a:ln>
        </p:spPr>
      </p:sp>
      <p:sp>
        <p:nvSpPr>
          <p:cNvPr id="18" name="Text 16"/>
          <p:cNvSpPr txBox="1"/>
          <p:nvPr/>
        </p:nvSpPr>
        <p:spPr>
          <a:xfrm>
            <a:off x="9784080" y="1783080"/>
            <a:ext cx="640080" cy="640080"/>
          </a:xfrm>
          <a:prstGeom prst="ellipse">
            <a:avLst/>
          </a:prstGeom>
          <a:solidFill>
            <a:srgbClr val="FFFFFF"/>
          </a:solidFill>
          <a:ln w="19050">
            <a:solidFill>
              <a:srgbClr val="6B7280"/>
            </a:solidFill>
          </a:ln>
        </p:spPr>
        <p:txBody>
          <a:bodyPr wrap="square" lIns="0" tIns="0" rIns="0" bIns="0" rtlCol="0" anchor="ctr"/>
          <a:lstStyle/>
          <a:p>
            <a:pPr marL="0" indent="0" algn="ctr">
              <a:buNone/>
            </a:pPr>
            <a:r>
              <a:rPr lang="en-US" sz="1600" b="1" dirty="0">
                <a:solidFill>
                  <a:srgbClr val="6B7280"/>
                </a:solidFill>
                <a:latin typeface="Calibri" pitchFamily="34" charset="0"/>
                <a:ea typeface="Calibri" pitchFamily="34" charset="-122"/>
                <a:cs typeface="Calibri" pitchFamily="34" charset="-120"/>
              </a:rPr>
              <a:t>8</a:t>
            </a:r>
            <a:endParaRPr lang="en-US" sz="1600" dirty="0"/>
          </a:p>
        </p:txBody>
      </p:sp>
      <p:sp>
        <p:nvSpPr>
          <p:cNvPr id="19" name="Shape 17"/>
          <p:cNvSpPr/>
          <p:nvPr/>
        </p:nvSpPr>
        <p:spPr>
          <a:xfrm>
            <a:off x="10451592" y="2103120"/>
            <a:ext cx="585216" cy="0"/>
          </a:xfrm>
          <a:prstGeom prst="line">
            <a:avLst/>
          </a:prstGeom>
          <a:noFill/>
          <a:ln w="25400">
            <a:solidFill>
              <a:srgbClr val="6B7280"/>
            </a:solidFill>
            <a:prstDash val="dash"/>
          </a:ln>
        </p:spPr>
      </p:sp>
      <p:sp>
        <p:nvSpPr>
          <p:cNvPr id="20" name="Text 18"/>
          <p:cNvSpPr txBox="1"/>
          <p:nvPr/>
        </p:nvSpPr>
        <p:spPr>
          <a:xfrm>
            <a:off x="11064240" y="1783080"/>
            <a:ext cx="640080" cy="640080"/>
          </a:xfrm>
          <a:prstGeom prst="ellipse">
            <a:avLst/>
          </a:prstGeom>
          <a:solidFill>
            <a:srgbClr val="FFFFFF"/>
          </a:solidFill>
          <a:ln w="19050">
            <a:solidFill>
              <a:srgbClr val="6B7280"/>
            </a:solidFill>
          </a:ln>
        </p:spPr>
        <p:txBody>
          <a:bodyPr wrap="square" lIns="0" tIns="0" rIns="0" bIns="0" rtlCol="0" anchor="ctr"/>
          <a:lstStyle/>
          <a:p>
            <a:pPr marL="0" indent="0" algn="ctr">
              <a:buNone/>
            </a:pPr>
            <a:r>
              <a:rPr lang="en-US" sz="1600" b="1" dirty="0">
                <a:solidFill>
                  <a:srgbClr val="6B7280"/>
                </a:solidFill>
                <a:latin typeface="Calibri" pitchFamily="34" charset="0"/>
                <a:ea typeface="Calibri" pitchFamily="34" charset="-122"/>
                <a:cs typeface="Calibri" pitchFamily="34" charset="-120"/>
              </a:rPr>
              <a:t>9</a:t>
            </a:r>
            <a:endParaRPr lang="en-US" sz="1600" dirty="0"/>
          </a:p>
        </p:txBody>
      </p:sp>
      <p:sp>
        <p:nvSpPr>
          <p:cNvPr id="21" name="Shape 19"/>
          <p:cNvSpPr/>
          <p:nvPr/>
        </p:nvSpPr>
        <p:spPr>
          <a:xfrm>
            <a:off x="548640" y="2926080"/>
            <a:ext cx="3566160" cy="3017520"/>
          </a:xfrm>
          <a:prstGeom prst="roundRect">
            <a:avLst>
              <a:gd name="adj" fmla="val 3636"/>
            </a:avLst>
          </a:prstGeom>
          <a:solidFill>
            <a:srgbClr val="FFFFFF"/>
          </a:solidFill>
          <a:ln w="12700">
            <a:solidFill>
              <a:srgbClr val="FFFFFF"/>
            </a:solidFill>
            <a:prstDash val="solid"/>
          </a:ln>
          <a:effectLst>
            <a:outerShdw blurRad="101600" dist="25400" dir="5400000" algn="bl" rotWithShape="0">
              <a:srgbClr val="000000">
                <a:alpha val="12000"/>
              </a:srgbClr>
            </a:outerShdw>
          </a:effectLst>
        </p:spPr>
      </p:sp>
      <p:sp>
        <p:nvSpPr>
          <p:cNvPr id="22" name="Shape 20"/>
          <p:cNvSpPr/>
          <p:nvPr/>
        </p:nvSpPr>
        <p:spPr>
          <a:xfrm>
            <a:off x="822960" y="3154680"/>
            <a:ext cx="640080" cy="640080"/>
          </a:xfrm>
          <a:prstGeom prst="ellipse">
            <a:avLst/>
          </a:prstGeom>
          <a:solidFill>
            <a:srgbClr val="171A21"/>
          </a:solidFill>
          <a:ln w="12700">
            <a:solidFill>
              <a:srgbClr val="171A21"/>
            </a:solidFill>
            <a:prstDash val="solid"/>
          </a:ln>
        </p:spPr>
      </p:sp>
      <p:pic>
        <p:nvPicPr>
          <p:cNvPr id="23" name="Image 0" descr="preencoded.png"/>
          <p:cNvPicPr>
            <a:picLocks noChangeAspect="1"/>
          </p:cNvPicPr>
          <p:nvPr/>
        </p:nvPicPr>
        <p:blipFill>
          <a:blip r:embed="rId3"/>
          <a:stretch>
            <a:fillRect/>
          </a:stretch>
        </p:blipFill>
        <p:spPr>
          <a:xfrm>
            <a:off x="989381" y="3321101"/>
            <a:ext cx="307238" cy="307238"/>
          </a:xfrm>
          <a:prstGeom prst="rect">
            <a:avLst/>
          </a:prstGeom>
        </p:spPr>
      </p:pic>
      <p:sp>
        <p:nvSpPr>
          <p:cNvPr id="24" name="Text 21"/>
          <p:cNvSpPr txBox="1"/>
          <p:nvPr/>
        </p:nvSpPr>
        <p:spPr>
          <a:xfrm>
            <a:off x="822960" y="3931920"/>
            <a:ext cx="3017520" cy="457200"/>
          </a:xfrm>
          <a:prstGeom prst="rect">
            <a:avLst/>
          </a:prstGeom>
          <a:noFill/>
          <a:ln/>
        </p:spPr>
        <p:txBody>
          <a:bodyPr wrap="square" lIns="0" tIns="0" rIns="0" bIns="0" rtlCol="0" anchor="ctr"/>
          <a:lstStyle/>
          <a:p>
            <a:pPr marL="0" indent="0">
              <a:buNone/>
            </a:pPr>
            <a:r>
              <a:rPr lang="en-US" sz="1900" b="1" dirty="0">
                <a:solidFill>
                  <a:srgbClr val="171A21"/>
                </a:solidFill>
                <a:latin typeface="Cambria" pitchFamily="34" charset="0"/>
                <a:ea typeface="Cambria" pitchFamily="34" charset="-122"/>
                <a:cs typeface="Cambria" pitchFamily="34" charset="-120"/>
              </a:rPr>
              <a:t>Research first</a:t>
            </a:r>
            <a:endParaRPr lang="en-US" sz="1900" dirty="0"/>
          </a:p>
        </p:txBody>
      </p:sp>
      <p:sp>
        <p:nvSpPr>
          <p:cNvPr id="25" name="Text 22"/>
          <p:cNvSpPr txBox="1"/>
          <p:nvPr/>
        </p:nvSpPr>
        <p:spPr>
          <a:xfrm>
            <a:off x="822960" y="4434840"/>
            <a:ext cx="3017520" cy="1417320"/>
          </a:xfrm>
          <a:prstGeom prst="rect">
            <a:avLst/>
          </a:prstGeom>
          <a:noFill/>
          <a:ln/>
        </p:spPr>
        <p:txBody>
          <a:bodyPr wrap="square" lIns="0" tIns="0" rIns="0" bIns="0" rtlCol="0" anchor="t"/>
          <a:lstStyle/>
          <a:p>
            <a:pPr marL="0" indent="0">
              <a:buNone/>
            </a:pPr>
            <a:r>
              <a:rPr lang="en-US" sz="1400" dirty="0">
                <a:solidFill>
                  <a:srgbClr val="6B7280"/>
                </a:solidFill>
                <a:latin typeface="Calibri" pitchFamily="34" charset="0"/>
                <a:ea typeface="Calibri" pitchFamily="34" charset="-122"/>
                <a:cs typeface="Calibri" pitchFamily="34" charset="-120"/>
              </a:rPr>
              <a:t>Scoping the problem, finding the gaps and making design decisions took real time. We chose quality and depth over rushing.</a:t>
            </a:r>
            <a:endParaRPr lang="en-US" sz="1400" dirty="0"/>
          </a:p>
        </p:txBody>
      </p:sp>
      <p:sp>
        <p:nvSpPr>
          <p:cNvPr id="26" name="Shape 23"/>
          <p:cNvSpPr/>
          <p:nvPr/>
        </p:nvSpPr>
        <p:spPr>
          <a:xfrm>
            <a:off x="4343400" y="2926080"/>
            <a:ext cx="3566160" cy="3017520"/>
          </a:xfrm>
          <a:prstGeom prst="roundRect">
            <a:avLst>
              <a:gd name="adj" fmla="val 3636"/>
            </a:avLst>
          </a:prstGeom>
          <a:solidFill>
            <a:srgbClr val="FFFFFF"/>
          </a:solidFill>
          <a:ln w="12700">
            <a:solidFill>
              <a:srgbClr val="FFFFFF"/>
            </a:solidFill>
            <a:prstDash val="solid"/>
          </a:ln>
          <a:effectLst>
            <a:outerShdw blurRad="101600" dist="25400" dir="5400000" algn="bl" rotWithShape="0">
              <a:srgbClr val="000000">
                <a:alpha val="12000"/>
              </a:srgbClr>
            </a:outerShdw>
          </a:effectLst>
        </p:spPr>
      </p:sp>
      <p:sp>
        <p:nvSpPr>
          <p:cNvPr id="27" name="Shape 24"/>
          <p:cNvSpPr/>
          <p:nvPr/>
        </p:nvSpPr>
        <p:spPr>
          <a:xfrm>
            <a:off x="4617720" y="3154680"/>
            <a:ext cx="640080" cy="640080"/>
          </a:xfrm>
          <a:prstGeom prst="ellipse">
            <a:avLst/>
          </a:prstGeom>
          <a:solidFill>
            <a:srgbClr val="0F766E"/>
          </a:solidFill>
          <a:ln w="12700">
            <a:solidFill>
              <a:srgbClr val="0F766E"/>
            </a:solidFill>
            <a:prstDash val="solid"/>
          </a:ln>
        </p:spPr>
      </p:sp>
      <p:pic>
        <p:nvPicPr>
          <p:cNvPr id="28" name="Image 1" descr="preencoded.png"/>
          <p:cNvPicPr>
            <a:picLocks noChangeAspect="1"/>
          </p:cNvPicPr>
          <p:nvPr/>
        </p:nvPicPr>
        <p:blipFill>
          <a:blip r:embed="rId4"/>
          <a:stretch>
            <a:fillRect/>
          </a:stretch>
        </p:blipFill>
        <p:spPr>
          <a:xfrm>
            <a:off x="4784141" y="3321101"/>
            <a:ext cx="307238" cy="307238"/>
          </a:xfrm>
          <a:prstGeom prst="rect">
            <a:avLst/>
          </a:prstGeom>
        </p:spPr>
      </p:pic>
      <p:sp>
        <p:nvSpPr>
          <p:cNvPr id="29" name="Text 25"/>
          <p:cNvSpPr txBox="1"/>
          <p:nvPr/>
        </p:nvSpPr>
        <p:spPr>
          <a:xfrm>
            <a:off x="4617720" y="3931920"/>
            <a:ext cx="3017520" cy="457200"/>
          </a:xfrm>
          <a:prstGeom prst="rect">
            <a:avLst/>
          </a:prstGeom>
          <a:noFill/>
          <a:ln/>
        </p:spPr>
        <p:txBody>
          <a:bodyPr wrap="square" lIns="0" tIns="0" rIns="0" bIns="0" rtlCol="0" anchor="ctr"/>
          <a:lstStyle/>
          <a:p>
            <a:pPr marL="0" indent="0">
              <a:buNone/>
            </a:pPr>
            <a:r>
              <a:rPr lang="en-US" sz="1900" b="1" dirty="0">
                <a:solidFill>
                  <a:srgbClr val="171A21"/>
                </a:solidFill>
                <a:latin typeface="Cambria" pitchFamily="34" charset="0"/>
                <a:ea typeface="Cambria" pitchFamily="34" charset="-122"/>
                <a:cs typeface="Cambria" pitchFamily="34" charset="-120"/>
              </a:rPr>
              <a:t>Delivered and demoable</a:t>
            </a:r>
            <a:endParaRPr lang="en-US" sz="1900" dirty="0"/>
          </a:p>
        </p:txBody>
      </p:sp>
      <p:sp>
        <p:nvSpPr>
          <p:cNvPr id="30" name="Text 26"/>
          <p:cNvSpPr txBox="1"/>
          <p:nvPr/>
        </p:nvSpPr>
        <p:spPr>
          <a:xfrm>
            <a:off x="4617720" y="4434840"/>
            <a:ext cx="3017520" cy="1417320"/>
          </a:xfrm>
          <a:prstGeom prst="rect">
            <a:avLst/>
          </a:prstGeom>
          <a:noFill/>
          <a:ln/>
        </p:spPr>
        <p:txBody>
          <a:bodyPr wrap="square" lIns="0" tIns="0" rIns="0" bIns="0" rtlCol="0" anchor="t"/>
          <a:lstStyle/>
          <a:p>
            <a:pPr marL="0" indent="0">
              <a:buNone/>
            </a:pPr>
            <a:r>
              <a:rPr lang="en-US" sz="1400" dirty="0">
                <a:solidFill>
                  <a:srgbClr val="6B7280"/>
                </a:solidFill>
                <a:latin typeface="Calibri" pitchFamily="34" charset="0"/>
                <a:ea typeface="Calibri" pitchFamily="34" charset="-122"/>
                <a:cs typeface="Calibri" pitchFamily="34" charset="-120"/>
              </a:rPr>
              <a:t>Phases 1-3 are built, integrated and shown live today: RAG foundation, agent orchestration and evidence-grounded generation.</a:t>
            </a:r>
            <a:endParaRPr lang="en-US" sz="1400" dirty="0"/>
          </a:p>
        </p:txBody>
      </p:sp>
      <p:sp>
        <p:nvSpPr>
          <p:cNvPr id="31" name="Shape 27"/>
          <p:cNvSpPr/>
          <p:nvPr/>
        </p:nvSpPr>
        <p:spPr>
          <a:xfrm>
            <a:off x="8138160" y="2926080"/>
            <a:ext cx="3566160" cy="3017520"/>
          </a:xfrm>
          <a:prstGeom prst="roundRect">
            <a:avLst>
              <a:gd name="adj" fmla="val 3636"/>
            </a:avLst>
          </a:prstGeom>
          <a:solidFill>
            <a:srgbClr val="FFFFFF"/>
          </a:solidFill>
          <a:ln w="12700">
            <a:solidFill>
              <a:srgbClr val="FFFFFF"/>
            </a:solidFill>
            <a:prstDash val="solid"/>
          </a:ln>
          <a:effectLst>
            <a:outerShdw blurRad="101600" dist="25400" dir="5400000" algn="bl" rotWithShape="0">
              <a:srgbClr val="000000">
                <a:alpha val="12000"/>
              </a:srgbClr>
            </a:outerShdw>
          </a:effectLst>
        </p:spPr>
      </p:sp>
      <p:sp>
        <p:nvSpPr>
          <p:cNvPr id="32" name="Shape 28"/>
          <p:cNvSpPr/>
          <p:nvPr/>
        </p:nvSpPr>
        <p:spPr>
          <a:xfrm>
            <a:off x="8412480" y="3154680"/>
            <a:ext cx="640080" cy="640080"/>
          </a:xfrm>
          <a:prstGeom prst="ellipse">
            <a:avLst/>
          </a:prstGeom>
          <a:solidFill>
            <a:srgbClr val="171A21"/>
          </a:solidFill>
          <a:ln w="12700">
            <a:solidFill>
              <a:srgbClr val="171A21"/>
            </a:solidFill>
            <a:prstDash val="solid"/>
          </a:ln>
        </p:spPr>
      </p:sp>
      <p:pic>
        <p:nvPicPr>
          <p:cNvPr id="33" name="Image 2" descr="preencoded.png"/>
          <p:cNvPicPr>
            <a:picLocks noChangeAspect="1"/>
          </p:cNvPicPr>
          <p:nvPr/>
        </p:nvPicPr>
        <p:blipFill>
          <a:blip r:embed="rId5"/>
          <a:stretch>
            <a:fillRect/>
          </a:stretch>
        </p:blipFill>
        <p:spPr>
          <a:xfrm>
            <a:off x="8578901" y="3321101"/>
            <a:ext cx="307238" cy="307238"/>
          </a:xfrm>
          <a:prstGeom prst="rect">
            <a:avLst/>
          </a:prstGeom>
        </p:spPr>
      </p:pic>
      <p:sp>
        <p:nvSpPr>
          <p:cNvPr id="34" name="Text 29"/>
          <p:cNvSpPr txBox="1"/>
          <p:nvPr/>
        </p:nvSpPr>
        <p:spPr>
          <a:xfrm>
            <a:off x="8412480" y="3931920"/>
            <a:ext cx="3017520" cy="457200"/>
          </a:xfrm>
          <a:prstGeom prst="rect">
            <a:avLst/>
          </a:prstGeom>
          <a:noFill/>
          <a:ln/>
        </p:spPr>
        <p:txBody>
          <a:bodyPr wrap="square" lIns="0" tIns="0" rIns="0" bIns="0" rtlCol="0" anchor="ctr"/>
          <a:lstStyle/>
          <a:p>
            <a:pPr marL="0" indent="0">
              <a:buNone/>
            </a:pPr>
            <a:r>
              <a:rPr lang="en-US" sz="1900" b="1" dirty="0">
                <a:solidFill>
                  <a:srgbClr val="171A21"/>
                </a:solidFill>
                <a:latin typeface="Cambria" pitchFamily="34" charset="0"/>
                <a:ea typeface="Cambria" pitchFamily="34" charset="-122"/>
                <a:cs typeface="Cambria" pitchFamily="34" charset="-120"/>
              </a:rPr>
              <a:t>Next review</a:t>
            </a:r>
            <a:endParaRPr lang="en-US" sz="1900" dirty="0"/>
          </a:p>
        </p:txBody>
      </p:sp>
      <p:sp>
        <p:nvSpPr>
          <p:cNvPr id="35" name="Text 30"/>
          <p:cNvSpPr txBox="1"/>
          <p:nvPr/>
        </p:nvSpPr>
        <p:spPr>
          <a:xfrm>
            <a:off x="8412480" y="4434840"/>
            <a:ext cx="3017520" cy="1417320"/>
          </a:xfrm>
          <a:prstGeom prst="rect">
            <a:avLst/>
          </a:prstGeom>
          <a:noFill/>
          <a:ln/>
        </p:spPr>
        <p:txBody>
          <a:bodyPr wrap="square" lIns="0" tIns="0" rIns="0" bIns="0" rtlCol="0" anchor="t"/>
          <a:lstStyle/>
          <a:p>
            <a:pPr marL="0" indent="0">
              <a:buNone/>
            </a:pPr>
            <a:r>
              <a:rPr lang="en-US" sz="1400" dirty="0">
                <a:solidFill>
                  <a:srgbClr val="6B7280"/>
                </a:solidFill>
                <a:latin typeface="Calibri" pitchFamily="34" charset="0"/>
                <a:ea typeface="Calibri" pitchFamily="34" charset="-122"/>
                <a:cs typeface="Calibri" pitchFamily="34" charset="-120"/>
              </a:rPr>
              <a:t>Phases 4-9, from security hardening through finalization, will be walked through in detail at the next review.</a:t>
            </a:r>
            <a:endParaRPr lang="en-US" sz="1400" dirty="0"/>
          </a:p>
        </p:txBody>
      </p:sp>
      <p:sp>
        <p:nvSpPr>
          <p:cNvPr id="36" name="Text 31"/>
          <p:cNvSpPr txBox="1"/>
          <p:nvPr/>
        </p:nvSpPr>
        <p:spPr>
          <a:xfrm>
            <a:off x="548640" y="6446520"/>
            <a:ext cx="5486400" cy="274320"/>
          </a:xfrm>
          <a:prstGeom prst="rect">
            <a:avLst/>
          </a:prstGeom>
          <a:noFill/>
          <a:ln/>
        </p:spPr>
        <p:txBody>
          <a:bodyPr wrap="square" lIns="0" tIns="0" rIns="0" bIns="0" rtlCol="0" anchor="ctr"/>
          <a:lstStyle/>
          <a:p>
            <a:pPr marL="0" indent="0">
              <a:buNone/>
            </a:pPr>
            <a:r>
              <a:rPr lang="en-US" sz="1000" dirty="0">
                <a:solidFill>
                  <a:srgbClr val="6B7280"/>
                </a:solidFill>
                <a:latin typeface="Calibri" pitchFamily="34" charset="0"/>
                <a:ea typeface="Calibri" pitchFamily="34" charset="-122"/>
                <a:cs typeface="Calibri" pitchFamily="34" charset="-120"/>
              </a:rPr>
              <a:t>KAVACH  |  Project Review</a:t>
            </a:r>
            <a:endParaRPr lang="en-US" sz="1000" dirty="0"/>
          </a:p>
        </p:txBody>
      </p:sp>
      <p:sp>
        <p:nvSpPr>
          <p:cNvPr id="37" name="Slide Number Placeholder 0"/>
          <p:cNvSpPr>
            <a:spLocks noGrp="1"/>
          </p:cNvSpPr>
          <p:nvPr>
            <p:ph type="sldNum" sz="quarter" idx="4294967295"/>
          </p:nvPr>
        </p:nvSpPr>
        <p:spPr>
          <a:xfrm>
            <a:off x="11064240" y="644652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6B7280"/>
                </a:solidFill>
                <a:latin typeface="Calibri"/>
                <a:ea typeface="Calibri"/>
                <a:cs typeface="Calibri"/>
              </a:defRPr>
            </a:lvl1pPr>
          </a:lstStyle>
          <a:p>
            <a:pPr algn="r"/>
            <a:fld id="{F7021451-1387-4CA6-816F-3879F97B5CBC}" type="slidenum">
              <a:rPr lang="en-US" b="0"/>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171A21"/>
        </a:solidFill>
        <a:effectLst/>
      </p:bgPr>
    </p:bg>
    <p:spTree>
      <p:nvGrpSpPr>
        <p:cNvPr id="1" name=""/>
        <p:cNvGrpSpPr/>
        <p:nvPr/>
      </p:nvGrpSpPr>
      <p:grpSpPr>
        <a:xfrm>
          <a:off x="0" y="0"/>
          <a:ext cx="0" cy="0"/>
          <a:chOff x="0" y="0"/>
          <a:chExt cx="0" cy="0"/>
        </a:xfrm>
      </p:grpSpPr>
      <p:sp>
        <p:nvSpPr>
          <p:cNvPr id="2" name="Text 0"/>
          <p:cNvSpPr txBox="1"/>
          <p:nvPr/>
        </p:nvSpPr>
        <p:spPr>
          <a:xfrm>
            <a:off x="731520" y="1097280"/>
            <a:ext cx="10515600" cy="1463040"/>
          </a:xfrm>
          <a:prstGeom prst="rect">
            <a:avLst/>
          </a:prstGeom>
          <a:noFill/>
          <a:ln/>
        </p:spPr>
        <p:txBody>
          <a:bodyPr wrap="square" lIns="0" tIns="0" rIns="0" bIns="0" rtlCol="0" anchor="t"/>
          <a:lstStyle/>
          <a:p>
            <a:pPr marL="0" indent="0">
              <a:buNone/>
            </a:pPr>
            <a:r>
              <a:rPr lang="en-US" sz="4400" b="1" dirty="0">
                <a:solidFill>
                  <a:srgbClr val="FFFFFF"/>
                </a:solidFill>
                <a:latin typeface="Cambria" pitchFamily="34" charset="0"/>
                <a:ea typeface="Cambria" pitchFamily="34" charset="-122"/>
                <a:cs typeface="Cambria" pitchFamily="34" charset="-120"/>
              </a:rPr>
              <a:t>AI assistance you can actually trust with real code.</a:t>
            </a:r>
            <a:endParaRPr lang="en-US" sz="4400" dirty="0"/>
          </a:p>
        </p:txBody>
      </p:sp>
      <p:sp>
        <p:nvSpPr>
          <p:cNvPr id="3" name="Shape 1"/>
          <p:cNvSpPr/>
          <p:nvPr/>
        </p:nvSpPr>
        <p:spPr>
          <a:xfrm>
            <a:off x="731520" y="3200400"/>
            <a:ext cx="3383280" cy="1737360"/>
          </a:xfrm>
          <a:prstGeom prst="roundRect">
            <a:avLst>
              <a:gd name="adj" fmla="val 6316"/>
            </a:avLst>
          </a:prstGeom>
          <a:solidFill>
            <a:srgbClr val="262B36"/>
          </a:solidFill>
          <a:ln w="12700">
            <a:solidFill>
              <a:srgbClr val="262B36"/>
            </a:solidFill>
            <a:prstDash val="solid"/>
          </a:ln>
        </p:spPr>
      </p:sp>
      <p:sp>
        <p:nvSpPr>
          <p:cNvPr id="4" name="Text 2"/>
          <p:cNvSpPr txBox="1"/>
          <p:nvPr/>
        </p:nvSpPr>
        <p:spPr>
          <a:xfrm>
            <a:off x="1005840" y="3200400"/>
            <a:ext cx="2880360" cy="1737360"/>
          </a:xfrm>
          <a:prstGeom prst="rect">
            <a:avLst/>
          </a:prstGeom>
          <a:noFill/>
          <a:ln/>
        </p:spPr>
        <p:txBody>
          <a:bodyPr wrap="square" lIns="0" tIns="0" rIns="0" bIns="0" rtlCol="0" anchor="ctr"/>
          <a:lstStyle/>
          <a:p>
            <a:pPr marL="0" indent="0">
              <a:spcAft>
                <a:spcPts val="600"/>
              </a:spcAft>
              <a:buNone/>
            </a:pPr>
            <a:r>
              <a:rPr lang="en-US" sz="2400" b="1" dirty="0">
                <a:solidFill>
                  <a:srgbClr val="F5A524"/>
                </a:solidFill>
                <a:latin typeface="Cambria" pitchFamily="34" charset="0"/>
                <a:ea typeface="Cambria" pitchFamily="34" charset="-122"/>
                <a:cs typeface="Cambria" pitchFamily="34" charset="-120"/>
              </a:rPr>
              <a:t>Governed</a:t>
            </a:r>
            <a:endParaRPr lang="en-US" sz="2400" dirty="0"/>
          </a:p>
          <a:p>
            <a:pPr marL="0" indent="0">
              <a:buNone/>
            </a:pPr>
            <a:r>
              <a:rPr lang="en-US" sz="1500" dirty="0">
                <a:solidFill>
                  <a:srgbClr val="FFFFFF"/>
                </a:solidFill>
                <a:latin typeface="Calibri" pitchFamily="34" charset="0"/>
                <a:ea typeface="Calibri" pitchFamily="34" charset="-122"/>
                <a:cs typeface="Calibri" pitchFamily="34" charset="-120"/>
              </a:rPr>
              <a:t>Two security boundaries around every request</a:t>
            </a:r>
            <a:endParaRPr lang="en-US" sz="2400" dirty="0"/>
          </a:p>
        </p:txBody>
      </p:sp>
      <p:sp>
        <p:nvSpPr>
          <p:cNvPr id="5" name="Shape 3"/>
          <p:cNvSpPr/>
          <p:nvPr/>
        </p:nvSpPr>
        <p:spPr>
          <a:xfrm>
            <a:off x="4389120" y="3200400"/>
            <a:ext cx="3383280" cy="1737360"/>
          </a:xfrm>
          <a:prstGeom prst="roundRect">
            <a:avLst>
              <a:gd name="adj" fmla="val 6316"/>
            </a:avLst>
          </a:prstGeom>
          <a:solidFill>
            <a:srgbClr val="262B36"/>
          </a:solidFill>
          <a:ln w="12700">
            <a:solidFill>
              <a:srgbClr val="262B36"/>
            </a:solidFill>
            <a:prstDash val="solid"/>
          </a:ln>
        </p:spPr>
      </p:sp>
      <p:sp>
        <p:nvSpPr>
          <p:cNvPr id="6" name="Text 4"/>
          <p:cNvSpPr txBox="1"/>
          <p:nvPr/>
        </p:nvSpPr>
        <p:spPr>
          <a:xfrm>
            <a:off x="4663440" y="3200400"/>
            <a:ext cx="2880360" cy="1737360"/>
          </a:xfrm>
          <a:prstGeom prst="rect">
            <a:avLst/>
          </a:prstGeom>
          <a:noFill/>
          <a:ln/>
        </p:spPr>
        <p:txBody>
          <a:bodyPr wrap="square" lIns="0" tIns="0" rIns="0" bIns="0" rtlCol="0" anchor="ctr"/>
          <a:lstStyle/>
          <a:p>
            <a:pPr marL="0" indent="0">
              <a:spcAft>
                <a:spcPts val="600"/>
              </a:spcAft>
              <a:buNone/>
            </a:pPr>
            <a:r>
              <a:rPr lang="en-US" sz="2400" b="1" dirty="0">
                <a:solidFill>
                  <a:srgbClr val="F5A524"/>
                </a:solidFill>
                <a:latin typeface="Cambria" pitchFamily="34" charset="0"/>
                <a:ea typeface="Cambria" pitchFamily="34" charset="-122"/>
                <a:cs typeface="Cambria" pitchFamily="34" charset="-120"/>
              </a:rPr>
              <a:t>Grounded</a:t>
            </a:r>
            <a:endParaRPr lang="en-US" sz="2400" dirty="0"/>
          </a:p>
          <a:p>
            <a:pPr marL="0" indent="0">
              <a:buNone/>
            </a:pPr>
            <a:r>
              <a:rPr lang="en-US" sz="1500" dirty="0">
                <a:solidFill>
                  <a:srgbClr val="FFFFFF"/>
                </a:solidFill>
                <a:latin typeface="Calibri" pitchFamily="34" charset="0"/>
                <a:ea typeface="Calibri" pitchFamily="34" charset="-122"/>
                <a:cs typeface="Calibri" pitchFamily="34" charset="-120"/>
              </a:rPr>
              <a:t>Generation tied to real repository evidence</a:t>
            </a:r>
            <a:endParaRPr lang="en-US" sz="2400" dirty="0"/>
          </a:p>
        </p:txBody>
      </p:sp>
      <p:sp>
        <p:nvSpPr>
          <p:cNvPr id="7" name="Shape 5"/>
          <p:cNvSpPr/>
          <p:nvPr/>
        </p:nvSpPr>
        <p:spPr>
          <a:xfrm>
            <a:off x="8046720" y="3200400"/>
            <a:ext cx="3383280" cy="1737360"/>
          </a:xfrm>
          <a:prstGeom prst="roundRect">
            <a:avLst>
              <a:gd name="adj" fmla="val 6316"/>
            </a:avLst>
          </a:prstGeom>
          <a:solidFill>
            <a:srgbClr val="262B36"/>
          </a:solidFill>
          <a:ln w="12700">
            <a:solidFill>
              <a:srgbClr val="262B36"/>
            </a:solidFill>
            <a:prstDash val="solid"/>
          </a:ln>
        </p:spPr>
      </p:sp>
      <p:sp>
        <p:nvSpPr>
          <p:cNvPr id="8" name="Text 6"/>
          <p:cNvSpPr txBox="1"/>
          <p:nvPr/>
        </p:nvSpPr>
        <p:spPr>
          <a:xfrm>
            <a:off x="8321040" y="3200400"/>
            <a:ext cx="2880360" cy="1737360"/>
          </a:xfrm>
          <a:prstGeom prst="rect">
            <a:avLst/>
          </a:prstGeom>
          <a:noFill/>
          <a:ln/>
        </p:spPr>
        <p:txBody>
          <a:bodyPr wrap="square" lIns="0" tIns="0" rIns="0" bIns="0" rtlCol="0" anchor="ctr"/>
          <a:lstStyle/>
          <a:p>
            <a:pPr marL="0" indent="0">
              <a:spcAft>
                <a:spcPts val="600"/>
              </a:spcAft>
              <a:buNone/>
            </a:pPr>
            <a:r>
              <a:rPr lang="en-US" sz="2400" b="1" dirty="0">
                <a:solidFill>
                  <a:srgbClr val="F5A524"/>
                </a:solidFill>
                <a:latin typeface="Cambria" pitchFamily="34" charset="0"/>
                <a:ea typeface="Cambria" pitchFamily="34" charset="-122"/>
                <a:cs typeface="Cambria" pitchFamily="34" charset="-120"/>
              </a:rPr>
              <a:t>Auditable</a:t>
            </a:r>
            <a:endParaRPr lang="en-US" sz="2400" dirty="0"/>
          </a:p>
          <a:p>
            <a:pPr marL="0" indent="0">
              <a:buNone/>
            </a:pPr>
            <a:r>
              <a:rPr lang="en-US" sz="1500" dirty="0">
                <a:solidFill>
                  <a:srgbClr val="FFFFFF"/>
                </a:solidFill>
                <a:latin typeface="Calibri" pitchFamily="34" charset="0"/>
                <a:ea typeface="Calibri" pitchFamily="34" charset="-122"/>
                <a:cs typeface="Calibri" pitchFamily="34" charset="-120"/>
              </a:rPr>
              <a:t>Every decision traced, every change gated</a:t>
            </a:r>
            <a:endParaRPr lang="en-US" sz="2400" dirty="0"/>
          </a:p>
        </p:txBody>
      </p:sp>
      <p:sp>
        <p:nvSpPr>
          <p:cNvPr id="9" name="Text 7"/>
          <p:cNvSpPr txBox="1"/>
          <p:nvPr/>
        </p:nvSpPr>
        <p:spPr>
          <a:xfrm>
            <a:off x="731520" y="5486400"/>
            <a:ext cx="7315200" cy="548640"/>
          </a:xfrm>
          <a:prstGeom prst="rect">
            <a:avLst/>
          </a:prstGeom>
          <a:noFill/>
          <a:ln/>
        </p:spPr>
        <p:txBody>
          <a:bodyPr wrap="square" lIns="0" tIns="0" rIns="0" bIns="0" rtlCol="0" anchor="ctr"/>
          <a:lstStyle/>
          <a:p>
            <a:pPr marL="0" indent="0">
              <a:buNone/>
            </a:pPr>
            <a:r>
              <a:rPr lang="en-US" sz="2200" b="1" dirty="0">
                <a:solidFill>
                  <a:srgbClr val="F5A524"/>
                </a:solidFill>
                <a:latin typeface="Calibri" pitchFamily="34" charset="0"/>
                <a:ea typeface="Calibri" pitchFamily="34" charset="-122"/>
                <a:cs typeface="Calibri" pitchFamily="34" charset="-120"/>
              </a:rPr>
              <a:t>Thank you  |  Questions?</a:t>
            </a:r>
            <a:endParaRPr lang="en-US" sz="2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19</TotalTime>
  <Words>3877</Words>
  <Application>Microsoft Office PowerPoint</Application>
  <PresentationFormat>Widescreen</PresentationFormat>
  <Paragraphs>519</Paragraphs>
  <Slides>23</Slides>
  <Notes>23</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23</vt:i4>
      </vt:variant>
    </vt:vector>
  </HeadingPairs>
  <TitlesOfParts>
    <vt:vector size="28" baseType="lpstr">
      <vt:lpstr>Arial</vt:lpstr>
      <vt:lpstr>Calibri</vt:lpstr>
      <vt:lpstr>Cambria</vt:lpstr>
      <vt:lpstr>Courier New</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KAVACH - Project Review</dc:title>
  <dc:subject>PptxGenJS Presentation</dc:subject>
  <dc:creator>PptxGenJS</dc:creator>
  <cp:lastModifiedBy>Dhruv Jain</cp:lastModifiedBy>
  <cp:revision>2</cp:revision>
  <dcterms:created xsi:type="dcterms:W3CDTF">2026-09-21T06:00:46Z</dcterms:created>
  <dcterms:modified xsi:type="dcterms:W3CDTF">2026-09-21T06:22:46Z</dcterms:modified>
</cp:coreProperties>
</file>