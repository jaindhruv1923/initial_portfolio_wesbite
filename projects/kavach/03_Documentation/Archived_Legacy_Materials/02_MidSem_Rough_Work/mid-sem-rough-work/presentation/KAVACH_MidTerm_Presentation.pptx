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D2FF"/>
                </a:solidFill>
              </a:defRPr>
            </a:pPr>
            <a:r>
              <a:t>BML MUNJAL UNIVERSITY | SCHOOL OF ENGINEERING &amp; TECHNOLOGY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KAVACH</a:t>
            </a:r>
          </a:p>
          <a:p>
            <a:pPr>
              <a:spcAft>
                <a:spcPts val="2000"/>
              </a:spcAft>
              <a:defRPr sz="2000" b="1">
                <a:solidFill>
                  <a:srgbClr val="64FFDA"/>
                </a:solidFill>
              </a:defRPr>
            </a:pPr>
            <a:r>
              <a:t>A Security-Governed Multi-Agent AI DevOps &amp; Observability Platform</a:t>
            </a:r>
          </a:p>
          <a:p>
            <a:pPr>
              <a:spcAft>
                <a:spcPts val="1600"/>
              </a:spcAft>
              <a:defRPr sz="1400">
                <a:solidFill>
                  <a:srgbClr val="CCD6F6"/>
                </a:solidFill>
              </a:defRPr>
            </a:pPr>
            <a:r>
              <a:t>Project-IV (7th Semester Major Project) — Mid-Term Evaluation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206240"/>
            <a:ext cx="10362895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343400"/>
            <a:ext cx="99971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FD166"/>
                </a:solidFill>
              </a:defRPr>
            </a:pPr>
            <a:r>
              <a:t>Team Members &amp; Academic Details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Dhruv Jain (230532) | Dev Garg (230487) | Ansh Rohilla (230794) | Ansh Adhikari (230822)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Department of Computer Science &amp; Engineering | Academic Year 2026–27 | Semester 7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Faculty Evaluator / Coordinator: Prof. Anusha Chhabra | Presentation Date: 29/09/2026 (12:00 PM – 2:00 PM)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Evaluation Rubrics: Literature Review (10M) + Research Gap (5M) + Problem Definition (5M) + Methodology (5M) = 25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OBJECTIVE &amp; PROBLEM DEFINITION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The Critical Security Dilemma of Autonomous AI Coding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Industry Context &amp; Autonomous Agent Risks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High Velocity vs High Risk: Organizations are adopting autonomous agents (Devin, SWE-agent) for automated bug-fixing and CI/CD operations.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AI Package Hallucination: Probabilistic LLMs regularly hallucinate non-existent package names (e.g. 'fastapi-jwt-vault') when generating solutions.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Weaponized Slopsquatting: Attackers monitor these hallucinations, register them on PyPI/npm, and execute malicious post-install hooks.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Credential Exfiltration: Developers accidentally expose AWS keys, GitHub PATs, and Indian PII (Aadhaar/PAN) to third-party LLM cloud logs.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Unbounded Blast Radius: Agents modify files blindly without understanding transitive caller-callee relationships, causing production regressions.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FD166"/>
                </a:solidFill>
              </a:defRPr>
            </a:pPr>
            <a:r>
              <a:t>The Core Research Problem &amp; Failure of Existing Tools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Core Research Question: How can enterprises harness autonomous agent coding velocity without risking credential leaks, supply-chain hijacking, or blast-radius collapse?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Traditional SCA Blindspot: Tools like Snyk &amp; Dependabot inspect only static lockfiles (requirements.txt) post-facto; they cannot intercept runtime synthesized imports.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Prompt Guardrail Fragility: Stochastic system prompts ('Do not leak secrets') fail against jailbreaks and indirect prompt injections.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The KAVACH Mission: Build a deterministic, multi-stage governance layer combining Shannon entropy, AST supply-chain firewalls, and sandboxed ReAct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LITERATURE REVIEW RUBRIC: COMPREHENSIVENESS (PART 1 / 2 — 10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Literature Review: Autonomous Agents &amp; Supply-Chain Vulnerabilities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1. Autonomous Coding Agents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SWE-agent (Yang et al., 2024): ReAct agent executing shell commands to solve real GitHub issues via terminal.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Flaw Identified: Lacks pre-execution governance gates; executes arbitrary destructive commands without review.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Devin (Cognition AI, 2024): Demonstrated end-to-end task execution but exhibits non-convergent debugging oscillations.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2. AI Package Hallucination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Bar-Zik (2024) &amp; Lazaar et al. (2024): Proved LLMs regularly fabricate package names for uncommon libraries.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Slopsquatting Threat: Attackers register these hallucinated names on PyPI/npm to hijack developer sandboxes.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Ladisa et al. (2023): Established that current SCA tools fail completely against runtime LLM synthesized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3. LLM Security &amp; Injection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OWASP Top 10 for LLMs (2025): Highlights Prompt Injection (LLM01) and Sensitive Data Exposure (LLM06).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Greshake et al. (2023): Indirect prompt injection in comments hijacks agent goals and triggers exfiltration.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Defense Consensus: Security cannot rely on prompts; it must be enforced deterministically outside the LLM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LITERATURE REVIEW RUBRIC: COMPREHENSIVENESS (PART 2 / 2 — 10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Literature Review: Code RAG, Static Analysis &amp;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4. Code RAG &amp; Embeddings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Lewis et al. (2020): Grounded generation using dense vector embeddings.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Feng et al. (2020) &amp; Guo et al. (2022): CodeBERT and sentence-transformers for code retrieval.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Existing Limitation: Naive character chunking shatters AST syntax boundaries and indexes incomplete code blocks without secret screening.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5. AST &amp; Change Impact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Aho et al. (2006): Static Abstract Syntax Trees represent mathematical program structure without code execution.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Ren et al. (2004) &amp; Lehnert (2011): Transitive closure over AST dependency graphs is vital for blast radius prediction.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Agent Gap: No existing autonomous agent constructs AST impact graphs before applying multi-file code modifications.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6. Regulatory Compliance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India DPDP Act (2023): Strict statutory liabilities for leaking national identifiers (Aadhaar, PAN).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EU AI Act (2024): Transparency, safety, and auditability mandates for high-risk autonomous AI systems.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Jain et al. (2023): Standard English PII scanners fail on code-mixed Hinglish developer text and bare Indian 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LITERATURE REVIEW RUBRIC: RESEARCH GAP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Critical Research Gaps in State-of-the-Art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698480" cy="8412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362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1: Absence of Pre-Execution Deterministic Guardrails: </a:t>
            </a:r>
            <a:r>
              <a:rPr sz="1000">
                <a:solidFill>
                  <a:srgbClr val="CCD6F6"/>
                </a:solidFill>
              </a:rPr>
              <a:t>Current Flaw: Existing agents rely on stochastic prompt instructions ('Do not leak keys'). Vulnerable to jailbreaks.  |  </a:t>
            </a:r>
            <a:r>
              <a:rPr sz="1000" b="1">
                <a:solidFill>
                  <a:srgbClr val="64FFDA"/>
                </a:solidFill>
              </a:rPr>
              <a:t>Kavach Solution: KAVACH implements Shannon entropy (H &gt; 4.5) &amp; regex filters that halt execution before LLM tokenization.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8412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2374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2: Complete Blind Spot on Package Slopsquatting: </a:t>
            </a:r>
            <a:r>
              <a:rPr sz="1000">
                <a:solidFill>
                  <a:srgbClr val="CCD6F6"/>
                </a:solidFill>
              </a:rPr>
              <a:t>Current Flaw: Snyk/Dependabot only scan static requirements.txt; zero interception of dynamically generated imports.  |  </a:t>
            </a:r>
            <a:r>
              <a:rPr sz="1000" b="1">
                <a:solidFill>
                  <a:srgbClr val="64FFDA"/>
                </a:solidFill>
              </a:rPr>
              <a:t>Kavach Solution: AST Package Firewall parsing imports against official PyPI registry endpoints (&lt;5ms latency with LRU cache).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8412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8386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3: Missing AST Dependency &amp; Blast-Radius Grounding: </a:t>
            </a:r>
            <a:r>
              <a:rPr sz="1000">
                <a:solidFill>
                  <a:srgbClr val="CCD6F6"/>
                </a:solidFill>
              </a:rPr>
              <a:t>Current Flaw: Agents modify target files blindly without transitive caller-callee awareness, causing silent breaks.  |  </a:t>
            </a:r>
            <a:r>
              <a:rPr sz="1000" b="1">
                <a:solidFill>
                  <a:srgbClr val="64FFDA"/>
                </a:solidFill>
              </a:rPr>
              <a:t>Kavach Solution: Static AST dependency graph computing transitive closure and empirical blast-radius regression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8412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4398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4: Lack of Closed-Loop Self-Healing Sandboxing: </a:t>
            </a:r>
            <a:r>
              <a:rPr sz="1000">
                <a:solidFill>
                  <a:srgbClr val="CCD6F6"/>
                </a:solidFill>
              </a:rPr>
              <a:t>Current Flaw: Syntactically valid code fails runtime assertions, causing manual debugging fatigue and oscillations.  |  </a:t>
            </a:r>
            <a:r>
              <a:rPr sz="1000" b="1">
                <a:solidFill>
                  <a:srgbClr val="64FFDA"/>
                </a:solidFill>
              </a:rPr>
              <a:t>Kavach Solution: ReAct reflection sandbox executing pytest in isolated environments with auto-repair (max 3x iterations).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10698480" cy="8412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0410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5: Disconnection from Open Tool Standards (MCP): </a:t>
            </a:r>
            <a:r>
              <a:rPr sz="1000">
                <a:solidFill>
                  <a:srgbClr val="CCD6F6"/>
                </a:solidFill>
              </a:rPr>
              <a:t>Current Flaw: Security tools are closed proprietary silos requiring manual web portal inspection.  |  </a:t>
            </a:r>
            <a:r>
              <a:rPr sz="1000" b="1">
                <a:solidFill>
                  <a:srgbClr val="64FFDA"/>
                </a:solidFill>
              </a:rPr>
              <a:t>Kavach Solution: Native Model Context Protocol (MCP) server exposing tools over JSON-RPC 2.0 to Cursor and Claude 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OBJECTIVE &amp; PROBLEM DEFINITION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Concrete Research Objectives &amp; Measurable Target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Primary Research Objectives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Objective 1 (Supply-Chain Defense): Intercept all Python AST imports and validate existence on official PyPI index before execution.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Objective 2 (Zero-Knowledge Pre-Execution Gate): Detect and block 100% of high-entropy credentials (H &gt; 4.5) and Indian identifiers (Aadhaar/PAN).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Objective 3 (AST Blast-Radius Scoring): Formulate a static dependency algorithm to quantify downstream regression blast radius.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Objective 4 (Autonomous Self-Healing Loop): Achieve &gt;90% autonomous recovery on runtime test failures using ReAct reflection loops.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Objective 5 (Open Interoperability): Expose all tools over Model Context Protocol (MCP) for Cursor IDE and Claude Desktop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64FFDA"/>
                </a:solidFill>
              </a:defRPr>
            </a:pPr>
            <a:r>
              <a:t>Quantitative Evaluation Targets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Supply-Chain Catch Rate: 100% precision and recall on hallucinated packages.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Credential Catch Rate: 100% detection of production AWS/GitHub/Stripe keys.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PII Detection Rigor: F1 Score &gt;= 0.95 across Indian national identifiers.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End-to-End Latency: Average pipeline latency &lt;= 1.5 seconds.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Security Overhead: All pre-execution guards execute in &lt;= 20 ms (&lt; 2% total time).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Economic Efficiency: Average inference cost &lt;= $0.0005 USD per governed run.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Automated Test Coverage: Comprehensive suite of 220+ automated unit &amp; integration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PROPOSED METHODOLOGY (TOOLS / TECHNIQUES / METHODS)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Proposed Methodology: 6-Stage Governed Agentic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148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Stage 1. Sentinel Screening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Tech: Shannon Entropy + Regex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Function: Detects secrets (H &gt; 4.5) and Aadhaar/PAN before invoking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148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Stage 2. Qdrant RAG Context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Tech: Dense Vector Cosine Similarity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Function: Retrieves AST-aware code chunks from 384-d vector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2148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Stage 3. AST Blast Radius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Tech: Static Dependency Analysis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Function: Parses AST to build dependency graph and compute regression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383280" cy="2148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64FFDA"/>
                </a:solidFill>
              </a:defRPr>
            </a:pPr>
            <a:r>
              <a:t>Stage 4. Dual-Engine LLM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Tech: Gemini 2.5 Flash / Local Ollama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Function: Air-gapped routing: cloud APIs for public tasks; local Qwen for private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86200"/>
            <a:ext cx="3383280" cy="2148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64FFDA"/>
                </a:solidFill>
              </a:defRPr>
            </a:pPr>
            <a:r>
              <a:t>Stage 5. Package Firewall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Tech: AST Import Extractor + PyPI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Function: Intercepts external imports and verifies existence on PyPI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86200"/>
            <a:ext cx="3383280" cy="2148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64FFDA"/>
                </a:solidFill>
              </a:defRPr>
            </a:pPr>
            <a:r>
              <a:t>Stage 6. ReAct Sandbox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Tech: Subprocess Execution + Reflection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Function: Executes unit tests in sandbox; captures stderr and reflects to repair.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TOOLS, TECHNIQUES &amp; ALGORITHMS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Technological Implementation &amp; Mathematical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Technological Stack &amp; Protocols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Backend Framework: FastAPI (Async REST + Server-Sent Events real-time telemetry).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Vector Store: Qdrant Vector Client running all-MiniLM-L6-v2 dense embeddings.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Code Graph Parser: Python built-in 'ast' module (NodeVisitor traversal).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Inference Engines: Google Gemini 2.5 Flash API + Local Ollama (qwen2.5-coder:7b).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Interoperability Standard: Anthropic Model Context Protocol (MCP SDK, JSON-RPC 2.0).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DevOps Webhook: GitHub Pre-Merge Gatekeeper evaluating PR diffs automatically.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Frontend Dashboard: Dark-mode Mission Control with Groq Whisper voice input.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FD166"/>
                </a:solidFill>
              </a:defRPr>
            </a:pPr>
            <a:r>
              <a:t>Mathematical Formulations &amp; Algorithms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Shannon Entropy Formula for Secret Detection: H = -sum(p_i * log2(p_i)) over character distributions. High entropy (H &gt; 4.5) flags API keys.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Risk-Adaptive Policy Scoring: Risk = w1*ActionRisk + w2*FindingSeverity + w3*ExposureLevel. Emits ALLOW, REDACT, REVIEW, or BLOCK.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Cosine Similarity in Qdrant: cos(u, v) = (u . v) / (||u|| * ||v||) for top-k code retrieval.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Transitive AST Graph Closure: Computes reachability matrix over function call graph to measure affected files.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ReAct Reflection Algorithm: Formulates prompt from captured stderr tracebacks with strict upper bound N = 3 iterations.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DATASETS &amp; EMPIRICAL EVALUATION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Evaluation Datasets &amp; Empirical Experimental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Evaluation Datasets Evaluated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Dataset 1: Package Hallucination Corpus (100 packages): 50 real PyPI packages + 50 documented LLM hallucinations.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Dataset 2: Multilingual PII &amp; Credential Corpus (100 prompts): English &amp; Hinglish prompts containing Aadhaar, PAN, and cloud keys.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Dataset 3: Operational 42-Run Evaluation Dataset (42 persistent runs): Real-world traces across 4 user personas logged in workflow_runs.json.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Dataset 4: AST Impact Test Cases: 5 multi-module repositories evaluating transitive blast-radius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64FFDA"/>
                </a:solidFill>
              </a:defRPr>
            </a:pPr>
            <a:r>
              <a:t>Empirical Benchmark Findings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Package Slopsquatting Catch Rate: 100% Precision, 100% Recall, 100% F1 Score (0 false negatives).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PII &amp; Credential Detection: F1 = 0.962 on Indian identifiers; 100% catch rate on AWS/GitHub secret tokens.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Autonomous Self-Healing Rate: 90.0% autonomous recovery within 2 ReAct reflection cycles.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Pipeline Latency: Average latency 1,370 ms; security guardrails contribute &lt; 20 ms (&lt; 2% overhead).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LLM-as-a-Judge Accuracy: Average 4.90 / 5.0 rating across 42 evaluated workflow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PROJECT DELIVERABLES &amp; SUMMARY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Current Implementation Status, Test Evidence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D2FF"/>
                </a:solidFill>
              </a:defRPr>
            </a:pPr>
            <a:r>
              <a:t>Verified System Deliverables Completed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Automated Test Suite: 220 automated unit &amp; integration tests passing with 100% success rate.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Live Endpoints: 18 FastAPI endpoints operational (RAG ingest, review, package firewall, self-heal, MCP).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Open Interoperability: Standalone MCP server successfully exposes tools to Cursor and Claude IDEs.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Mission Control Dashboard: Deployed with real-time SSE telemetry stream, live KPI counters, and voice input.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Persistent Data: 42 comprehensive evaluation runs with full stage logs saved in workflow_runs.json.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FD166"/>
                </a:solidFill>
              </a:defRPr>
            </a:pPr>
            <a:r>
              <a:t>Summary &amp; Phase 2 Roadmap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Conclusion: Kavach successfully bridges the gap between autonomous agent productivity and enterprise DevSecOps governance.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Academic Impact: Eliminates supply-chain slopsquatting, stops credential leakage, and guarantees AST blast-radius containment.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Phase 2 Milestone Plan (October 2026): Integration with enterprise PostgreSQL database, GitHub App OAuth authentication, and continuous pull request gating.</a:t>
            </a:r>
          </a:p>
          <a:p>
            <a:pPr>
              <a:spcAft>
                <a:spcPts val="400"/>
              </a:spcAft>
              <a:defRPr sz="1050">
                <a:solidFill>
                  <a:srgbClr val="CCD6F6"/>
                </a:solidFill>
              </a:defRPr>
            </a:pPr>
            <a:r>
              <a:t>• Submission Ready: All source code, datasets, and benchmarks maintained under a public GitHub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